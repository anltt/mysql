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35"/>
  </p:handoutMasterIdLst>
  <p:sldIdLst>
    <p:sldId id="325" r:id="rId4"/>
    <p:sldId id="264" r:id="rId6"/>
    <p:sldId id="350" r:id="rId7"/>
    <p:sldId id="328" r:id="rId8"/>
    <p:sldId id="327" r:id="rId9"/>
    <p:sldId id="351" r:id="rId10"/>
    <p:sldId id="309" r:id="rId11"/>
    <p:sldId id="353" r:id="rId12"/>
    <p:sldId id="354" r:id="rId13"/>
    <p:sldId id="355" r:id="rId14"/>
    <p:sldId id="621" r:id="rId15"/>
    <p:sldId id="475" r:id="rId16"/>
    <p:sldId id="356" r:id="rId17"/>
    <p:sldId id="358" r:id="rId18"/>
    <p:sldId id="622" r:id="rId19"/>
    <p:sldId id="359" r:id="rId20"/>
    <p:sldId id="623" r:id="rId21"/>
    <p:sldId id="360" r:id="rId22"/>
    <p:sldId id="361" r:id="rId23"/>
    <p:sldId id="362" r:id="rId24"/>
    <p:sldId id="477" r:id="rId25"/>
    <p:sldId id="363" r:id="rId26"/>
    <p:sldId id="478" r:id="rId27"/>
    <p:sldId id="624" r:id="rId28"/>
    <p:sldId id="365" r:id="rId29"/>
    <p:sldId id="479" r:id="rId30"/>
    <p:sldId id="340" r:id="rId31"/>
    <p:sldId id="370" r:id="rId32"/>
    <p:sldId id="371" r:id="rId33"/>
    <p:sldId id="372" r:id="rId34"/>
    <p:sldId id="480" r:id="rId35"/>
    <p:sldId id="374" r:id="rId36"/>
    <p:sldId id="376" r:id="rId37"/>
    <p:sldId id="377" r:id="rId38"/>
    <p:sldId id="379" r:id="rId39"/>
    <p:sldId id="481" r:id="rId40"/>
    <p:sldId id="381" r:id="rId41"/>
    <p:sldId id="482" r:id="rId42"/>
    <p:sldId id="383" r:id="rId43"/>
    <p:sldId id="483" r:id="rId44"/>
    <p:sldId id="341" r:id="rId45"/>
    <p:sldId id="385" r:id="rId46"/>
    <p:sldId id="386" r:id="rId47"/>
    <p:sldId id="387" r:id="rId48"/>
    <p:sldId id="484" r:id="rId49"/>
    <p:sldId id="388" r:id="rId50"/>
    <p:sldId id="485" r:id="rId51"/>
    <p:sldId id="486" r:id="rId52"/>
    <p:sldId id="625" r:id="rId53"/>
    <p:sldId id="626" r:id="rId54"/>
    <p:sldId id="390" r:id="rId55"/>
    <p:sldId id="391" r:id="rId56"/>
    <p:sldId id="393" r:id="rId57"/>
    <p:sldId id="394" r:id="rId58"/>
    <p:sldId id="395" r:id="rId59"/>
    <p:sldId id="397" r:id="rId60"/>
    <p:sldId id="487" r:id="rId61"/>
    <p:sldId id="488" r:id="rId62"/>
    <p:sldId id="399" r:id="rId63"/>
    <p:sldId id="401" r:id="rId64"/>
    <p:sldId id="403" r:id="rId65"/>
    <p:sldId id="489" r:id="rId66"/>
    <p:sldId id="491" r:id="rId67"/>
    <p:sldId id="627" r:id="rId68"/>
    <p:sldId id="628" r:id="rId69"/>
    <p:sldId id="402" r:id="rId70"/>
    <p:sldId id="405" r:id="rId71"/>
    <p:sldId id="493" r:id="rId72"/>
    <p:sldId id="407" r:id="rId73"/>
    <p:sldId id="408" r:id="rId74"/>
    <p:sldId id="496" r:id="rId75"/>
    <p:sldId id="495" r:id="rId76"/>
    <p:sldId id="409" r:id="rId77"/>
    <p:sldId id="498" r:id="rId78"/>
    <p:sldId id="500" r:id="rId79"/>
    <p:sldId id="410" r:id="rId80"/>
    <p:sldId id="501" r:id="rId81"/>
    <p:sldId id="503" r:id="rId82"/>
    <p:sldId id="411" r:id="rId83"/>
    <p:sldId id="504" r:id="rId84"/>
    <p:sldId id="506" r:id="rId85"/>
    <p:sldId id="413" r:id="rId86"/>
    <p:sldId id="423" r:id="rId87"/>
    <p:sldId id="424" r:id="rId88"/>
    <p:sldId id="426" r:id="rId89"/>
    <p:sldId id="427" r:id="rId90"/>
    <p:sldId id="507" r:id="rId91"/>
    <p:sldId id="508" r:id="rId92"/>
    <p:sldId id="429" r:id="rId93"/>
    <p:sldId id="430" r:id="rId94"/>
    <p:sldId id="509" r:id="rId95"/>
    <p:sldId id="511" r:id="rId96"/>
    <p:sldId id="431" r:id="rId97"/>
    <p:sldId id="433" r:id="rId98"/>
    <p:sldId id="434" r:id="rId99"/>
    <p:sldId id="435" r:id="rId100"/>
    <p:sldId id="436" r:id="rId101"/>
    <p:sldId id="437" r:id="rId102"/>
    <p:sldId id="438" r:id="rId103"/>
    <p:sldId id="439" r:id="rId104"/>
    <p:sldId id="440" r:id="rId105"/>
    <p:sldId id="442" r:id="rId106"/>
    <p:sldId id="444" r:id="rId107"/>
    <p:sldId id="446" r:id="rId108"/>
    <p:sldId id="447" r:id="rId109"/>
    <p:sldId id="448" r:id="rId110"/>
    <p:sldId id="450" r:id="rId111"/>
    <p:sldId id="453" r:id="rId112"/>
    <p:sldId id="455" r:id="rId113"/>
    <p:sldId id="456" r:id="rId114"/>
    <p:sldId id="459" r:id="rId115"/>
    <p:sldId id="460" r:id="rId116"/>
    <p:sldId id="513" r:id="rId117"/>
    <p:sldId id="512" r:id="rId118"/>
    <p:sldId id="514" r:id="rId119"/>
    <p:sldId id="462" r:id="rId120"/>
    <p:sldId id="464" r:id="rId121"/>
    <p:sldId id="465" r:id="rId122"/>
    <p:sldId id="467" r:id="rId123"/>
    <p:sldId id="516" r:id="rId124"/>
    <p:sldId id="468" r:id="rId125"/>
    <p:sldId id="518" r:id="rId126"/>
    <p:sldId id="742" r:id="rId127"/>
    <p:sldId id="743" r:id="rId128"/>
    <p:sldId id="520" r:id="rId129"/>
    <p:sldId id="749" r:id="rId130"/>
    <p:sldId id="744" r:id="rId131"/>
    <p:sldId id="519" r:id="rId132"/>
    <p:sldId id="473" r:id="rId133"/>
    <p:sldId id="326" r:id="rId134"/>
  </p:sldIdLst>
  <p:sldSz cx="12190095" cy="6859270"/>
  <p:notesSz cx="6858000" cy="9144000"/>
  <p:custDataLst>
    <p:tags r:id="rId14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d" initials="hd"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AFAFA"/>
    <a:srgbClr val="F2F2F2"/>
    <a:srgbClr val="006BBC"/>
    <a:srgbClr val="0075CC"/>
    <a:srgbClr val="008DF6"/>
    <a:srgbClr val="005DA2"/>
    <a:srgbClr val="F5F5F5"/>
    <a:srgbClr val="3992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940" autoAdjust="0"/>
    <p:restoredTop sz="94660" autoAdjust="0"/>
  </p:normalViewPr>
  <p:slideViewPr>
    <p:cSldViewPr>
      <p:cViewPr varScale="1">
        <p:scale>
          <a:sx n="65" d="100"/>
          <a:sy n="65" d="100"/>
        </p:scale>
        <p:origin x="51" y="261"/>
      </p:cViewPr>
      <p:guideLst>
        <p:guide orient="horz" pos="2156"/>
        <p:guide pos="256"/>
        <p:guide pos="6563"/>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74"/>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0" Type="http://schemas.openxmlformats.org/officeDocument/2006/relationships/tags" Target="tags/tag5.xml"/><Relationship Id="rId14" Type="http://schemas.openxmlformats.org/officeDocument/2006/relationships/slide" Target="slides/slide10.xml"/><Relationship Id="rId139" Type="http://schemas.openxmlformats.org/officeDocument/2006/relationships/commentAuthors" Target="commentAuthors.xml"/><Relationship Id="rId138" Type="http://schemas.openxmlformats.org/officeDocument/2006/relationships/tableStyles" Target="tableStyles.xml"/><Relationship Id="rId137" Type="http://schemas.openxmlformats.org/officeDocument/2006/relationships/viewProps" Target="viewProps.xml"/><Relationship Id="rId136" Type="http://schemas.openxmlformats.org/officeDocument/2006/relationships/presProps" Target="presProps.xml"/><Relationship Id="rId135" Type="http://schemas.openxmlformats.org/officeDocument/2006/relationships/handoutMaster" Target="handoutMasters/handoutMaster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350790" y="2534497"/>
            <a:ext cx="7706107" cy="1014730"/>
          </a:xfrm>
          <a:prstGeom prst="rect">
            <a:avLst/>
          </a:prstGeom>
          <a:noFill/>
        </p:spPr>
        <p:txBody>
          <a:bodyPr wrap="square" rtlCol="0">
            <a:spAutoFit/>
          </a:bodyPr>
          <a:lstStyle/>
          <a:p>
            <a:pPr algn="ctr"/>
            <a:r>
              <a:rPr lang="zh-CN" altLang="en-US" sz="60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60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8</a:t>
            </a:r>
            <a:r>
              <a:rPr lang="zh-CN" altLang="en-US" sz="60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数据库编程</a:t>
            </a:r>
            <a:endParaRPr lang="zh-CN" altLang="en-US" sz="60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2" name="Rectangle 4"/>
          <p:cNvSpPr txBox="1">
            <a:spLocks noChangeArrowheads="1"/>
          </p:cNvSpPr>
          <p:nvPr/>
        </p:nvSpPr>
        <p:spPr>
          <a:xfrm>
            <a:off x="5361305" y="3861435"/>
            <a:ext cx="4695825"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《MySQL数据库入门（第2版）》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43940" y="2205355"/>
            <a:ext cx="10111740" cy="3295015"/>
            <a:chOff x="4042" y="3473"/>
            <a:chExt cx="11486" cy="5189"/>
          </a:xfrm>
        </p:grpSpPr>
        <p:grpSp>
          <p:nvGrpSpPr>
            <p:cNvPr id="80" name="组合 79"/>
            <p:cNvGrpSpPr/>
            <p:nvPr/>
          </p:nvGrpSpPr>
          <p:grpSpPr>
            <a:xfrm>
              <a:off x="4042" y="3473"/>
              <a:ext cx="11486" cy="1084"/>
              <a:chOff x="978872" y="1800500"/>
              <a:chExt cx="5471124" cy="515937"/>
            </a:xfrm>
          </p:grpSpPr>
          <p:sp>
            <p:nvSpPr>
              <p:cNvPr id="81"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掌握存储过程的基本操作，能够</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创建</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查看</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调用</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修改</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删除</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存储过程</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4042" y="4844"/>
              <a:ext cx="11415" cy="108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掌握存储函数的基本操作，能够</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创建</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查看</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调用</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删除</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存储函数</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4042" y="6211"/>
              <a:ext cx="11415" cy="1084"/>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掌握变量的使用，能够</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查看</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修改</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系统变量，对用户变量和局部变量进行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赋值</a:t>
                </a:r>
                <a:endPar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9" name="组合 88"/>
            <p:cNvGrpSpPr/>
            <p:nvPr/>
          </p:nvGrpSpPr>
          <p:grpSpPr>
            <a:xfrm>
              <a:off x="4042" y="7582"/>
              <a:ext cx="11415" cy="1080"/>
              <a:chOff x="978872" y="4108725"/>
              <a:chExt cx="5437064" cy="514350"/>
            </a:xfrm>
          </p:grpSpPr>
          <p:sp>
            <p:nvSpPr>
              <p:cNvPr id="90" name="Pentagon 7"/>
              <p:cNvSpPr/>
              <p:nvPr/>
            </p:nvSpPr>
            <p:spPr bwMode="auto">
              <a:xfrm>
                <a:off x="978872" y="410872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掌握流程控制语句使用，能够在程序中使用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判断</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语句、</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循环</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语句和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跳转</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语句控制程序执行流程</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91" name="MH_Others_1"/>
              <p:cNvSpPr/>
              <p:nvPr/>
            </p:nvSpPr>
            <p:spPr bwMode="auto">
              <a:xfrm>
                <a:off x="985222" y="4108725"/>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43940" y="2205355"/>
            <a:ext cx="10065385" cy="3295015"/>
            <a:chOff x="4042" y="3473"/>
            <a:chExt cx="11486" cy="5189"/>
          </a:xfrm>
        </p:grpSpPr>
        <p:grpSp>
          <p:nvGrpSpPr>
            <p:cNvPr id="80" name="组合 79"/>
            <p:cNvGrpSpPr/>
            <p:nvPr/>
          </p:nvGrpSpPr>
          <p:grpSpPr>
            <a:xfrm>
              <a:off x="4042" y="3473"/>
              <a:ext cx="11486" cy="1084"/>
              <a:chOff x="978872" y="1800500"/>
              <a:chExt cx="5471124" cy="515937"/>
            </a:xfrm>
          </p:grpSpPr>
          <p:sp>
            <p:nvSpPr>
              <p:cNvPr id="81"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掌握错误触发条件和错误处理，能够正确定义</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错误触发条件</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错误处理程序</a:t>
                </a:r>
                <a:endPar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4042" y="4844"/>
              <a:ext cx="11415" cy="108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掌握游标的使用，能够使用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游标</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检索数据</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4042" y="6211"/>
              <a:ext cx="11415" cy="1084"/>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了解触发器，能够说出</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触发器</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的概念</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9" name="组合 88"/>
            <p:cNvGrpSpPr/>
            <p:nvPr/>
          </p:nvGrpSpPr>
          <p:grpSpPr>
            <a:xfrm>
              <a:off x="4042" y="7582"/>
              <a:ext cx="11415" cy="1080"/>
              <a:chOff x="978872" y="4108725"/>
              <a:chExt cx="5437064" cy="514350"/>
            </a:xfrm>
          </p:grpSpPr>
          <p:sp>
            <p:nvSpPr>
              <p:cNvPr id="90" name="Pentagon 7"/>
              <p:cNvSpPr/>
              <p:nvPr/>
            </p:nvSpPr>
            <p:spPr bwMode="auto">
              <a:xfrm>
                <a:off x="978872" y="410872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掌握触发器的基本使用，能够</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创建</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查看</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删除</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触发器</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91" name="MH_Others_1"/>
              <p:cNvSpPr/>
              <p:nvPr/>
            </p:nvSpPr>
            <p:spPr bwMode="auto">
              <a:xfrm>
                <a:off x="985222" y="4108725"/>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09935" y="2216959"/>
            <a:ext cx="1015113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为了提高</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SQL语句</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的重用性，MySQL可以将频繁使用的业务逻辑封装成程序进行存储，这类程序主要包括</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存储过程</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函数</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触发器</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等。MySQL在SQL标准的基础上，扩展了一些程序设计语言的元素，如</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变量</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流程控制语句</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等。这些程序设计语言的元素可以让程序更加健全，以提高数据库系统的性能。本章将针对数据库编程的相关内容进行讲解。</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3119265" y="4710448"/>
            <a:ext cx="1192190" cy="613061"/>
            <a:chOff x="2215144" y="4135856"/>
            <a:chExt cx="1244730" cy="842781"/>
          </a:xfrm>
        </p:grpSpPr>
        <p:sp>
          <p:nvSpPr>
            <p:cNvPr id="55" name="平行四边形 54"/>
            <p:cNvSpPr/>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nvSpPr>
          <p:spPr>
            <a:xfrm>
              <a:off x="2393075" y="4169272"/>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存储过程</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存储函数</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变量</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nvGrpSpPr>
        <p:grpSpPr>
          <a:xfrm>
            <a:off x="4024817" y="4688273"/>
            <a:ext cx="5142331" cy="613062"/>
            <a:chOff x="4315150" y="3035884"/>
            <a:chExt cx="3857250" cy="540057"/>
          </a:xfrm>
        </p:grpSpPr>
        <p:sp>
          <p:nvSpPr>
            <p:cNvPr id="70" name="矩形 69"/>
            <p:cNvSpPr/>
            <p:nvPr/>
          </p:nvSpPr>
          <p:spPr>
            <a:xfrm>
              <a:off x="4841196" y="3118548"/>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流程控制</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2230"/>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3315"/>
            <a:chOff x="2215144" y="3084852"/>
            <a:chExt cx="1244730" cy="843130"/>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07</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3119265" y="4710448"/>
            <a:ext cx="1192190" cy="613061"/>
            <a:chOff x="2215144" y="4135856"/>
            <a:chExt cx="1244730" cy="842781"/>
          </a:xfrm>
        </p:grpSpPr>
        <p:sp>
          <p:nvSpPr>
            <p:cNvPr id="55" name="平行四边形 54"/>
            <p:cNvSpPr/>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nvSpPr>
          <p:spPr>
            <a:xfrm>
              <a:off x="2393075" y="4169272"/>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08</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错误处理</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游标</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触发器</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nvGrpSpPr>
        <p:grpSpPr>
          <a:xfrm>
            <a:off x="4024817" y="4688273"/>
            <a:ext cx="5142331" cy="613062"/>
            <a:chOff x="4315150" y="3035884"/>
            <a:chExt cx="3857250" cy="540057"/>
          </a:xfrm>
        </p:grpSpPr>
        <p:sp>
          <p:nvSpPr>
            <p:cNvPr id="70" name="矩形 69"/>
            <p:cNvSpPr/>
            <p:nvPr/>
          </p:nvSpPr>
          <p:spPr>
            <a:xfrm>
              <a:off x="4841196" y="3118548"/>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上机实践：数据库编程实战</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存储过程</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74595" y="2205355"/>
            <a:ext cx="7508875" cy="3193803"/>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5306" y="3654"/>
              <a:ext cx="9433" cy="302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开发过程中，经常会遇到重复使用某一功能的情况，为此，MySQL引入了存储过程。</a:t>
              </a:r>
              <a:r>
                <a:rPr lang="zh-CN" altLang="en-US" sz="2000" dirty="0" smtClean="0">
                  <a:solidFill>
                    <a:srgbClr val="1369B2"/>
                  </a:solidFill>
                  <a:latin typeface="微软雅黑" panose="020B0503020204020204" pitchFamily="34" charset="-122"/>
                  <a:ea typeface="微软雅黑" panose="020B0503020204020204" pitchFamily="34" charset="-122"/>
                </a:rPr>
                <a:t>存储过程</a:t>
              </a:r>
              <a:r>
                <a:rPr lang="zh-CN" altLang="en-US" sz="2000" dirty="0" smtClean="0">
                  <a:solidFill>
                    <a:srgbClr val="595959"/>
                  </a:solidFill>
                  <a:latin typeface="微软雅黑" panose="020B0503020204020204" pitchFamily="34" charset="-122"/>
                  <a:ea typeface="微软雅黑" panose="020B0503020204020204" pitchFamily="34" charset="-122"/>
                </a:rPr>
                <a:t>是一组可以完成特定功能的SQL语句集合，它可以将常用或复杂的操作封装成一个代码块存储在数据库服务器中，以便</a:t>
              </a:r>
              <a:r>
                <a:rPr lang="zh-CN" altLang="en-US" sz="2000" dirty="0" smtClean="0">
                  <a:solidFill>
                    <a:srgbClr val="1369B2"/>
                  </a:solidFill>
                  <a:latin typeface="微软雅黑" panose="020B0503020204020204" pitchFamily="34" charset="-122"/>
                  <a:ea typeface="微软雅黑" panose="020B0503020204020204" pitchFamily="34" charset="-122"/>
                </a:rPr>
                <a:t>重复使用</a:t>
              </a:r>
              <a:r>
                <a:rPr lang="zh-CN" altLang="en-US" sz="2000" dirty="0" smtClean="0">
                  <a:solidFill>
                    <a:srgbClr val="595959"/>
                  </a:solidFill>
                  <a:latin typeface="微软雅黑" panose="020B0503020204020204" pitchFamily="34" charset="-122"/>
                  <a:ea typeface="微软雅黑" panose="020B0503020204020204" pitchFamily="34" charset="-122"/>
                </a:rPr>
                <a:t>，大大减少数据库开发人员的工作量。</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2190750" y="1774825"/>
            <a:ext cx="8433435" cy="285115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2727325" y="1918970"/>
            <a:ext cx="7680960" cy="101473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在MySQL中，可以使用</a:t>
            </a:r>
            <a:r>
              <a:rPr lang="zh-CN" altLang="en-US" sz="2000" dirty="0" smtClean="0">
                <a:solidFill>
                  <a:srgbClr val="1369B2"/>
                </a:solidFill>
                <a:latin typeface="微软雅黑" panose="020B0503020204020204" pitchFamily="34" charset="-122"/>
                <a:ea typeface="微软雅黑" panose="020B0503020204020204" pitchFamily="34" charset="-122"/>
              </a:rPr>
              <a:t>CREATE PROCEDURE</a:t>
            </a:r>
            <a:r>
              <a:rPr lang="zh-CN" altLang="en-US" sz="2000" dirty="0" smtClean="0">
                <a:solidFill>
                  <a:srgbClr val="595959"/>
                </a:solidFill>
                <a:latin typeface="微软雅黑" panose="020B0503020204020204" pitchFamily="34" charset="-122"/>
                <a:ea typeface="微软雅黑" panose="020B0503020204020204" pitchFamily="34" charset="-122"/>
              </a:rPr>
              <a:t>语句创建存储过程，创建存储过程的基本语法格式如下所示。</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710815" y="3141980"/>
            <a:ext cx="7545705" cy="1087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PROCEDURE 存储过程名 ([[IN | OUT | INOUT] 参数名称 参数类型]) </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[characteristic ...] routine_body</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224915"/>
            <a:ext cx="8348345" cy="238442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30145" y="1274445"/>
            <a:ext cx="7885430" cy="230695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在上述格式中，参数名称之前有IN、OUT、INOUT三个选项，它们可以指定参数的来源和用途。这3个选项的具体含义如下所示。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IN</a:t>
            </a:r>
            <a:r>
              <a:rPr lang="zh-CN" altLang="en-US" sz="1600" dirty="0" smtClean="0">
                <a:solidFill>
                  <a:srgbClr val="595959"/>
                </a:solidFill>
                <a:latin typeface="微软雅黑" panose="020B0503020204020204" pitchFamily="34" charset="-122"/>
                <a:ea typeface="微软雅黑" panose="020B0503020204020204" pitchFamily="34" charset="-122"/>
              </a:rPr>
              <a:t>：表示输入参数，该参数需要在调用存储过程时传入。</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OUT</a:t>
            </a:r>
            <a:r>
              <a:rPr lang="zh-CN" altLang="en-US" sz="1600" dirty="0" smtClean="0">
                <a:solidFill>
                  <a:srgbClr val="595959"/>
                </a:solidFill>
                <a:latin typeface="微软雅黑" panose="020B0503020204020204" pitchFamily="34" charset="-122"/>
                <a:ea typeface="微软雅黑" panose="020B0503020204020204" pitchFamily="34" charset="-122"/>
              </a:rPr>
              <a:t>：表示输出参数，初始值为</a:t>
            </a:r>
            <a:r>
              <a:rPr lang="zh-CN" altLang="en-US" sz="1600" dirty="0" smtClean="0">
                <a:solidFill>
                  <a:srgbClr val="1369B2"/>
                </a:solidFill>
                <a:latin typeface="微软雅黑" panose="020B0503020204020204" pitchFamily="34" charset="-122"/>
                <a:ea typeface="微软雅黑" panose="020B0503020204020204" pitchFamily="34" charset="-122"/>
              </a:rPr>
              <a:t>NULL</a:t>
            </a:r>
            <a:r>
              <a:rPr lang="zh-CN" altLang="en-US" sz="1600" dirty="0" smtClean="0">
                <a:solidFill>
                  <a:srgbClr val="595959"/>
                </a:solidFill>
                <a:latin typeface="微软雅黑" panose="020B0503020204020204" pitchFamily="34" charset="-122"/>
                <a:ea typeface="微软雅黑" panose="020B0503020204020204" pitchFamily="34" charset="-122"/>
              </a:rPr>
              <a:t>，它是将存储过程中的值保存到</a:t>
            </a:r>
            <a:r>
              <a:rPr lang="zh-CN" altLang="en-US" sz="1600" dirty="0" smtClean="0">
                <a:solidFill>
                  <a:srgbClr val="1369B2"/>
                </a:solidFill>
                <a:latin typeface="微软雅黑" panose="020B0503020204020204" pitchFamily="34" charset="-122"/>
                <a:ea typeface="微软雅黑" panose="020B0503020204020204" pitchFamily="34" charset="-122"/>
              </a:rPr>
              <a:t>OUT</a:t>
            </a:r>
            <a:r>
              <a:rPr lang="zh-CN" altLang="en-US" sz="1600" dirty="0" smtClean="0">
                <a:solidFill>
                  <a:srgbClr val="595959"/>
                </a:solidFill>
                <a:latin typeface="微软雅黑" panose="020B0503020204020204" pitchFamily="34" charset="-122"/>
                <a:ea typeface="微软雅黑" panose="020B0503020204020204" pitchFamily="34" charset="-122"/>
              </a:rPr>
              <a:t>指定的参数中，返回给调用者。</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INOUT</a:t>
            </a:r>
            <a:r>
              <a:rPr lang="zh-CN" altLang="en-US" sz="1600" dirty="0" smtClean="0">
                <a:solidFill>
                  <a:srgbClr val="595959"/>
                </a:solidFill>
                <a:latin typeface="微软雅黑" panose="020B0503020204020204" pitchFamily="34" charset="-122"/>
                <a:ea typeface="微软雅黑" panose="020B0503020204020204" pitchFamily="34" charset="-122"/>
              </a:rPr>
              <a:t>：表示输入输出参数，既可以作为输入参数也可以作为输出参数。</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2" name="流程图: 过程 1"/>
          <p:cNvSpPr/>
          <p:nvPr/>
        </p:nvSpPr>
        <p:spPr>
          <a:xfrm>
            <a:off x="2134870" y="4222750"/>
            <a:ext cx="8348345" cy="16109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文本框 6"/>
          <p:cNvSpPr txBox="1"/>
          <p:nvPr/>
        </p:nvSpPr>
        <p:spPr>
          <a:xfrm>
            <a:off x="2566670" y="4377690"/>
            <a:ext cx="7314565" cy="1198880"/>
          </a:xfrm>
          <a:prstGeom prst="rect">
            <a:avLst/>
          </a:prstGeom>
          <a:noFill/>
        </p:spPr>
        <p:txBody>
          <a:bodyPr wrap="square" rtlCol="0">
            <a:spAutoFit/>
          </a:bodyPr>
          <a:lstStyle/>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routine_body</a:t>
            </a:r>
            <a:r>
              <a:rPr lang="zh-CN" altLang="en-US" sz="1600" dirty="0" smtClean="0">
                <a:solidFill>
                  <a:srgbClr val="595959"/>
                </a:solidFill>
                <a:latin typeface="微软雅黑" panose="020B0503020204020204" pitchFamily="34" charset="-122"/>
                <a:ea typeface="微软雅黑" panose="020B0503020204020204" pitchFamily="34" charset="-122"/>
              </a:rPr>
              <a:t>：表示存储过程中的过程体，是包含在存储过程中的有效的SQL例程语句，以</a:t>
            </a:r>
            <a:r>
              <a:rPr lang="zh-CN" altLang="en-US" sz="1600" dirty="0" smtClean="0">
                <a:solidFill>
                  <a:srgbClr val="1369B2"/>
                </a:solidFill>
                <a:latin typeface="微软雅黑" panose="020B0503020204020204" pitchFamily="34" charset="-122"/>
                <a:ea typeface="微软雅黑" panose="020B0503020204020204" pitchFamily="34" charset="-122"/>
              </a:rPr>
              <a:t>BEGIN</a:t>
            </a:r>
            <a:r>
              <a:rPr lang="zh-CN" altLang="en-US" sz="1600" dirty="0" smtClean="0">
                <a:solidFill>
                  <a:srgbClr val="595959"/>
                </a:solidFill>
                <a:latin typeface="微软雅黑" panose="020B0503020204020204" pitchFamily="34" charset="-122"/>
                <a:ea typeface="微软雅黑" panose="020B0503020204020204" pitchFamily="34" charset="-122"/>
              </a:rPr>
              <a:t>表示过程体的开始，以</a:t>
            </a:r>
            <a:r>
              <a:rPr lang="zh-CN" altLang="en-US" sz="1600" dirty="0" smtClean="0">
                <a:solidFill>
                  <a:srgbClr val="1369B2"/>
                </a:solidFill>
                <a:latin typeface="微软雅黑" panose="020B0503020204020204" pitchFamily="34" charset="-122"/>
                <a:ea typeface="微软雅黑" panose="020B0503020204020204" pitchFamily="34" charset="-122"/>
              </a:rPr>
              <a:t>END</a:t>
            </a:r>
            <a:r>
              <a:rPr lang="zh-CN" altLang="en-US" sz="1600" dirty="0" smtClean="0">
                <a:solidFill>
                  <a:srgbClr val="595959"/>
                </a:solidFill>
                <a:latin typeface="微软雅黑" panose="020B0503020204020204" pitchFamily="34" charset="-122"/>
                <a:ea typeface="微软雅黑" panose="020B0503020204020204" pitchFamily="34" charset="-122"/>
              </a:rPr>
              <a:t>表示过程体的结束。如果过程体中只有一条SQL语句，则可以省略BEGIN和END的标志</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1253490" y="2003425"/>
          <a:ext cx="9785985" cy="4267200"/>
        </p:xfrm>
        <a:graphic>
          <a:graphicData uri="http://schemas.openxmlformats.org/drawingml/2006/table">
            <a:tbl>
              <a:tblPr firstRow="1" bandRow="1">
                <a:tableStyleId>{5940675A-B579-460E-94D1-54222C63F5DA}</a:tableStyleId>
              </a:tblPr>
              <a:tblGrid>
                <a:gridCol w="3382645"/>
                <a:gridCol w="6403340"/>
              </a:tblGrid>
              <a:tr h="391160">
                <a:tc>
                  <a:txBody>
                    <a:bodyPr/>
                    <a:lstStyle/>
                    <a:p>
                      <a:pPr indent="0" algn="ctr">
                        <a:lnSpc>
                          <a:spcPct val="120000"/>
                        </a:lnSpc>
                        <a:spcBef>
                          <a:spcPts val="0"/>
                        </a:spcBef>
                        <a:spcAft>
                          <a:spcPts val="0"/>
                        </a:spcAft>
                        <a:buNone/>
                      </a:pPr>
                      <a:r>
                        <a:rPr lang="en-US" sz="1600" b="1" spc="120">
                          <a:solidFill>
                            <a:srgbClr val="646464"/>
                          </a:solidFill>
                          <a:latin typeface="微软雅黑" panose="020B0503020204020204" pitchFamily="34" charset="-122"/>
                          <a:ea typeface="微软雅黑" panose="020B0503020204020204" pitchFamily="34" charset="-122"/>
                        </a:rPr>
                        <a:t>特性值</a:t>
                      </a:r>
                      <a:endParaRPr lang="en-US" sz="1600" b="1"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a:noFill/>
                    </a:lnT>
                    <a:lnB w="12700">
                      <a:solidFill>
                        <a:schemeClr val="bg1"/>
                      </a:solidFill>
                      <a:prstDash val="solid"/>
                    </a:lnB>
                    <a:lnTlToBr>
                      <a:noFill/>
                    </a:lnTlToBr>
                    <a:lnBlToTr>
                      <a:noFill/>
                    </a:lnBlToTr>
                    <a:solidFill>
                      <a:schemeClr val="bg1">
                        <a:lumMod val="95000"/>
                      </a:schemeClr>
                    </a:solidFill>
                  </a:tcPr>
                </a:tc>
                <a:tc>
                  <a:txBody>
                    <a:bodyPr/>
                    <a:lstStyle/>
                    <a:p>
                      <a:pPr indent="0" algn="ctr">
                        <a:lnSpc>
                          <a:spcPct val="120000"/>
                        </a:lnSpc>
                        <a:spcBef>
                          <a:spcPts val="0"/>
                        </a:spcBef>
                        <a:spcAft>
                          <a:spcPts val="0"/>
                        </a:spcAft>
                        <a:buNone/>
                      </a:pPr>
                      <a:r>
                        <a:rPr lang="en-US" sz="1600" b="1" spc="12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描   述</a:t>
                      </a:r>
                      <a:endParaRPr lang="en-US" sz="1600" b="1" spc="12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a:noFill/>
                    </a:lnT>
                    <a:lnB w="12700">
                      <a:solidFill>
                        <a:schemeClr val="bg1"/>
                      </a:solidFill>
                      <a:prstDash val="solid"/>
                    </a:lnB>
                    <a:lnTlToBr>
                      <a:noFill/>
                    </a:lnTlToBr>
                    <a:lnBlToTr>
                      <a:noFill/>
                    </a:lnBlToTr>
                    <a:solidFill>
                      <a:schemeClr val="bg1">
                        <a:lumMod val="95000"/>
                      </a:schemeClr>
                    </a:solidFill>
                  </a:tcPr>
                </a:tc>
              </a:tr>
              <a:tr h="365760">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COMMENT '注释信息'</a:t>
                      </a:r>
                      <a:endParaRPr lang="en-US" sz="1600" b="0" spc="12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为存储过程的例程设置注释信息</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65125">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LANGUAGE SQL</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表示编写例程所使用的语言，默认仅支持SQL</a:t>
                      </a:r>
                      <a:endPar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951865">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[NOT] DETERMINISTIC</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表示例程的确定性，如果一个例程对于相同的输入参数总是产生相同的结果，那么它就被认为是“确定性的” ，否则就是“非确定性的”。</a:t>
                      </a:r>
                      <a:endPar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65125">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CONTAINS SQL</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表示例程包含SQL语句，但不包含读或写数据的语句</a:t>
                      </a:r>
                      <a:endPar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65760">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NO SQL</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表示例程中不包含 SQL 语句</a:t>
                      </a:r>
                      <a:endParaRPr 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65760">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READS SQL DATA</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表示例程中包含读数据的语句</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65760">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MODIFIES SQL DATA</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表示例程中包含写数据的语句</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65125">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SQL SECURITY  DEFINER</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表示只有定义者才有权执行存储过程</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65760">
                <a:tc>
                  <a:txBody>
                    <a:bodyPr/>
                    <a:lstStyle/>
                    <a:p>
                      <a:pPr indent="0" algn="ctr">
                        <a:lnSpc>
                          <a:spcPct val="120000"/>
                        </a:lnSpc>
                        <a:spcBef>
                          <a:spcPts val="0"/>
                        </a:spcBef>
                        <a:spcAft>
                          <a:spcPts val="0"/>
                        </a:spcAft>
                        <a:buNone/>
                      </a:pPr>
                      <a:r>
                        <a:rPr lang="en-US" sz="1600" b="0" spc="120">
                          <a:solidFill>
                            <a:srgbClr val="646464"/>
                          </a:solidFill>
                          <a:latin typeface="微软雅黑" panose="020B0503020204020204" pitchFamily="34" charset="-122"/>
                          <a:ea typeface="微软雅黑" panose="020B0503020204020204" pitchFamily="34" charset="-122"/>
                        </a:rPr>
                        <a:t>SQL SECURITY INVOKER</a:t>
                      </a:r>
                      <a:endParaRPr lang="en-US" sz="16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a:noFill/>
                    </a:lnB>
                    <a:lnTlToBr>
                      <a:noFill/>
                    </a:lnTlToBr>
                    <a:lnBlToTr>
                      <a:noFill/>
                    </a:lnBlToTr>
                    <a:solidFill>
                      <a:schemeClr val="bg1">
                        <a:lumMod val="95000"/>
                      </a:schemeClr>
                    </a:solidFill>
                  </a:tcPr>
                </a:tc>
                <a:tc>
                  <a:txBody>
                    <a:bodyPr/>
                    <a:lstStyle/>
                    <a:p>
                      <a:pPr indent="0" algn="l">
                        <a:lnSpc>
                          <a:spcPct val="120000"/>
                        </a:lnSpc>
                        <a:spcBef>
                          <a:spcPts val="0"/>
                        </a:spcBef>
                        <a:spcAft>
                          <a:spcPts val="0"/>
                        </a:spcAft>
                        <a:buNone/>
                      </a:pPr>
                      <a:r>
                        <a:rPr lang="en-US" sz="1600" b="0" spc="120">
                          <a:solidFill>
                            <a:srgbClr val="404040"/>
                          </a:solidFill>
                          <a:latin typeface="微软雅黑" panose="020B0503020204020204" pitchFamily="34" charset="-122"/>
                          <a:ea typeface="微软雅黑" panose="020B0503020204020204" pitchFamily="34" charset="-122"/>
                        </a:rPr>
                        <a:t>表示调用者有权执行存储过程</a:t>
                      </a:r>
                      <a:endParaRPr lang="en-US" sz="1600" b="0" spc="120">
                        <a:solidFill>
                          <a:srgbClr val="404040"/>
                        </a:solidFill>
                        <a:latin typeface="微软雅黑" panose="020B0503020204020204" pitchFamily="34" charset="-122"/>
                        <a:ea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a:noFill/>
                    </a:lnB>
                    <a:lnTlToBr>
                      <a:noFill/>
                    </a:lnTlToBr>
                    <a:lnBlToTr>
                      <a:noFill/>
                    </a:lnBlToTr>
                    <a:solidFill>
                      <a:schemeClr val="bg1">
                        <a:lumMod val="95000"/>
                      </a:schemeClr>
                    </a:solidFill>
                  </a:tcPr>
                </a:tc>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流程图: 过程 4"/>
          <p:cNvSpPr/>
          <p:nvPr/>
        </p:nvSpPr>
        <p:spPr>
          <a:xfrm>
            <a:off x="2134870" y="1021715"/>
            <a:ext cx="8348345" cy="7219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文本框 2"/>
          <p:cNvSpPr txBox="1"/>
          <p:nvPr/>
        </p:nvSpPr>
        <p:spPr>
          <a:xfrm>
            <a:off x="2235200" y="1115060"/>
            <a:ext cx="7823200" cy="460375"/>
          </a:xfrm>
          <a:prstGeom prst="rect">
            <a:avLst/>
          </a:prstGeom>
          <a:noFill/>
          <a:ln w="9525">
            <a:noFill/>
          </a:ln>
        </p:spPr>
        <p:txBody>
          <a:bodyPr wrap="square">
            <a:spAutoFit/>
          </a:bodyPr>
          <a:lstStyle/>
          <a:p>
            <a:pPr algn="l">
              <a:lnSpc>
                <a:spcPct val="150000"/>
              </a:lnSpc>
              <a:buClrTx/>
              <a:buSzTx/>
              <a:buFontTx/>
            </a:pPr>
            <a:r>
              <a:rPr lang="zh-CN" altLang="en-US" sz="1600" b="0" dirty="0" smtClean="0">
                <a:solidFill>
                  <a:srgbClr val="1369B2"/>
                </a:solidFill>
                <a:latin typeface="微软雅黑" panose="020B0503020204020204" pitchFamily="34" charset="-122"/>
                <a:ea typeface="微软雅黑" panose="020B0503020204020204" pitchFamily="34" charset="-122"/>
              </a:rPr>
              <a:t>characteristic</a:t>
            </a:r>
            <a:r>
              <a:rPr lang="zh-CN" altLang="en-US" sz="1600" b="0" dirty="0" smtClean="0">
                <a:solidFill>
                  <a:srgbClr val="595959"/>
                </a:solidFill>
                <a:latin typeface="微软雅黑" panose="020B0503020204020204" pitchFamily="34" charset="-122"/>
                <a:ea typeface="微软雅黑" panose="020B0503020204020204" pitchFamily="34" charset="-122"/>
              </a:rPr>
              <a:t>：表示存储过程中的例程可以设置的特性，特性的值如下表所示。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367790"/>
            <a:ext cx="8348345" cy="410972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566670" y="1560195"/>
            <a:ext cx="7508240"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例如，员工管理系统中经常需要查询数据库ems的员工表emp中工资大于</a:t>
            </a:r>
            <a:r>
              <a:rPr lang="zh-CN" altLang="en-US" sz="1800" dirty="0" smtClean="0">
                <a:solidFill>
                  <a:srgbClr val="1369B2"/>
                </a:solidFill>
                <a:latin typeface="微软雅黑" panose="020B0503020204020204" pitchFamily="34" charset="-122"/>
                <a:ea typeface="微软雅黑" panose="020B0503020204020204" pitchFamily="34" charset="-122"/>
              </a:rPr>
              <a:t>指定金额</a:t>
            </a:r>
            <a:r>
              <a:rPr lang="zh-CN" altLang="en-US" sz="1800" dirty="0" smtClean="0">
                <a:solidFill>
                  <a:srgbClr val="595959"/>
                </a:solidFill>
                <a:latin typeface="微软雅黑" panose="020B0503020204020204" pitchFamily="34" charset="-122"/>
                <a:ea typeface="微软雅黑" panose="020B0503020204020204" pitchFamily="34" charset="-122"/>
              </a:rPr>
              <a:t>的员工信息，将这个需求编写成</a:t>
            </a:r>
            <a:r>
              <a:rPr lang="zh-CN" altLang="en-US" sz="1800" dirty="0" smtClean="0">
                <a:solidFill>
                  <a:srgbClr val="1369B2"/>
                </a:solidFill>
                <a:latin typeface="微软雅黑" panose="020B0503020204020204" pitchFamily="34" charset="-122"/>
                <a:ea typeface="微软雅黑" panose="020B0503020204020204" pitchFamily="34" charset="-122"/>
              </a:rPr>
              <a:t>存储过程</a:t>
            </a:r>
            <a:r>
              <a:rPr lang="zh-CN" altLang="en-US" sz="1800" dirty="0" smtClean="0">
                <a:solidFill>
                  <a:srgbClr val="595959"/>
                </a:solidFill>
                <a:latin typeface="微软雅黑" panose="020B0503020204020204" pitchFamily="34" charset="-122"/>
                <a:ea typeface="微软雅黑" panose="020B0503020204020204" pitchFamily="34" charset="-122"/>
              </a:rPr>
              <a:t>，以提高数据处理的效率，具体SQL语句如下所示。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773045" y="3000375"/>
            <a:ext cx="6644005" cy="2244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PROCEDURE pro_emp(IN tmp_money decimal(7,2))</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BEGIN</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SELECT * FROM emp WHERE sal &gt; tmp_money;</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END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583180" y="2205355"/>
            <a:ext cx="7400290" cy="3092307"/>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4691" y="3566"/>
              <a:ext cx="10381" cy="3119"/>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存储过程创建之后，用户可以使用</a:t>
              </a:r>
              <a:r>
                <a:rPr lang="zh-CN" altLang="en-US" sz="2000" dirty="0" smtClean="0">
                  <a:solidFill>
                    <a:srgbClr val="1369B2"/>
                  </a:solidFill>
                  <a:latin typeface="微软雅黑" panose="020B0503020204020204" pitchFamily="34" charset="-122"/>
                  <a:ea typeface="微软雅黑" panose="020B0503020204020204" pitchFamily="34" charset="-122"/>
                </a:rPr>
                <a:t>SHOW PROCEDURE STATUS</a:t>
              </a:r>
              <a:r>
                <a:rPr lang="zh-CN" altLang="en-US" sz="2000" dirty="0" smtClean="0">
                  <a:solidFill>
                    <a:srgbClr val="595959"/>
                  </a:solidFill>
                  <a:latin typeface="微软雅黑" panose="020B0503020204020204" pitchFamily="34" charset="-122"/>
                  <a:ea typeface="微软雅黑" panose="020B0503020204020204" pitchFamily="34" charset="-122"/>
                </a:rPr>
                <a:t>语句和</a:t>
              </a:r>
              <a:r>
                <a:rPr lang="zh-CN" altLang="en-US" sz="2000" dirty="0" smtClean="0">
                  <a:solidFill>
                    <a:srgbClr val="1369B2"/>
                  </a:solidFill>
                  <a:latin typeface="微软雅黑" panose="020B0503020204020204" pitchFamily="34" charset="-122"/>
                  <a:ea typeface="微软雅黑" panose="020B0503020204020204" pitchFamily="34" charset="-122"/>
                </a:rPr>
                <a:t>SHOW CREATE PROCEDURE</a:t>
              </a:r>
              <a:r>
                <a:rPr lang="zh-CN" altLang="en-US" sz="2000" dirty="0" smtClean="0">
                  <a:solidFill>
                    <a:srgbClr val="595959"/>
                  </a:solidFill>
                  <a:latin typeface="微软雅黑" panose="020B0503020204020204" pitchFamily="34" charset="-122"/>
                  <a:ea typeface="微软雅黑" panose="020B0503020204020204" pitchFamily="34" charset="-122"/>
                </a:rPr>
                <a:t>语句分别显示存储过程的状态信息和创建信息，也可以在</a:t>
              </a:r>
              <a:r>
                <a:rPr lang="zh-CN" altLang="en-US" sz="2000" dirty="0" smtClean="0">
                  <a:solidFill>
                    <a:srgbClr val="1369B2"/>
                  </a:solidFill>
                  <a:latin typeface="微软雅黑" panose="020B0503020204020204" pitchFamily="34" charset="-122"/>
                  <a:ea typeface="微软雅黑" panose="020B0503020204020204" pitchFamily="34" charset="-122"/>
                </a:rPr>
                <a:t>数据库information_schema中的Routines数据表</a:t>
              </a:r>
              <a:r>
                <a:rPr lang="zh-CN" altLang="en-US" sz="2000" dirty="0" smtClean="0">
                  <a:solidFill>
                    <a:srgbClr val="595959"/>
                  </a:solidFill>
                  <a:latin typeface="微软雅黑" panose="020B0503020204020204" pitchFamily="34" charset="-122"/>
                  <a:ea typeface="微软雅黑" panose="020B0503020204020204" pitchFamily="34" charset="-122"/>
                </a:rPr>
                <a:t>查询存储过程的信息，下面对这3个语句查看存储过程的信息进行讲解。</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35"/>
          <p:cNvSpPr txBox="1"/>
          <p:nvPr/>
        </p:nvSpPr>
        <p:spPr>
          <a:xfrm>
            <a:off x="1205865" y="2214880"/>
            <a:ext cx="9914255" cy="92202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800" dirty="0">
                <a:solidFill>
                  <a:srgbClr val="595959"/>
                </a:solidFill>
                <a:latin typeface="微软雅黑" panose="020B0503020204020204" pitchFamily="34" charset="-122"/>
                <a:ea typeface="微软雅黑" panose="020B0503020204020204" pitchFamily="34" charset="-122"/>
                <a:cs typeface="+mn-lt"/>
                <a:sym typeface="+mn-ea"/>
              </a:rPr>
              <a:t>SHOW PROCEDURE STATUS语句可以显示存储过程的状态信息，如存储过程名称、类型、创建者及修改日期。</a:t>
            </a:r>
            <a:r>
              <a:rPr lang="zh-CN" altLang="en-US" sz="1800" dirty="0">
                <a:solidFill>
                  <a:srgbClr val="1369B2"/>
                </a:solidFill>
                <a:latin typeface="微软雅黑" panose="020B0503020204020204" pitchFamily="34" charset="-122"/>
                <a:ea typeface="微软雅黑" panose="020B0503020204020204" pitchFamily="34" charset="-122"/>
                <a:cs typeface="+mn-lt"/>
                <a:sym typeface="+mn-ea"/>
              </a:rPr>
              <a:t>SHOW PROCEDURE STATUS</a:t>
            </a:r>
            <a:r>
              <a:rPr lang="zh-CN" altLang="en-US" sz="1800" dirty="0">
                <a:solidFill>
                  <a:srgbClr val="595959"/>
                </a:solidFill>
                <a:latin typeface="微软雅黑" panose="020B0503020204020204" pitchFamily="34" charset="-122"/>
                <a:ea typeface="微软雅黑" panose="020B0503020204020204" pitchFamily="34" charset="-122"/>
                <a:cs typeface="+mn-lt"/>
                <a:sym typeface="+mn-ea"/>
              </a:rPr>
              <a:t>语句显示存储过程状态信息的基本语法格式如下。</a:t>
            </a:r>
            <a:endParaRPr lang="zh-CN" altLang="en-US" sz="18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1292860" y="1630680"/>
            <a:ext cx="8502015" cy="368300"/>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sz="1800" dirty="0">
                <a:solidFill>
                  <a:srgbClr val="595959"/>
                </a:solidFill>
                <a:sym typeface="+mn-ea"/>
              </a:rPr>
              <a:t>（</a:t>
            </a:r>
            <a:r>
              <a:rPr lang="en-US" altLang="zh-CN" sz="1800" dirty="0">
                <a:solidFill>
                  <a:srgbClr val="595959"/>
                </a:solidFill>
                <a:sym typeface="+mn-ea"/>
              </a:rPr>
              <a:t>1</a:t>
            </a:r>
            <a:r>
              <a:rPr lang="zh-CN" altLang="en-US" sz="1800" dirty="0">
                <a:solidFill>
                  <a:srgbClr val="595959"/>
                </a:solidFill>
                <a:sym typeface="+mn-ea"/>
              </a:rPr>
              <a:t>）使用SHOW PROCEDURE STATUS语句显示存储过程的状态信息</a:t>
            </a:r>
            <a:endParaRPr lang="zh-CN" altLang="en-US" sz="1800" dirty="0">
              <a:solidFill>
                <a:srgbClr val="595959"/>
              </a:solidFill>
              <a:sym typeface="+mn-ea"/>
            </a:endParaRPr>
          </a:p>
        </p:txBody>
      </p:sp>
      <p:sp>
        <p:nvSpPr>
          <p:cNvPr id="18" name="矩形 17"/>
          <p:cNvSpPr/>
          <p:nvPr/>
        </p:nvSpPr>
        <p:spPr>
          <a:xfrm>
            <a:off x="1668145" y="3432810"/>
            <a:ext cx="6786880" cy="422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PROCEDURE STATUS [LIKE 'pattern']</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1249045" y="4152265"/>
            <a:ext cx="9347200" cy="50673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800" dirty="0">
                <a:solidFill>
                  <a:srgbClr val="595959"/>
                </a:solidFill>
                <a:latin typeface="微软雅黑" panose="020B0503020204020204" pitchFamily="34" charset="-122"/>
                <a:ea typeface="微软雅黑" panose="020B0503020204020204" pitchFamily="34" charset="-122"/>
                <a:cs typeface="+mn-lt"/>
                <a:sym typeface="+mn-ea"/>
              </a:rPr>
              <a:t>上述语法格式中，</a:t>
            </a:r>
            <a:r>
              <a:rPr lang="zh-CN" altLang="en-US" sz="1800" dirty="0">
                <a:solidFill>
                  <a:srgbClr val="1369B2"/>
                </a:solidFill>
                <a:latin typeface="微软雅黑" panose="020B0503020204020204" pitchFamily="34" charset="-122"/>
                <a:ea typeface="微软雅黑" panose="020B0503020204020204" pitchFamily="34" charset="-122"/>
                <a:cs typeface="+mn-lt"/>
                <a:sym typeface="+mn-ea"/>
              </a:rPr>
              <a:t>PROCEDURE</a:t>
            </a:r>
            <a:r>
              <a:rPr lang="zh-CN" altLang="en-US" sz="1800" dirty="0">
                <a:solidFill>
                  <a:srgbClr val="595959"/>
                </a:solidFill>
                <a:latin typeface="微软雅黑" panose="020B0503020204020204" pitchFamily="34" charset="-122"/>
                <a:ea typeface="微软雅黑" panose="020B0503020204020204" pitchFamily="34" charset="-122"/>
                <a:cs typeface="+mn-lt"/>
                <a:sym typeface="+mn-ea"/>
              </a:rPr>
              <a:t>表示存储过程；</a:t>
            </a:r>
            <a:r>
              <a:rPr lang="zh-CN" altLang="en-US" sz="1800" dirty="0">
                <a:solidFill>
                  <a:srgbClr val="1369B2"/>
                </a:solidFill>
                <a:latin typeface="微软雅黑" panose="020B0503020204020204" pitchFamily="34" charset="-122"/>
                <a:ea typeface="微软雅黑" panose="020B0503020204020204" pitchFamily="34" charset="-122"/>
                <a:cs typeface="+mn-lt"/>
                <a:sym typeface="+mn-ea"/>
              </a:rPr>
              <a:t>LIKE 'pattern'</a:t>
            </a:r>
            <a:r>
              <a:rPr lang="zh-CN" altLang="en-US" sz="1800" dirty="0">
                <a:solidFill>
                  <a:srgbClr val="595959"/>
                </a:solidFill>
                <a:latin typeface="微软雅黑" panose="020B0503020204020204" pitchFamily="34" charset="-122"/>
                <a:ea typeface="微软雅黑" panose="020B0503020204020204" pitchFamily="34" charset="-122"/>
                <a:cs typeface="+mn-lt"/>
                <a:sym typeface="+mn-ea"/>
              </a:rPr>
              <a:t>表示匹配存储过程的名称。</a:t>
            </a:r>
            <a:endParaRPr lang="zh-CN" altLang="en-US" sz="18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143635" y="1224280"/>
            <a:ext cx="9761855" cy="506349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722755" y="1416685"/>
            <a:ext cx="835215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下面通过案例演示</a:t>
            </a:r>
            <a:r>
              <a:rPr lang="zh-CN" altLang="en-US" sz="1800" dirty="0" smtClean="0">
                <a:solidFill>
                  <a:srgbClr val="1369B2"/>
                </a:solidFill>
                <a:latin typeface="微软雅黑" panose="020B0503020204020204" pitchFamily="34" charset="-122"/>
                <a:ea typeface="微软雅黑" panose="020B0503020204020204" pitchFamily="34" charset="-122"/>
              </a:rPr>
              <a:t>SHOW PROCEDURE STATUS</a:t>
            </a:r>
            <a:r>
              <a:rPr lang="zh-CN" altLang="en-US" sz="1800" dirty="0" smtClean="0">
                <a:solidFill>
                  <a:srgbClr val="595959"/>
                </a:solidFill>
                <a:latin typeface="微软雅黑" panose="020B0503020204020204" pitchFamily="34" charset="-122"/>
                <a:ea typeface="微软雅黑" panose="020B0503020204020204" pitchFamily="34" charset="-122"/>
              </a:rPr>
              <a:t>语句的使用。例如，显示数据库ems下存储过程pro_emp的状态信息，具体SQL语句如下所示。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026285" y="2496820"/>
            <a:ext cx="7390765" cy="35439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PROCEDURE STATUS LIKE 'pro_emp' \G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 row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Db: ems</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Name: pro_emp</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Type: PROCEDURE</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Definer: root@localhost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Modified: 2021-06-09 09:43:13</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Created: 2021-06-09 09:43:13</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Security_type: DEFINER</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Comment: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character_set_client: gbk</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collation_connection: gbk_chinese_ci</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Database Collation: utf8mb4_0900_ai_ci</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(0.01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35"/>
          <p:cNvSpPr txBox="1"/>
          <p:nvPr/>
        </p:nvSpPr>
        <p:spPr>
          <a:xfrm>
            <a:off x="1233805" y="2206625"/>
            <a:ext cx="8477250" cy="101473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使用</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SHOW CREATE PROCEDURE</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语句可以显示存储过程的创建语句等信息，其基本语法格式如下。</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1275715" y="1558925"/>
            <a:ext cx="8232775" cy="368300"/>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sz="1800" dirty="0">
                <a:solidFill>
                  <a:srgbClr val="595959"/>
                </a:solidFill>
                <a:sym typeface="+mn-ea"/>
              </a:rPr>
              <a:t>（</a:t>
            </a:r>
            <a:r>
              <a:rPr lang="en-US" altLang="zh-CN" sz="1800" dirty="0">
                <a:solidFill>
                  <a:srgbClr val="595959"/>
                </a:solidFill>
                <a:sym typeface="+mn-ea"/>
              </a:rPr>
              <a:t>2</a:t>
            </a:r>
            <a:r>
              <a:rPr lang="zh-CN" altLang="en-US" sz="1800" dirty="0">
                <a:solidFill>
                  <a:srgbClr val="595959"/>
                </a:solidFill>
                <a:sym typeface="+mn-ea"/>
              </a:rPr>
              <a:t>）使用SHOW CREATE PROCEDURE语句显示存储过程的创建信息</a:t>
            </a:r>
            <a:endParaRPr lang="zh-CN" altLang="en-US" sz="1800" dirty="0">
              <a:solidFill>
                <a:srgbClr val="595959"/>
              </a:solidFill>
              <a:sym typeface="+mn-ea"/>
            </a:endParaRPr>
          </a:p>
        </p:txBody>
      </p:sp>
      <p:sp>
        <p:nvSpPr>
          <p:cNvPr id="18" name="矩形 17"/>
          <p:cNvSpPr/>
          <p:nvPr/>
        </p:nvSpPr>
        <p:spPr>
          <a:xfrm>
            <a:off x="1659255" y="3430905"/>
            <a:ext cx="6652260" cy="327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CREATE PROCEDURE 存储过程名;</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1276985" y="4079875"/>
            <a:ext cx="8477250" cy="101473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上述语法格式中，</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PROCEDURE</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表示存储过程，存储过程名为显示创建信息的存储过程名称。</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91970" y="1021715"/>
            <a:ext cx="9034145" cy="53676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2134870" y="1113790"/>
            <a:ext cx="8348980"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下面通过案例演示</a:t>
            </a:r>
            <a:r>
              <a:rPr lang="zh-CN" altLang="en-US" sz="1800" dirty="0" smtClean="0">
                <a:solidFill>
                  <a:srgbClr val="1369B2"/>
                </a:solidFill>
                <a:latin typeface="微软雅黑" panose="020B0503020204020204" pitchFamily="34" charset="-122"/>
                <a:ea typeface="微软雅黑" panose="020B0503020204020204" pitchFamily="34" charset="-122"/>
              </a:rPr>
              <a:t>SHOW CREATE PROCEDURE</a:t>
            </a:r>
            <a:r>
              <a:rPr lang="zh-CN" altLang="en-US" sz="1800" dirty="0" smtClean="0">
                <a:solidFill>
                  <a:srgbClr val="595959"/>
                </a:solidFill>
                <a:latin typeface="微软雅黑" panose="020B0503020204020204" pitchFamily="34" charset="-122"/>
                <a:ea typeface="微软雅黑" panose="020B0503020204020204" pitchFamily="34" charset="-122"/>
              </a:rPr>
              <a:t>语句的使用。例如，显示数据库ems下存储过程pro_emp的创建信息，具体SQL语句如下所示。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134870" y="2214880"/>
            <a:ext cx="8348980" cy="38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CREATE PROCEDURE pro_emp \G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 row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Procedure: pro_emp</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sql_mode: ONLY_FULL_GROUP_BY,STRICT_TRANS_TABLES,NO_ZERO_IN_DATE,NO_ZERO_DATE,</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ERROR_FOR_DIVISION_BY_ZERO,NO_ENGINE_SUBSTITUTION</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Procedure: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DEFINER=`root`@`localhost` PROCEDURE `pro_emp`(IN tmp_money decimal(7,2))</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BEGIN</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SELECT * FROM emp WHERE sal &gt; tmp_money;</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character_set_client: gbk</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collation_connection: gbk_chinese_ci</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Database Collation: utf8mb4_0900_ai_ci</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35"/>
          <p:cNvSpPr txBox="1"/>
          <p:nvPr/>
        </p:nvSpPr>
        <p:spPr>
          <a:xfrm>
            <a:off x="1370965" y="1991995"/>
            <a:ext cx="8239760" cy="147637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在MySQL中，存储过程的信息存储在</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information_schema数据库下的Routines表</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中，可以通过查询该表的记录获取存储过程的信息，查询语句如下。</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1494790" y="1487805"/>
            <a:ext cx="7882255" cy="368300"/>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sz="1800" dirty="0">
                <a:solidFill>
                  <a:srgbClr val="595959"/>
                </a:solidFill>
                <a:sym typeface="+mn-ea"/>
              </a:rPr>
              <a:t>（</a:t>
            </a:r>
            <a:r>
              <a:rPr lang="en-US" altLang="zh-CN" sz="1800" dirty="0">
                <a:solidFill>
                  <a:srgbClr val="595959"/>
                </a:solidFill>
                <a:sym typeface="+mn-ea"/>
              </a:rPr>
              <a:t>3</a:t>
            </a:r>
            <a:r>
              <a:rPr lang="zh-CN" altLang="en-US" sz="1800" dirty="0">
                <a:solidFill>
                  <a:srgbClr val="595959"/>
                </a:solidFill>
                <a:sym typeface="+mn-ea"/>
              </a:rPr>
              <a:t>）从information_schema.Routines表中查看存储过程的信息</a:t>
            </a:r>
            <a:endParaRPr lang="zh-CN" altLang="en-US" sz="1800" dirty="0">
              <a:solidFill>
                <a:srgbClr val="595959"/>
              </a:solidFill>
              <a:sym typeface="+mn-ea"/>
            </a:endParaRPr>
          </a:p>
        </p:txBody>
      </p:sp>
      <p:sp>
        <p:nvSpPr>
          <p:cNvPr id="18" name="矩形 17"/>
          <p:cNvSpPr/>
          <p:nvPr/>
        </p:nvSpPr>
        <p:spPr>
          <a:xfrm>
            <a:off x="1701165" y="3719830"/>
            <a:ext cx="7908925" cy="9442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SELECT * FROM  information_schema.Routines</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WHERE ROUTINE_NAME='pro_emp' AND ROUTINE_TYPE='PROCEDURE'\G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缺角矩形 1"/>
          <p:cNvSpPr/>
          <p:nvPr/>
        </p:nvSpPr>
        <p:spPr>
          <a:xfrm>
            <a:off x="2725420" y="2205990"/>
            <a:ext cx="7229475" cy="3187065"/>
          </a:xfrm>
          <a:prstGeom prst="plaque">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3491865" y="2631440"/>
            <a:ext cx="5772785" cy="2306955"/>
          </a:xfrm>
          <a:prstGeom prst="rect">
            <a:avLst/>
          </a:prstGeom>
          <a:noFill/>
        </p:spPr>
        <p:txBody>
          <a:bodyPr wrap="square" rtlCol="0">
            <a:spAutoFit/>
          </a:bodyPr>
          <a:lstStyle/>
          <a:p>
            <a:pPr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rPr>
              <a:t>需要注意的是，information_schema数据库下的Routines表，存储着所有存储过程的定义。使用SELECT语句查询Routine表中某一存储过程的信息时，一定要使用ROUTINE_NAME字段指定存储过程的名称，否则将查询出所有存储过程的定义。如果有存储过程和函数名称相同，则需要同时指定ROUTINE_TYPE字段表明查询的是哪种类型的存储程序。</a:t>
            </a:r>
            <a:endParaRPr lang="zh-CN" altLang="en-US" sz="1600" dirty="0">
              <a:solidFill>
                <a:srgbClr val="595959"/>
              </a:solidFill>
              <a:latin typeface="微软雅黑" panose="020B0503020204020204" pitchFamily="34" charset="-122"/>
              <a:ea typeface="微软雅黑" panose="020B0503020204020204" pitchFamily="34" charset="-122"/>
              <a:cs typeface="+mn-lt"/>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调用存储过程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流程图: 过程 2"/>
          <p:cNvSpPr/>
          <p:nvPr/>
        </p:nvSpPr>
        <p:spPr>
          <a:xfrm>
            <a:off x="1846580" y="1774190"/>
            <a:ext cx="8849360" cy="407670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2303780" y="1918970"/>
            <a:ext cx="7840980"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想要使用创建好的存储过程，需要调用对应的存储过程。在MySQL中，存储过程通过</a:t>
            </a:r>
            <a:r>
              <a:rPr lang="zh-CN" altLang="en-US" sz="1600" dirty="0" smtClean="0">
                <a:solidFill>
                  <a:srgbClr val="1369B2"/>
                </a:solidFill>
                <a:latin typeface="微软雅黑" panose="020B0503020204020204" pitchFamily="34" charset="-122"/>
                <a:ea typeface="微软雅黑" panose="020B0503020204020204" pitchFamily="34" charset="-122"/>
              </a:rPr>
              <a:t>CALL</a:t>
            </a:r>
            <a:r>
              <a:rPr lang="zh-CN" altLang="en-US" sz="1600" dirty="0" smtClean="0">
                <a:solidFill>
                  <a:srgbClr val="595959"/>
                </a:solidFill>
                <a:latin typeface="微软雅黑" panose="020B0503020204020204" pitchFamily="34" charset="-122"/>
                <a:ea typeface="微软雅黑" panose="020B0503020204020204" pitchFamily="34" charset="-122"/>
              </a:rPr>
              <a:t>语句进行调用。由于存储过程和数据库相关，所以如果想要执行其他数据库中的存储过程，需要在调用时指定数据库名称，基本语法格式如下。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350770" y="3286760"/>
            <a:ext cx="7545705" cy="4311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CALL [数据库名称.]存储过程名称 ([实参列表]);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5" name="文本框 4"/>
          <p:cNvSpPr txBox="1"/>
          <p:nvPr/>
        </p:nvSpPr>
        <p:spPr>
          <a:xfrm>
            <a:off x="2377440" y="3934460"/>
            <a:ext cx="7767320" cy="175323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上述语法格式中，实参列表传递的参数需要与创建存储过程的形参相对应，当形参被指定为</a:t>
            </a:r>
            <a:r>
              <a:rPr lang="zh-CN" altLang="en-US" sz="1800" dirty="0" smtClean="0">
                <a:solidFill>
                  <a:srgbClr val="1369B2"/>
                </a:solidFill>
                <a:latin typeface="微软雅黑" panose="020B0503020204020204" pitchFamily="34" charset="-122"/>
                <a:ea typeface="微软雅黑" panose="020B0503020204020204" pitchFamily="34" charset="-122"/>
              </a:rPr>
              <a:t>IN</a:t>
            </a:r>
            <a:r>
              <a:rPr lang="zh-CN" altLang="en-US" sz="1800" dirty="0" smtClean="0">
                <a:solidFill>
                  <a:srgbClr val="595959"/>
                </a:solidFill>
                <a:latin typeface="微软雅黑" panose="020B0503020204020204" pitchFamily="34" charset="-122"/>
                <a:ea typeface="微软雅黑" panose="020B0503020204020204" pitchFamily="34" charset="-122"/>
              </a:rPr>
              <a:t>时，实参值可以为变量或者是具体的数据；当形参被指定为</a:t>
            </a:r>
            <a:r>
              <a:rPr lang="zh-CN" altLang="en-US" sz="1800" dirty="0" smtClean="0">
                <a:solidFill>
                  <a:srgbClr val="1369B2"/>
                </a:solidFill>
                <a:latin typeface="微软雅黑" panose="020B0503020204020204" pitchFamily="34" charset="-122"/>
                <a:ea typeface="微软雅黑" panose="020B0503020204020204" pitchFamily="34" charset="-122"/>
              </a:rPr>
              <a:t>OUT</a:t>
            </a:r>
            <a:r>
              <a:rPr lang="zh-CN" altLang="en-US" sz="1800" dirty="0" smtClean="0">
                <a:solidFill>
                  <a:srgbClr val="595959"/>
                </a:solidFill>
                <a:latin typeface="微软雅黑" panose="020B0503020204020204" pitchFamily="34" charset="-122"/>
                <a:ea typeface="微软雅黑" panose="020B0503020204020204" pitchFamily="34" charset="-122"/>
              </a:rPr>
              <a:t>或</a:t>
            </a:r>
            <a:r>
              <a:rPr lang="zh-CN" altLang="en-US" sz="1800" dirty="0" smtClean="0">
                <a:solidFill>
                  <a:srgbClr val="1369B2"/>
                </a:solidFill>
                <a:latin typeface="微软雅黑" panose="020B0503020204020204" pitchFamily="34" charset="-122"/>
                <a:ea typeface="微软雅黑" panose="020B0503020204020204" pitchFamily="34" charset="-122"/>
              </a:rPr>
              <a:t>INOUT</a:t>
            </a:r>
            <a:r>
              <a:rPr lang="zh-CN" altLang="en-US" sz="1800" dirty="0" smtClean="0">
                <a:solidFill>
                  <a:srgbClr val="595959"/>
                </a:solidFill>
                <a:latin typeface="微软雅黑" panose="020B0503020204020204" pitchFamily="34" charset="-122"/>
                <a:ea typeface="微软雅黑" panose="020B0503020204020204" pitchFamily="34" charset="-122"/>
              </a:rPr>
              <a:t>时，调用存储过程传递的参数必须是一个变量，用于接收返回给调用者的数据。</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224280"/>
            <a:ext cx="8348345" cy="533590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566670" y="1344930"/>
            <a:ext cx="7508240"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例如，</a:t>
            </a:r>
            <a:r>
              <a:rPr lang="zh-CN" altLang="en-US" sz="1800" dirty="0" smtClean="0">
                <a:solidFill>
                  <a:srgbClr val="1369B2"/>
                </a:solidFill>
                <a:latin typeface="微软雅黑" panose="020B0503020204020204" pitchFamily="34" charset="-122"/>
                <a:ea typeface="微软雅黑" panose="020B0503020204020204" pitchFamily="34" charset="-122"/>
              </a:rPr>
              <a:t>验证存储过程pro_emp的效果</a:t>
            </a:r>
            <a:r>
              <a:rPr lang="zh-CN" altLang="en-US" sz="1800" dirty="0" smtClean="0">
                <a:solidFill>
                  <a:srgbClr val="595959"/>
                </a:solidFill>
                <a:latin typeface="微软雅黑" panose="020B0503020204020204" pitchFamily="34" charset="-122"/>
                <a:ea typeface="微软雅黑" panose="020B0503020204020204" pitchFamily="34" charset="-122"/>
              </a:rPr>
              <a:t>，调用数据库ems中的存储过程pro_emp，查询数据库ems的员工表emp中工资大于3000的员工信息，具体SQL语句及执行结果如下所示。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773045" y="2898140"/>
            <a:ext cx="6644005" cy="3572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CALL pro_emp(3000);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empno | ename | job    | mgr  | sal     | comm    | deptno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9566 | 李四  | 经理   | 9839 | 3995.00 | 1400.00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9839 | 刘一  | 董事长 | NULL | 6000.00 |    NULL |     10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9902 | 赵六  | 分析员 | 9566 | 4000.00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9977 | 唐僧  | 人事   | 9982 | 4000.00 | 1900.00 |     40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9982 | 陈二  | 经理   | 9839 | 3450.00 |  600.00 |     10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9988 | 王五  | 分析员 | 9566 | 4000.00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6 rows in set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0 rows affected (0.06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调用存储过程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流程图: 过程 2"/>
          <p:cNvSpPr/>
          <p:nvPr/>
        </p:nvSpPr>
        <p:spPr>
          <a:xfrm>
            <a:off x="1630045" y="1631315"/>
            <a:ext cx="9123680" cy="377888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17700" y="1775460"/>
            <a:ext cx="8641080"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在实际开发中，业务需求更改的情况时有发生，这样就不可避免的需要修改存储过程。在MySQL中，可以使用</a:t>
            </a:r>
            <a:r>
              <a:rPr lang="zh-CN" altLang="en-US" sz="1800" dirty="0" smtClean="0">
                <a:solidFill>
                  <a:srgbClr val="1369B2"/>
                </a:solidFill>
                <a:latin typeface="微软雅黑" panose="020B0503020204020204" pitchFamily="34" charset="-122"/>
                <a:ea typeface="微软雅黑" panose="020B0503020204020204" pitchFamily="34" charset="-122"/>
              </a:rPr>
              <a:t>ALTER</a:t>
            </a:r>
            <a:r>
              <a:rPr lang="zh-CN" altLang="en-US" sz="1800" dirty="0" smtClean="0">
                <a:solidFill>
                  <a:srgbClr val="595959"/>
                </a:solidFill>
                <a:latin typeface="微软雅黑" panose="020B0503020204020204" pitchFamily="34" charset="-122"/>
                <a:ea typeface="微软雅黑" panose="020B0503020204020204" pitchFamily="34" charset="-122"/>
              </a:rPr>
              <a:t>语句修改存储过程，其基本语法格式如下。</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1990725" y="2926715"/>
            <a:ext cx="7545705" cy="4311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ALTER PROCEDURE 过程名称 [characteristic ...];</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5" name="文本框 4"/>
          <p:cNvSpPr txBox="1"/>
          <p:nvPr/>
        </p:nvSpPr>
        <p:spPr>
          <a:xfrm>
            <a:off x="1961515" y="3646805"/>
            <a:ext cx="8792210"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需要注意的是，上述语法格式不能修改存储过程的参数，只能修改存储过中例程的特征值，可修改的特征值为创建存储过程时所包含的特征值除“[NOT] DETERMINISTIC”之外的其他8个。</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511300"/>
            <a:ext cx="8348345" cy="34245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81580" y="1703705"/>
            <a:ext cx="7684770"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根据修改存储过程的语法格式，</a:t>
            </a:r>
            <a:r>
              <a:rPr lang="zh-CN" altLang="en-US" sz="1800" dirty="0" smtClean="0">
                <a:solidFill>
                  <a:srgbClr val="1369B2"/>
                </a:solidFill>
                <a:latin typeface="微软雅黑" panose="020B0503020204020204" pitchFamily="34" charset="-122"/>
                <a:ea typeface="微软雅黑" panose="020B0503020204020204" pitchFamily="34" charset="-122"/>
              </a:rPr>
              <a:t>修改ems中的存储过程pro_emp的特征值</a:t>
            </a:r>
            <a:r>
              <a:rPr lang="zh-CN" altLang="en-US" sz="1800" dirty="0" smtClean="0">
                <a:solidFill>
                  <a:srgbClr val="595959"/>
                </a:solidFill>
                <a:latin typeface="微软雅黑" panose="020B0503020204020204" pitchFamily="34" charset="-122"/>
                <a:ea typeface="微软雅黑" panose="020B0503020204020204" pitchFamily="34" charset="-122"/>
              </a:rPr>
              <a:t>，将执行存储过程pro_emp的执行权限从定义者修改为调用者，并且添加注释信息，具体SQL语句及执行结果如下所示。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773045" y="3215640"/>
            <a:ext cx="6644005" cy="11982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ALTER PROCEDURE pro_emp</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SQL SECURITY INVOKER</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COMMENT '统计工资大于指定金额的员工个数';</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0 rows affected (0.02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511300"/>
            <a:ext cx="8348345" cy="468947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2548890" y="1758950"/>
            <a:ext cx="7743190" cy="50673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通过查询存储过程状态的语句进行验证，具体SQL语句及执行结果如下所示。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782570" y="2360930"/>
            <a:ext cx="6644005" cy="3543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SHOW PROCEDURE STATUS LIKE 'pro_emp'\G</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1. row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Db: ems</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Name: pro_emp</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Type: PROCEDURE</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Definer: root@localhost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Modified: 2021-06-09 10:23:49</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Created: 2021-06-09 09:43:13</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Security_type: INVOKER</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Comment: 统计工资大于指定金额的员工个数</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character_set_client: gbk</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collation_connection: gbk_chinese_ci</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Database Collation: utf8mb4_0900_ai_ci</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(0.01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8.1.5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流程图: 过程 2"/>
          <p:cNvSpPr/>
          <p:nvPr/>
        </p:nvSpPr>
        <p:spPr>
          <a:xfrm>
            <a:off x="1656715" y="1774825"/>
            <a:ext cx="9166860" cy="362267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1918970"/>
            <a:ext cx="866838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存储过程被创建后，会一直保存在数据库服务器上，如果当前存储过程需要被废弃，可以对其进行删除。MySQL 中，</a:t>
            </a:r>
            <a:r>
              <a:rPr lang="zh-CN" altLang="en-US" sz="1800" dirty="0" smtClean="0">
                <a:solidFill>
                  <a:srgbClr val="1369B2"/>
                </a:solidFill>
                <a:latin typeface="微软雅黑" panose="020B0503020204020204" pitchFamily="34" charset="-122"/>
                <a:ea typeface="微软雅黑" panose="020B0503020204020204" pitchFamily="34" charset="-122"/>
              </a:rPr>
              <a:t>删除存储过程</a:t>
            </a:r>
            <a:r>
              <a:rPr lang="zh-CN" altLang="en-US" sz="1800" dirty="0" smtClean="0">
                <a:solidFill>
                  <a:srgbClr val="595959"/>
                </a:solidFill>
                <a:latin typeface="微软雅黑" panose="020B0503020204020204" pitchFamily="34" charset="-122"/>
                <a:ea typeface="微软雅黑" panose="020B0503020204020204" pitchFamily="34" charset="-122"/>
              </a:rPr>
              <a:t>的基本语法格式如下所示。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134235" y="2998470"/>
            <a:ext cx="7545705" cy="4311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DROP PROCEDURE [IF EXISTS] 存储过程名称;</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5" name="文本框 4"/>
          <p:cNvSpPr txBox="1"/>
          <p:nvPr/>
        </p:nvSpPr>
        <p:spPr>
          <a:xfrm>
            <a:off x="1990725" y="3718560"/>
            <a:ext cx="8524875"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上述语法格式中，存储过程名称指的是要删除的存储过程的名称；</a:t>
            </a:r>
            <a:r>
              <a:rPr lang="zh-CN" altLang="en-US" sz="1800" dirty="0" smtClean="0">
                <a:solidFill>
                  <a:srgbClr val="1369B2"/>
                </a:solidFill>
                <a:latin typeface="微软雅黑" panose="020B0503020204020204" pitchFamily="34" charset="-122"/>
                <a:ea typeface="微软雅黑" panose="020B0503020204020204" pitchFamily="34" charset="-122"/>
              </a:rPr>
              <a:t>IF EXISTS用于判断要删除的存储过程是否存在</a:t>
            </a:r>
            <a:r>
              <a:rPr lang="zh-CN" altLang="en-US" sz="1800" dirty="0" smtClean="0">
                <a:solidFill>
                  <a:srgbClr val="595959"/>
                </a:solidFill>
                <a:latin typeface="微软雅黑" panose="020B0503020204020204" pitchFamily="34" charset="-122"/>
                <a:ea typeface="微软雅黑" panose="020B0503020204020204" pitchFamily="34" charset="-122"/>
              </a:rPr>
              <a:t>，如果要删除的存储过程不存在，它可以产生一个警告避免发生错误。</a:t>
            </a:r>
            <a:r>
              <a:rPr lang="zh-CN" altLang="en-US" sz="1800" dirty="0" smtClean="0">
                <a:solidFill>
                  <a:srgbClr val="1369B2"/>
                </a:solidFill>
                <a:latin typeface="微软雅黑" panose="020B0503020204020204" pitchFamily="34" charset="-122"/>
                <a:ea typeface="微软雅黑" panose="020B0503020204020204" pitchFamily="34" charset="-122"/>
              </a:rPr>
              <a:t>IF EXISTS产生</a:t>
            </a:r>
            <a:r>
              <a:rPr lang="zh-CN" altLang="en-US" sz="1800" dirty="0" smtClean="0">
                <a:solidFill>
                  <a:srgbClr val="595959"/>
                </a:solidFill>
                <a:latin typeface="微软雅黑" panose="020B0503020204020204" pitchFamily="34" charset="-122"/>
                <a:ea typeface="微软雅黑" panose="020B0503020204020204" pitchFamily="34" charset="-122"/>
              </a:rPr>
              <a:t>的警告可以使用</a:t>
            </a:r>
            <a:r>
              <a:rPr lang="zh-CN" altLang="en-US" sz="1800" dirty="0" smtClean="0">
                <a:solidFill>
                  <a:srgbClr val="1369B2"/>
                </a:solidFill>
                <a:latin typeface="微软雅黑" panose="020B0503020204020204" pitchFamily="34" charset="-122"/>
                <a:ea typeface="微软雅黑" panose="020B0503020204020204" pitchFamily="34" charset="-122"/>
              </a:rPr>
              <a:t>SHOW WARNINGS</a:t>
            </a:r>
            <a:r>
              <a:rPr lang="zh-CN" altLang="en-US" sz="1800" dirty="0" smtClean="0">
                <a:solidFill>
                  <a:srgbClr val="595959"/>
                </a:solidFill>
                <a:latin typeface="微软雅黑" panose="020B0503020204020204" pitchFamily="34" charset="-122"/>
                <a:ea typeface="微软雅黑" panose="020B0503020204020204" pitchFamily="34" charset="-122"/>
              </a:rPr>
              <a:t>进行查询。</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439545"/>
            <a:ext cx="8348345" cy="44786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81580" y="1775460"/>
            <a:ext cx="7684770" cy="46037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例如，</a:t>
            </a:r>
            <a:r>
              <a:rPr lang="zh-CN" altLang="en-US" sz="1600" dirty="0" smtClean="0">
                <a:solidFill>
                  <a:srgbClr val="1369B2"/>
                </a:solidFill>
                <a:latin typeface="微软雅黑" panose="020B0503020204020204" pitchFamily="34" charset="-122"/>
                <a:ea typeface="微软雅黑" panose="020B0503020204020204" pitchFamily="34" charset="-122"/>
              </a:rPr>
              <a:t>删除数据库ems中的存储过程pro_emp</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，具体SQL语句和执行结果如下所示。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782570" y="2524125"/>
            <a:ext cx="7383780" cy="7327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DROP PROCEDURE IF EXISTS pro_emp;</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(0.01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文本框 1"/>
          <p:cNvSpPr txBox="1"/>
          <p:nvPr/>
        </p:nvSpPr>
        <p:spPr>
          <a:xfrm>
            <a:off x="2481580" y="3534410"/>
            <a:ext cx="774319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查询 information_schema数据库下Routines表中存储过程pro_emp的记录，</a:t>
            </a:r>
            <a:r>
              <a:rPr lang="zh-CN" altLang="en-US" sz="1600" dirty="0" smtClean="0">
                <a:solidFill>
                  <a:srgbClr val="1369B2"/>
                </a:solidFill>
                <a:latin typeface="微软雅黑" panose="020B0503020204020204" pitchFamily="34" charset="-122"/>
                <a:ea typeface="微软雅黑" panose="020B0503020204020204" pitchFamily="34" charset="-122"/>
              </a:rPr>
              <a:t>验证存储过程pro_emp是否删除成功</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，具体SQL语句及查询结果如下所示。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782570" y="4511040"/>
            <a:ext cx="7383780" cy="10217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 FROM  information_schema.Routines</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-&gt; WHERE ROUTINE_NAME='pro_emp' AND ROUTINE_TYPE='PROCEDURE'\G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Empty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8.1.5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删除存储过程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595959"/>
                </a:solidFill>
                <a:latin typeface="微软雅黑" panose="020B0503020204020204" pitchFamily="34" charset="-122"/>
                <a:ea typeface="微软雅黑" panose="020B0503020204020204" pitchFamily="34" charset="-122"/>
                <a:cs typeface="+mn-ea"/>
                <a:sym typeface="+mn-lt"/>
              </a:rPr>
              <a:t>存储</a:t>
            </a:r>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函数</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266315" y="1724025"/>
            <a:ext cx="7717155" cy="3431807"/>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5478" y="3615"/>
              <a:ext cx="9010" cy="3351"/>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MySQL支持函数的使用，MySQL中的函数可以分为两种，一种是</a:t>
              </a:r>
              <a:r>
                <a:rPr lang="zh-CN" altLang="en-US" sz="2000" dirty="0" smtClean="0">
                  <a:solidFill>
                    <a:srgbClr val="1369B2"/>
                  </a:solidFill>
                  <a:latin typeface="微软雅黑" panose="020B0503020204020204" pitchFamily="34" charset="-122"/>
                  <a:ea typeface="微软雅黑" panose="020B0503020204020204" pitchFamily="34" charset="-122"/>
                </a:rPr>
                <a:t>内置函数</a:t>
              </a:r>
              <a:r>
                <a:rPr lang="zh-CN" altLang="en-US" sz="2000" dirty="0" smtClean="0">
                  <a:solidFill>
                    <a:srgbClr val="595959"/>
                  </a:solidFill>
                  <a:latin typeface="微软雅黑" panose="020B0503020204020204" pitchFamily="34" charset="-122"/>
                  <a:ea typeface="微软雅黑" panose="020B0503020204020204" pitchFamily="34" charset="-122"/>
                </a:rPr>
                <a:t>，一种是</a:t>
              </a:r>
              <a:r>
                <a:rPr lang="zh-CN" altLang="en-US" sz="2000" dirty="0" smtClean="0">
                  <a:solidFill>
                    <a:srgbClr val="1369B2"/>
                  </a:solidFill>
                  <a:latin typeface="微软雅黑" panose="020B0503020204020204" pitchFamily="34" charset="-122"/>
                  <a:ea typeface="微软雅黑" panose="020B0503020204020204" pitchFamily="34" charset="-122"/>
                </a:rPr>
                <a:t>自定义函数</a:t>
              </a:r>
              <a:r>
                <a:rPr lang="zh-CN" altLang="en-US" sz="2000" dirty="0" smtClean="0">
                  <a:solidFill>
                    <a:srgbClr val="595959"/>
                  </a:solidFill>
                  <a:latin typeface="微软雅黑" panose="020B0503020204020204" pitchFamily="34" charset="-122"/>
                  <a:ea typeface="微软雅黑" panose="020B0503020204020204" pitchFamily="34" charset="-122"/>
                </a:rPr>
                <a:t>。在MySQL中，通常将用户自定义的函数称为</a:t>
              </a:r>
              <a:r>
                <a:rPr lang="zh-CN" altLang="en-US" sz="2000" dirty="0" smtClean="0">
                  <a:solidFill>
                    <a:srgbClr val="1369B2"/>
                  </a:solidFill>
                  <a:latin typeface="微软雅黑" panose="020B0503020204020204" pitchFamily="34" charset="-122"/>
                  <a:ea typeface="微软雅黑" panose="020B0503020204020204" pitchFamily="34" charset="-122"/>
                </a:rPr>
                <a:t>存储函数</a:t>
              </a:r>
              <a:r>
                <a:rPr lang="zh-CN" altLang="en-US" sz="2000" dirty="0" smtClean="0">
                  <a:solidFill>
                    <a:srgbClr val="595959"/>
                  </a:solidFill>
                  <a:latin typeface="微软雅黑" panose="020B0503020204020204" pitchFamily="34" charset="-122"/>
                  <a:ea typeface="微软雅黑" panose="020B0503020204020204" pitchFamily="34" charset="-122"/>
                </a:rPr>
                <a:t>，存储函数和MySQL内置函数性质相同，都用于实现某种功能。之前在第4章的4.4.5节中已经对常见的内置函数进行了讲解，本节将对存储函数进行讲解。</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846580"/>
            <a:ext cx="9166860" cy="368173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1990725"/>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存储函数和存储过程类似，都是存储在数据库中的一段SQL语句的集合，它们的区别在于存储过程没有直接返回值，主要用于执行操作，而存储函数可以通过</a:t>
            </a:r>
            <a:r>
              <a:rPr lang="zh-CN" altLang="en-US" sz="2000" dirty="0" smtClean="0">
                <a:solidFill>
                  <a:srgbClr val="1369B2"/>
                </a:solidFill>
                <a:latin typeface="微软雅黑" panose="020B0503020204020204" pitchFamily="34" charset="-122"/>
                <a:ea typeface="微软雅黑" panose="020B0503020204020204" pitchFamily="34" charset="-122"/>
              </a:rPr>
              <a:t>return</a:t>
            </a:r>
            <a:r>
              <a:rPr lang="zh-CN" altLang="en-US" sz="2000" dirty="0" smtClean="0">
                <a:solidFill>
                  <a:srgbClr val="595959"/>
                </a:solidFill>
                <a:latin typeface="微软雅黑" panose="020B0503020204020204" pitchFamily="34" charset="-122"/>
                <a:ea typeface="微软雅黑" panose="020B0503020204020204" pitchFamily="34" charset="-122"/>
              </a:rPr>
              <a:t>语句返回数据。</a:t>
            </a:r>
            <a:r>
              <a:rPr lang="zh-CN" altLang="en-US" sz="2000" dirty="0" smtClean="0">
                <a:solidFill>
                  <a:srgbClr val="1369B2"/>
                </a:solidFill>
                <a:latin typeface="微软雅黑" panose="020B0503020204020204" pitchFamily="34" charset="-122"/>
                <a:ea typeface="微软雅黑" panose="020B0503020204020204" pitchFamily="34" charset="-122"/>
              </a:rPr>
              <a:t>创建存储函数</a:t>
            </a:r>
            <a:r>
              <a:rPr lang="zh-CN" altLang="en-US" sz="2000" dirty="0" smtClean="0">
                <a:solidFill>
                  <a:srgbClr val="595959"/>
                </a:solidFill>
                <a:latin typeface="微软雅黑" panose="020B0503020204020204" pitchFamily="34" charset="-122"/>
                <a:ea typeface="微软雅黑" panose="020B0503020204020204" pitchFamily="34" charset="-122"/>
              </a:rPr>
              <a:t>的基本语法格式如下所示。</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134870" y="3790315"/>
            <a:ext cx="7545705" cy="12522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FUNCTION func_name ([func_parameter[...]])</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RETURNS type</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[characteristic ...]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Routine_body</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2166620"/>
            <a:ext cx="8348345" cy="305117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566670" y="2421255"/>
            <a:ext cx="7314565" cy="267652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上述语法格式中，</a:t>
            </a:r>
            <a:r>
              <a:rPr lang="zh-CN" altLang="en-US" sz="1600" dirty="0" smtClean="0">
                <a:solidFill>
                  <a:srgbClr val="1369B2"/>
                </a:solidFill>
                <a:latin typeface="微软雅黑" panose="020B0503020204020204" pitchFamily="34" charset="-122"/>
                <a:ea typeface="微软雅黑" panose="020B0503020204020204" pitchFamily="34" charset="-122"/>
              </a:rPr>
              <a:t>func_name</a:t>
            </a:r>
            <a:r>
              <a:rPr lang="zh-CN" altLang="en-US" sz="1600" dirty="0" smtClean="0">
                <a:solidFill>
                  <a:srgbClr val="595959"/>
                </a:solidFill>
                <a:latin typeface="微软雅黑" panose="020B0503020204020204" pitchFamily="34" charset="-122"/>
                <a:ea typeface="微软雅黑" panose="020B0503020204020204" pitchFamily="34" charset="-122"/>
              </a:rPr>
              <a:t>表示存储函数的名称；</a:t>
            </a:r>
            <a:r>
              <a:rPr lang="zh-CN" altLang="en-US" sz="1600" dirty="0" smtClean="0">
                <a:solidFill>
                  <a:srgbClr val="1369B2"/>
                </a:solidFill>
                <a:latin typeface="微软雅黑" panose="020B0503020204020204" pitchFamily="34" charset="-122"/>
                <a:ea typeface="微软雅黑" panose="020B0503020204020204" pitchFamily="34" charset="-122"/>
              </a:rPr>
              <a:t>func_parameter</a:t>
            </a:r>
            <a:r>
              <a:rPr lang="zh-CN" altLang="en-US" sz="1600" dirty="0" smtClean="0">
                <a:solidFill>
                  <a:srgbClr val="595959"/>
                </a:solidFill>
                <a:latin typeface="微软雅黑" panose="020B0503020204020204" pitchFamily="34" charset="-122"/>
                <a:ea typeface="微软雅黑" panose="020B0503020204020204" pitchFamily="34" charset="-122"/>
              </a:rPr>
              <a:t>表示存储函数的参数列表，其形式和存储过程相同；</a:t>
            </a:r>
            <a:r>
              <a:rPr lang="zh-CN" altLang="en-US" sz="1600" dirty="0" smtClean="0">
                <a:solidFill>
                  <a:srgbClr val="1369B2"/>
                </a:solidFill>
                <a:latin typeface="微软雅黑" panose="020B0503020204020204" pitchFamily="34" charset="-122"/>
                <a:ea typeface="微软雅黑" panose="020B0503020204020204" pitchFamily="34" charset="-122"/>
              </a:rPr>
              <a:t>RETURNS type</a:t>
            </a:r>
            <a:r>
              <a:rPr lang="zh-CN" altLang="en-US" sz="1600" dirty="0" smtClean="0">
                <a:solidFill>
                  <a:srgbClr val="595959"/>
                </a:solidFill>
                <a:latin typeface="微软雅黑" panose="020B0503020204020204" pitchFamily="34" charset="-122"/>
                <a:ea typeface="微软雅黑" panose="020B0503020204020204" pitchFamily="34" charset="-122"/>
              </a:rPr>
              <a:t>指定函数返回值的类型；</a:t>
            </a:r>
            <a:r>
              <a:rPr lang="zh-CN" altLang="en-US" sz="1600" dirty="0" smtClean="0">
                <a:solidFill>
                  <a:srgbClr val="1369B2"/>
                </a:solidFill>
                <a:latin typeface="微软雅黑" panose="020B0503020204020204" pitchFamily="34" charset="-122"/>
                <a:ea typeface="微软雅黑" panose="020B0503020204020204" pitchFamily="34" charset="-122"/>
              </a:rPr>
              <a:t>characteristic </a:t>
            </a:r>
            <a:r>
              <a:rPr lang="zh-CN" altLang="en-US" sz="1600" dirty="0" smtClean="0">
                <a:solidFill>
                  <a:srgbClr val="595959"/>
                </a:solidFill>
                <a:latin typeface="微软雅黑" panose="020B0503020204020204" pitchFamily="34" charset="-122"/>
                <a:ea typeface="微软雅黑" panose="020B0503020204020204" pitchFamily="34" charset="-122"/>
              </a:rPr>
              <a:t>参数指定存储函数的特征，该参数的取值与存储过程是一样的；</a:t>
            </a:r>
            <a:r>
              <a:rPr lang="zh-CN" altLang="en-US" sz="1600" dirty="0" smtClean="0">
                <a:solidFill>
                  <a:srgbClr val="1369B2"/>
                </a:solidFill>
                <a:latin typeface="微软雅黑" panose="020B0503020204020204" pitchFamily="34" charset="-122"/>
                <a:ea typeface="微软雅黑" panose="020B0503020204020204" pitchFamily="34" charset="-122"/>
              </a:rPr>
              <a:t>Routine_body</a:t>
            </a:r>
            <a:r>
              <a:rPr lang="zh-CN" altLang="en-US" sz="1600" dirty="0" smtClean="0">
                <a:solidFill>
                  <a:srgbClr val="595959"/>
                </a:solidFill>
                <a:latin typeface="微软雅黑" panose="020B0503020204020204" pitchFamily="34" charset="-122"/>
                <a:ea typeface="微软雅黑" panose="020B0503020204020204" pitchFamily="34" charset="-122"/>
              </a:rPr>
              <a:t>表示包含在存储函数中的SQL语句块，和存储过程中的SQL语句块一样，可以用 </a:t>
            </a:r>
            <a:r>
              <a:rPr lang="zh-CN" altLang="en-US" sz="1600" dirty="0" smtClean="0">
                <a:solidFill>
                  <a:srgbClr val="1369B2"/>
                </a:solidFill>
                <a:latin typeface="微软雅黑" panose="020B0503020204020204" pitchFamily="34" charset="-122"/>
                <a:ea typeface="微软雅黑" panose="020B0503020204020204" pitchFamily="34" charset="-122"/>
              </a:rPr>
              <a:t>BEGIN...END</a:t>
            </a:r>
            <a:r>
              <a:rPr lang="zh-CN" altLang="en-US" sz="1600" dirty="0" smtClean="0">
                <a:solidFill>
                  <a:srgbClr val="595959"/>
                </a:solidFill>
                <a:latin typeface="微软雅黑" panose="020B0503020204020204" pitchFamily="34" charset="-122"/>
                <a:ea typeface="微软雅黑" panose="020B0503020204020204" pitchFamily="34" charset="-122"/>
              </a:rPr>
              <a:t>来标识SQL代码的开始和结束。Routine_body中必须包含一个</a:t>
            </a:r>
            <a:r>
              <a:rPr lang="zh-CN" altLang="en-US" sz="1600" dirty="0" smtClean="0">
                <a:solidFill>
                  <a:srgbClr val="1369B2"/>
                </a:solidFill>
                <a:latin typeface="微软雅黑" panose="020B0503020204020204" pitchFamily="34" charset="-122"/>
                <a:ea typeface="微软雅黑" panose="020B0503020204020204" pitchFamily="34" charset="-122"/>
              </a:rPr>
              <a:t>RETURN value</a:t>
            </a:r>
            <a:r>
              <a:rPr lang="zh-CN" altLang="en-US" sz="1600" dirty="0" smtClean="0">
                <a:solidFill>
                  <a:srgbClr val="595959"/>
                </a:solidFill>
                <a:latin typeface="微软雅黑" panose="020B0503020204020204" pitchFamily="34" charset="-122"/>
                <a:ea typeface="微软雅黑" panose="020B0503020204020204" pitchFamily="34" charset="-122"/>
              </a:rPr>
              <a:t>语句，其中value的数据类型必须和定义的返回值类型一致。</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583055"/>
            <a:ext cx="8348345" cy="447230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566670" y="1775460"/>
            <a:ext cx="7508240"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例如，员工管理系统中经常需要根据输入员工的姓名返回对应的工资信息，将这个需求编写成</a:t>
            </a:r>
            <a:r>
              <a:rPr lang="zh-CN" altLang="en-US" sz="1800" dirty="0" smtClean="0">
                <a:solidFill>
                  <a:srgbClr val="1369B2"/>
                </a:solidFill>
                <a:latin typeface="微软雅黑" panose="020B0503020204020204" pitchFamily="34" charset="-122"/>
                <a:ea typeface="微软雅黑" panose="020B0503020204020204" pitchFamily="34" charset="-122"/>
              </a:rPr>
              <a:t>存储函数</a:t>
            </a:r>
            <a:r>
              <a:rPr lang="zh-CN" altLang="en-US" sz="1800" dirty="0" smtClean="0">
                <a:solidFill>
                  <a:srgbClr val="595959"/>
                </a:solidFill>
                <a:latin typeface="微软雅黑" panose="020B0503020204020204" pitchFamily="34" charset="-122"/>
                <a:ea typeface="微软雅黑" panose="020B0503020204020204" pitchFamily="34" charset="-122"/>
              </a:rPr>
              <a:t>，以提高数据处理的效率，具体SQL语句如下所示。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639060" y="3286760"/>
            <a:ext cx="6644005" cy="24460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&amp;&amp;</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FUNCTION func_emp(emp_name VARCHAR(20))</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RETURNS  decimal(7,2)</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BEGIN</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RETURN (SELECT sal FROM emp WHERE ename=emp_name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END &amp;&amp;</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510665" y="1532255"/>
            <a:ext cx="9671685" cy="4027805"/>
            <a:chOff x="3815" y="6824"/>
            <a:chExt cx="13029" cy="6159"/>
          </a:xfrm>
        </p:grpSpPr>
        <p:sp>
          <p:nvSpPr>
            <p:cNvPr id="5" name="流程图: 过程 4"/>
            <p:cNvSpPr/>
            <p:nvPr/>
          </p:nvSpPr>
          <p:spPr>
            <a:xfrm>
              <a:off x="5176" y="6824"/>
              <a:ext cx="11668" cy="6159"/>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6207" y="6971"/>
              <a:ext cx="10375" cy="1269"/>
            </a:xfrm>
            <a:prstGeom prst="rect">
              <a:avLst/>
            </a:prstGeom>
            <a:noFill/>
          </p:spPr>
          <p:txBody>
            <a:bodyPr wrap="square" rtlCol="0">
              <a:spAutoFit/>
            </a:bodyPr>
            <a:lstStyle/>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创建存储函数报错</a:t>
              </a:r>
              <a:endParaRPr lang="zh-CN" altLang="en-US" sz="1600" dirty="0" smtClean="0">
                <a:solidFill>
                  <a:srgbClr val="1369B2"/>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有时创建存储函数时，可能会出现如下错误提示。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3815" y="8908"/>
              <a:ext cx="2562" cy="1474"/>
              <a:chOff x="1914" y="8968"/>
              <a:chExt cx="2562" cy="1474"/>
            </a:xfrm>
          </p:grpSpPr>
          <p:sp>
            <p:nvSpPr>
              <p:cNvPr id="7" name="七角星 6"/>
              <p:cNvSpPr/>
              <p:nvPr/>
            </p:nvSpPr>
            <p:spPr>
              <a:xfrm>
                <a:off x="1914" y="8968"/>
                <a:ext cx="2042" cy="1474"/>
              </a:xfrm>
              <a:prstGeom prst="star7">
                <a:avLst/>
              </a:prstGeom>
              <a:solidFill>
                <a:srgbClr val="1369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1"/>
              <p:cNvSpPr txBox="1"/>
              <p:nvPr>
                <p:custDataLst>
                  <p:tags r:id="rId1"/>
                </p:custDataLst>
              </p:nvPr>
            </p:nvSpPr>
            <p:spPr>
              <a:xfrm>
                <a:off x="2400" y="9127"/>
                <a:ext cx="2076" cy="987"/>
              </a:xfrm>
              <a:prstGeom prst="rect">
                <a:avLst/>
              </a:prstGeom>
              <a:noFill/>
              <a:ln>
                <a:noFill/>
              </a:ln>
            </p:spPr>
            <p:txBody>
              <a:bodyPr wrap="square" rtlCol="0">
                <a:spAutoFit/>
              </a:bodyPr>
              <a:lstStyle/>
              <a:p>
                <a:pPr marL="0" marR="0" lvl="0" indent="0" defTabSz="457200" eaLnBrk="1" fontAlgn="auto" latinLnBrk="0" hangingPunct="1">
                  <a:lnSpc>
                    <a:spcPct val="150000"/>
                  </a:lnSpc>
                  <a:spcBef>
                    <a:spcPts val="0"/>
                  </a:spcBef>
                  <a:spcAft>
                    <a:spcPts val="0"/>
                  </a:spcAft>
                  <a:buClrTx/>
                  <a:buSzTx/>
                  <a:buFontTx/>
                  <a:buNone/>
                  <a:defRPr/>
                </a:pPr>
                <a:r>
                  <a:rPr lang="zh-CN" altLang="en-US" kern="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提示</a:t>
                </a:r>
                <a:endParaRPr lang="zh-CN" altLang="en-US" kern="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grpSp>
      </p:grpSp>
      <p:sp>
        <p:nvSpPr>
          <p:cNvPr id="8" name="矩形 7"/>
          <p:cNvSpPr/>
          <p:nvPr/>
        </p:nvSpPr>
        <p:spPr>
          <a:xfrm>
            <a:off x="3335020" y="2559050"/>
            <a:ext cx="7545705" cy="1381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ERROR 1418 (HY000): This function has none of DETERMINISTIC, NO SQL, or READS SQL DATA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in its declaration and binary logging is enabled (you *might* want to use the less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safe log_bin_trust_function_creators variable)</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0" name="文本框 9"/>
          <p:cNvSpPr txBox="1"/>
          <p:nvPr/>
        </p:nvSpPr>
        <p:spPr>
          <a:xfrm>
            <a:off x="3335655" y="4007485"/>
            <a:ext cx="738378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出现上述错误的原因是</a:t>
            </a:r>
            <a:r>
              <a:rPr lang="zh-CN" altLang="en-US" sz="1600" dirty="0" smtClean="0">
                <a:solidFill>
                  <a:srgbClr val="1369B2"/>
                </a:solidFill>
                <a:latin typeface="微软雅黑" panose="020B0503020204020204" pitchFamily="34" charset="-122"/>
                <a:ea typeface="微软雅黑" panose="020B0503020204020204" pitchFamily="34" charset="-122"/>
              </a:rPr>
              <a:t>mysql的设置默认不允许创建自定义函数</a:t>
            </a:r>
            <a:r>
              <a:rPr lang="zh-CN" altLang="en-US" sz="1600" dirty="0" smtClean="0">
                <a:solidFill>
                  <a:srgbClr val="595959"/>
                </a:solidFill>
                <a:latin typeface="微软雅黑" panose="020B0503020204020204" pitchFamily="34" charset="-122"/>
                <a:ea typeface="微软雅黑" panose="020B0503020204020204" pitchFamily="34" charset="-122"/>
              </a:rPr>
              <a:t>。针对上述错误，可以先更改对应的配置，再进行自定义函数的创建，更改配置的语句如下。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11" name="矩形 10"/>
          <p:cNvSpPr/>
          <p:nvPr/>
        </p:nvSpPr>
        <p:spPr>
          <a:xfrm>
            <a:off x="3335020" y="4837430"/>
            <a:ext cx="7545705" cy="452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SET GLOBAL log_bin_trust_function_creators = 1;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31415" y="1826895"/>
            <a:ext cx="7552055" cy="3449967"/>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4885" y="3767"/>
              <a:ext cx="10316" cy="279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存储过程创建之后，用户可以使用</a:t>
              </a:r>
              <a:r>
                <a:rPr lang="zh-CN" altLang="en-US" sz="2000" dirty="0" smtClean="0">
                  <a:solidFill>
                    <a:srgbClr val="1369B2"/>
                  </a:solidFill>
                  <a:latin typeface="微软雅黑" panose="020B0503020204020204" pitchFamily="34" charset="-122"/>
                  <a:ea typeface="微软雅黑" panose="020B0503020204020204" pitchFamily="34" charset="-122"/>
                </a:rPr>
                <a:t>SHOW FUNCTION STATUS</a:t>
              </a:r>
              <a:r>
                <a:rPr lang="zh-CN" altLang="en-US" sz="2000" dirty="0" smtClean="0">
                  <a:solidFill>
                    <a:srgbClr val="595959"/>
                  </a:solidFill>
                  <a:latin typeface="微软雅黑" panose="020B0503020204020204" pitchFamily="34" charset="-122"/>
                  <a:ea typeface="微软雅黑" panose="020B0503020204020204" pitchFamily="34" charset="-122"/>
                </a:rPr>
                <a:t>语句和</a:t>
              </a:r>
              <a:r>
                <a:rPr lang="zh-CN" altLang="en-US" sz="2000" dirty="0" smtClean="0">
                  <a:solidFill>
                    <a:srgbClr val="1369B2"/>
                  </a:solidFill>
                  <a:latin typeface="微软雅黑" panose="020B0503020204020204" pitchFamily="34" charset="-122"/>
                  <a:ea typeface="微软雅黑" panose="020B0503020204020204" pitchFamily="34" charset="-122"/>
                </a:rPr>
                <a:t>SHOW CREATE FUNCTION</a:t>
              </a:r>
              <a:r>
                <a:rPr lang="zh-CN" altLang="en-US" sz="2000" dirty="0" smtClean="0">
                  <a:solidFill>
                    <a:srgbClr val="595959"/>
                  </a:solidFill>
                  <a:latin typeface="微软雅黑" panose="020B0503020204020204" pitchFamily="34" charset="-122"/>
                  <a:ea typeface="微软雅黑" panose="020B0503020204020204" pitchFamily="34" charset="-122"/>
                </a:rPr>
                <a:t>语句分别显示存储函数的状态信息和创建信息，也可以在数据库</a:t>
              </a:r>
              <a:r>
                <a:rPr lang="zh-CN" altLang="en-US" sz="2000" dirty="0" smtClean="0">
                  <a:solidFill>
                    <a:srgbClr val="1369B2"/>
                  </a:solidFill>
                  <a:latin typeface="微软雅黑" panose="020B0503020204020204" pitchFamily="34" charset="-122"/>
                  <a:ea typeface="微软雅黑" panose="020B0503020204020204" pitchFamily="34" charset="-122"/>
                </a:rPr>
                <a:t>information_schema中的Routines数据表查询存储函数的信息</a:t>
              </a:r>
              <a:r>
                <a:rPr lang="zh-CN" altLang="en-US" sz="2000" dirty="0" smtClean="0">
                  <a:solidFill>
                    <a:srgbClr val="595959"/>
                  </a:solidFill>
                  <a:latin typeface="微软雅黑" panose="020B0503020204020204" pitchFamily="34" charset="-122"/>
                  <a:ea typeface="微软雅黑" panose="020B0503020204020204" pitchFamily="34" charset="-122"/>
                </a:rPr>
                <a:t>，下面对这3个语句查看存储函数的信息进行讲解。</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990090"/>
            <a:ext cx="9166860" cy="362267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134235"/>
            <a:ext cx="866838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（1）使用</a:t>
            </a:r>
            <a:r>
              <a:rPr lang="zh-CN" altLang="en-US" sz="1800" dirty="0" smtClean="0">
                <a:solidFill>
                  <a:srgbClr val="1369B2"/>
                </a:solidFill>
                <a:latin typeface="微软雅黑" panose="020B0503020204020204" pitchFamily="34" charset="-122"/>
                <a:ea typeface="微软雅黑" panose="020B0503020204020204" pitchFamily="34" charset="-122"/>
              </a:rPr>
              <a:t>SHOW FUNCTION STATUS</a:t>
            </a:r>
            <a:r>
              <a:rPr lang="zh-CN" altLang="en-US" sz="1800" dirty="0" smtClean="0">
                <a:solidFill>
                  <a:srgbClr val="595959"/>
                </a:solidFill>
                <a:latin typeface="微软雅黑" panose="020B0503020204020204" pitchFamily="34" charset="-122"/>
                <a:ea typeface="微软雅黑" panose="020B0503020204020204" pitchFamily="34" charset="-122"/>
              </a:rPr>
              <a:t>语句显示存储函数的状态信息，基本语法格式如下。</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062480" y="3056255"/>
            <a:ext cx="7545705" cy="4229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FUNCTION STATUS [LIKE 'pattern'];</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062480" y="3502025"/>
            <a:ext cx="866838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（2）使用</a:t>
            </a:r>
            <a:r>
              <a:rPr lang="zh-CN" altLang="en-US" sz="1800" dirty="0" smtClean="0">
                <a:solidFill>
                  <a:srgbClr val="1369B2"/>
                </a:solidFill>
                <a:latin typeface="微软雅黑" panose="020B0503020204020204" pitchFamily="34" charset="-122"/>
                <a:ea typeface="微软雅黑" panose="020B0503020204020204" pitchFamily="34" charset="-122"/>
              </a:rPr>
              <a:t>SHOW CREATE FUNCTION</a:t>
            </a:r>
            <a:r>
              <a:rPr lang="zh-CN" altLang="en-US" sz="1800" dirty="0" smtClean="0">
                <a:solidFill>
                  <a:srgbClr val="595959"/>
                </a:solidFill>
                <a:latin typeface="微软雅黑" panose="020B0503020204020204" pitchFamily="34" charset="-122"/>
                <a:ea typeface="微软雅黑" panose="020B0503020204020204" pitchFamily="34" charset="-122"/>
              </a:rPr>
              <a:t>语句显示存储函数的创建信息，基本语法格式如下。</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5" name="矩形 4"/>
          <p:cNvSpPr/>
          <p:nvPr/>
        </p:nvSpPr>
        <p:spPr>
          <a:xfrm>
            <a:off x="2206625" y="4582160"/>
            <a:ext cx="7545705" cy="4229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CREATE FUNCTION 存储函数名;</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30680" y="1702435"/>
            <a:ext cx="9166860" cy="362267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2122805" y="1847215"/>
            <a:ext cx="850582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（3）在</a:t>
            </a:r>
            <a:r>
              <a:rPr lang="zh-CN" altLang="en-US" sz="1800" dirty="0" smtClean="0">
                <a:solidFill>
                  <a:srgbClr val="1369B2"/>
                </a:solidFill>
                <a:latin typeface="微软雅黑" panose="020B0503020204020204" pitchFamily="34" charset="-122"/>
                <a:ea typeface="微软雅黑" panose="020B0503020204020204" pitchFamily="34" charset="-122"/>
              </a:rPr>
              <a:t>information_schema.Routines表中查看存储函数的信息</a:t>
            </a:r>
            <a:r>
              <a:rPr lang="zh-CN" altLang="en-US" sz="1800" dirty="0" smtClean="0">
                <a:solidFill>
                  <a:srgbClr val="595959"/>
                </a:solidFill>
                <a:latin typeface="微软雅黑" panose="020B0503020204020204" pitchFamily="34" charset="-122"/>
                <a:ea typeface="微软雅黑" panose="020B0503020204020204" pitchFamily="34" charset="-122"/>
              </a:rPr>
              <a:t>，基本语法格式如下。</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062480" y="2769235"/>
            <a:ext cx="7545705" cy="6889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SELECT * FROM  information_schema.Routines</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WHERE ROUTINE_NAME='存储函数名' AND ROUTINE_TYPE='FUNCTION'\G</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 name="文本框 1"/>
          <p:cNvSpPr txBox="1"/>
          <p:nvPr/>
        </p:nvSpPr>
        <p:spPr>
          <a:xfrm>
            <a:off x="2062480" y="3790950"/>
            <a:ext cx="853122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从上述3种查看语法格式可以看出，查看存储函数和查看存储过程的区别在于，</a:t>
            </a:r>
            <a:r>
              <a:rPr lang="zh-CN" altLang="en-US" sz="1800" dirty="0" smtClean="0">
                <a:solidFill>
                  <a:srgbClr val="1369B2"/>
                </a:solidFill>
                <a:latin typeface="微软雅黑" panose="020B0503020204020204" pitchFamily="34" charset="-122"/>
                <a:ea typeface="微软雅黑" panose="020B0503020204020204" pitchFamily="34" charset="-122"/>
              </a:rPr>
              <a:t>存储过程</a:t>
            </a:r>
            <a:r>
              <a:rPr lang="zh-CN" altLang="en-US" sz="1800" dirty="0" smtClean="0">
                <a:solidFill>
                  <a:srgbClr val="595959"/>
                </a:solidFill>
                <a:latin typeface="微软雅黑" panose="020B0503020204020204" pitchFamily="34" charset="-122"/>
                <a:ea typeface="微软雅黑" panose="020B0503020204020204" pitchFamily="34" charset="-122"/>
              </a:rPr>
              <a:t>的查看使用</a:t>
            </a:r>
            <a:r>
              <a:rPr lang="zh-CN" altLang="en-US" sz="1800" dirty="0" smtClean="0">
                <a:solidFill>
                  <a:srgbClr val="1369B2"/>
                </a:solidFill>
                <a:latin typeface="微软雅黑" panose="020B0503020204020204" pitchFamily="34" charset="-122"/>
                <a:ea typeface="微软雅黑" panose="020B0503020204020204" pitchFamily="34" charset="-122"/>
              </a:rPr>
              <a:t>PROCEDURE</a:t>
            </a:r>
            <a:r>
              <a:rPr lang="zh-CN" altLang="en-US" sz="1800" dirty="0" smtClean="0">
                <a:solidFill>
                  <a:srgbClr val="595959"/>
                </a:solidFill>
                <a:latin typeface="微软雅黑" panose="020B0503020204020204" pitchFamily="34" charset="-122"/>
                <a:ea typeface="微软雅黑" panose="020B0503020204020204" pitchFamily="34" charset="-122"/>
              </a:rPr>
              <a:t> 关键字，</a:t>
            </a:r>
            <a:r>
              <a:rPr lang="zh-CN" altLang="en-US" sz="1800" dirty="0" smtClean="0">
                <a:solidFill>
                  <a:srgbClr val="1369B2"/>
                </a:solidFill>
                <a:latin typeface="微软雅黑" panose="020B0503020204020204" pitchFamily="34" charset="-122"/>
                <a:ea typeface="微软雅黑" panose="020B0503020204020204" pitchFamily="34" charset="-122"/>
              </a:rPr>
              <a:t>存储函数</a:t>
            </a:r>
            <a:r>
              <a:rPr lang="zh-CN" altLang="en-US" sz="1800" dirty="0" smtClean="0">
                <a:solidFill>
                  <a:srgbClr val="595959"/>
                </a:solidFill>
                <a:latin typeface="微软雅黑" panose="020B0503020204020204" pitchFamily="34" charset="-122"/>
                <a:ea typeface="微软雅黑" panose="020B0503020204020204" pitchFamily="34" charset="-122"/>
              </a:rPr>
              <a:t>的查看使用</a:t>
            </a:r>
            <a:r>
              <a:rPr lang="zh-CN" altLang="en-US" sz="1800" dirty="0" smtClean="0">
                <a:solidFill>
                  <a:srgbClr val="1369B2"/>
                </a:solidFill>
                <a:latin typeface="微软雅黑" panose="020B0503020204020204" pitchFamily="34" charset="-122"/>
                <a:ea typeface="微软雅黑" panose="020B0503020204020204" pitchFamily="34" charset="-122"/>
              </a:rPr>
              <a:t>FUNCTION</a:t>
            </a:r>
            <a:r>
              <a:rPr lang="zh-CN" altLang="en-US" sz="1800" dirty="0" smtClean="0">
                <a:solidFill>
                  <a:srgbClr val="595959"/>
                </a:solidFill>
                <a:latin typeface="微软雅黑" panose="020B0503020204020204" pitchFamily="34" charset="-122"/>
                <a:ea typeface="微软雅黑" panose="020B0503020204020204" pitchFamily="34" charset="-122"/>
              </a:rPr>
              <a:t>关键字。</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940435"/>
            <a:ext cx="8348345" cy="546354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94915" y="1273810"/>
            <a:ext cx="7684770"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下面以</a:t>
            </a:r>
            <a:r>
              <a:rPr lang="zh-CN" altLang="en-US" sz="1800" dirty="0" smtClean="0">
                <a:solidFill>
                  <a:srgbClr val="1369B2"/>
                </a:solidFill>
                <a:latin typeface="微软雅黑" panose="020B0503020204020204" pitchFamily="34" charset="-122"/>
                <a:ea typeface="微软雅黑" panose="020B0503020204020204" pitchFamily="34" charset="-122"/>
              </a:rPr>
              <a:t>SHOW FUNCTION STATUS</a:t>
            </a:r>
            <a:r>
              <a:rPr lang="zh-CN" altLang="en-US" sz="1800" dirty="0" smtClean="0">
                <a:solidFill>
                  <a:srgbClr val="595959"/>
                </a:solidFill>
                <a:latin typeface="微软雅黑" panose="020B0503020204020204" pitchFamily="34" charset="-122"/>
                <a:ea typeface="微软雅黑" panose="020B0503020204020204" pitchFamily="34" charset="-122"/>
              </a:rPr>
              <a:t>语句为例，查看数据库ems中，存储函数func_emp的状态信息，具体SQL语句如下所示。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653030" y="2437130"/>
            <a:ext cx="6884035" cy="36734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FUNCTION STATUS LIKE 'func_emp' \G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 row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Db: ems</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Name: func_emp</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Type: FUNCTION</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Definer: root@localhost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Modified: 2021-06-09 11:08:00</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Created: 2021-06-09 11:08:00</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Security_type: DEFINER</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Comment: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character_set_client: gbk</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collation_connection: gbk_chinese_ci</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Database Collation: utf8mb4_0900_ai_ci</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918335"/>
            <a:ext cx="9166860" cy="300355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062480"/>
            <a:ext cx="866838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和存储过程一样，如果想要让创建的存储函数在程序中发挥作用，需要调用才能使其执行，</a:t>
            </a:r>
            <a:r>
              <a:rPr lang="zh-CN" altLang="en-US" sz="1800" dirty="0" smtClean="0">
                <a:solidFill>
                  <a:srgbClr val="1369B2"/>
                </a:solidFill>
                <a:latin typeface="微软雅黑" panose="020B0503020204020204" pitchFamily="34" charset="-122"/>
                <a:ea typeface="微软雅黑" panose="020B0503020204020204" pitchFamily="34" charset="-122"/>
              </a:rPr>
              <a:t>存储函数的调用</a:t>
            </a:r>
            <a:r>
              <a:rPr lang="zh-CN" altLang="en-US" sz="1800" dirty="0" smtClean="0">
                <a:solidFill>
                  <a:srgbClr val="595959"/>
                </a:solidFill>
                <a:latin typeface="微软雅黑" panose="020B0503020204020204" pitchFamily="34" charset="-122"/>
                <a:ea typeface="微软雅黑" panose="020B0503020204020204" pitchFamily="34" charset="-122"/>
              </a:rPr>
              <a:t>和MySQL内置函数的调用方式类似，基本语法格式如下所示。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062480" y="2984500"/>
            <a:ext cx="7545705" cy="4229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SELECT [数据库名.]函数名1（实参列表）[函数名2 (实参列表)…];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062480" y="3430270"/>
            <a:ext cx="8668385"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上述语法格式中，</a:t>
            </a:r>
            <a:r>
              <a:rPr lang="zh-CN" altLang="en-US" sz="1800" dirty="0" smtClean="0">
                <a:solidFill>
                  <a:srgbClr val="1369B2"/>
                </a:solidFill>
                <a:latin typeface="微软雅黑" panose="020B0503020204020204" pitchFamily="34" charset="-122"/>
                <a:ea typeface="微软雅黑" panose="020B0503020204020204" pitchFamily="34" charset="-122"/>
              </a:rPr>
              <a:t>数据库名</a:t>
            </a:r>
            <a:r>
              <a:rPr lang="zh-CN" altLang="en-US" sz="1800" dirty="0" smtClean="0">
                <a:solidFill>
                  <a:srgbClr val="595959"/>
                </a:solidFill>
                <a:latin typeface="微软雅黑" panose="020B0503020204020204" pitchFamily="34" charset="-122"/>
                <a:ea typeface="微软雅黑" panose="020B0503020204020204" pitchFamily="34" charset="-122"/>
              </a:rPr>
              <a:t>是可选参数，指调用存储函数时，函数所属的数据库的名称，如不指定默认为当前数据库；实参列表中的值需和定义存储函数时设置的类型一致。</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调用存储函数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586230"/>
            <a:ext cx="8348345" cy="384238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6" name="文本框 5"/>
          <p:cNvSpPr txBox="1"/>
          <p:nvPr/>
        </p:nvSpPr>
        <p:spPr>
          <a:xfrm>
            <a:off x="2494915" y="1919605"/>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通过案例演示</a:t>
            </a:r>
            <a:r>
              <a:rPr lang="zh-CN" altLang="en-US" sz="1600" dirty="0" smtClean="0">
                <a:solidFill>
                  <a:srgbClr val="1369B2"/>
                </a:solidFill>
                <a:latin typeface="微软雅黑" panose="020B0503020204020204" pitchFamily="34" charset="-122"/>
                <a:ea typeface="微软雅黑" panose="020B0503020204020204" pitchFamily="34" charset="-122"/>
              </a:rPr>
              <a:t>存储函数的调用</a:t>
            </a:r>
            <a:r>
              <a:rPr lang="zh-CN" altLang="en-US" sz="1600" dirty="0" smtClean="0">
                <a:solidFill>
                  <a:srgbClr val="595959"/>
                </a:solidFill>
                <a:latin typeface="微软雅黑" panose="020B0503020204020204" pitchFamily="34" charset="-122"/>
                <a:ea typeface="微软雅黑" panose="020B0503020204020204" pitchFamily="34" charset="-122"/>
              </a:rPr>
              <a:t>，例如，调用ems中存储函数func_emp，具体SQL语句如下所示。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653030" y="3001010"/>
            <a:ext cx="6884035" cy="20510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SELECT func_emp('刘一');</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func_emp('刘一')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6000.00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调用存储函数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846580"/>
            <a:ext cx="9166860" cy="362267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1990725"/>
            <a:ext cx="8668385" cy="101473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MySQL中，如果需要</a:t>
            </a:r>
            <a:r>
              <a:rPr lang="zh-CN" altLang="en-US" sz="2000" dirty="0" smtClean="0">
                <a:solidFill>
                  <a:srgbClr val="1369B2"/>
                </a:solidFill>
                <a:latin typeface="微软雅黑" panose="020B0503020204020204" pitchFamily="34" charset="-122"/>
                <a:ea typeface="微软雅黑" panose="020B0503020204020204" pitchFamily="34" charset="-122"/>
              </a:rPr>
              <a:t>删除存储函数</a:t>
            </a:r>
            <a:r>
              <a:rPr lang="zh-CN" altLang="en-US" sz="2000" dirty="0" smtClean="0">
                <a:solidFill>
                  <a:srgbClr val="595959"/>
                </a:solidFill>
                <a:latin typeface="微软雅黑" panose="020B0503020204020204" pitchFamily="34" charset="-122"/>
                <a:ea typeface="微软雅黑" panose="020B0503020204020204" pitchFamily="34" charset="-122"/>
              </a:rPr>
              <a:t>，可以使用</a:t>
            </a:r>
            <a:r>
              <a:rPr lang="zh-CN" altLang="en-US" sz="2000" dirty="0" smtClean="0">
                <a:solidFill>
                  <a:srgbClr val="1369B2"/>
                </a:solidFill>
                <a:latin typeface="微软雅黑" panose="020B0503020204020204" pitchFamily="34" charset="-122"/>
                <a:ea typeface="微软雅黑" panose="020B0503020204020204" pitchFamily="34" charset="-122"/>
              </a:rPr>
              <a:t>DROP FUNCTION</a:t>
            </a:r>
            <a:r>
              <a:rPr lang="zh-CN" altLang="en-US" sz="2000" dirty="0" smtClean="0">
                <a:solidFill>
                  <a:srgbClr val="595959"/>
                </a:solidFill>
                <a:latin typeface="微软雅黑" panose="020B0503020204020204" pitchFamily="34" charset="-122"/>
                <a:ea typeface="微软雅黑" panose="020B0503020204020204" pitchFamily="34" charset="-122"/>
              </a:rPr>
              <a:t>语句，删除存储函数的语法格式如下所示。</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062480" y="3430270"/>
            <a:ext cx="7545705" cy="4229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DROP FUNCTION [IF EXISTS] 函数名称;</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062480" y="4006215"/>
            <a:ext cx="8668385" cy="101473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上述语法格式中，</a:t>
            </a:r>
            <a:r>
              <a:rPr lang="zh-CN" altLang="en-US" sz="2000" dirty="0" smtClean="0">
                <a:solidFill>
                  <a:srgbClr val="1369B2"/>
                </a:solidFill>
                <a:latin typeface="微软雅黑" panose="020B0503020204020204" pitchFamily="34" charset="-122"/>
                <a:ea typeface="微软雅黑" panose="020B0503020204020204" pitchFamily="34" charset="-122"/>
              </a:rPr>
              <a:t>IF EXISTS</a:t>
            </a:r>
            <a:r>
              <a:rPr lang="zh-CN" altLang="en-US" sz="2000" dirty="0" smtClean="0">
                <a:solidFill>
                  <a:srgbClr val="595959"/>
                </a:solidFill>
                <a:latin typeface="微软雅黑" panose="020B0503020204020204" pitchFamily="34" charset="-122"/>
                <a:ea typeface="微软雅黑" panose="020B0503020204020204" pitchFamily="34" charset="-122"/>
              </a:rPr>
              <a:t>是可选参数，用于防止因删除不存在的存储函数而引发错误。</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442720"/>
            <a:ext cx="8348345" cy="441134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66975" y="1559560"/>
            <a:ext cx="7684770" cy="46037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例如，</a:t>
            </a:r>
            <a:r>
              <a:rPr lang="zh-CN" altLang="en-US" sz="1600" dirty="0" smtClean="0">
                <a:solidFill>
                  <a:srgbClr val="1369B2"/>
                </a:solidFill>
                <a:latin typeface="微软雅黑" panose="020B0503020204020204" pitchFamily="34" charset="-122"/>
                <a:ea typeface="微软雅黑" panose="020B0503020204020204" pitchFamily="34" charset="-122"/>
              </a:rPr>
              <a:t>删除数据库ems中的存储函数func_emp</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，具体SQL语句及执行结果如下所示。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566670" y="2567940"/>
            <a:ext cx="6884035" cy="6000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DROP FUNCTION IF EXISTS func_emp;</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(0.01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文本框 1"/>
          <p:cNvSpPr txBox="1"/>
          <p:nvPr/>
        </p:nvSpPr>
        <p:spPr>
          <a:xfrm>
            <a:off x="2494915" y="3503295"/>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查询 information_schema数据库下Routines表中存储函数func_emp的记录来确认</a:t>
            </a:r>
            <a:r>
              <a:rPr lang="zh-CN" altLang="en-US" sz="1600" dirty="0" smtClean="0">
                <a:solidFill>
                  <a:srgbClr val="1369B2"/>
                </a:solidFill>
                <a:latin typeface="微软雅黑" panose="020B0503020204020204" pitchFamily="34" charset="-122"/>
                <a:ea typeface="微软雅黑" panose="020B0503020204020204" pitchFamily="34" charset="-122"/>
              </a:rPr>
              <a:t>是否删除成功</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，具体SQL语句及查询结果如下所示。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567305" y="4381500"/>
            <a:ext cx="7040880" cy="8439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 FROM  information_schema.Routines</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-&gt; WHERE ROUTINE_NAME='func_emp' AND ROUTINE_TYPE='FUNCTION'\G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Empty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删除存储函数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变量</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289810" y="2205355"/>
            <a:ext cx="7693660" cy="3178646"/>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5500" y="3767"/>
              <a:ext cx="9010" cy="3034"/>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变量就是在程序执行过程中，其值可以改变的量。在MySQL中，可以利用变量存储程序执行过程中涉及的数据，如输入的值、计算结果等。根据变量的作用范围可以将其划分为</a:t>
              </a:r>
              <a:r>
                <a:rPr lang="zh-CN" altLang="en-US" sz="2000" dirty="0" smtClean="0">
                  <a:solidFill>
                    <a:srgbClr val="1369B2"/>
                  </a:solidFill>
                  <a:latin typeface="微软雅黑" panose="020B0503020204020204" pitchFamily="34" charset="-122"/>
                  <a:ea typeface="微软雅黑" panose="020B0503020204020204" pitchFamily="34" charset="-122"/>
                </a:rPr>
                <a:t>系统变量</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1369B2"/>
                  </a:solidFill>
                  <a:latin typeface="微软雅黑" panose="020B0503020204020204" pitchFamily="34" charset="-122"/>
                  <a:ea typeface="微软雅黑" panose="020B0503020204020204" pitchFamily="34" charset="-122"/>
                </a:rPr>
                <a:t>用户变量</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局部变量</a:t>
              </a:r>
              <a:r>
                <a:rPr lang="zh-CN" altLang="en-US" sz="2000" dirty="0" smtClean="0">
                  <a:solidFill>
                    <a:srgbClr val="595959"/>
                  </a:solidFill>
                  <a:latin typeface="微软雅黑" panose="020B0503020204020204" pitchFamily="34" charset="-122"/>
                  <a:ea typeface="微软雅黑" panose="020B0503020204020204" pitchFamily="34" charset="-122"/>
                </a:rPr>
                <a:t>。本节将针对这3种变量进行讲解。</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272540"/>
            <a:ext cx="9166860" cy="416750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1416685"/>
            <a:ext cx="8668385" cy="378460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系统变量又分为</a:t>
            </a:r>
            <a:r>
              <a:rPr lang="zh-CN" altLang="en-US" sz="2000" dirty="0" smtClean="0">
                <a:solidFill>
                  <a:srgbClr val="1369B2"/>
                </a:solidFill>
                <a:latin typeface="微软雅黑" panose="020B0503020204020204" pitchFamily="34" charset="-122"/>
                <a:ea typeface="微软雅黑" panose="020B0503020204020204" pitchFamily="34" charset="-122"/>
              </a:rPr>
              <a:t>全局（GLOBAL）变量</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会话（SESSION）变量</a:t>
            </a:r>
            <a:r>
              <a:rPr lang="zh-CN" altLang="en-US" sz="2000" dirty="0" smtClean="0">
                <a:solidFill>
                  <a:srgbClr val="595959"/>
                </a:solidFill>
                <a:latin typeface="微软雅黑" panose="020B0503020204020204" pitchFamily="34" charset="-122"/>
                <a:ea typeface="微软雅黑" panose="020B0503020204020204" pitchFamily="34" charset="-122"/>
              </a:rPr>
              <a:t>，其中全局变量指的是MySQL系统内部定义的变量，对所有MySQL客户端都有效。默认情况下，MySQL会在服务器启动时为全局变量初始化默认值，用户也可以通过配置文件完成系统变量的设置。每次建立一个新的连接时，MySQL会将当前所有全局变量复制一份作为会话变量，会话变量只对当前的数据库连接生效。</a:t>
            </a: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在程序执行过程中，变量的值会不断的变化，下面分别介绍</a:t>
            </a:r>
            <a:r>
              <a:rPr lang="zh-CN" altLang="en-US" sz="2000" dirty="0" smtClean="0">
                <a:solidFill>
                  <a:srgbClr val="1369B2"/>
                </a:solidFill>
                <a:latin typeface="微软雅黑" panose="020B0503020204020204" pitchFamily="34" charset="-122"/>
                <a:ea typeface="微软雅黑" panose="020B0503020204020204" pitchFamily="34" charset="-122"/>
              </a:rPr>
              <a:t>系统变量的查看与修改</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918335" y="1471295"/>
            <a:ext cx="9006205" cy="42646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134870" y="1630680"/>
            <a:ext cx="8467725" cy="147637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1.</a:t>
            </a:r>
            <a:r>
              <a:rPr sz="2000" dirty="0" smtClean="0">
                <a:solidFill>
                  <a:srgbClr val="1369B2"/>
                </a:solidFill>
                <a:latin typeface="微软雅黑" panose="020B0503020204020204" pitchFamily="34" charset="-122"/>
                <a:ea typeface="微软雅黑" panose="020B0503020204020204" pitchFamily="34" charset="-122"/>
              </a:rPr>
              <a:t>查看系统变量 </a:t>
            </a:r>
            <a:endParaRPr sz="2000" dirty="0" smtClean="0">
              <a:solidFill>
                <a:srgbClr val="1369B2"/>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在MySQL中可以通过</a:t>
            </a:r>
            <a:r>
              <a:rPr sz="2000" dirty="0" smtClean="0">
                <a:solidFill>
                  <a:srgbClr val="1369B2"/>
                </a:solidFill>
                <a:latin typeface="微软雅黑" panose="020B0503020204020204" pitchFamily="34" charset="-122"/>
                <a:ea typeface="微软雅黑" panose="020B0503020204020204" pitchFamily="34" charset="-122"/>
              </a:rPr>
              <a:t>SHOW</a:t>
            </a:r>
            <a:r>
              <a:rPr sz="2000" dirty="0" smtClean="0">
                <a:solidFill>
                  <a:srgbClr val="595959"/>
                </a:solidFill>
                <a:latin typeface="微软雅黑" panose="020B0503020204020204" pitchFamily="34" charset="-122"/>
                <a:ea typeface="微软雅黑" panose="020B0503020204020204" pitchFamily="34" charset="-122"/>
              </a:rPr>
              <a:t>语句显示所有的系统变量，其语法格式如下所示。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278380" y="3359150"/>
            <a:ext cx="7359015" cy="5886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[GLOBAL | SESSION] VARIABLES [LIKE '匹配字符串' | WHERE 表达式];</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278380" y="4079240"/>
            <a:ext cx="7698105" cy="147637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上述语法格式中，</a:t>
            </a:r>
            <a:r>
              <a:rPr sz="2000" dirty="0" smtClean="0">
                <a:solidFill>
                  <a:srgbClr val="1369B2"/>
                </a:solidFill>
                <a:latin typeface="微软雅黑" panose="020B0503020204020204" pitchFamily="34" charset="-122"/>
                <a:ea typeface="微软雅黑" panose="020B0503020204020204" pitchFamily="34" charset="-122"/>
              </a:rPr>
              <a:t>GLOBAL</a:t>
            </a:r>
            <a:r>
              <a:rPr sz="2000" dirty="0" smtClean="0">
                <a:solidFill>
                  <a:srgbClr val="595959"/>
                </a:solidFill>
                <a:latin typeface="微软雅黑" panose="020B0503020204020204" pitchFamily="34" charset="-122"/>
                <a:ea typeface="微软雅黑" panose="020B0503020204020204" pitchFamily="34" charset="-122"/>
              </a:rPr>
              <a:t>和</a:t>
            </a:r>
            <a:r>
              <a:rPr sz="2000" dirty="0" smtClean="0">
                <a:solidFill>
                  <a:srgbClr val="1369B2"/>
                </a:solidFill>
                <a:latin typeface="微软雅黑" panose="020B0503020204020204" pitchFamily="34" charset="-122"/>
                <a:ea typeface="微软雅黑" panose="020B0503020204020204" pitchFamily="34" charset="-122"/>
              </a:rPr>
              <a:t>SESSION</a:t>
            </a:r>
            <a:r>
              <a:rPr sz="2000" dirty="0" smtClean="0">
                <a:solidFill>
                  <a:srgbClr val="595959"/>
                </a:solidFill>
                <a:latin typeface="微软雅黑" panose="020B0503020204020204" pitchFamily="34" charset="-122"/>
                <a:ea typeface="微软雅黑" panose="020B0503020204020204" pitchFamily="34" charset="-122"/>
              </a:rPr>
              <a:t>是可选参数，其中GLOBAL用于显示全局变量，SESSION用于显示会话变量，如果不显式指定的话，默认值为SESSION。</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831975" y="1489710"/>
            <a:ext cx="9072880" cy="36658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94915" y="1489075"/>
            <a:ext cx="7684770"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下面通过一个案例演示</a:t>
            </a:r>
            <a:r>
              <a:rPr lang="zh-CN" altLang="en-US" sz="1800" dirty="0" smtClean="0">
                <a:solidFill>
                  <a:srgbClr val="1369B2"/>
                </a:solidFill>
                <a:latin typeface="微软雅黑" panose="020B0503020204020204" pitchFamily="34" charset="-122"/>
                <a:ea typeface="微软雅黑" panose="020B0503020204020204" pitchFamily="34" charset="-122"/>
              </a:rPr>
              <a:t>系统变量的查看</a:t>
            </a:r>
            <a:r>
              <a:rPr lang="zh-CN" altLang="en-US" sz="1800" dirty="0" smtClean="0">
                <a:solidFill>
                  <a:srgbClr val="595959"/>
                </a:solidFill>
                <a:latin typeface="微软雅黑" panose="020B0503020204020204" pitchFamily="34" charset="-122"/>
                <a:ea typeface="微软雅黑" panose="020B0503020204020204" pitchFamily="34" charset="-122"/>
              </a:rPr>
              <a:t>，例如，显示变量名以auto_inc开头的所有系统变量，具体SQL语句如下所示。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653030" y="2568575"/>
            <a:ext cx="6884035" cy="2313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VARIABLES LIKE 'auto_inc%';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Variable_name            | Value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auto_increment_increment | 1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auto_increment_offset    | 1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2 rows in set, 1 warning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831975" y="5419090"/>
            <a:ext cx="907351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auto_increment_increment表示自增长字段每次递增的量，auto_increment_offset表示自增长字段从哪个数开始。</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1486535"/>
            <a:ext cx="9212580" cy="41509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007870" y="1486535"/>
            <a:ext cx="8905875"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2.</a:t>
            </a:r>
            <a:r>
              <a:rPr sz="2000" dirty="0" smtClean="0">
                <a:solidFill>
                  <a:srgbClr val="1369B2"/>
                </a:solidFill>
                <a:latin typeface="微软雅黑" panose="020B0503020204020204" pitchFamily="34" charset="-122"/>
                <a:ea typeface="微软雅黑" panose="020B0503020204020204" pitchFamily="34" charset="-122"/>
              </a:rPr>
              <a:t>修改系统变量</a:t>
            </a:r>
            <a:r>
              <a:rPr sz="2000" dirty="0" smtClean="0">
                <a:solidFill>
                  <a:srgbClr val="595959"/>
                </a:solidFill>
                <a:latin typeface="微软雅黑" panose="020B0503020204020204" pitchFamily="34" charset="-122"/>
                <a:ea typeface="微软雅黑" panose="020B0503020204020204" pitchFamily="34" charset="-122"/>
              </a:rPr>
              <a:t> </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在MySQL中，系统变量可以通过</a:t>
            </a:r>
            <a:r>
              <a:rPr sz="2000" dirty="0" smtClean="0">
                <a:solidFill>
                  <a:srgbClr val="1369B2"/>
                </a:solidFill>
                <a:latin typeface="微软雅黑" panose="020B0503020204020204" pitchFamily="34" charset="-122"/>
                <a:ea typeface="微软雅黑" panose="020B0503020204020204" pitchFamily="34" charset="-122"/>
              </a:rPr>
              <a:t>SET</a:t>
            </a:r>
            <a:r>
              <a:rPr sz="2000" dirty="0" smtClean="0">
                <a:solidFill>
                  <a:srgbClr val="595959"/>
                </a:solidFill>
                <a:latin typeface="微软雅黑" panose="020B0503020204020204" pitchFamily="34" charset="-122"/>
                <a:ea typeface="微软雅黑" panose="020B0503020204020204" pitchFamily="34" charset="-122"/>
              </a:rPr>
              <a:t>语句进行修改，修改的语法格式如下所示。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134870" y="2704465"/>
            <a:ext cx="7359015" cy="5886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SET</a:t>
            </a:r>
            <a:r>
              <a:rPr lang="en-US" altLang="zh-CN"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[GLOBAL | @@GLOBAL.| SESSION |@@SESSION.] 系统变量名 = 新值;</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062480" y="3502660"/>
            <a:ext cx="7698105"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上述语法格式中，系统变量名使用</a:t>
            </a:r>
            <a:r>
              <a:rPr sz="2000" dirty="0" smtClean="0">
                <a:solidFill>
                  <a:srgbClr val="1369B2"/>
                </a:solidFill>
                <a:latin typeface="微软雅黑" panose="020B0503020204020204" pitchFamily="34" charset="-122"/>
                <a:ea typeface="微软雅黑" panose="020B0503020204020204" pitchFamily="34" charset="-122"/>
              </a:rPr>
              <a:t>GLOBAL</a:t>
            </a:r>
            <a:r>
              <a:rPr sz="2000" dirty="0" smtClean="0">
                <a:solidFill>
                  <a:srgbClr val="595959"/>
                </a:solidFill>
                <a:latin typeface="微软雅黑" panose="020B0503020204020204" pitchFamily="34" charset="-122"/>
                <a:ea typeface="微软雅黑" panose="020B0503020204020204" pitchFamily="34" charset="-122"/>
              </a:rPr>
              <a:t>或</a:t>
            </a:r>
            <a:r>
              <a:rPr sz="2000" dirty="0" smtClean="0">
                <a:solidFill>
                  <a:srgbClr val="1369B2"/>
                </a:solidFill>
                <a:latin typeface="微软雅黑" panose="020B0503020204020204" pitchFamily="34" charset="-122"/>
                <a:ea typeface="微软雅黑" panose="020B0503020204020204" pitchFamily="34" charset="-122"/>
              </a:rPr>
              <a:t>@@GLOBAL.</a:t>
            </a:r>
            <a:r>
              <a:rPr sz="2000" dirty="0" smtClean="0">
                <a:solidFill>
                  <a:srgbClr val="595959"/>
                </a:solidFill>
                <a:latin typeface="微软雅黑" panose="020B0503020204020204" pitchFamily="34" charset="-122"/>
                <a:ea typeface="微软雅黑" panose="020B0503020204020204" pitchFamily="34" charset="-122"/>
              </a:rPr>
              <a:t>修饰时，修改的是全局变量，使用</a:t>
            </a:r>
            <a:r>
              <a:rPr sz="2000" dirty="0" smtClean="0">
                <a:solidFill>
                  <a:srgbClr val="1369B2"/>
                </a:solidFill>
                <a:latin typeface="微软雅黑" panose="020B0503020204020204" pitchFamily="34" charset="-122"/>
                <a:ea typeface="微软雅黑" panose="020B0503020204020204" pitchFamily="34" charset="-122"/>
              </a:rPr>
              <a:t>SESSION</a:t>
            </a:r>
            <a:r>
              <a:rPr sz="2000" dirty="0" smtClean="0">
                <a:solidFill>
                  <a:srgbClr val="595959"/>
                </a:solidFill>
                <a:latin typeface="微软雅黑" panose="020B0503020204020204" pitchFamily="34" charset="-122"/>
                <a:ea typeface="微软雅黑" panose="020B0503020204020204" pitchFamily="34" charset="-122"/>
              </a:rPr>
              <a:t>或</a:t>
            </a:r>
            <a:r>
              <a:rPr sz="2000" dirty="0" smtClean="0">
                <a:solidFill>
                  <a:srgbClr val="1369B2"/>
                </a:solidFill>
                <a:latin typeface="微软雅黑" panose="020B0503020204020204" pitchFamily="34" charset="-122"/>
                <a:ea typeface="微软雅黑" panose="020B0503020204020204" pitchFamily="34" charset="-122"/>
              </a:rPr>
              <a:t>@@SESSION.</a:t>
            </a:r>
            <a:r>
              <a:rPr sz="2000" dirty="0" smtClean="0">
                <a:solidFill>
                  <a:srgbClr val="595959"/>
                </a:solidFill>
                <a:latin typeface="微软雅黑" panose="020B0503020204020204" pitchFamily="34" charset="-122"/>
                <a:ea typeface="微软雅黑" panose="020B0503020204020204" pitchFamily="34" charset="-122"/>
              </a:rPr>
              <a:t>修饰时，修改的是会话变量，不显式指定修饰的关键字时，默认修改的是会话变量；新值指的是为系统变量设置的新值。</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227455"/>
            <a:ext cx="8348345" cy="501586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66975" y="1272540"/>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通过案例演示</a:t>
            </a:r>
            <a:r>
              <a:rPr lang="zh-CN" altLang="en-US" sz="1600" dirty="0" smtClean="0">
                <a:solidFill>
                  <a:srgbClr val="1369B2"/>
                </a:solidFill>
                <a:latin typeface="微软雅黑" panose="020B0503020204020204" pitchFamily="34" charset="-122"/>
                <a:ea typeface="微软雅黑" panose="020B0503020204020204" pitchFamily="34" charset="-122"/>
              </a:rPr>
              <a:t>系统变量的修改</a:t>
            </a:r>
            <a:r>
              <a:rPr lang="zh-CN" altLang="en-US" sz="1600" dirty="0" smtClean="0">
                <a:solidFill>
                  <a:srgbClr val="595959"/>
                </a:solidFill>
                <a:latin typeface="微软雅黑" panose="020B0503020204020204" pitchFamily="34" charset="-122"/>
                <a:ea typeface="微软雅黑" panose="020B0503020204020204" pitchFamily="34" charset="-122"/>
              </a:rPr>
              <a:t>。例如，如果想要将自增字段从2开始自增，可以将</a:t>
            </a:r>
            <a:r>
              <a:rPr lang="zh-CN" altLang="en-US" sz="1600" dirty="0" smtClean="0">
                <a:solidFill>
                  <a:srgbClr val="1369B2"/>
                </a:solidFill>
                <a:latin typeface="微软雅黑" panose="020B0503020204020204" pitchFamily="34" charset="-122"/>
                <a:ea typeface="微软雅黑" panose="020B0503020204020204" pitchFamily="34" charset="-122"/>
              </a:rPr>
              <a:t>系统变量auto_increment_offset的值修改为2</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782570" y="2280920"/>
            <a:ext cx="6884035" cy="7410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SET auto_increment_offset = 2;</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文本框 1"/>
          <p:cNvSpPr txBox="1"/>
          <p:nvPr/>
        </p:nvSpPr>
        <p:spPr>
          <a:xfrm>
            <a:off x="2566670" y="3237230"/>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在当前客户端窗口使用</a:t>
            </a:r>
            <a:r>
              <a:rPr lang="zh-CN" altLang="en-US" sz="1600" dirty="0" smtClean="0">
                <a:solidFill>
                  <a:srgbClr val="1369B2"/>
                </a:solidFill>
                <a:latin typeface="微软雅黑" panose="020B0503020204020204" pitchFamily="34" charset="-122"/>
                <a:ea typeface="微软雅黑" panose="020B0503020204020204" pitchFamily="34" charset="-122"/>
              </a:rPr>
              <a:t>SHOW语句</a:t>
            </a:r>
            <a:r>
              <a:rPr lang="zh-CN" altLang="en-US" sz="1600" dirty="0" smtClean="0">
                <a:solidFill>
                  <a:srgbClr val="595959"/>
                </a:solidFill>
                <a:latin typeface="微软雅黑" panose="020B0503020204020204" pitchFamily="34" charset="-122"/>
                <a:ea typeface="微软雅黑" panose="020B0503020204020204" pitchFamily="34" charset="-122"/>
              </a:rPr>
              <a:t>查看系统变量auto_increment_offset的值，具体SQL语句如下所示。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566670" y="4080510"/>
            <a:ext cx="7662545" cy="19519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VARIABLES WHERE Variable_name= 'auto_increment_offset';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Variable_name         | Value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auto_increment_offset | 2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(0.01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348740"/>
            <a:ext cx="8348345" cy="306641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66975" y="1487805"/>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新打开一个客户端，在新打开的客户端中使用</a:t>
            </a:r>
            <a:r>
              <a:rPr lang="zh-CN" altLang="en-US" sz="1600" dirty="0" smtClean="0">
                <a:solidFill>
                  <a:srgbClr val="1369B2"/>
                </a:solidFill>
                <a:latin typeface="微软雅黑" panose="020B0503020204020204" pitchFamily="34" charset="-122"/>
                <a:ea typeface="微软雅黑" panose="020B0503020204020204" pitchFamily="34" charset="-122"/>
              </a:rPr>
              <a:t>SHOW语句</a:t>
            </a:r>
            <a:r>
              <a:rPr lang="zh-CN" altLang="en-US" sz="1600" dirty="0" smtClean="0">
                <a:solidFill>
                  <a:srgbClr val="595959"/>
                </a:solidFill>
                <a:latin typeface="微软雅黑" panose="020B0503020204020204" pitchFamily="34" charset="-122"/>
                <a:ea typeface="微软雅黑" panose="020B0503020204020204" pitchFamily="34" charset="-122"/>
              </a:rPr>
              <a:t>查看系统变量auto_increment_offset的值，具体SQL语句如下所示。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422525" y="2423795"/>
            <a:ext cx="7630795" cy="1771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VARIABLES WHERE Variable_name= 'auto_increment_offset';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Variable_name         | Value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auto_increment_offset | 1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(0.01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1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2450465" y="4772025"/>
            <a:ext cx="7684770"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从上述显示结果可以看出，</a:t>
            </a:r>
            <a:r>
              <a:rPr lang="zh-CN" altLang="en-US" sz="1600" dirty="0" smtClean="0">
                <a:solidFill>
                  <a:srgbClr val="1369B2"/>
                </a:solidFill>
                <a:latin typeface="微软雅黑" panose="020B0503020204020204" pitchFamily="34" charset="-122"/>
                <a:ea typeface="微软雅黑" panose="020B0503020204020204" pitchFamily="34" charset="-122"/>
              </a:rPr>
              <a:t>新打开的客户端中</a:t>
            </a:r>
            <a:r>
              <a:rPr lang="zh-CN" altLang="en-US" sz="1600" dirty="0" smtClean="0">
                <a:solidFill>
                  <a:srgbClr val="595959"/>
                </a:solidFill>
                <a:latin typeface="微软雅黑" panose="020B0503020204020204" pitchFamily="34" charset="-122"/>
                <a:ea typeface="微软雅黑" panose="020B0503020204020204" pitchFamily="34" charset="-122"/>
              </a:rPr>
              <a:t>显示的</a:t>
            </a:r>
            <a:r>
              <a:rPr lang="zh-CN" altLang="en-US" sz="1600" dirty="0" smtClean="0">
                <a:solidFill>
                  <a:srgbClr val="1369B2"/>
                </a:solidFill>
                <a:latin typeface="微软雅黑" panose="020B0503020204020204" pitchFamily="34" charset="-122"/>
                <a:ea typeface="微软雅黑" panose="020B0503020204020204" pitchFamily="34" charset="-122"/>
              </a:rPr>
              <a:t>系统变量</a:t>
            </a:r>
            <a:r>
              <a:rPr lang="zh-CN" altLang="en-US" sz="1600" dirty="0" smtClean="0">
                <a:solidFill>
                  <a:srgbClr val="595959"/>
                </a:solidFill>
                <a:latin typeface="微软雅黑" panose="020B0503020204020204" pitchFamily="34" charset="-122"/>
                <a:ea typeface="微软雅黑" panose="020B0503020204020204" pitchFamily="34" charset="-122"/>
              </a:rPr>
              <a:t>auto_increment_offset的值并</a:t>
            </a:r>
            <a:r>
              <a:rPr lang="zh-CN" altLang="en-US" sz="1600" dirty="0" smtClean="0">
                <a:solidFill>
                  <a:srgbClr val="1369B2"/>
                </a:solidFill>
                <a:latin typeface="微软雅黑" panose="020B0503020204020204" pitchFamily="34" charset="-122"/>
                <a:ea typeface="微软雅黑" panose="020B0503020204020204" pitchFamily="34" charset="-122"/>
              </a:rPr>
              <a:t>没有修改</a:t>
            </a:r>
            <a:r>
              <a:rPr lang="zh-CN" altLang="en-US" sz="1600" dirty="0" smtClean="0">
                <a:solidFill>
                  <a:srgbClr val="595959"/>
                </a:solidFill>
                <a:latin typeface="微软雅黑" panose="020B0503020204020204" pitchFamily="34" charset="-122"/>
                <a:ea typeface="微软雅黑" panose="020B0503020204020204" pitchFamily="34" charset="-122"/>
              </a:rPr>
              <a:t>，说明上述语句修改的是</a:t>
            </a:r>
            <a:r>
              <a:rPr lang="zh-CN" altLang="en-US" sz="1600" dirty="0" smtClean="0">
                <a:solidFill>
                  <a:srgbClr val="1369B2"/>
                </a:solidFill>
                <a:latin typeface="微软雅黑" panose="020B0503020204020204" pitchFamily="34" charset="-122"/>
                <a:ea typeface="微软雅黑" panose="020B0503020204020204" pitchFamily="34" charset="-122"/>
              </a:rPr>
              <a:t>会话变量</a:t>
            </a:r>
            <a:r>
              <a:rPr lang="zh-CN" altLang="en-US" sz="1600" dirty="0" smtClean="0">
                <a:solidFill>
                  <a:srgbClr val="595959"/>
                </a:solidFill>
                <a:latin typeface="微软雅黑" panose="020B0503020204020204" pitchFamily="34" charset="-122"/>
                <a:ea typeface="微软雅黑" panose="020B0503020204020204" pitchFamily="34" charset="-122"/>
              </a:rPr>
              <a:t>，修改仅对执行操作的客户端连接有效，并不影响其他客户端。</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205230"/>
            <a:ext cx="8348345" cy="434467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2544445" y="1430655"/>
            <a:ext cx="7684770" cy="46037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将系统变量</a:t>
            </a:r>
            <a:r>
              <a:rPr lang="zh-CN" altLang="en-US" sz="1600" dirty="0" smtClean="0">
                <a:solidFill>
                  <a:srgbClr val="1369B2"/>
                </a:solidFill>
                <a:latin typeface="微软雅黑" panose="020B0503020204020204" pitchFamily="34" charset="-122"/>
                <a:ea typeface="微软雅黑" panose="020B0503020204020204" pitchFamily="34" charset="-122"/>
              </a:rPr>
              <a:t>auto_increment_offset的值修改为5</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494915" y="1997075"/>
            <a:ext cx="7662545" cy="4356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SET GLOBAL auto_increment_offset = 5;</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文本框 8"/>
          <p:cNvSpPr txBox="1"/>
          <p:nvPr/>
        </p:nvSpPr>
        <p:spPr>
          <a:xfrm>
            <a:off x="2544445" y="2582545"/>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在当前客户端窗口使用SHOW语句查看系统变量auto_increment_offset的值，具体SQL语句及执行结果如下所示。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10" name="矩形 9"/>
          <p:cNvSpPr/>
          <p:nvPr/>
        </p:nvSpPr>
        <p:spPr>
          <a:xfrm>
            <a:off x="2544445" y="3580130"/>
            <a:ext cx="7662545" cy="17995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VARIABLES WHERE Variable_name= 'auto_increment_offset';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Variable_name         | Value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auto_increment_offset | 2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(0.01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1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2527935" y="5723255"/>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从上述显示结果可以看出，当前连接中系统变量</a:t>
            </a:r>
            <a:r>
              <a:rPr lang="zh-CN" altLang="en-US" sz="1600" dirty="0" smtClean="0">
                <a:solidFill>
                  <a:srgbClr val="1369B2"/>
                </a:solidFill>
                <a:latin typeface="微软雅黑" panose="020B0503020204020204" pitchFamily="34" charset="-122"/>
                <a:ea typeface="微软雅黑" panose="020B0503020204020204" pitchFamily="34" charset="-122"/>
              </a:rPr>
              <a:t>auto_increment_offset的值并未修改为5</a:t>
            </a: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34870" y="1205230"/>
            <a:ext cx="8348345" cy="35134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2544445" y="1430655"/>
            <a:ext cx="768477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此时，打开一个</a:t>
            </a:r>
            <a:r>
              <a:rPr lang="zh-CN" altLang="en-US" sz="1600" dirty="0" smtClean="0">
                <a:solidFill>
                  <a:srgbClr val="1369B2"/>
                </a:solidFill>
                <a:latin typeface="微软雅黑" panose="020B0503020204020204" pitchFamily="34" charset="-122"/>
                <a:ea typeface="微软雅黑" panose="020B0503020204020204" pitchFamily="34" charset="-122"/>
              </a:rPr>
              <a:t>新的客户端</a:t>
            </a:r>
            <a:r>
              <a:rPr lang="zh-CN" altLang="en-US" sz="1600" dirty="0" smtClean="0">
                <a:solidFill>
                  <a:srgbClr val="595959"/>
                </a:solidFill>
                <a:latin typeface="微软雅黑" panose="020B0503020204020204" pitchFamily="34" charset="-122"/>
                <a:ea typeface="微软雅黑" panose="020B0503020204020204" pitchFamily="34" charset="-122"/>
              </a:rPr>
              <a:t>，在新打开的客户端中使用SHOW语句</a:t>
            </a:r>
            <a:r>
              <a:rPr lang="zh-CN" altLang="en-US" sz="1600" dirty="0" smtClean="0">
                <a:solidFill>
                  <a:srgbClr val="1369B2"/>
                </a:solidFill>
                <a:latin typeface="微软雅黑" panose="020B0503020204020204" pitchFamily="34" charset="-122"/>
                <a:ea typeface="微软雅黑" panose="020B0503020204020204" pitchFamily="34" charset="-122"/>
              </a:rPr>
              <a:t>查看系统变量auto_increment_offset的值</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，具体SQL语句及执行结果如下所示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10" name="矩形 9"/>
          <p:cNvSpPr/>
          <p:nvPr/>
        </p:nvSpPr>
        <p:spPr>
          <a:xfrm>
            <a:off x="2544445" y="2432050"/>
            <a:ext cx="7662545" cy="19837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VARIABLES WHERE Variable_name= 'auto_increment_offset';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Variable_name         | Value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auto_increment_offset | 5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(0.01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1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系统变量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2527935" y="5077460"/>
            <a:ext cx="7684770"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从上述显示结果可以看出，新打开的客户端中显示的系统变量</a:t>
            </a:r>
            <a:r>
              <a:rPr lang="zh-CN" altLang="en-US" sz="1600" dirty="0" smtClean="0">
                <a:solidFill>
                  <a:srgbClr val="1369B2"/>
                </a:solidFill>
                <a:latin typeface="微软雅黑" panose="020B0503020204020204" pitchFamily="34" charset="-122"/>
                <a:ea typeface="微软雅黑" panose="020B0503020204020204" pitchFamily="34" charset="-122"/>
              </a:rPr>
              <a:t>auto_increment_offset的值修改为5</a:t>
            </a:r>
            <a:r>
              <a:rPr lang="zh-CN" altLang="en-US" sz="1600" dirty="0" smtClean="0">
                <a:solidFill>
                  <a:srgbClr val="595959"/>
                </a:solidFill>
                <a:latin typeface="微软雅黑" panose="020B0503020204020204" pitchFamily="34" charset="-122"/>
                <a:ea typeface="微软雅黑" panose="020B0503020204020204" pitchFamily="34" charset="-122"/>
              </a:rPr>
              <a:t>，说明</a:t>
            </a:r>
            <a:r>
              <a:rPr lang="zh-CN" altLang="en-US" sz="1600" dirty="0" smtClean="0">
                <a:solidFill>
                  <a:srgbClr val="1369B2"/>
                </a:solidFill>
                <a:latin typeface="微软雅黑" panose="020B0503020204020204" pitchFamily="34" charset="-122"/>
                <a:ea typeface="微软雅黑" panose="020B0503020204020204" pitchFamily="34" charset="-122"/>
              </a:rPr>
              <a:t>修改全局变量时</a:t>
            </a:r>
            <a:r>
              <a:rPr lang="zh-CN" altLang="en-US" sz="1600" dirty="0" smtClean="0">
                <a:solidFill>
                  <a:srgbClr val="595959"/>
                </a:solidFill>
                <a:latin typeface="微软雅黑" panose="020B0503020204020204" pitchFamily="34" charset="-122"/>
                <a:ea typeface="微软雅黑" panose="020B0503020204020204" pitchFamily="34" charset="-122"/>
              </a:rPr>
              <a:t>，对所有</a:t>
            </a:r>
            <a:r>
              <a:rPr lang="zh-CN" altLang="en-US" sz="1600" dirty="0" smtClean="0">
                <a:solidFill>
                  <a:srgbClr val="1369B2"/>
                </a:solidFill>
                <a:latin typeface="微软雅黑" panose="020B0503020204020204" pitchFamily="34" charset="-122"/>
                <a:ea typeface="微软雅黑" panose="020B0503020204020204" pitchFamily="34" charset="-122"/>
              </a:rPr>
              <a:t>正在连接的客户端无效</a:t>
            </a:r>
            <a:r>
              <a:rPr lang="zh-CN" altLang="en-US" sz="1600" dirty="0" smtClean="0">
                <a:solidFill>
                  <a:srgbClr val="595959"/>
                </a:solidFill>
                <a:latin typeface="微软雅黑" panose="020B0503020204020204" pitchFamily="34" charset="-122"/>
                <a:ea typeface="微软雅黑" panose="020B0503020204020204" pitchFamily="34" charset="-122"/>
              </a:rPr>
              <a:t>，只针对</a:t>
            </a:r>
            <a:r>
              <a:rPr lang="zh-CN" altLang="en-US" sz="1600" dirty="0" smtClean="0">
                <a:solidFill>
                  <a:srgbClr val="1369B2"/>
                </a:solidFill>
                <a:latin typeface="微软雅黑" panose="020B0503020204020204" pitchFamily="34" charset="-122"/>
                <a:ea typeface="微软雅黑" panose="020B0503020204020204" pitchFamily="34" charset="-122"/>
              </a:rPr>
              <a:t>重新连接的客户端</a:t>
            </a:r>
            <a:r>
              <a:rPr lang="zh-CN" altLang="en-US" sz="1600" dirty="0" smtClean="0">
                <a:solidFill>
                  <a:srgbClr val="595959"/>
                </a:solidFill>
                <a:latin typeface="微软雅黑" panose="020B0503020204020204" pitchFamily="34" charset="-122"/>
                <a:ea typeface="微软雅黑" panose="020B0503020204020204" pitchFamily="34" charset="-122"/>
              </a:rPr>
              <a:t>永久生效。</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566670" y="2205355"/>
            <a:ext cx="7416800" cy="2552065"/>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5171" y="3760"/>
              <a:ext cx="9421" cy="3052"/>
            </a:xfrm>
            <a:prstGeom prst="rect">
              <a:avLst/>
            </a:prstGeom>
            <a:noFill/>
          </p:spPr>
          <p:txBody>
            <a:bodyPr wrap="square" rtlCol="0">
              <a:spAutoFit/>
            </a:bodyPr>
            <a:lstStyle/>
            <a:p>
              <a:pPr algn="l">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rPr>
                <a:t>用户变量</a:t>
              </a:r>
              <a:r>
                <a:rPr lang="zh-CN" altLang="en-US" sz="2000" dirty="0" smtClean="0">
                  <a:solidFill>
                    <a:srgbClr val="595959"/>
                  </a:solidFill>
                  <a:latin typeface="微软雅黑" panose="020B0503020204020204" pitchFamily="34" charset="-122"/>
                  <a:ea typeface="微软雅黑" panose="020B0503020204020204" pitchFamily="34" charset="-122"/>
                </a:rPr>
                <a:t>指的是用户自己定义的变量，它和连接有关，即用户变量仅对当前用户使用的客户端生效，不能被其他客户端看到和使用。如果当前客户端退出时，该客户端连接的所有用户变量将自动释放。</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用户变量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2061845"/>
            <a:ext cx="9166860" cy="292481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205990"/>
            <a:ext cx="8668385" cy="2399665"/>
          </a:xfrm>
          <a:prstGeom prst="rect">
            <a:avLst/>
          </a:prstGeom>
          <a:noFill/>
        </p:spPr>
        <p:txBody>
          <a:bodyPr wrap="square" rtlCol="0">
            <a:spAutoFit/>
          </a:bodyPr>
          <a:lstStyle/>
          <a:p>
            <a:pPr algn="l">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rPr>
              <a:t>用户变量</a:t>
            </a:r>
            <a:r>
              <a:rPr lang="zh-CN" altLang="en-US" sz="2000" dirty="0" smtClean="0">
                <a:solidFill>
                  <a:srgbClr val="595959"/>
                </a:solidFill>
                <a:latin typeface="微软雅黑" panose="020B0503020204020204" pitchFamily="34" charset="-122"/>
                <a:ea typeface="微软雅黑" panose="020B0503020204020204" pitchFamily="34" charset="-122"/>
              </a:rPr>
              <a:t>由符号</a:t>
            </a:r>
            <a:r>
              <a:rPr lang="zh-CN" altLang="en-US" sz="2000" dirty="0" smtClean="0">
                <a:solidFill>
                  <a:srgbClr val="1369B2"/>
                </a:solidFill>
                <a:latin typeface="微软雅黑" panose="020B0503020204020204" pitchFamily="34" charset="-122"/>
                <a:ea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变量名</a:t>
            </a:r>
            <a:r>
              <a:rPr lang="zh-CN" altLang="en-US" sz="2000" dirty="0" smtClean="0">
                <a:solidFill>
                  <a:srgbClr val="595959"/>
                </a:solidFill>
                <a:latin typeface="微软雅黑" panose="020B0503020204020204" pitchFamily="34" charset="-122"/>
                <a:ea typeface="微软雅黑" panose="020B0503020204020204" pitchFamily="34" charset="-122"/>
              </a:rPr>
              <a:t>组成，在使用用户变量之前，需要对用户变量进行定义并赋值。MySQL中为用户变量赋值有以下3种方式。</a:t>
            </a: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（1）使用</a:t>
            </a:r>
            <a:r>
              <a:rPr lang="zh-CN" altLang="en-US" sz="2000" dirty="0" smtClean="0">
                <a:solidFill>
                  <a:srgbClr val="1369B2"/>
                </a:solidFill>
                <a:latin typeface="微软雅黑" panose="020B0503020204020204" pitchFamily="34" charset="-122"/>
                <a:ea typeface="微软雅黑" panose="020B0503020204020204" pitchFamily="34" charset="-122"/>
              </a:rPr>
              <a:t>SET</a:t>
            </a:r>
            <a:r>
              <a:rPr lang="zh-CN" altLang="en-US" sz="2000" dirty="0" smtClean="0">
                <a:solidFill>
                  <a:srgbClr val="595959"/>
                </a:solidFill>
                <a:latin typeface="微软雅黑" panose="020B0503020204020204" pitchFamily="34" charset="-122"/>
                <a:ea typeface="微软雅黑" panose="020B0503020204020204" pitchFamily="34" charset="-122"/>
              </a:rPr>
              <a:t>语句完成赋值。</a:t>
            </a: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（2）在</a:t>
            </a:r>
            <a:r>
              <a:rPr lang="zh-CN" altLang="en-US" sz="2000" dirty="0" smtClean="0">
                <a:solidFill>
                  <a:srgbClr val="1369B2"/>
                </a:solidFill>
                <a:latin typeface="微软雅黑" panose="020B0503020204020204" pitchFamily="34" charset="-122"/>
                <a:ea typeface="微软雅黑" panose="020B0503020204020204" pitchFamily="34" charset="-122"/>
              </a:rPr>
              <a:t>SELECT</a:t>
            </a:r>
            <a:r>
              <a:rPr lang="zh-CN" altLang="en-US" sz="2000" dirty="0" smtClean="0">
                <a:solidFill>
                  <a:srgbClr val="595959"/>
                </a:solidFill>
                <a:latin typeface="微软雅黑" panose="020B0503020204020204" pitchFamily="34" charset="-122"/>
                <a:ea typeface="微软雅黑" panose="020B0503020204020204" pitchFamily="34" charset="-122"/>
              </a:rPr>
              <a:t>语句中使用赋值符号:=完成赋值。</a:t>
            </a: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（3）使用</a:t>
            </a:r>
            <a:r>
              <a:rPr lang="zh-CN" altLang="en-US" sz="2000" dirty="0" smtClean="0">
                <a:solidFill>
                  <a:srgbClr val="1369B2"/>
                </a:solidFill>
                <a:latin typeface="微软雅黑" panose="020B0503020204020204" pitchFamily="34" charset="-122"/>
                <a:ea typeface="微软雅黑" panose="020B0503020204020204" pitchFamily="34" charset="-122"/>
              </a:rPr>
              <a:t>SELECT…INTO</a:t>
            </a:r>
            <a:r>
              <a:rPr lang="zh-CN" altLang="en-US" sz="2000" dirty="0" smtClean="0">
                <a:solidFill>
                  <a:srgbClr val="595959"/>
                </a:solidFill>
                <a:latin typeface="微软雅黑" panose="020B0503020204020204" pitchFamily="34" charset="-122"/>
                <a:ea typeface="微软雅黑" panose="020B0503020204020204" pitchFamily="34" charset="-122"/>
              </a:rPr>
              <a:t>语句完成赋值。</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用户变量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134235" y="2111375"/>
            <a:ext cx="8357235" cy="4302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b="1">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方式1：</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使用SET语句赋值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SET @ename='刘';</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0 rows affected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b="1">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方式2：</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在SELECT语句中使用赋值符号:=赋值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SELECT @sal:= sal FROM emp WHERE ename='刘一';</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@sal:= sal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6000.00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1 warning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b="1">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方式3：</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使用SELECT…INTO语句赋值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SELECT empno,ename,sal FROM emp LIMIT 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INTO @e_no,@e_name,@e_sal;</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1 row affected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5" name="文本框 4"/>
          <p:cNvSpPr txBox="1"/>
          <p:nvPr/>
        </p:nvSpPr>
        <p:spPr>
          <a:xfrm>
            <a:off x="2042795" y="888365"/>
            <a:ext cx="877633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下面在</a:t>
            </a:r>
            <a:r>
              <a:rPr lang="zh-CN" altLang="en-US" sz="1800" dirty="0" smtClean="0">
                <a:solidFill>
                  <a:srgbClr val="1369B2"/>
                </a:solidFill>
                <a:latin typeface="微软雅黑" panose="020B0503020204020204" pitchFamily="34" charset="-122"/>
                <a:ea typeface="微软雅黑" panose="020B0503020204020204" pitchFamily="34" charset="-122"/>
              </a:rPr>
              <a:t>数据库ems</a:t>
            </a:r>
            <a:r>
              <a:rPr lang="zh-CN" altLang="en-US" sz="1800" dirty="0" smtClean="0">
                <a:solidFill>
                  <a:srgbClr val="595959"/>
                </a:solidFill>
                <a:latin typeface="微软雅黑" panose="020B0503020204020204" pitchFamily="34" charset="-122"/>
                <a:ea typeface="微软雅黑" panose="020B0503020204020204" pitchFamily="34" charset="-122"/>
              </a:rPr>
              <a:t>下，分别使用上述3种方式演示</a:t>
            </a:r>
            <a:r>
              <a:rPr lang="zh-CN" altLang="en-US" sz="1800" dirty="0" smtClean="0">
                <a:solidFill>
                  <a:srgbClr val="1369B2"/>
                </a:solidFill>
                <a:latin typeface="微软雅黑" panose="020B0503020204020204" pitchFamily="34" charset="-122"/>
                <a:ea typeface="微软雅黑" panose="020B0503020204020204" pitchFamily="34" charset="-122"/>
              </a:rPr>
              <a:t>用户变量的定义和赋值</a:t>
            </a:r>
            <a:r>
              <a:rPr lang="zh-CN" altLang="en-US" sz="1800" dirty="0" smtClean="0">
                <a:solidFill>
                  <a:srgbClr val="595959"/>
                </a:solidFill>
                <a:latin typeface="微软雅黑" panose="020B0503020204020204" pitchFamily="34" charset="-122"/>
                <a:ea typeface="微软雅黑" panose="020B0503020204020204" pitchFamily="34" charset="-122"/>
              </a:rPr>
              <a:t>，具体SQL语句和执行结果如下所示。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用户变量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39900" y="2105660"/>
            <a:ext cx="9006205" cy="295783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354580" y="2615565"/>
            <a:ext cx="7884160"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方式1使用</a:t>
            </a:r>
            <a:r>
              <a:rPr sz="2000" dirty="0" smtClean="0">
                <a:solidFill>
                  <a:srgbClr val="1369B2"/>
                </a:solidFill>
                <a:latin typeface="微软雅黑" panose="020B0503020204020204" pitchFamily="34" charset="-122"/>
                <a:ea typeface="微软雅黑" panose="020B0503020204020204" pitchFamily="34" charset="-122"/>
              </a:rPr>
              <a:t>SET</a:t>
            </a:r>
            <a:r>
              <a:rPr sz="2000" dirty="0" smtClean="0">
                <a:solidFill>
                  <a:srgbClr val="595959"/>
                </a:solidFill>
                <a:latin typeface="微软雅黑" panose="020B0503020204020204" pitchFamily="34" charset="-122"/>
                <a:ea typeface="微软雅黑" panose="020B0503020204020204" pitchFamily="34" charset="-122"/>
              </a:rPr>
              <a:t>语句和</a:t>
            </a:r>
            <a:r>
              <a:rPr sz="2000" dirty="0" smtClean="0">
                <a:solidFill>
                  <a:srgbClr val="1369B2"/>
                </a:solidFill>
                <a:latin typeface="微软雅黑" panose="020B0503020204020204" pitchFamily="34" charset="-122"/>
                <a:ea typeface="微软雅黑" panose="020B0503020204020204" pitchFamily="34" charset="-122"/>
              </a:rPr>
              <a:t>=</a:t>
            </a:r>
            <a:r>
              <a:rPr sz="2000" dirty="0" smtClean="0">
                <a:solidFill>
                  <a:srgbClr val="595959"/>
                </a:solidFill>
                <a:latin typeface="微软雅黑" panose="020B0503020204020204" pitchFamily="34" charset="-122"/>
                <a:ea typeface="微软雅黑" panose="020B0503020204020204" pitchFamily="34" charset="-122"/>
              </a:rPr>
              <a:t>运算符直接为定义的用户变量@ename赋值；</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方式2中将查询出的</a:t>
            </a:r>
            <a:r>
              <a:rPr sz="2000" dirty="0" smtClean="0">
                <a:solidFill>
                  <a:srgbClr val="1369B2"/>
                </a:solidFill>
                <a:latin typeface="微软雅黑" panose="020B0503020204020204" pitchFamily="34" charset="-122"/>
                <a:ea typeface="微软雅黑" panose="020B0503020204020204" pitchFamily="34" charset="-122"/>
              </a:rPr>
              <a:t>sal</a:t>
            </a:r>
            <a:r>
              <a:rPr sz="2000" dirty="0" smtClean="0">
                <a:solidFill>
                  <a:srgbClr val="595959"/>
                </a:solidFill>
                <a:latin typeface="微软雅黑" panose="020B0503020204020204" pitchFamily="34" charset="-122"/>
                <a:ea typeface="微软雅黑" panose="020B0503020204020204" pitchFamily="34" charset="-122"/>
              </a:rPr>
              <a:t>字段的值，通过</a:t>
            </a:r>
            <a:r>
              <a:rPr sz="2000" dirty="0" smtClean="0">
                <a:solidFill>
                  <a:srgbClr val="1369B2"/>
                </a:solidFill>
                <a:latin typeface="微软雅黑" panose="020B0503020204020204" pitchFamily="34" charset="-122"/>
                <a:ea typeface="微软雅黑" panose="020B0503020204020204" pitchFamily="34" charset="-122"/>
              </a:rPr>
              <a:t>:=</a:t>
            </a:r>
            <a:r>
              <a:rPr sz="2000" dirty="0" smtClean="0">
                <a:solidFill>
                  <a:srgbClr val="595959"/>
                </a:solidFill>
                <a:latin typeface="微软雅黑" panose="020B0503020204020204" pitchFamily="34" charset="-122"/>
                <a:ea typeface="微软雅黑" panose="020B0503020204020204" pitchFamily="34" charset="-122"/>
              </a:rPr>
              <a:t>为定义的用户变量@sal赋值；方式3中将</a:t>
            </a:r>
            <a:r>
              <a:rPr sz="2000" dirty="0" smtClean="0">
                <a:solidFill>
                  <a:srgbClr val="1369B2"/>
                </a:solidFill>
                <a:latin typeface="微软雅黑" panose="020B0503020204020204" pitchFamily="34" charset="-122"/>
                <a:ea typeface="微软雅黑" panose="020B0503020204020204" pitchFamily="34" charset="-122"/>
              </a:rPr>
              <a:t>SELECT</a:t>
            </a:r>
            <a:r>
              <a:rPr sz="2000" dirty="0" smtClean="0">
                <a:solidFill>
                  <a:srgbClr val="595959"/>
                </a:solidFill>
                <a:latin typeface="微软雅黑" panose="020B0503020204020204" pitchFamily="34" charset="-122"/>
                <a:ea typeface="微软雅黑" panose="020B0503020204020204" pitchFamily="34" charset="-122"/>
              </a:rPr>
              <a:t>语句查询出的字段的值，通过</a:t>
            </a:r>
            <a:r>
              <a:rPr sz="2000" dirty="0" smtClean="0">
                <a:solidFill>
                  <a:srgbClr val="1369B2"/>
                </a:solidFill>
                <a:latin typeface="微软雅黑" panose="020B0503020204020204" pitchFamily="34" charset="-122"/>
                <a:ea typeface="微软雅黑" panose="020B0503020204020204" pitchFamily="34" charset="-122"/>
              </a:rPr>
              <a:t>INTO</a:t>
            </a:r>
            <a:r>
              <a:rPr sz="2000" dirty="0" smtClean="0">
                <a:solidFill>
                  <a:srgbClr val="595959"/>
                </a:solidFill>
                <a:latin typeface="微软雅黑" panose="020B0503020204020204" pitchFamily="34" charset="-122"/>
                <a:ea typeface="微软雅黑" panose="020B0503020204020204" pitchFamily="34" charset="-122"/>
              </a:rPr>
              <a:t>关键字依次为定义的用户变量@e_no,@e_name,@e_sal赋值。</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用户变量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916430" y="2349500"/>
            <a:ext cx="8357235" cy="248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SELECT @ename,@sal,@e_no,@e_name,@e_sal;</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@ename | @sal    | @e_no | @e_name | @e_sal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刘     | 6000.00 |  9369 | 张三    | 900.00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5" name="文本框 4"/>
          <p:cNvSpPr txBox="1"/>
          <p:nvPr/>
        </p:nvSpPr>
        <p:spPr>
          <a:xfrm>
            <a:off x="1802765" y="981075"/>
            <a:ext cx="8963025" cy="101473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为用户变量赋值后，可以通过</a:t>
            </a:r>
            <a:r>
              <a:rPr lang="zh-CN" altLang="en-US" sz="2000" dirty="0" smtClean="0">
                <a:solidFill>
                  <a:srgbClr val="1369B2"/>
                </a:solidFill>
                <a:latin typeface="微软雅黑" panose="020B0503020204020204" pitchFamily="34" charset="-122"/>
                <a:ea typeface="微软雅黑" panose="020B0503020204020204" pitchFamily="34" charset="-122"/>
              </a:rPr>
              <a:t>SELECT</a:t>
            </a:r>
            <a:r>
              <a:rPr lang="zh-CN" altLang="en-US" sz="2000" dirty="0" smtClean="0">
                <a:solidFill>
                  <a:srgbClr val="595959"/>
                </a:solidFill>
                <a:latin typeface="微软雅黑" panose="020B0503020204020204" pitchFamily="34" charset="-122"/>
                <a:ea typeface="微软雅黑" panose="020B0503020204020204" pitchFamily="34" charset="-122"/>
              </a:rPr>
              <a:t>语句查询出用户变量的值，具体SQL语句及查询结果如下所示。</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用户变量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043940"/>
            <a:ext cx="9166860" cy="514604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4" name="文本框 3"/>
          <p:cNvSpPr txBox="1"/>
          <p:nvPr/>
        </p:nvSpPr>
        <p:spPr>
          <a:xfrm>
            <a:off x="1990725" y="1201420"/>
            <a:ext cx="8668385" cy="193802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在MySQL中，相对于系统变量和会话变量，局部变量的作用范围仅在语句块</a:t>
            </a:r>
            <a:r>
              <a:rPr lang="zh-CN" altLang="en-US" sz="1600" dirty="0" smtClean="0">
                <a:solidFill>
                  <a:srgbClr val="1369B2"/>
                </a:solidFill>
                <a:latin typeface="微软雅黑" panose="020B0503020204020204" pitchFamily="34" charset="-122"/>
                <a:ea typeface="微软雅黑" panose="020B0503020204020204" pitchFamily="34" charset="-122"/>
              </a:rPr>
              <a:t>BEGIN…END</a:t>
            </a:r>
            <a:r>
              <a:rPr lang="zh-CN" altLang="en-US" sz="1600" dirty="0" smtClean="0">
                <a:solidFill>
                  <a:srgbClr val="595959"/>
                </a:solidFill>
                <a:latin typeface="微软雅黑" panose="020B0503020204020204" pitchFamily="34" charset="-122"/>
                <a:ea typeface="微软雅黑" panose="020B0503020204020204" pitchFamily="34" charset="-122"/>
              </a:rPr>
              <a:t>之间，在语句块</a:t>
            </a:r>
            <a:r>
              <a:rPr lang="zh-CN" altLang="en-US" sz="1600" dirty="0" smtClean="0">
                <a:solidFill>
                  <a:srgbClr val="1369B2"/>
                </a:solidFill>
                <a:latin typeface="微软雅黑" panose="020B0503020204020204" pitchFamily="34" charset="-122"/>
                <a:ea typeface="微软雅黑" panose="020B0503020204020204" pitchFamily="34" charset="-122"/>
              </a:rPr>
              <a:t>BEGIN…END</a:t>
            </a:r>
            <a:r>
              <a:rPr lang="zh-CN" altLang="en-US" sz="1600" dirty="0" smtClean="0">
                <a:solidFill>
                  <a:srgbClr val="595959"/>
                </a:solidFill>
                <a:latin typeface="微软雅黑" panose="020B0503020204020204" pitchFamily="34" charset="-122"/>
                <a:ea typeface="微软雅黑" panose="020B0503020204020204" pitchFamily="34" charset="-122"/>
              </a:rPr>
              <a:t>之外，局部变量不能被获取和修改。</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局部变量</a:t>
            </a:r>
            <a:r>
              <a:rPr lang="zh-CN" altLang="en-US" sz="1600" dirty="0" smtClean="0">
                <a:solidFill>
                  <a:srgbClr val="595959"/>
                </a:solidFill>
                <a:latin typeface="微软雅黑" panose="020B0503020204020204" pitchFamily="34" charset="-122"/>
                <a:ea typeface="微软雅黑" panose="020B0503020204020204" pitchFamily="34" charset="-122"/>
              </a:rPr>
              <a:t>使用</a:t>
            </a:r>
            <a:r>
              <a:rPr lang="zh-CN" altLang="en-US" sz="1600" dirty="0" smtClean="0">
                <a:solidFill>
                  <a:srgbClr val="1369B2"/>
                </a:solidFill>
                <a:latin typeface="微软雅黑" panose="020B0503020204020204" pitchFamily="34" charset="-122"/>
                <a:ea typeface="微软雅黑" panose="020B0503020204020204" pitchFamily="34" charset="-122"/>
              </a:rPr>
              <a:t>DECLARE</a:t>
            </a:r>
            <a:r>
              <a:rPr lang="zh-CN" altLang="en-US" sz="1600" dirty="0" smtClean="0">
                <a:solidFill>
                  <a:srgbClr val="595959"/>
                </a:solidFill>
                <a:latin typeface="微软雅黑" panose="020B0503020204020204" pitchFamily="34" charset="-122"/>
                <a:ea typeface="微软雅黑" panose="020B0503020204020204" pitchFamily="34" charset="-122"/>
              </a:rPr>
              <a:t>语句定义，定义的基本语法格式如下。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061210" y="3289300"/>
            <a:ext cx="8357235" cy="535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DECLARE 变量名1 [,变量名2…] 数据类型 [DEFAULT 默认值];</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局部变量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990725" y="4145915"/>
            <a:ext cx="8467725" cy="119888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上述语法格式中，局部变量的</a:t>
            </a:r>
            <a:r>
              <a:rPr sz="1600" dirty="0" smtClean="0">
                <a:solidFill>
                  <a:srgbClr val="1369B2"/>
                </a:solidFill>
                <a:latin typeface="微软雅黑" panose="020B0503020204020204" pitchFamily="34" charset="-122"/>
                <a:ea typeface="微软雅黑" panose="020B0503020204020204" pitchFamily="34" charset="-122"/>
              </a:rPr>
              <a:t>名称</a:t>
            </a:r>
            <a:r>
              <a:rPr sz="1600" dirty="0" smtClean="0">
                <a:solidFill>
                  <a:srgbClr val="595959"/>
                </a:solidFill>
                <a:latin typeface="微软雅黑" panose="020B0503020204020204" pitchFamily="34" charset="-122"/>
                <a:ea typeface="微软雅黑" panose="020B0503020204020204" pitchFamily="34" charset="-122"/>
              </a:rPr>
              <a:t>和</a:t>
            </a:r>
            <a:r>
              <a:rPr sz="1600" dirty="0" smtClean="0">
                <a:solidFill>
                  <a:srgbClr val="1369B2"/>
                </a:solidFill>
                <a:latin typeface="微软雅黑" panose="020B0503020204020204" pitchFamily="34" charset="-122"/>
                <a:ea typeface="微软雅黑" panose="020B0503020204020204" pitchFamily="34" charset="-122"/>
              </a:rPr>
              <a:t>数据类型</a:t>
            </a:r>
            <a:r>
              <a:rPr sz="1600" dirty="0" smtClean="0">
                <a:solidFill>
                  <a:srgbClr val="595959"/>
                </a:solidFill>
                <a:latin typeface="微软雅黑" panose="020B0503020204020204" pitchFamily="34" charset="-122"/>
                <a:ea typeface="微软雅黑" panose="020B0503020204020204" pitchFamily="34" charset="-122"/>
              </a:rPr>
              <a:t>是必选参数，如果同时定义多个变量，变量名称之间使用</a:t>
            </a:r>
            <a:r>
              <a:rPr sz="1600" dirty="0" smtClean="0">
                <a:solidFill>
                  <a:srgbClr val="1369B2"/>
                </a:solidFill>
                <a:latin typeface="微软雅黑" panose="020B0503020204020204" pitchFamily="34" charset="-122"/>
                <a:ea typeface="微软雅黑" panose="020B0503020204020204" pitchFamily="34" charset="-122"/>
              </a:rPr>
              <a:t>逗号</a:t>
            </a:r>
            <a:r>
              <a:rPr sz="1600" dirty="0" smtClean="0">
                <a:solidFill>
                  <a:srgbClr val="595959"/>
                </a:solidFill>
                <a:latin typeface="微软雅黑" panose="020B0503020204020204" pitchFamily="34" charset="-122"/>
                <a:ea typeface="微软雅黑" panose="020B0503020204020204" pitchFamily="34" charset="-122"/>
              </a:rPr>
              <a:t>（</a:t>
            </a:r>
            <a:r>
              <a:rPr sz="1600" dirty="0" smtClean="0">
                <a:solidFill>
                  <a:srgbClr val="1369B2"/>
                </a:solidFill>
                <a:latin typeface="微软雅黑" panose="020B0503020204020204" pitchFamily="34" charset="-122"/>
                <a:ea typeface="微软雅黑" panose="020B0503020204020204" pitchFamily="34" charset="-122"/>
              </a:rPr>
              <a:t>,</a:t>
            </a:r>
            <a:r>
              <a:rPr sz="1600" dirty="0" smtClean="0">
                <a:solidFill>
                  <a:srgbClr val="595959"/>
                </a:solidFill>
                <a:latin typeface="微软雅黑" panose="020B0503020204020204" pitchFamily="34" charset="-122"/>
                <a:ea typeface="微软雅黑" panose="020B0503020204020204" pitchFamily="34" charset="-122"/>
              </a:rPr>
              <a:t>）分隔，并且多个变量只能共用一种数据类型。</a:t>
            </a:r>
            <a:r>
              <a:rPr sz="1600" dirty="0" smtClean="0">
                <a:solidFill>
                  <a:srgbClr val="1369B2"/>
                </a:solidFill>
                <a:latin typeface="微软雅黑" panose="020B0503020204020204" pitchFamily="34" charset="-122"/>
                <a:ea typeface="微软雅黑" panose="020B0503020204020204" pitchFamily="34" charset="-122"/>
              </a:rPr>
              <a:t>DEFAULT</a:t>
            </a:r>
            <a:r>
              <a:rPr sz="1600" dirty="0" smtClean="0">
                <a:solidFill>
                  <a:srgbClr val="595959"/>
                </a:solidFill>
                <a:latin typeface="微软雅黑" panose="020B0503020204020204" pitchFamily="34" charset="-122"/>
                <a:ea typeface="微软雅黑" panose="020B0503020204020204" pitchFamily="34" charset="-122"/>
              </a:rPr>
              <a:t>是可选参数，用于给变量设置默认值，省略时变量的初始默认值为NULL。</a:t>
            </a:r>
            <a:endParaRPr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1558290"/>
            <a:ext cx="9212580" cy="41509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007870" y="1558290"/>
            <a:ext cx="8905875"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下面根据上述语法格式演示</a:t>
            </a:r>
            <a:r>
              <a:rPr sz="2000" dirty="0" smtClean="0">
                <a:solidFill>
                  <a:srgbClr val="1369B2"/>
                </a:solidFill>
                <a:latin typeface="微软雅黑" panose="020B0503020204020204" pitchFamily="34" charset="-122"/>
                <a:ea typeface="微软雅黑" panose="020B0503020204020204" pitchFamily="34" charset="-122"/>
              </a:rPr>
              <a:t>局部变量的使用</a:t>
            </a:r>
            <a:r>
              <a:rPr sz="2000" dirty="0" smtClean="0">
                <a:solidFill>
                  <a:srgbClr val="595959"/>
                </a:solidFill>
                <a:latin typeface="微软雅黑" panose="020B0503020204020204" pitchFamily="34" charset="-122"/>
                <a:ea typeface="微软雅黑" panose="020B0503020204020204" pitchFamily="34" charset="-122"/>
              </a:rPr>
              <a:t>。例如，在存储函数中创建局部变量，并在函数中返回该局部变量，具体SQL语句如下所示。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134870" y="2710815"/>
            <a:ext cx="7359015" cy="24961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FUNCTION func_var()</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RETURNS INT</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BEGIN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DECLARE sal INT DEFAULT 1500;</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RETURN sal;</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END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局部变量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02435" y="1199515"/>
            <a:ext cx="9212580" cy="498411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700"/>
          </a:p>
        </p:txBody>
      </p:sp>
      <p:sp>
        <p:nvSpPr>
          <p:cNvPr id="6" name="文本框 5"/>
          <p:cNvSpPr txBox="1"/>
          <p:nvPr/>
        </p:nvSpPr>
        <p:spPr>
          <a:xfrm>
            <a:off x="2009140" y="1344295"/>
            <a:ext cx="8905875" cy="483235"/>
          </a:xfrm>
          <a:prstGeom prst="rect">
            <a:avLst/>
          </a:prstGeom>
          <a:noFill/>
        </p:spPr>
        <p:txBody>
          <a:bodyPr wrap="square" rtlCol="0">
            <a:spAutoFit/>
          </a:bodyPr>
          <a:lstStyle/>
          <a:p>
            <a:pPr algn="l">
              <a:lnSpc>
                <a:spcPct val="150000"/>
              </a:lnSpc>
            </a:pPr>
            <a:r>
              <a:rPr sz="1700" dirty="0" smtClean="0">
                <a:solidFill>
                  <a:srgbClr val="595959"/>
                </a:solidFill>
                <a:latin typeface="微软雅黑" panose="020B0503020204020204" pitchFamily="34" charset="-122"/>
                <a:ea typeface="微软雅黑" panose="020B0503020204020204" pitchFamily="34" charset="-122"/>
              </a:rPr>
              <a:t>下面调用</a:t>
            </a:r>
            <a:r>
              <a:rPr sz="1700" dirty="0" smtClean="0">
                <a:solidFill>
                  <a:srgbClr val="1369B2"/>
                </a:solidFill>
                <a:latin typeface="微软雅黑" panose="020B0503020204020204" pitchFamily="34" charset="-122"/>
                <a:ea typeface="微软雅黑" panose="020B0503020204020204" pitchFamily="34" charset="-122"/>
              </a:rPr>
              <a:t>存储函数func_var()</a:t>
            </a:r>
            <a:r>
              <a:rPr sz="1700" dirty="0" smtClean="0">
                <a:solidFill>
                  <a:srgbClr val="595959"/>
                </a:solidFill>
                <a:latin typeface="微软雅黑" panose="020B0503020204020204" pitchFamily="34" charset="-122"/>
                <a:ea typeface="微软雅黑" panose="020B0503020204020204" pitchFamily="34" charset="-122"/>
              </a:rPr>
              <a:t>，具体SQL语句如下所示。</a:t>
            </a:r>
            <a:endParaRPr sz="17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206625" y="1971675"/>
            <a:ext cx="7359015" cy="21971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func_var();</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func_var() |</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1500 |</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文本框 1"/>
          <p:cNvSpPr txBox="1"/>
          <p:nvPr/>
        </p:nvSpPr>
        <p:spPr>
          <a:xfrm>
            <a:off x="2062480" y="4538345"/>
            <a:ext cx="8535670" cy="483235"/>
          </a:xfrm>
          <a:prstGeom prst="rect">
            <a:avLst/>
          </a:prstGeom>
          <a:noFill/>
        </p:spPr>
        <p:txBody>
          <a:bodyPr wrap="square" rtlCol="0">
            <a:spAutoFit/>
          </a:bodyPr>
          <a:lstStyle/>
          <a:p>
            <a:pPr algn="l">
              <a:lnSpc>
                <a:spcPct val="150000"/>
              </a:lnSpc>
            </a:pPr>
            <a:r>
              <a:rPr sz="1700" dirty="0" smtClean="0">
                <a:solidFill>
                  <a:srgbClr val="595959"/>
                </a:solidFill>
                <a:latin typeface="微软雅黑" panose="020B0503020204020204" pitchFamily="34" charset="-122"/>
                <a:ea typeface="微软雅黑" panose="020B0503020204020204" pitchFamily="34" charset="-122"/>
              </a:rPr>
              <a:t>下面使用</a:t>
            </a:r>
            <a:r>
              <a:rPr sz="1700" dirty="0" smtClean="0">
                <a:solidFill>
                  <a:srgbClr val="1369B2"/>
                </a:solidFill>
                <a:latin typeface="微软雅黑" panose="020B0503020204020204" pitchFamily="34" charset="-122"/>
                <a:ea typeface="微软雅黑" panose="020B0503020204020204" pitchFamily="34" charset="-122"/>
              </a:rPr>
              <a:t>SELECT语句</a:t>
            </a:r>
            <a:r>
              <a:rPr sz="1700" dirty="0" smtClean="0">
                <a:solidFill>
                  <a:srgbClr val="595959"/>
                </a:solidFill>
                <a:latin typeface="微软雅黑" panose="020B0503020204020204" pitchFamily="34" charset="-122"/>
                <a:ea typeface="微软雅黑" panose="020B0503020204020204" pitchFamily="34" charset="-122"/>
              </a:rPr>
              <a:t>直接查询局部变量sal，具体SQL语句及执行结果如下所示。</a:t>
            </a:r>
            <a:endParaRPr sz="1700" dirty="0" smtClean="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2206625" y="5227320"/>
            <a:ext cx="7359015"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sal;</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ERROR 1054 (42S22): Unknown column 'sal' in 'field list'</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局部变量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流程控制</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30680" y="2606675"/>
            <a:ext cx="9166860" cy="164655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18335" y="2925445"/>
            <a:ext cx="8668385" cy="101473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判断语句可以根据一些条件做出判断，从而决定执行哪些SQL语句。MySQL中常用的判断语句有</a:t>
            </a:r>
            <a:r>
              <a:rPr lang="zh-CN" altLang="en-US" sz="2000" dirty="0" smtClean="0">
                <a:solidFill>
                  <a:srgbClr val="1369B2"/>
                </a:solidFill>
                <a:latin typeface="微软雅黑" panose="020B0503020204020204" pitchFamily="34" charset="-122"/>
                <a:ea typeface="微软雅黑" panose="020B0503020204020204" pitchFamily="34" charset="-122"/>
              </a:rPr>
              <a:t>IF</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CASE</a:t>
            </a:r>
            <a:r>
              <a:rPr lang="zh-CN" altLang="en-US" sz="2000" dirty="0" smtClean="0">
                <a:solidFill>
                  <a:srgbClr val="595959"/>
                </a:solidFill>
                <a:latin typeface="微软雅黑" panose="020B0503020204020204" pitchFamily="34" charset="-122"/>
                <a:ea typeface="微软雅黑" panose="020B0503020204020204" pitchFamily="34" charset="-122"/>
              </a:rPr>
              <a:t>两种。</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1</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502660" y="2277110"/>
            <a:ext cx="7562215" cy="82994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IF</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语句可以对条件进行判断，根据条件的真假，来执行不同的语句，其语法格式如下所示。</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502660" y="1682750"/>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IF语句</a:t>
            </a:r>
            <a:endParaRPr lang="zh-CN" altLang="en-US" dirty="0">
              <a:solidFill>
                <a:srgbClr val="595959"/>
              </a:solidFill>
              <a:sym typeface="+mn-ea"/>
            </a:endParaRPr>
          </a:p>
        </p:txBody>
      </p:sp>
      <p:sp>
        <p:nvSpPr>
          <p:cNvPr id="18" name="矩形 17"/>
          <p:cNvSpPr/>
          <p:nvPr/>
        </p:nvSpPr>
        <p:spPr>
          <a:xfrm>
            <a:off x="3502660" y="3285490"/>
            <a:ext cx="5524500" cy="12966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IF 条件表达式1 THEN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[ELSEIF 条件表达式2 THEN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[ELSE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END IF</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430905" y="4725670"/>
            <a:ext cx="7758430" cy="156845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上述语法格式中，当条件表达式1结果为真时，执行</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THEN</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子句后的语句列表；当条件表达式1结果为假时，继续判断条件表达式2，如果条件表达式2结果为真，则执行对应的</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THEN</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子句后的语句列表，以此类推；如果所有的条件表达式结果都为假，则执行</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ELSE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子句后的语句列表。</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02435" y="1057275"/>
            <a:ext cx="9212580" cy="555307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009140" y="1057275"/>
            <a:ext cx="8905875" cy="156845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下面通过一个案例演示</a:t>
            </a:r>
            <a:r>
              <a:rPr sz="1600" dirty="0" smtClean="0">
                <a:solidFill>
                  <a:srgbClr val="1369B2"/>
                </a:solidFill>
                <a:latin typeface="微软雅黑" panose="020B0503020204020204" pitchFamily="34" charset="-122"/>
                <a:ea typeface="微软雅黑" panose="020B0503020204020204" pitchFamily="34" charset="-122"/>
              </a:rPr>
              <a:t>IF语句的使用</a:t>
            </a:r>
            <a:r>
              <a:rPr sz="1600" dirty="0" smtClean="0">
                <a:solidFill>
                  <a:srgbClr val="595959"/>
                </a:solidFill>
                <a:latin typeface="微软雅黑" panose="020B0503020204020204" pitchFamily="34" charset="-122"/>
                <a:ea typeface="微软雅黑" panose="020B0503020204020204" pitchFamily="34" charset="-122"/>
              </a:rPr>
              <a:t>。</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例如，员工管理系统中经常需要根据输入的员工姓名返回对应的员工信息，如果输入为空，则显示输入的值为空；如输入的员工姓名在员工表中不存在，则显示员工不存在。将这个需求编写成存储过程，具体SQL语句及执行结果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2207895" y="2750820"/>
            <a:ext cx="7359015" cy="36150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&amp;&amp;</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PROCEDURE proc_isnull(IN e_name VARCHAR(20))</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BEGIN</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DECLARE ecount INT DEFAULT 0;</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SELECT COUNT(*) INTO ecount FROM emp WHERE ename=e_name;</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IF e_name IS NULL</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THEN SELECT '输入的值为空';</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ELSEIF ecount=0</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THEN SELECT '员工不存在';</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ELSE</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SELECT * FROM emp WHERE ename=e_name;</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IF;</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&amp;&amp;</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98625" y="1435100"/>
            <a:ext cx="9212580" cy="361886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6" name="文本框 5"/>
          <p:cNvSpPr txBox="1"/>
          <p:nvPr/>
        </p:nvSpPr>
        <p:spPr>
          <a:xfrm>
            <a:off x="2121535" y="1607185"/>
            <a:ext cx="8194040" cy="46037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下面调用</a:t>
            </a:r>
            <a:r>
              <a:rPr sz="1600" dirty="0" smtClean="0">
                <a:solidFill>
                  <a:srgbClr val="1369B2"/>
                </a:solidFill>
                <a:latin typeface="微软雅黑" panose="020B0503020204020204" pitchFamily="34" charset="-122"/>
                <a:ea typeface="微软雅黑" panose="020B0503020204020204" pitchFamily="34" charset="-122"/>
              </a:rPr>
              <a:t>存储过程proc_isnull</a:t>
            </a:r>
            <a:r>
              <a:rPr sz="1600" dirty="0" smtClean="0">
                <a:solidFill>
                  <a:srgbClr val="595959"/>
                </a:solidFill>
                <a:latin typeface="微软雅黑" panose="020B0503020204020204" pitchFamily="34" charset="-122"/>
                <a:ea typeface="微软雅黑" panose="020B0503020204020204" pitchFamily="34" charset="-122"/>
              </a:rPr>
              <a:t>，具体SQL语句如下所示。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121535" y="2190750"/>
            <a:ext cx="7359015" cy="23660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CALL proc_isnull(NULL);</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输入的值为空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输入的值为空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(0.00 sec)</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0 rows affected (0.01 sec)</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98625" y="1435100"/>
            <a:ext cx="9212580" cy="361886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8" name="矩形 7"/>
          <p:cNvSpPr/>
          <p:nvPr/>
        </p:nvSpPr>
        <p:spPr>
          <a:xfrm>
            <a:off x="2121535" y="2190750"/>
            <a:ext cx="7359015" cy="23660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CALL proc_isnull('刘大');</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员工不存在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员工不存在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(0.00 sec)</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0 rows affected (0.01 sec)</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98625" y="1435100"/>
            <a:ext cx="9212580" cy="361886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8" name="矩形 7"/>
          <p:cNvSpPr/>
          <p:nvPr/>
        </p:nvSpPr>
        <p:spPr>
          <a:xfrm>
            <a:off x="2121535" y="2190750"/>
            <a:ext cx="7359015" cy="23660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CALL proc_isnull('刘一');</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empno | ename | job    | mgr  | sal     | comm | deptno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9839 | 刘一  | 董事长 | NULL | 6000.00 | NULL |     10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(0.00 sec)</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0 rows affected (0.02 sec)</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2</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658870" y="1917065"/>
            <a:ext cx="7039610" cy="82994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CASE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语句也可以对条件进行判断，它可以实现比IF语句更复杂的条件判断，CASE语句的语法格式有2种，具体如下所示。</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658870" y="141287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CASE语句</a:t>
            </a:r>
            <a:endParaRPr lang="en-US" altLang="zh-CN" dirty="0">
              <a:solidFill>
                <a:srgbClr val="595959"/>
              </a:solidFill>
              <a:sym typeface="+mn-ea"/>
            </a:endParaRPr>
          </a:p>
        </p:txBody>
      </p:sp>
      <p:sp>
        <p:nvSpPr>
          <p:cNvPr id="18" name="矩形 17"/>
          <p:cNvSpPr/>
          <p:nvPr/>
        </p:nvSpPr>
        <p:spPr>
          <a:xfrm>
            <a:off x="3718560" y="2925445"/>
            <a:ext cx="5524500" cy="16262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语法格式1</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CASE 表达式</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WHEN 值1 THEN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[WHEN 值2 THEN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[ELSE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END CASE</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616960" y="4653915"/>
            <a:ext cx="7594600" cy="156845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从上述语法格式可以看出，CASE语句中可以有多个</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WHEN</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子句，CASE后面的表达式的结果决定哪一个WHEN子句会被执行；当WHEN子句后的值与表达式结果值相同时，执行对应的THEN关键字后的语句列表；如果所有WHEN子句后的值都和表达式结果值不同，则执行ELSE后的语句列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END CASE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表示CASE语句的结束。</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2</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5" name="文本框 14"/>
          <p:cNvSpPr txBox="1"/>
          <p:nvPr/>
        </p:nvSpPr>
        <p:spPr>
          <a:xfrm>
            <a:off x="3790950" y="1845310"/>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CASE语句</a:t>
            </a:r>
            <a:endParaRPr lang="zh-CN" altLang="en-US" dirty="0">
              <a:solidFill>
                <a:srgbClr val="595959"/>
              </a:solidFill>
              <a:sym typeface="+mn-ea"/>
            </a:endParaRPr>
          </a:p>
        </p:txBody>
      </p:sp>
      <p:sp>
        <p:nvSpPr>
          <p:cNvPr id="18" name="矩形 17"/>
          <p:cNvSpPr/>
          <p:nvPr/>
        </p:nvSpPr>
        <p:spPr>
          <a:xfrm>
            <a:off x="3862705" y="2493645"/>
            <a:ext cx="5524500" cy="18180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语法格式2</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CASE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WHEN 条件表达式1 THEN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[WHEN 条件表达式2 THEN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[ELSE 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END CASE</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731260" y="4581525"/>
            <a:ext cx="7039610" cy="119888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在上述语法格式中，当</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WHEN</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子句后的条件表达式结果为真时，执行对应</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THEN</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后的语句列表；当所有WHEN子句后的条件表达式都不为真时，则执行</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ELSE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后的语句列表。</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02435" y="1056005"/>
            <a:ext cx="9212580" cy="535876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009140" y="1200785"/>
            <a:ext cx="8905875" cy="193802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下面通过一个案例演示</a:t>
            </a:r>
            <a:r>
              <a:rPr sz="1600" dirty="0" smtClean="0">
                <a:solidFill>
                  <a:srgbClr val="1369B2"/>
                </a:solidFill>
                <a:latin typeface="微软雅黑" panose="020B0503020204020204" pitchFamily="34" charset="-122"/>
                <a:ea typeface="微软雅黑" panose="020B0503020204020204" pitchFamily="34" charset="-122"/>
              </a:rPr>
              <a:t>CASE语句的使用</a:t>
            </a:r>
            <a:r>
              <a:rPr sz="1600" dirty="0" smtClean="0">
                <a:solidFill>
                  <a:srgbClr val="595959"/>
                </a:solidFill>
                <a:latin typeface="微软雅黑" panose="020B0503020204020204" pitchFamily="34" charset="-122"/>
                <a:ea typeface="微软雅黑" panose="020B0503020204020204" pitchFamily="34" charset="-122"/>
              </a:rPr>
              <a:t>。</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例如，员工管理系统中经常需要根据输入的员工工资返回对应的工资等级，如果工资大于等于5000，则返回高薪资；如果小于5000并且大于等于4000则返回中等薪资；如果小于4000并且大于等于2000则返回低薪资；其他金额则返回不合理薪资。将这个需求编写成存储函数，具体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判断语句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2351405" y="3239135"/>
            <a:ext cx="7359015" cy="30175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&amp;&amp;</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FUNCTION func_level(esal DECIMAL(7,2))</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RETURNS VARCHAR(20)</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BEGIN</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CASE</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WHEN esal&gt;=5000 THEN RETURN '高薪资';</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WHEN esal &gt;=4000 THEN RETURN '中等薪资';</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WHEN esal &gt;=2000 THEN RETURN'低薪资';</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ELSE RETURN'不合理薪资';</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CASE;</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&amp;&amp;</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30680" y="2565400"/>
            <a:ext cx="9166860" cy="230822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925445"/>
            <a:ext cx="8668385" cy="1476375"/>
          </a:xfrm>
          <a:prstGeom prst="rect">
            <a:avLst/>
          </a:prstGeom>
          <a:noFill/>
        </p:spPr>
        <p:txBody>
          <a:bodyPr wrap="square" rtlCol="0">
            <a:spAutoFit/>
          </a:bodyPr>
          <a:lstStyle/>
          <a:p>
            <a:pPr algn="l">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rPr>
              <a:t>循环语句</a:t>
            </a:r>
            <a:r>
              <a:rPr lang="zh-CN" altLang="en-US" sz="2000" dirty="0" smtClean="0">
                <a:solidFill>
                  <a:srgbClr val="595959"/>
                </a:solidFill>
                <a:latin typeface="微软雅黑" panose="020B0503020204020204" pitchFamily="34" charset="-122"/>
                <a:ea typeface="微软雅黑" panose="020B0503020204020204" pitchFamily="34" charset="-122"/>
              </a:rPr>
              <a:t>指的是符合条件的情况下，重复执行一段代码。例如，计算给定区间内数据的累加和。MySQL提供的循环语句有</a:t>
            </a:r>
            <a:r>
              <a:rPr lang="zh-CN" altLang="en-US" sz="2000" dirty="0" smtClean="0">
                <a:solidFill>
                  <a:srgbClr val="1369B2"/>
                </a:solidFill>
                <a:latin typeface="微软雅黑" panose="020B0503020204020204" pitchFamily="34" charset="-122"/>
                <a:ea typeface="微软雅黑" panose="020B0503020204020204" pitchFamily="34" charset="-122"/>
              </a:rPr>
              <a:t>LOOP</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1369B2"/>
                </a:solidFill>
                <a:latin typeface="微软雅黑" panose="020B0503020204020204" pitchFamily="34" charset="-122"/>
                <a:ea typeface="微软雅黑" panose="020B0503020204020204" pitchFamily="34" charset="-122"/>
              </a:rPr>
              <a:t>REPEAT</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WHILE</a:t>
            </a:r>
            <a:r>
              <a:rPr lang="zh-CN" altLang="en-US" sz="2000" dirty="0" smtClean="0">
                <a:solidFill>
                  <a:srgbClr val="595959"/>
                </a:solidFill>
                <a:latin typeface="微软雅黑" panose="020B0503020204020204" pitchFamily="34" charset="-122"/>
                <a:ea typeface="微软雅黑" panose="020B0503020204020204" pitchFamily="34" charset="-122"/>
              </a:rPr>
              <a:t>三种，下面分别进行介绍。</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1</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790950" y="2277110"/>
            <a:ext cx="7039610" cy="46037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LOOP</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语句通常用于实现一个简单的循环，其基本语法格式如下所示。</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790950" y="170116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LOOP语句</a:t>
            </a:r>
            <a:endParaRPr lang="zh-CN" altLang="en-US" dirty="0">
              <a:solidFill>
                <a:srgbClr val="595959"/>
              </a:solidFill>
              <a:sym typeface="+mn-ea"/>
            </a:endParaRPr>
          </a:p>
        </p:txBody>
      </p:sp>
      <p:sp>
        <p:nvSpPr>
          <p:cNvPr id="18" name="矩形 17"/>
          <p:cNvSpPr/>
          <p:nvPr/>
        </p:nvSpPr>
        <p:spPr>
          <a:xfrm>
            <a:off x="3862705" y="2925445"/>
            <a:ext cx="5524500" cy="10134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[标签:]LOOP</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语句列表</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END LOOP[标签];</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790950" y="4149725"/>
            <a:ext cx="7039610" cy="193802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上述语法格式中，标签是可选参数，用于标志循环的开始和结束。标签的定义只需符合MySQL标识符的定义规则即可，但两个位置的标签名称必须</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相同</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。LOOP会</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重复执行</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语句列表，所以在循环时务必给出</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结束循环的条件</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，否则会出现</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死循环</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。LOOP语句本身没有停止语句，如果要退出LOOP循环，需要使用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LEAVE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74825" y="1275080"/>
            <a:ext cx="9212580" cy="503364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90725" y="1447800"/>
            <a:ext cx="890587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下面通过一个案例演示</a:t>
            </a:r>
            <a:r>
              <a:rPr sz="1600" dirty="0" smtClean="0">
                <a:solidFill>
                  <a:srgbClr val="1369B2"/>
                </a:solidFill>
                <a:latin typeface="微软雅黑" panose="020B0503020204020204" pitchFamily="34" charset="-122"/>
                <a:ea typeface="微软雅黑" panose="020B0503020204020204" pitchFamily="34" charset="-122"/>
              </a:rPr>
              <a:t>LOOP语句的使用</a:t>
            </a:r>
            <a:r>
              <a:rPr sz="1600" dirty="0" smtClean="0">
                <a:solidFill>
                  <a:srgbClr val="595959"/>
                </a:solidFill>
                <a:latin typeface="微软雅黑" panose="020B0503020204020204" pitchFamily="34" charset="-122"/>
                <a:ea typeface="微软雅黑" panose="020B0503020204020204" pitchFamily="34" charset="-122"/>
              </a:rPr>
              <a:t>，例如，在存储过程中实现0~9之间整数的累加计算，具体SQL语句如下。</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2494915" y="2494280"/>
            <a:ext cx="7359015" cy="3628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PROCEDURE proc_sum()</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BEGIN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DECLARE i,sum INT DEFAULT 0;</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sign: LOOP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IF i &gt;=10 THEN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SELECT i,sum;</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LEAVE sign;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ELSE</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SET sum=sum+i;</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SET i=i+1;</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IF;</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LOOP sign;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1680845"/>
            <a:ext cx="9212580" cy="40741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800"/>
          </a:p>
        </p:txBody>
      </p:sp>
      <p:sp>
        <p:nvSpPr>
          <p:cNvPr id="6" name="文本框 5"/>
          <p:cNvSpPr txBox="1"/>
          <p:nvPr/>
        </p:nvSpPr>
        <p:spPr>
          <a:xfrm>
            <a:off x="2206625" y="1992630"/>
            <a:ext cx="8905875" cy="50673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调用</a:t>
            </a:r>
            <a:r>
              <a:rPr sz="1800" dirty="0" smtClean="0">
                <a:solidFill>
                  <a:srgbClr val="1369B2"/>
                </a:solidFill>
                <a:latin typeface="微软雅黑" panose="020B0503020204020204" pitchFamily="34" charset="-122"/>
                <a:ea typeface="微软雅黑" panose="020B0503020204020204" pitchFamily="34" charset="-122"/>
              </a:rPr>
              <a:t>存储过程proc_sum</a:t>
            </a:r>
            <a:r>
              <a:rPr sz="1800" dirty="0" smtClean="0">
                <a:solidFill>
                  <a:srgbClr val="595959"/>
                </a:solidFill>
                <a:latin typeface="微软雅黑" panose="020B0503020204020204" pitchFamily="34" charset="-122"/>
                <a:ea typeface="微软雅黑" panose="020B0503020204020204" pitchFamily="34" charset="-122"/>
              </a:rPr>
              <a:t>查看循环后i和sum的值，具体SQL语句如下所示。</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415540" y="2856865"/>
            <a:ext cx="7359015" cy="24472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CALL proc_sum();</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i    | sum  |</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10 |   45 |</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(0.02 sec)</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2</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899535" y="2133600"/>
            <a:ext cx="7039610" cy="119888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REPEAT</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语句用于循环执行符合条件的语句列表，每次循环时，都会对语句中的条件表达式进行判断，如果表达式返回值为</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TRUE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，则结束循环，否则重复执行循环中的语句。REPEAT语句的基本语法格式如下所示。</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62705" y="148526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REPEAT语句</a:t>
            </a:r>
            <a:endParaRPr lang="zh-CN" altLang="en-US" dirty="0">
              <a:solidFill>
                <a:srgbClr val="595959"/>
              </a:solidFill>
              <a:sym typeface="+mn-ea"/>
            </a:endParaRPr>
          </a:p>
        </p:txBody>
      </p:sp>
      <p:sp>
        <p:nvSpPr>
          <p:cNvPr id="18" name="矩形 17"/>
          <p:cNvSpPr/>
          <p:nvPr/>
        </p:nvSpPr>
        <p:spPr>
          <a:xfrm>
            <a:off x="4006850" y="3376930"/>
            <a:ext cx="5524500" cy="11207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[标签:] REPEAT</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语句列表</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UNTIL 条件表达式</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END REPEAT [标签]</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934460" y="4437380"/>
            <a:ext cx="7039610" cy="119888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上述语法格式中，程序会无条件地先执行一次</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REPEAT</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语句中的语句列表，然后再判断</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UNTIL</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后的条件表达式的结果是否为</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TRUE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，如果为TRUE，则结束循环；如果不为TRUE，则继续执行语句列表。</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02435" y="1213485"/>
            <a:ext cx="9212580" cy="50012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18970" y="1346835"/>
            <a:ext cx="8905875" cy="92202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为了读者能更好地理解REPEAT语句，下面通过示例演示</a:t>
            </a:r>
            <a:r>
              <a:rPr sz="1800" dirty="0" smtClean="0">
                <a:solidFill>
                  <a:srgbClr val="1369B2"/>
                </a:solidFill>
                <a:latin typeface="微软雅黑" panose="020B0503020204020204" pitchFamily="34" charset="-122"/>
                <a:ea typeface="微软雅黑" panose="020B0503020204020204" pitchFamily="34" charset="-122"/>
              </a:rPr>
              <a:t>REPEAT语句的使用</a:t>
            </a:r>
            <a:r>
              <a:rPr sz="1800" dirty="0" smtClean="0">
                <a:solidFill>
                  <a:srgbClr val="595959"/>
                </a:solidFill>
                <a:latin typeface="微软雅黑" panose="020B0503020204020204" pitchFamily="34" charset="-122"/>
                <a:ea typeface="微软雅黑" panose="020B0503020204020204" pitchFamily="34" charset="-122"/>
              </a:rPr>
              <a:t>，例如，在存储过程内实现0~10之间奇数的累加计算，具体SQL语句如下</a:t>
            </a:r>
            <a:r>
              <a:rPr lang="zh-CN" sz="1800" dirty="0" smtClean="0">
                <a:solidFill>
                  <a:srgbClr val="595959"/>
                </a:solidFill>
                <a:latin typeface="微软雅黑" panose="020B0503020204020204" pitchFamily="34" charset="-122"/>
                <a:ea typeface="微软雅黑" panose="020B0503020204020204" pitchFamily="34" charset="-122"/>
              </a:rPr>
              <a:t>。</a:t>
            </a:r>
            <a:endParaRPr lang="zh-CN" sz="18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2423160" y="2471420"/>
            <a:ext cx="7359015" cy="32937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PROCEDURE proc_odd()</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BEGIN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DECLARE i,sum INT DEFAULT 0;</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sign: REPEAT</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IF i%2 != 0 THEN SET sum=sum+i;</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IF;</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SET i=i+1;</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UNTIL i&gt;10</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REPEAT sign;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SELECT i,sum;</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24660" y="1322070"/>
            <a:ext cx="9212580" cy="40747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800"/>
          </a:p>
        </p:txBody>
      </p:sp>
      <p:sp>
        <p:nvSpPr>
          <p:cNvPr id="6" name="文本框 5"/>
          <p:cNvSpPr txBox="1"/>
          <p:nvPr/>
        </p:nvSpPr>
        <p:spPr>
          <a:xfrm>
            <a:off x="2206625" y="1705610"/>
            <a:ext cx="8905875" cy="50673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调用</a:t>
            </a:r>
            <a:r>
              <a:rPr sz="1800" dirty="0" smtClean="0">
                <a:solidFill>
                  <a:srgbClr val="1369B2"/>
                </a:solidFill>
                <a:latin typeface="微软雅黑" panose="020B0503020204020204" pitchFamily="34" charset="-122"/>
                <a:ea typeface="微软雅黑" panose="020B0503020204020204" pitchFamily="34" charset="-122"/>
              </a:rPr>
              <a:t>存储过程proc_odd</a:t>
            </a:r>
            <a:r>
              <a:rPr sz="1800" dirty="0" smtClean="0">
                <a:solidFill>
                  <a:srgbClr val="595959"/>
                </a:solidFill>
                <a:latin typeface="微软雅黑" panose="020B0503020204020204" pitchFamily="34" charset="-122"/>
                <a:ea typeface="微软雅黑" panose="020B0503020204020204" pitchFamily="34" charset="-122"/>
              </a:rPr>
              <a:t>查看循环后i和sum的值，具体SQL语句如下所示。</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415540" y="2354580"/>
            <a:ext cx="7359015" cy="2592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CALL proc_odd();</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i    | sum  |</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11 |   25 |</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(0.01 sec)</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3</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803015" y="2044700"/>
            <a:ext cx="7039610" cy="119888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WHILE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语句也用于循环执行符合条件的语句列表，与REPEAT 语句不同的是，</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WHILE语句是先判断条件表达式，再根据判断结果确定是否执行循环内的语句列表，WHILE 语句的基本语法格式如下所示。</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62705" y="1554480"/>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WHILE语句</a:t>
            </a:r>
            <a:endParaRPr lang="zh-CN" altLang="en-US" dirty="0">
              <a:solidFill>
                <a:srgbClr val="595959"/>
              </a:solidFill>
              <a:sym typeface="+mn-ea"/>
            </a:endParaRPr>
          </a:p>
        </p:txBody>
      </p:sp>
      <p:sp>
        <p:nvSpPr>
          <p:cNvPr id="18" name="矩形 17"/>
          <p:cNvSpPr/>
          <p:nvPr/>
        </p:nvSpPr>
        <p:spPr>
          <a:xfrm>
            <a:off x="3862705" y="3376295"/>
            <a:ext cx="5524500" cy="1184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[标签:]WHILE 条件表达式 DO</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语句列表</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END WHILE[标签]</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790950" y="4693285"/>
            <a:ext cx="7039610" cy="156845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上述语法格式中，只有条件表达式为真时，才会执行</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DO</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后面的语句列表，语句列表执行完之后，再次判断条件表达式的结果，如果结果为真，继续执行语句列表；如果结果为假，则退出循环。在使用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WHILE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循环语句时，可以</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在语句列表中设置循环的出口</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，以防出现死循环的现象。</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02435" y="1285240"/>
            <a:ext cx="9212580" cy="49485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18970" y="1633855"/>
            <a:ext cx="8905875" cy="922020"/>
          </a:xfrm>
          <a:prstGeom prst="rect">
            <a:avLst/>
          </a:prstGeom>
          <a:noFill/>
        </p:spPr>
        <p:txBody>
          <a:bodyPr wrap="square" rtlCol="0">
            <a:spAutoFit/>
          </a:bodyPr>
          <a:lstStyle/>
          <a:p>
            <a:pPr algn="l">
              <a:lnSpc>
                <a:spcPct val="150000"/>
              </a:lnSpc>
            </a:pPr>
            <a:r>
              <a:rPr lang="zh-CN" sz="1800" dirty="0" smtClean="0">
                <a:solidFill>
                  <a:srgbClr val="595959"/>
                </a:solidFill>
                <a:latin typeface="微软雅黑" panose="020B0503020204020204" pitchFamily="34" charset="-122"/>
                <a:ea typeface="微软雅黑" panose="020B0503020204020204" pitchFamily="34" charset="-122"/>
              </a:rPr>
              <a:t>通过案例演示</a:t>
            </a:r>
            <a:r>
              <a:rPr lang="zh-CN" sz="1800" dirty="0" smtClean="0">
                <a:solidFill>
                  <a:srgbClr val="1369B2"/>
                </a:solidFill>
                <a:latin typeface="微软雅黑" panose="020B0503020204020204" pitchFamily="34" charset="-122"/>
                <a:ea typeface="微软雅黑" panose="020B0503020204020204" pitchFamily="34" charset="-122"/>
              </a:rPr>
              <a:t>WHILE语句的使用</a:t>
            </a:r>
            <a:r>
              <a:rPr lang="zh-CN" sz="1800" dirty="0" smtClean="0">
                <a:solidFill>
                  <a:srgbClr val="595959"/>
                </a:solidFill>
                <a:latin typeface="微软雅黑" panose="020B0503020204020204" pitchFamily="34" charset="-122"/>
                <a:ea typeface="微软雅黑" panose="020B0503020204020204" pitchFamily="34" charset="-122"/>
              </a:rPr>
              <a:t>，例如，在存储过程内实现0~10之间偶数的累加计算，具体SQL语句如下。</a:t>
            </a:r>
            <a:endParaRPr lang="zh-CN" sz="18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2279650" y="2661285"/>
            <a:ext cx="7359015" cy="33191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CREATE PROCEDURE proc_even()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BEGIN</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DECLARE i,sum INT DEFAULT 0;</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WHILE i&lt;=10 DO</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IF i % 2=0</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THEN SET sum=sum+i;</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IF;</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SET i=i+1;</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WHILE;</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SELECT i,sum;</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END &amp;&amp;</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DELIMITER ;</a:t>
            </a:r>
            <a:endParaRPr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1393825"/>
            <a:ext cx="9212580" cy="422084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800"/>
          </a:p>
        </p:txBody>
      </p:sp>
      <p:sp>
        <p:nvSpPr>
          <p:cNvPr id="6" name="文本框 5"/>
          <p:cNvSpPr txBox="1"/>
          <p:nvPr/>
        </p:nvSpPr>
        <p:spPr>
          <a:xfrm>
            <a:off x="2206625" y="1849120"/>
            <a:ext cx="8905875" cy="50673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调用</a:t>
            </a:r>
            <a:r>
              <a:rPr sz="1800" dirty="0" smtClean="0">
                <a:solidFill>
                  <a:srgbClr val="1369B2"/>
                </a:solidFill>
                <a:latin typeface="微软雅黑" panose="020B0503020204020204" pitchFamily="34" charset="-122"/>
                <a:ea typeface="微软雅黑" panose="020B0503020204020204" pitchFamily="34" charset="-122"/>
              </a:rPr>
              <a:t>存储过程proc_even</a:t>
            </a:r>
            <a:r>
              <a:rPr sz="1800" dirty="0" smtClean="0">
                <a:solidFill>
                  <a:srgbClr val="595959"/>
                </a:solidFill>
                <a:latin typeface="微软雅黑" panose="020B0503020204020204" pitchFamily="34" charset="-122"/>
                <a:ea typeface="微软雅黑" panose="020B0503020204020204" pitchFamily="34" charset="-122"/>
              </a:rPr>
              <a:t>查看循环后i和sum的值，具体SQL语句如下所示。</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343785" y="2618105"/>
            <a:ext cx="7359015" cy="25666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CALL proc_even();</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i    | sum  |</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11 |   30 |</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(0.01 sec)</a:t>
            </a:r>
            <a:endParaRPr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703070"/>
            <a:ext cx="9166860" cy="342265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1847215"/>
            <a:ext cx="8668385" cy="1014730"/>
          </a:xfrm>
          <a:prstGeom prst="rect">
            <a:avLst/>
          </a:prstGeom>
          <a:noFill/>
        </p:spPr>
        <p:txBody>
          <a:bodyPr wrap="square" rtlCol="0">
            <a:spAutoFit/>
          </a:bodyPr>
          <a:lstStyle/>
          <a:p>
            <a:pPr algn="l">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rPr>
              <a:t>跳转语句</a:t>
            </a:r>
            <a:r>
              <a:rPr lang="zh-CN" altLang="en-US" sz="2000" dirty="0" smtClean="0">
                <a:solidFill>
                  <a:srgbClr val="595959"/>
                </a:solidFill>
                <a:latin typeface="微软雅黑" panose="020B0503020204020204" pitchFamily="34" charset="-122"/>
                <a:ea typeface="微软雅黑" panose="020B0503020204020204" pitchFamily="34" charset="-122"/>
              </a:rPr>
              <a:t>用于实现执行过程中的流程跳转。MySQL中常用的跳转语句有</a:t>
            </a:r>
            <a:r>
              <a:rPr lang="zh-CN" altLang="en-US" sz="2000" dirty="0" smtClean="0">
                <a:solidFill>
                  <a:srgbClr val="1369B2"/>
                </a:solidFill>
                <a:latin typeface="微软雅黑" panose="020B0503020204020204" pitchFamily="34" charset="-122"/>
                <a:ea typeface="微软雅黑" panose="020B0503020204020204" pitchFamily="34" charset="-122"/>
              </a:rPr>
              <a:t>LEAVE</a:t>
            </a:r>
            <a:r>
              <a:rPr lang="zh-CN" altLang="en-US" sz="2000" dirty="0" smtClean="0">
                <a:solidFill>
                  <a:srgbClr val="595959"/>
                </a:solidFill>
                <a:latin typeface="微软雅黑" panose="020B0503020204020204" pitchFamily="34" charset="-122"/>
                <a:ea typeface="微软雅黑" panose="020B0503020204020204" pitchFamily="34" charset="-122"/>
              </a:rPr>
              <a:t>语句和</a:t>
            </a:r>
            <a:r>
              <a:rPr lang="zh-CN" altLang="en-US" sz="2000" dirty="0" smtClean="0">
                <a:solidFill>
                  <a:srgbClr val="1369B2"/>
                </a:solidFill>
                <a:latin typeface="微软雅黑" panose="020B0503020204020204" pitchFamily="34" charset="-122"/>
                <a:ea typeface="微软雅黑" panose="020B0503020204020204" pitchFamily="34" charset="-122"/>
              </a:rPr>
              <a:t>ITERATE</a:t>
            </a:r>
            <a:r>
              <a:rPr lang="zh-CN" altLang="en-US" sz="2000" dirty="0" smtClean="0">
                <a:solidFill>
                  <a:srgbClr val="595959"/>
                </a:solidFill>
                <a:latin typeface="微软雅黑" panose="020B0503020204020204" pitchFamily="34" charset="-122"/>
                <a:ea typeface="微软雅黑" panose="020B0503020204020204" pitchFamily="34" charset="-122"/>
              </a:rPr>
              <a:t>语句，跳转语句的基本语法格式如下所示。</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062480" y="2976245"/>
            <a:ext cx="5524500" cy="6565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{ITERATE|LEAVE} 标签名;</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990725" y="3790950"/>
            <a:ext cx="8668385" cy="101473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上述语法格式中，</a:t>
            </a:r>
            <a:r>
              <a:rPr lang="zh-CN" altLang="en-US" sz="2000" dirty="0" smtClean="0">
                <a:solidFill>
                  <a:srgbClr val="1369B2"/>
                </a:solidFill>
                <a:latin typeface="微软雅黑" panose="020B0503020204020204" pitchFamily="34" charset="-122"/>
                <a:ea typeface="微软雅黑" panose="020B0503020204020204" pitchFamily="34" charset="-122"/>
              </a:rPr>
              <a:t>ITERATE</a:t>
            </a:r>
            <a:r>
              <a:rPr lang="zh-CN" altLang="en-US" sz="2000" dirty="0" smtClean="0">
                <a:solidFill>
                  <a:srgbClr val="595959"/>
                </a:solidFill>
                <a:latin typeface="微软雅黑" panose="020B0503020204020204" pitchFamily="34" charset="-122"/>
                <a:ea typeface="微软雅黑" panose="020B0503020204020204" pitchFamily="34" charset="-122"/>
              </a:rPr>
              <a:t>语句用于</a:t>
            </a:r>
            <a:r>
              <a:rPr lang="zh-CN" altLang="en-US" sz="2000" dirty="0" smtClean="0">
                <a:solidFill>
                  <a:srgbClr val="1369B2"/>
                </a:solidFill>
                <a:latin typeface="微软雅黑" panose="020B0503020204020204" pitchFamily="34" charset="-122"/>
                <a:ea typeface="微软雅黑" panose="020B0503020204020204" pitchFamily="34" charset="-122"/>
              </a:rPr>
              <a:t>结束本次循序</a:t>
            </a:r>
            <a:r>
              <a:rPr lang="zh-CN" altLang="en-US" sz="2000" dirty="0" smtClean="0">
                <a:solidFill>
                  <a:srgbClr val="595959"/>
                </a:solidFill>
                <a:latin typeface="微软雅黑" panose="020B0503020204020204" pitchFamily="34" charset="-122"/>
                <a:ea typeface="微软雅黑" panose="020B0503020204020204" pitchFamily="34" charset="-122"/>
              </a:rPr>
              <a:t>的执行，开始下一轮循序的执行，而</a:t>
            </a:r>
            <a:r>
              <a:rPr lang="zh-CN" altLang="en-US" sz="2000" dirty="0" smtClean="0">
                <a:solidFill>
                  <a:srgbClr val="1369B2"/>
                </a:solidFill>
                <a:latin typeface="微软雅黑" panose="020B0503020204020204" pitchFamily="34" charset="-122"/>
                <a:ea typeface="微软雅黑" panose="020B0503020204020204" pitchFamily="34" charset="-122"/>
              </a:rPr>
              <a:t>LEAVE</a:t>
            </a:r>
            <a:r>
              <a:rPr lang="zh-CN" altLang="en-US" sz="2000" dirty="0" smtClean="0">
                <a:solidFill>
                  <a:srgbClr val="595959"/>
                </a:solidFill>
                <a:latin typeface="微软雅黑" panose="020B0503020204020204" pitchFamily="34" charset="-122"/>
                <a:ea typeface="微软雅黑" panose="020B0503020204020204" pitchFamily="34" charset="-122"/>
              </a:rPr>
              <a:t>语句用于</a:t>
            </a:r>
            <a:r>
              <a:rPr lang="zh-CN" altLang="en-US" sz="2000" dirty="0" smtClean="0">
                <a:solidFill>
                  <a:srgbClr val="1369B2"/>
                </a:solidFill>
                <a:latin typeface="微软雅黑" panose="020B0503020204020204" pitchFamily="34" charset="-122"/>
                <a:ea typeface="微软雅黑" panose="020B0503020204020204" pitchFamily="34" charset="-122"/>
              </a:rPr>
              <a:t>终止当前循环</a:t>
            </a:r>
            <a:r>
              <a:rPr lang="zh-CN" altLang="en-US" sz="2000" dirty="0" smtClean="0">
                <a:solidFill>
                  <a:srgbClr val="595959"/>
                </a:solidFill>
                <a:latin typeface="微软雅黑" panose="020B0503020204020204" pitchFamily="34" charset="-122"/>
                <a:ea typeface="微软雅黑" panose="020B0503020204020204" pitchFamily="34" charset="-122"/>
              </a:rPr>
              <a:t>，跳出循环体。</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02435" y="1285240"/>
            <a:ext cx="9212580" cy="476440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062480" y="1346835"/>
            <a:ext cx="8905875" cy="1014730"/>
          </a:xfrm>
          <a:prstGeom prst="rect">
            <a:avLst/>
          </a:prstGeom>
          <a:noFill/>
        </p:spPr>
        <p:txBody>
          <a:bodyPr wrap="square" rtlCol="0">
            <a:spAutoFit/>
          </a:bodyPr>
          <a:lstStyle/>
          <a:p>
            <a:pPr algn="l">
              <a:lnSpc>
                <a:spcPct val="150000"/>
              </a:lnSpc>
            </a:pPr>
            <a:r>
              <a:rPr lang="zh-CN" sz="2000" dirty="0" smtClean="0">
                <a:solidFill>
                  <a:srgbClr val="595959"/>
                </a:solidFill>
                <a:latin typeface="微软雅黑" panose="020B0503020204020204" pitchFamily="34" charset="-122"/>
                <a:ea typeface="微软雅黑" panose="020B0503020204020204" pitchFamily="34" charset="-122"/>
              </a:rPr>
              <a:t>为了读者能更好的理解</a:t>
            </a:r>
            <a:r>
              <a:rPr lang="zh-CN" sz="2000" dirty="0" smtClean="0">
                <a:solidFill>
                  <a:srgbClr val="1369B2"/>
                </a:solidFill>
                <a:latin typeface="微软雅黑" panose="020B0503020204020204" pitchFamily="34" charset="-122"/>
                <a:ea typeface="微软雅黑" panose="020B0503020204020204" pitchFamily="34" charset="-122"/>
              </a:rPr>
              <a:t>LEAVE语句和ITERATE语句的使用</a:t>
            </a:r>
            <a:r>
              <a:rPr lang="zh-CN" sz="2000" dirty="0" smtClean="0">
                <a:solidFill>
                  <a:srgbClr val="595959"/>
                </a:solidFill>
                <a:latin typeface="微软雅黑" panose="020B0503020204020204" pitchFamily="34" charset="-122"/>
                <a:ea typeface="微软雅黑" panose="020B0503020204020204" pitchFamily="34" charset="-122"/>
              </a:rPr>
              <a:t>及区别，下面通过计算5以下的正偶数的累加和进行演示，具体SQL语句如下。</a:t>
            </a:r>
            <a:endParaRPr lang="zh-CN" sz="2000" dirty="0" smtClean="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2566670" y="2484755"/>
            <a:ext cx="7359015" cy="34124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DELIMITER &amp;&amp;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PROCEDURE proc_jump()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BEGIN</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DECLARE num INT DEFAULT 0;</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my_loop: LOOP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SET num=num+2;</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IF num &lt;5</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THEN ITERATE my_loop;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ELSE SELECT num;LEAVE my_loop;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END IF;</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END LOOP my_loop;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END &amp;&amp;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DELIMITER ;</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1465580"/>
            <a:ext cx="9212580" cy="43516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206625" y="1920875"/>
            <a:ext cx="8905875"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调用</a:t>
            </a:r>
            <a:r>
              <a:rPr sz="2000" dirty="0" smtClean="0">
                <a:solidFill>
                  <a:srgbClr val="1369B2"/>
                </a:solidFill>
                <a:latin typeface="微软雅黑" panose="020B0503020204020204" pitchFamily="34" charset="-122"/>
                <a:ea typeface="微软雅黑" panose="020B0503020204020204" pitchFamily="34" charset="-122"/>
              </a:rPr>
              <a:t>存储过程proc_jump</a:t>
            </a:r>
            <a:r>
              <a:rPr sz="2000" dirty="0" smtClean="0">
                <a:solidFill>
                  <a:srgbClr val="595959"/>
                </a:solidFill>
                <a:latin typeface="微软雅黑" panose="020B0503020204020204" pitchFamily="34" charset="-122"/>
                <a:ea typeface="微软雅黑" panose="020B0503020204020204" pitchFamily="34" charset="-122"/>
              </a:rPr>
              <a:t>查看循环后num的值，具体SQL语句如下所示。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415540" y="2785110"/>
            <a:ext cx="7359015" cy="26860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CALL proc_jump();</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num  |</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6 |</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(0.01 sec)</a:t>
            </a:r>
            <a:endParaRPr sz="20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8.4.3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错误处理</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22525" y="1629410"/>
            <a:ext cx="7578090" cy="3753110"/>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5516" y="3760"/>
              <a:ext cx="9010" cy="3064"/>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程序在运行过程中可能会发生错误，发生错误时，默认情况下，MySQL将</a:t>
              </a:r>
              <a:r>
                <a:rPr lang="zh-CN" altLang="en-US" sz="2000" dirty="0" smtClean="0">
                  <a:solidFill>
                    <a:srgbClr val="1369B2"/>
                  </a:solidFill>
                  <a:latin typeface="微软雅黑" panose="020B0503020204020204" pitchFamily="34" charset="-122"/>
                  <a:ea typeface="微软雅黑" panose="020B0503020204020204" pitchFamily="34" charset="-122"/>
                </a:rPr>
                <a:t>自动终止程序的执行</a:t>
              </a:r>
              <a:r>
                <a:rPr lang="zh-CN" altLang="en-US" sz="2000" dirty="0" smtClean="0">
                  <a:solidFill>
                    <a:srgbClr val="595959"/>
                  </a:solidFill>
                  <a:latin typeface="微软雅黑" panose="020B0503020204020204" pitchFamily="34" charset="-122"/>
                  <a:ea typeface="微软雅黑" panose="020B0503020204020204" pitchFamily="34" charset="-122"/>
                </a:rPr>
                <a:t>。有些时候，如果不希望程序因为错误而停止执行，可以通过MySQL中的</a:t>
              </a:r>
              <a:r>
                <a:rPr lang="zh-CN" altLang="en-US" sz="2000" dirty="0" smtClean="0">
                  <a:solidFill>
                    <a:srgbClr val="1369B2"/>
                  </a:solidFill>
                  <a:latin typeface="微软雅黑" panose="020B0503020204020204" pitchFamily="34" charset="-122"/>
                  <a:ea typeface="微软雅黑" panose="020B0503020204020204" pitchFamily="34" charset="-122"/>
                </a:rPr>
                <a:t>错误处理机制</a:t>
              </a:r>
              <a:r>
                <a:rPr lang="zh-CN" altLang="en-US" sz="2000" dirty="0" smtClean="0">
                  <a:solidFill>
                    <a:srgbClr val="595959"/>
                  </a:solidFill>
                  <a:latin typeface="微软雅黑" panose="020B0503020204020204" pitchFamily="34" charset="-122"/>
                  <a:ea typeface="微软雅黑" panose="020B0503020204020204" pitchFamily="34" charset="-122"/>
                </a:rPr>
                <a:t>自定义错误名称和错误处理程序，让程序遇到警告或错误时也能继续执行，从而增强程序处理问题的能力。</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自定义错误名称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2061845"/>
            <a:ext cx="9166860" cy="346011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486025"/>
            <a:ext cx="8668385" cy="239966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MySQL提供了比较丰富的错误代码，当程序出现错误时，会将对应的错误信息抛出以提醒开发人员。</a:t>
            </a:r>
            <a:r>
              <a:rPr lang="zh-CN" altLang="en-US" sz="2000" dirty="0" smtClean="0">
                <a:solidFill>
                  <a:srgbClr val="1369B2"/>
                </a:solidFill>
                <a:latin typeface="微软雅黑" panose="020B0503020204020204" pitchFamily="34" charset="-122"/>
                <a:ea typeface="微软雅黑" panose="020B0503020204020204" pitchFamily="34" charset="-122"/>
              </a:rPr>
              <a:t>自定义错误名称</a:t>
            </a:r>
            <a:r>
              <a:rPr lang="zh-CN" altLang="en-US" sz="2000" dirty="0" smtClean="0">
                <a:solidFill>
                  <a:srgbClr val="595959"/>
                </a:solidFill>
                <a:latin typeface="微软雅黑" panose="020B0503020204020204" pitchFamily="34" charset="-122"/>
                <a:ea typeface="微软雅黑" panose="020B0503020204020204" pitchFamily="34" charset="-122"/>
              </a:rPr>
              <a:t>就是给程序出现的错误声明一个名称，便于对错误进行对应的处理。例如，手机中存放了很多电话号码，可以给每个号码设置对应的名字，使用时只需通过名字就能找到对应的电话号码，而不需要记住那么多的电话号码。</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自定义错误名称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918335" y="1683385"/>
            <a:ext cx="9006205" cy="440626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134235" y="1774190"/>
            <a:ext cx="8467725"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在MySQL中可以使用</a:t>
            </a:r>
            <a:r>
              <a:rPr sz="2000" dirty="0" smtClean="0">
                <a:solidFill>
                  <a:srgbClr val="1369B2"/>
                </a:solidFill>
                <a:latin typeface="微软雅黑" panose="020B0503020204020204" pitchFamily="34" charset="-122"/>
                <a:ea typeface="微软雅黑" panose="020B0503020204020204" pitchFamily="34" charset="-122"/>
              </a:rPr>
              <a:t>DECLARE</a:t>
            </a:r>
            <a:r>
              <a:rPr sz="2000" dirty="0" smtClean="0">
                <a:solidFill>
                  <a:srgbClr val="595959"/>
                </a:solidFill>
                <a:latin typeface="微软雅黑" panose="020B0503020204020204" pitchFamily="34" charset="-122"/>
                <a:ea typeface="微软雅黑" panose="020B0503020204020204" pitchFamily="34" charset="-122"/>
              </a:rPr>
              <a:t>语句为错误声明一个名称，声明的基本语法格式如下所示。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206625" y="2926080"/>
            <a:ext cx="5524500" cy="5410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DECLARE 错误名称 CONDITION FOR 错误类型;</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文本框 2"/>
          <p:cNvSpPr txBox="1"/>
          <p:nvPr/>
        </p:nvSpPr>
        <p:spPr>
          <a:xfrm>
            <a:off x="2134235" y="3502660"/>
            <a:ext cx="8467725" cy="239966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在上述语法格式中，错误名称指自定义的错误名称，错误类型有两种可选值，分别为</a:t>
            </a:r>
            <a:r>
              <a:rPr sz="2000" dirty="0" smtClean="0">
                <a:solidFill>
                  <a:srgbClr val="1369B2"/>
                </a:solidFill>
                <a:latin typeface="微软雅黑" panose="020B0503020204020204" pitchFamily="34" charset="-122"/>
                <a:ea typeface="微软雅黑" panose="020B0503020204020204" pitchFamily="34" charset="-122"/>
              </a:rPr>
              <a:t>mysql_error_code</a:t>
            </a:r>
            <a:r>
              <a:rPr sz="2000" dirty="0" smtClean="0">
                <a:solidFill>
                  <a:srgbClr val="595959"/>
                </a:solidFill>
                <a:latin typeface="微软雅黑" panose="020B0503020204020204" pitchFamily="34" charset="-122"/>
                <a:ea typeface="微软雅黑" panose="020B0503020204020204" pitchFamily="34" charset="-122"/>
              </a:rPr>
              <a:t>和</a:t>
            </a:r>
            <a:r>
              <a:rPr sz="2000" dirty="0" smtClean="0">
                <a:solidFill>
                  <a:srgbClr val="1369B2"/>
                </a:solidFill>
                <a:latin typeface="微软雅黑" panose="020B0503020204020204" pitchFamily="34" charset="-122"/>
                <a:ea typeface="微软雅黑" panose="020B0503020204020204" pitchFamily="34" charset="-122"/>
              </a:rPr>
              <a:t>SQLSTATE[VALUE]sqlstate_value</a:t>
            </a:r>
            <a:r>
              <a:rPr sz="2000" dirty="0" smtClean="0">
                <a:solidFill>
                  <a:srgbClr val="595959"/>
                </a:solidFill>
                <a:latin typeface="微软雅黑" panose="020B0503020204020204" pitchFamily="34" charset="-122"/>
                <a:ea typeface="微软雅黑" panose="020B0503020204020204" pitchFamily="34" charset="-122"/>
              </a:rPr>
              <a:t>，其中mysql_error_code是MySQL数值类型的错误代码；sqlstate_value是长度为5的字符串类型的错误代码。mysql_error_code和sqlstate_value都可以表示MySQL的错误。</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自定义错误名称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918335" y="1970405"/>
            <a:ext cx="9006205" cy="349821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187575" y="2205355"/>
            <a:ext cx="8467725"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为了更好的理解上述两种错误代码，下面参考如下错误信息进行讲解。</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278380" y="2997200"/>
            <a:ext cx="6746240" cy="5143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ERROR 1062 (23000): Duplicate entry '9839' for key emp.PRIMARY'</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文本框 2"/>
          <p:cNvSpPr txBox="1"/>
          <p:nvPr/>
        </p:nvSpPr>
        <p:spPr>
          <a:xfrm>
            <a:off x="2278380" y="3645535"/>
            <a:ext cx="8467725" cy="147637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上述错误信息是在插入</a:t>
            </a:r>
            <a:r>
              <a:rPr sz="2000" dirty="0" smtClean="0">
                <a:solidFill>
                  <a:srgbClr val="1369B2"/>
                </a:solidFill>
                <a:latin typeface="微软雅黑" panose="020B0503020204020204" pitchFamily="34" charset="-122"/>
                <a:ea typeface="微软雅黑" panose="020B0503020204020204" pitchFamily="34" charset="-122"/>
              </a:rPr>
              <a:t>重复的主键值</a:t>
            </a:r>
            <a:r>
              <a:rPr sz="2000" dirty="0" smtClean="0">
                <a:solidFill>
                  <a:srgbClr val="595959"/>
                </a:solidFill>
                <a:latin typeface="微软雅黑" panose="020B0503020204020204" pitchFamily="34" charset="-122"/>
                <a:ea typeface="微软雅黑" panose="020B0503020204020204" pitchFamily="34" charset="-122"/>
              </a:rPr>
              <a:t>时抛出的错误信息，其中1062就是一个mysql_error_code类型的错误代码，23000是对应的SQLSTATE类型的错误代码。</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自定义错误名称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1824355"/>
            <a:ext cx="9212580" cy="35515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206625" y="1919605"/>
            <a:ext cx="8905875" cy="50673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下面使用</a:t>
            </a:r>
            <a:r>
              <a:rPr sz="1800" dirty="0" smtClean="0">
                <a:solidFill>
                  <a:srgbClr val="1369B2"/>
                </a:solidFill>
                <a:latin typeface="微软雅黑" panose="020B0503020204020204" pitchFamily="34" charset="-122"/>
                <a:ea typeface="微软雅黑" panose="020B0503020204020204" pitchFamily="34" charset="-122"/>
              </a:rPr>
              <a:t>DECLARE语句</a:t>
            </a:r>
            <a:r>
              <a:rPr sz="1800" dirty="0" smtClean="0">
                <a:solidFill>
                  <a:srgbClr val="595959"/>
                </a:solidFill>
                <a:latin typeface="微软雅黑" panose="020B0503020204020204" pitchFamily="34" charset="-122"/>
                <a:ea typeface="微软雅黑" panose="020B0503020204020204" pitchFamily="34" charset="-122"/>
              </a:rPr>
              <a:t>为上述错误代码声明一个名称，具体SQL语句如下所示。</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415540" y="2779395"/>
            <a:ext cx="7359015" cy="18040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DELIMITER &amp;&amp;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PROCEDURE proc_err()</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BEGIN</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DECLARE duplicate_entry CONDITION FOR SQLSTATE '23000';</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END &amp;&amp;</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DELIMITER ;</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自定义错误名称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2111375"/>
            <a:ext cx="9212580" cy="280289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206625" y="2206625"/>
            <a:ext cx="8905875"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另外，以上示例</a:t>
            </a:r>
            <a:r>
              <a:rPr sz="2000" dirty="0" smtClean="0">
                <a:solidFill>
                  <a:srgbClr val="1369B2"/>
                </a:solidFill>
                <a:latin typeface="微软雅黑" panose="020B0503020204020204" pitchFamily="34" charset="-122"/>
                <a:ea typeface="微软雅黑" panose="020B0503020204020204" pitchFamily="34" charset="-122"/>
              </a:rPr>
              <a:t>DECLARE语句</a:t>
            </a:r>
            <a:r>
              <a:rPr sz="2000" dirty="0" smtClean="0">
                <a:solidFill>
                  <a:srgbClr val="595959"/>
                </a:solidFill>
                <a:latin typeface="微软雅黑" panose="020B0503020204020204" pitchFamily="34" charset="-122"/>
                <a:ea typeface="微软雅黑" panose="020B0503020204020204" pitchFamily="34" charset="-122"/>
              </a:rPr>
              <a:t>中还可以为mysql_error_code类型的错误代码定义名称，具体SQL语句如下。</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279015" y="3575050"/>
            <a:ext cx="7359015" cy="7607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20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DECLARE duplicate_entry CONDITION FOR 1062;</a:t>
            </a:r>
            <a:endParaRPr sz="20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自定义错误名称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2061845"/>
            <a:ext cx="9166860" cy="385508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205990"/>
            <a:ext cx="8668385"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程序出现异常时默认会停止继续执行，MySQL中允许自定义错误处理程序，在程序出现错误时，可以交由自定义的错误处理程序处理，避免直接中断程序的运行。</a:t>
            </a:r>
            <a:r>
              <a:rPr lang="zh-CN" altLang="en-US" sz="1800" dirty="0" smtClean="0">
                <a:solidFill>
                  <a:srgbClr val="1369B2"/>
                </a:solidFill>
                <a:latin typeface="微软雅黑" panose="020B0503020204020204" pitchFamily="34" charset="-122"/>
                <a:ea typeface="微软雅黑" panose="020B0503020204020204" pitchFamily="34" charset="-122"/>
              </a:rPr>
              <a:t>自定义错误处理程序</a:t>
            </a:r>
            <a:r>
              <a:rPr lang="zh-CN" altLang="en-US" sz="1800" dirty="0" smtClean="0">
                <a:solidFill>
                  <a:srgbClr val="595959"/>
                </a:solidFill>
                <a:latin typeface="微软雅黑" panose="020B0503020204020204" pitchFamily="34" charset="-122"/>
                <a:ea typeface="微软雅黑" panose="020B0503020204020204" pitchFamily="34" charset="-122"/>
              </a:rPr>
              <a:t>的基本语法格式如下所示。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062480" y="3573780"/>
            <a:ext cx="7254240"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DECLARE 错误处理方式 HANDLER FOR 错误类型[,错误类型...] 程序语句段</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990725" y="4365625"/>
            <a:ext cx="8668385"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上述语法格式中，MySQL支持的错误处理方式有</a:t>
            </a:r>
            <a:r>
              <a:rPr lang="zh-CN" altLang="en-US" sz="1800" dirty="0" smtClean="0">
                <a:solidFill>
                  <a:srgbClr val="1369B2"/>
                </a:solidFill>
                <a:latin typeface="微软雅黑" panose="020B0503020204020204" pitchFamily="34" charset="-122"/>
                <a:ea typeface="微软雅黑" panose="020B0503020204020204" pitchFamily="34" charset="-122"/>
              </a:rPr>
              <a:t>CONTINUE</a:t>
            </a:r>
            <a:r>
              <a:rPr lang="zh-CN" altLang="en-US" sz="1800" dirty="0" smtClean="0">
                <a:solidFill>
                  <a:srgbClr val="595959"/>
                </a:solidFill>
                <a:latin typeface="微软雅黑" panose="020B0503020204020204" pitchFamily="34" charset="-122"/>
                <a:ea typeface="微软雅黑" panose="020B0503020204020204" pitchFamily="34" charset="-122"/>
              </a:rPr>
              <a:t>和</a:t>
            </a:r>
            <a:r>
              <a:rPr lang="zh-CN" altLang="en-US" sz="1800" dirty="0" smtClean="0">
                <a:solidFill>
                  <a:srgbClr val="1369B2"/>
                </a:solidFill>
                <a:latin typeface="微软雅黑" panose="020B0503020204020204" pitchFamily="34" charset="-122"/>
                <a:ea typeface="微软雅黑" panose="020B0503020204020204" pitchFamily="34" charset="-122"/>
              </a:rPr>
              <a:t>EXIT</a:t>
            </a:r>
            <a:r>
              <a:rPr lang="zh-CN" altLang="en-US" sz="1800" dirty="0" smtClean="0">
                <a:solidFill>
                  <a:srgbClr val="595959"/>
                </a:solidFill>
                <a:latin typeface="微软雅黑" panose="020B0503020204020204" pitchFamily="34" charset="-122"/>
                <a:ea typeface="微软雅黑" panose="020B0503020204020204" pitchFamily="34" charset="-122"/>
              </a:rPr>
              <a:t>，其中CONTINUE 表示遇到错误不进行处理，继续向下执行；EXIT 表示遇到错误后马上退出。程序语句段表示在遇到定义的错误时，需要执行的一些存储过程或函数。</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自定义错误处理程序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5285" y="1636395"/>
            <a:ext cx="9375140" cy="399415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31670" y="1636395"/>
            <a:ext cx="8871585" cy="3784600"/>
          </a:xfrm>
          <a:prstGeom prst="rect">
            <a:avLst/>
          </a:prstGeom>
          <a:noFill/>
        </p:spPr>
        <p:txBody>
          <a:bodyPr wrap="square" rtlCol="0">
            <a:spAutoFit/>
          </a:bodyPr>
          <a:lstStyle/>
          <a:p>
            <a:pPr algn="l">
              <a:lnSpc>
                <a:spcPct val="150000"/>
              </a:lnSpc>
            </a:pPr>
            <a:r>
              <a:rPr sz="2000" dirty="0" smtClean="0">
                <a:solidFill>
                  <a:srgbClr val="1369B2"/>
                </a:solidFill>
                <a:latin typeface="微软雅黑" panose="020B0503020204020204" pitchFamily="34" charset="-122"/>
                <a:ea typeface="微软雅黑" panose="020B0503020204020204" pitchFamily="34" charset="-122"/>
              </a:rPr>
              <a:t>错误类型</a:t>
            </a:r>
            <a:r>
              <a:rPr sz="2000" dirty="0" smtClean="0">
                <a:solidFill>
                  <a:srgbClr val="595959"/>
                </a:solidFill>
                <a:latin typeface="微软雅黑" panose="020B0503020204020204" pitchFamily="34" charset="-122"/>
                <a:ea typeface="微软雅黑" panose="020B0503020204020204" pitchFamily="34" charset="-122"/>
              </a:rPr>
              <a:t>有6种可选值，分别如下。</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（1）</a:t>
            </a:r>
            <a:r>
              <a:rPr sz="2000" dirty="0" smtClean="0">
                <a:solidFill>
                  <a:srgbClr val="1369B2"/>
                </a:solidFill>
                <a:latin typeface="微软雅黑" panose="020B0503020204020204" pitchFamily="34" charset="-122"/>
                <a:ea typeface="微软雅黑" panose="020B0503020204020204" pitchFamily="34" charset="-122"/>
              </a:rPr>
              <a:t>sqlstate_value</a:t>
            </a:r>
            <a:r>
              <a:rPr sz="2000" dirty="0" smtClean="0">
                <a:solidFill>
                  <a:srgbClr val="595959"/>
                </a:solidFill>
                <a:latin typeface="微软雅黑" panose="020B0503020204020204" pitchFamily="34" charset="-122"/>
                <a:ea typeface="微软雅黑" panose="020B0503020204020204" pitchFamily="34" charset="-122"/>
              </a:rPr>
              <a:t>：匹配SQLSTATE错误代码。</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（2）</a:t>
            </a:r>
            <a:r>
              <a:rPr sz="2000" dirty="0" smtClean="0">
                <a:solidFill>
                  <a:srgbClr val="1369B2"/>
                </a:solidFill>
                <a:latin typeface="微软雅黑" panose="020B0503020204020204" pitchFamily="34" charset="-122"/>
                <a:ea typeface="微软雅黑" panose="020B0503020204020204" pitchFamily="34" charset="-122"/>
              </a:rPr>
              <a:t>condition_name</a:t>
            </a:r>
            <a:r>
              <a:rPr sz="2000" dirty="0" smtClean="0">
                <a:solidFill>
                  <a:srgbClr val="595959"/>
                </a:solidFill>
                <a:latin typeface="微软雅黑" panose="020B0503020204020204" pitchFamily="34" charset="-122"/>
                <a:ea typeface="微软雅黑" panose="020B0503020204020204" pitchFamily="34" charset="-122"/>
              </a:rPr>
              <a:t>：匹配DECLARE定义的错误条件名称。</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（3）</a:t>
            </a:r>
            <a:r>
              <a:rPr sz="2000" dirty="0" smtClean="0">
                <a:solidFill>
                  <a:srgbClr val="1369B2"/>
                </a:solidFill>
                <a:latin typeface="微软雅黑" panose="020B0503020204020204" pitchFamily="34" charset="-122"/>
                <a:ea typeface="微软雅黑" panose="020B0503020204020204" pitchFamily="34" charset="-122"/>
              </a:rPr>
              <a:t>SQLWARNING</a:t>
            </a:r>
            <a:r>
              <a:rPr sz="2000" dirty="0" smtClean="0">
                <a:solidFill>
                  <a:srgbClr val="595959"/>
                </a:solidFill>
                <a:latin typeface="微软雅黑" panose="020B0503020204020204" pitchFamily="34" charset="-122"/>
                <a:ea typeface="微软雅黑" panose="020B0503020204020204" pitchFamily="34" charset="-122"/>
              </a:rPr>
              <a:t>：匹配所有以01开头的SQLSTATE错误代码。</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（4）</a:t>
            </a:r>
            <a:r>
              <a:rPr sz="2000" dirty="0" smtClean="0">
                <a:solidFill>
                  <a:srgbClr val="1369B2"/>
                </a:solidFill>
                <a:latin typeface="微软雅黑" panose="020B0503020204020204" pitchFamily="34" charset="-122"/>
                <a:ea typeface="微软雅黑" panose="020B0503020204020204" pitchFamily="34" charset="-122"/>
              </a:rPr>
              <a:t>NOT FOUND</a:t>
            </a:r>
            <a:r>
              <a:rPr sz="2000" dirty="0" smtClean="0">
                <a:solidFill>
                  <a:srgbClr val="595959"/>
                </a:solidFill>
                <a:latin typeface="微软雅黑" panose="020B0503020204020204" pitchFamily="34" charset="-122"/>
                <a:ea typeface="微软雅黑" panose="020B0503020204020204" pitchFamily="34" charset="-122"/>
              </a:rPr>
              <a:t>：匹配所有以02开头的SQLSTATE错误代码。</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（5）</a:t>
            </a:r>
            <a:r>
              <a:rPr sz="2000" dirty="0" smtClean="0">
                <a:solidFill>
                  <a:srgbClr val="1369B2"/>
                </a:solidFill>
                <a:latin typeface="微软雅黑" panose="020B0503020204020204" pitchFamily="34" charset="-122"/>
                <a:ea typeface="微软雅黑" panose="020B0503020204020204" pitchFamily="34" charset="-122"/>
              </a:rPr>
              <a:t>SQLEXCEPTION</a:t>
            </a:r>
            <a:r>
              <a:rPr sz="2000" dirty="0" smtClean="0">
                <a:solidFill>
                  <a:srgbClr val="595959"/>
                </a:solidFill>
                <a:latin typeface="微软雅黑" panose="020B0503020204020204" pitchFamily="34" charset="-122"/>
                <a:ea typeface="微软雅黑" panose="020B0503020204020204" pitchFamily="34" charset="-122"/>
              </a:rPr>
              <a:t>：匹配所有没有被 SQLWARNING或 NOT FOUND捕获的SQLSTATE错误代码。</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（6）</a:t>
            </a:r>
            <a:r>
              <a:rPr sz="2000" dirty="0" smtClean="0">
                <a:solidFill>
                  <a:srgbClr val="1369B2"/>
                </a:solidFill>
                <a:latin typeface="微软雅黑" panose="020B0503020204020204" pitchFamily="34" charset="-122"/>
                <a:ea typeface="微软雅黑" panose="020B0503020204020204" pitchFamily="34" charset="-122"/>
              </a:rPr>
              <a:t>mysql_error_code</a:t>
            </a:r>
            <a:r>
              <a:rPr sz="2000" dirty="0" smtClean="0">
                <a:solidFill>
                  <a:srgbClr val="595959"/>
                </a:solidFill>
                <a:latin typeface="微软雅黑" panose="020B0503020204020204" pitchFamily="34" charset="-122"/>
                <a:ea typeface="微软雅黑" panose="020B0503020204020204" pitchFamily="34" charset="-122"/>
              </a:rPr>
              <a:t>：匹配mysql_error_code类型的错误代码。</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自定义错误处理程序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30680" y="1084580"/>
            <a:ext cx="9212580" cy="519493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18970" y="1345565"/>
            <a:ext cx="8905875" cy="1568450"/>
          </a:xfrm>
          <a:prstGeom prst="rect">
            <a:avLst/>
          </a:prstGeom>
          <a:noFill/>
        </p:spPr>
        <p:txBody>
          <a:bodyPr wrap="square" rtlCol="0">
            <a:spAutoFit/>
          </a:bodyPr>
          <a:lstStyle/>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下面通过一个案例对</a:t>
            </a:r>
            <a:r>
              <a:rPr lang="zh-CN" sz="1600" dirty="0" smtClean="0">
                <a:solidFill>
                  <a:srgbClr val="1369B2"/>
                </a:solidFill>
                <a:latin typeface="微软雅黑" panose="020B0503020204020204" pitchFamily="34" charset="-122"/>
                <a:ea typeface="微软雅黑" panose="020B0503020204020204" pitchFamily="34" charset="-122"/>
              </a:rPr>
              <a:t>错误处理程序的使用</a:t>
            </a:r>
            <a:r>
              <a:rPr lang="zh-CN" sz="1600" dirty="0" smtClean="0">
                <a:solidFill>
                  <a:srgbClr val="595959"/>
                </a:solidFill>
                <a:latin typeface="微软雅黑" panose="020B0503020204020204" pitchFamily="34" charset="-122"/>
                <a:ea typeface="微软雅黑" panose="020B0503020204020204" pitchFamily="34" charset="-122"/>
              </a:rPr>
              <a:t>进行演示。例如，由于员工表中设有主键，如果在存储过程中往员工表中插入多条数据时，插入的数据中有相同的主键值会导致存储过程执行出现错误，导致程序程序中断。此时可以通过自定义错误处理程序确保存储过程的执行不被中断，具体SQL语句及执行结果如下所示。</a:t>
            </a:r>
            <a:endParaRPr lang="zh-CN" sz="16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自定义错误处理程序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2567305" y="2994660"/>
            <a:ext cx="7359015" cy="30359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&amp;&amp;</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PROCEDURE proc_handler_err()</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BEGIN</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DECLARE CONTINUE HANDLER FOR SQLSTATE '23000'</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SET @num=1;</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INSERT INTO emp VALUES(9944,'白龙马','人事',9982,1000,500,40);</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SET @num=2;</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INSERT INTO emp VALUES(9944,'白龙马','人事',9982,1000,500,40);</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SET @num=3;</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END &amp;&amp;</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11960" y="1262380"/>
            <a:ext cx="9212580" cy="424751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700"/>
          </a:p>
        </p:txBody>
      </p:sp>
      <p:sp>
        <p:nvSpPr>
          <p:cNvPr id="6" name="文本框 5"/>
          <p:cNvSpPr txBox="1"/>
          <p:nvPr/>
        </p:nvSpPr>
        <p:spPr>
          <a:xfrm>
            <a:off x="1919605" y="1417320"/>
            <a:ext cx="8905875" cy="875665"/>
          </a:xfrm>
          <a:prstGeom prst="rect">
            <a:avLst/>
          </a:prstGeom>
          <a:noFill/>
        </p:spPr>
        <p:txBody>
          <a:bodyPr wrap="square" rtlCol="0">
            <a:spAutoFit/>
          </a:bodyPr>
          <a:lstStyle/>
          <a:p>
            <a:pPr algn="l">
              <a:lnSpc>
                <a:spcPct val="150000"/>
              </a:lnSpc>
            </a:pPr>
            <a:r>
              <a:rPr sz="1700" dirty="0" smtClean="0">
                <a:solidFill>
                  <a:srgbClr val="595959"/>
                </a:solidFill>
                <a:latin typeface="微软雅黑" panose="020B0503020204020204" pitchFamily="34" charset="-122"/>
                <a:ea typeface="微软雅黑" panose="020B0503020204020204" pitchFamily="34" charset="-122"/>
              </a:rPr>
              <a:t>创建完存储过程proc_handler_err后，</a:t>
            </a:r>
            <a:r>
              <a:rPr sz="1700" dirty="0" smtClean="0">
                <a:solidFill>
                  <a:srgbClr val="1369B2"/>
                </a:solidFill>
                <a:latin typeface="微软雅黑" panose="020B0503020204020204" pitchFamily="34" charset="-122"/>
                <a:ea typeface="微软雅黑" panose="020B0503020204020204" pitchFamily="34" charset="-122"/>
              </a:rPr>
              <a:t>调用存储过程，并查询当前会话变量num的值</a:t>
            </a:r>
            <a:r>
              <a:rPr sz="1700" dirty="0" smtClean="0">
                <a:solidFill>
                  <a:srgbClr val="595959"/>
                </a:solidFill>
                <a:latin typeface="微软雅黑" panose="020B0503020204020204" pitchFamily="34" charset="-122"/>
                <a:ea typeface="微软雅黑" panose="020B0503020204020204" pitchFamily="34" charset="-122"/>
              </a:rPr>
              <a:t>，具体SQL语句如下所示。</a:t>
            </a:r>
            <a:endParaRPr sz="17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279015" y="2517140"/>
            <a:ext cx="7359015" cy="26758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CALL proc_handler_err();</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Query OK, 0 rows affected (0.01 sec)</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@num;</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@num |</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3 |</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sz="17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自定义错误处理程序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游标</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33955" y="1845945"/>
            <a:ext cx="7549515" cy="3830320"/>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4987" y="3625"/>
              <a:ext cx="9790" cy="3002"/>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使用</a:t>
              </a:r>
              <a:r>
                <a:rPr lang="zh-CN" altLang="en-US" sz="2000" dirty="0" smtClean="0">
                  <a:solidFill>
                    <a:srgbClr val="1369B2"/>
                  </a:solidFill>
                  <a:latin typeface="微软雅黑" panose="020B0503020204020204" pitchFamily="34" charset="-122"/>
                  <a:ea typeface="微软雅黑" panose="020B0503020204020204" pitchFamily="34" charset="-122"/>
                </a:rPr>
                <a:t>SELECT</a:t>
              </a:r>
              <a:r>
                <a:rPr lang="zh-CN" altLang="en-US" sz="2000" dirty="0" smtClean="0">
                  <a:solidFill>
                    <a:srgbClr val="595959"/>
                  </a:solidFill>
                  <a:latin typeface="微软雅黑" panose="020B0503020204020204" pitchFamily="34" charset="-122"/>
                  <a:ea typeface="微软雅黑" panose="020B0503020204020204" pitchFamily="34" charset="-122"/>
                </a:rPr>
                <a:t>语句可以返回符合指定条件的结果集，但是没有办法对结果集中的数据进行单独的处理，例如，使用SELECT语句查询出多条员工信息的结果集后，无法获取结果集中的单条记录。为此，MySQL提供了</a:t>
              </a:r>
              <a:r>
                <a:rPr lang="zh-CN" altLang="en-US" sz="2000" dirty="0" smtClean="0">
                  <a:solidFill>
                    <a:srgbClr val="1369B2"/>
                  </a:solidFill>
                  <a:latin typeface="微软雅黑" panose="020B0503020204020204" pitchFamily="34" charset="-122"/>
                  <a:ea typeface="微软雅黑" panose="020B0503020204020204" pitchFamily="34" charset="-122"/>
                </a:rPr>
                <a:t>游标机制</a:t>
              </a:r>
              <a:r>
                <a:rPr lang="zh-CN" altLang="en-US" sz="2000" dirty="0" smtClean="0">
                  <a:solidFill>
                    <a:srgbClr val="595959"/>
                  </a:solidFill>
                  <a:latin typeface="微软雅黑" panose="020B0503020204020204" pitchFamily="34" charset="-122"/>
                  <a:ea typeface="微软雅黑" panose="020B0503020204020204" pitchFamily="34" charset="-122"/>
                </a:rPr>
                <a:t>，利用游标可以对</a:t>
              </a:r>
              <a:r>
                <a:rPr lang="zh-CN" altLang="en-US" sz="2000" dirty="0" smtClean="0">
                  <a:solidFill>
                    <a:srgbClr val="1369B2"/>
                  </a:solidFill>
                  <a:latin typeface="微软雅黑" panose="020B0503020204020204" pitchFamily="34" charset="-122"/>
                  <a:ea typeface="微软雅黑" panose="020B0503020204020204" pitchFamily="34" charset="-122"/>
                </a:rPr>
                <a:t>结果集</a:t>
              </a:r>
              <a:r>
                <a:rPr lang="zh-CN" altLang="en-US" sz="2000" dirty="0" smtClean="0">
                  <a:solidFill>
                    <a:srgbClr val="595959"/>
                  </a:solidFill>
                  <a:latin typeface="微软雅黑" panose="020B0503020204020204" pitchFamily="34" charset="-122"/>
                  <a:ea typeface="微软雅黑" panose="020B0503020204020204" pitchFamily="34" charset="-122"/>
                </a:rPr>
                <a:t>中的数据进行</a:t>
              </a:r>
              <a:r>
                <a:rPr lang="zh-CN" altLang="en-US" sz="2000" dirty="0" smtClean="0">
                  <a:solidFill>
                    <a:srgbClr val="1369B2"/>
                  </a:solidFill>
                  <a:latin typeface="微软雅黑" panose="020B0503020204020204" pitchFamily="34" charset="-122"/>
                  <a:ea typeface="微软雅黑" panose="020B0503020204020204" pitchFamily="34" charset="-122"/>
                </a:rPr>
                <a:t>单独处理</a:t>
              </a:r>
              <a:r>
                <a:rPr lang="zh-CN" altLang="en-US" sz="2000" dirty="0" smtClean="0">
                  <a:solidFill>
                    <a:srgbClr val="595959"/>
                  </a:solidFill>
                  <a:latin typeface="微软雅黑" panose="020B0503020204020204" pitchFamily="34" charset="-122"/>
                  <a:ea typeface="微软雅黑" panose="020B0503020204020204" pitchFamily="34" charset="-122"/>
                </a:rPr>
                <a:t>。本节将对游标的相关知识进行详细讲解。</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235835"/>
            <a:ext cx="9166860" cy="258635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565400"/>
            <a:ext cx="8668385" cy="193802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游标的本质是一种带</a:t>
            </a:r>
            <a:r>
              <a:rPr lang="zh-CN" altLang="en-US" sz="2000" dirty="0" smtClean="0">
                <a:solidFill>
                  <a:srgbClr val="1369B2"/>
                </a:solidFill>
                <a:latin typeface="微软雅黑" panose="020B0503020204020204" pitchFamily="34" charset="-122"/>
                <a:ea typeface="微软雅黑" panose="020B0503020204020204" pitchFamily="34" charset="-122"/>
              </a:rPr>
              <a:t>指针</a:t>
            </a:r>
            <a:r>
              <a:rPr lang="zh-CN" altLang="en-US" sz="2000" dirty="0" smtClean="0">
                <a:solidFill>
                  <a:srgbClr val="595959"/>
                </a:solidFill>
                <a:latin typeface="微软雅黑" panose="020B0503020204020204" pitchFamily="34" charset="-122"/>
                <a:ea typeface="微软雅黑" panose="020B0503020204020204" pitchFamily="34" charset="-122"/>
              </a:rPr>
              <a:t>的</a:t>
            </a:r>
            <a:r>
              <a:rPr lang="zh-CN" altLang="en-US" sz="2000" dirty="0" smtClean="0">
                <a:solidFill>
                  <a:srgbClr val="1369B2"/>
                </a:solidFill>
                <a:latin typeface="微软雅黑" panose="020B0503020204020204" pitchFamily="34" charset="-122"/>
                <a:ea typeface="微软雅黑" panose="020B0503020204020204" pitchFamily="34" charset="-122"/>
              </a:rPr>
              <a:t>记录集</a:t>
            </a:r>
            <a:r>
              <a:rPr lang="zh-CN" altLang="en-US" sz="2000" dirty="0" smtClean="0">
                <a:solidFill>
                  <a:srgbClr val="595959"/>
                </a:solidFill>
                <a:latin typeface="微软雅黑" panose="020B0503020204020204" pitchFamily="34" charset="-122"/>
                <a:ea typeface="微软雅黑" panose="020B0503020204020204" pitchFamily="34" charset="-122"/>
              </a:rPr>
              <a:t>，在MySQL中游标应用于</a:t>
            </a:r>
            <a:r>
              <a:rPr lang="zh-CN" altLang="en-US" sz="2000" dirty="0" smtClean="0">
                <a:solidFill>
                  <a:srgbClr val="1369B2"/>
                </a:solidFill>
                <a:latin typeface="微软雅黑" panose="020B0503020204020204" pitchFamily="34" charset="-122"/>
                <a:ea typeface="微软雅黑" panose="020B0503020204020204" pitchFamily="34" charset="-122"/>
              </a:rPr>
              <a:t>存储过程</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函数</a:t>
            </a:r>
            <a:r>
              <a:rPr lang="zh-CN" altLang="en-US" sz="2000" dirty="0" smtClean="0">
                <a:solidFill>
                  <a:srgbClr val="595959"/>
                </a:solidFill>
                <a:latin typeface="微软雅黑" panose="020B0503020204020204" pitchFamily="34" charset="-122"/>
                <a:ea typeface="微软雅黑" panose="020B0503020204020204" pitchFamily="34" charset="-122"/>
              </a:rPr>
              <a:t>中。游标的使用要遵循一定的操作流程，游标的操作流程一般分为4个步骤，分别</a:t>
            </a:r>
            <a:r>
              <a:rPr lang="zh-CN" altLang="en-US" sz="2000" dirty="0" smtClean="0">
                <a:solidFill>
                  <a:srgbClr val="1369B2"/>
                </a:solidFill>
                <a:latin typeface="微软雅黑" panose="020B0503020204020204" pitchFamily="34" charset="-122"/>
                <a:ea typeface="微软雅黑" panose="020B0503020204020204" pitchFamily="34" charset="-122"/>
              </a:rPr>
              <a:t>定义游标</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1369B2"/>
                </a:solidFill>
                <a:latin typeface="微软雅黑" panose="020B0503020204020204" pitchFamily="34" charset="-122"/>
                <a:ea typeface="微软雅黑" panose="020B0503020204020204" pitchFamily="34" charset="-122"/>
              </a:rPr>
              <a:t>打开游标</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1369B2"/>
                </a:solidFill>
                <a:latin typeface="微软雅黑" panose="020B0503020204020204" pitchFamily="34" charset="-122"/>
                <a:ea typeface="微软雅黑" panose="020B0503020204020204" pitchFamily="34" charset="-122"/>
              </a:rPr>
              <a:t>利用游标检索数据</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关闭游标</a:t>
            </a:r>
            <a:r>
              <a:rPr lang="zh-CN" altLang="en-US" sz="2000" dirty="0" smtClean="0">
                <a:solidFill>
                  <a:srgbClr val="595959"/>
                </a:solidFill>
                <a:latin typeface="微软雅黑" panose="020B0503020204020204" pitchFamily="34" charset="-122"/>
                <a:ea typeface="微软雅黑" panose="020B0503020204020204" pitchFamily="34" charset="-122"/>
              </a:rPr>
              <a:t>。下面对这4个步骤进行讲解。</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496695" y="1989455"/>
            <a:ext cx="9610725" cy="402971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702435" y="2061210"/>
            <a:ext cx="9370695" cy="119888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1.</a:t>
            </a:r>
            <a:r>
              <a:rPr sz="1600" dirty="0" smtClean="0">
                <a:solidFill>
                  <a:srgbClr val="1369B2"/>
                </a:solidFill>
                <a:latin typeface="微软雅黑" panose="020B0503020204020204" pitchFamily="34" charset="-122"/>
                <a:ea typeface="微软雅黑" panose="020B0503020204020204" pitchFamily="34" charset="-122"/>
              </a:rPr>
              <a:t>定义游标</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MySQL中使用</a:t>
            </a:r>
            <a:r>
              <a:rPr sz="1600" dirty="0" smtClean="0">
                <a:solidFill>
                  <a:srgbClr val="1369B2"/>
                </a:solidFill>
                <a:latin typeface="微软雅黑" panose="020B0503020204020204" pitchFamily="34" charset="-122"/>
                <a:ea typeface="微软雅黑" panose="020B0503020204020204" pitchFamily="34" charset="-122"/>
              </a:rPr>
              <a:t>DECLARE</a:t>
            </a:r>
            <a:r>
              <a:rPr sz="1600" dirty="0" smtClean="0">
                <a:solidFill>
                  <a:srgbClr val="595959"/>
                </a:solidFill>
                <a:latin typeface="微软雅黑" panose="020B0503020204020204" pitchFamily="34" charset="-122"/>
                <a:ea typeface="微软雅黑" panose="020B0503020204020204" pitchFamily="34" charset="-122"/>
              </a:rPr>
              <a:t>关键字定义游标，因为游标要操作的是</a:t>
            </a:r>
            <a:r>
              <a:rPr sz="1600" dirty="0" smtClean="0">
                <a:solidFill>
                  <a:srgbClr val="1369B2"/>
                </a:solidFill>
                <a:latin typeface="微软雅黑" panose="020B0503020204020204" pitchFamily="34" charset="-122"/>
                <a:ea typeface="微软雅黑" panose="020B0503020204020204" pitchFamily="34" charset="-122"/>
              </a:rPr>
              <a:t>SELECT</a:t>
            </a:r>
            <a:r>
              <a:rPr sz="1600" dirty="0" smtClean="0">
                <a:solidFill>
                  <a:srgbClr val="595959"/>
                </a:solidFill>
                <a:latin typeface="微软雅黑" panose="020B0503020204020204" pitchFamily="34" charset="-122"/>
                <a:ea typeface="微软雅黑" panose="020B0503020204020204" pitchFamily="34" charset="-122"/>
              </a:rPr>
              <a:t>语句返回的结果集，所以定义游标时，需要指定与其关联的SELECT语句。定义游标的基本语法格式如下所示。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1846580" y="3381375"/>
            <a:ext cx="7254240"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DECLARE 游标名称 CURSOR FOR SELECT语句</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702435" y="4172585"/>
            <a:ext cx="9370695" cy="156845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上述语法格式中，游标名称必须唯一，因为在存储过程和函数中可以存在多个游标，而游标名称是唯一用于区分不同游标的标识。需要注意的是，SELECT语句中不能含有</a:t>
            </a:r>
            <a:r>
              <a:rPr sz="1600" dirty="0" smtClean="0">
                <a:solidFill>
                  <a:srgbClr val="1369B2"/>
                </a:solidFill>
                <a:latin typeface="微软雅黑" panose="020B0503020204020204" pitchFamily="34" charset="-122"/>
                <a:ea typeface="微软雅黑" panose="020B0503020204020204" pitchFamily="34" charset="-122"/>
              </a:rPr>
              <a:t>INTO</a:t>
            </a:r>
            <a:r>
              <a:rPr sz="1600" dirty="0" smtClean="0">
                <a:solidFill>
                  <a:srgbClr val="595959"/>
                </a:solidFill>
                <a:latin typeface="微软雅黑" panose="020B0503020204020204" pitchFamily="34" charset="-122"/>
                <a:ea typeface="微软雅黑" panose="020B0503020204020204" pitchFamily="34" charset="-122"/>
              </a:rPr>
              <a:t>关键字。</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使用</a:t>
            </a:r>
            <a:r>
              <a:rPr sz="1600" dirty="0" smtClean="0">
                <a:solidFill>
                  <a:srgbClr val="1369B2"/>
                </a:solidFill>
                <a:latin typeface="微软雅黑" panose="020B0503020204020204" pitchFamily="34" charset="-122"/>
                <a:ea typeface="微软雅黑" panose="020B0503020204020204" pitchFamily="34" charset="-122"/>
              </a:rPr>
              <a:t>DECLARE…CURSOR FOR</a:t>
            </a:r>
            <a:r>
              <a:rPr sz="1600" dirty="0" smtClean="0">
                <a:solidFill>
                  <a:srgbClr val="595959"/>
                </a:solidFill>
                <a:latin typeface="微软雅黑" panose="020B0503020204020204" pitchFamily="34" charset="-122"/>
                <a:ea typeface="微软雅黑" panose="020B0503020204020204" pitchFamily="34" charset="-122"/>
              </a:rPr>
              <a:t>语句定义游标时，因为与游标相关联的SELECT语句并不会立即执行，所以此时MySQL服务器的内存中并没有SELECT语句的查询结果集。</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8" name="组合 7"/>
          <p:cNvGrpSpPr/>
          <p:nvPr/>
        </p:nvGrpSpPr>
        <p:grpSpPr>
          <a:xfrm>
            <a:off x="982345" y="909320"/>
            <a:ext cx="2800350" cy="676275"/>
            <a:chOff x="1547" y="1432"/>
            <a:chExt cx="4780" cy="1065"/>
          </a:xfrm>
        </p:grpSpPr>
        <p:sp>
          <p:nvSpPr>
            <p:cNvPr id="4" name="五边形 3"/>
            <p:cNvSpPr/>
            <p:nvPr/>
          </p:nvSpPr>
          <p:spPr>
            <a:xfrm>
              <a:off x="1547" y="1545"/>
              <a:ext cx="4780" cy="952"/>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1"/>
            <p:cNvSpPr txBox="1"/>
            <p:nvPr>
              <p:custDataLst>
                <p:tags r:id="rId1"/>
              </p:custDataLst>
            </p:nvPr>
          </p:nvSpPr>
          <p:spPr>
            <a:xfrm>
              <a:off x="1732" y="1432"/>
              <a:ext cx="4409" cy="1016"/>
            </a:xfrm>
            <a:prstGeom prst="rect">
              <a:avLst/>
            </a:prstGeom>
            <a:noFill/>
            <a:ln>
              <a:noFill/>
            </a:ln>
          </p:spPr>
          <p:txBody>
            <a:bodyPr wrap="square" rtlCol="0">
              <a:spAutoFit/>
            </a:bodyPr>
            <a:lstStyle/>
            <a:p>
              <a:pPr marL="0" marR="0" lvl="0" indent="0" defTabSz="457200" eaLnBrk="1" fontAlgn="auto" latinLnBrk="0" hangingPunct="1">
                <a:lnSpc>
                  <a:spcPct val="150000"/>
                </a:lnSpc>
                <a:spcBef>
                  <a:spcPts val="0"/>
                </a:spcBef>
                <a:spcAft>
                  <a:spcPts val="0"/>
                </a:spcAft>
                <a:buClrTx/>
                <a:buSzTx/>
                <a:buFontTx/>
                <a:buNone/>
                <a:defRPr/>
              </a:pPr>
              <a:r>
                <a:rPr lang="zh-CN" altLang="en-US" kern="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游标的操作流程</a:t>
              </a:r>
              <a:endParaRPr lang="zh-CN" altLang="en-US" kern="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缺角矩形 1"/>
          <p:cNvSpPr/>
          <p:nvPr/>
        </p:nvSpPr>
        <p:spPr>
          <a:xfrm>
            <a:off x="2855595" y="1918970"/>
            <a:ext cx="6889750" cy="3317875"/>
          </a:xfrm>
          <a:prstGeom prst="plaque">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3574415" y="2350135"/>
            <a:ext cx="5617210" cy="2261235"/>
          </a:xfrm>
          <a:prstGeom prst="rect">
            <a:avLst/>
          </a:prstGeom>
          <a:noFill/>
        </p:spPr>
        <p:txBody>
          <a:bodyPr wrap="square" rtlCol="0">
            <a:spAutoFit/>
          </a:bodyPr>
          <a:lstStyle/>
          <a:p>
            <a:pPr algn="l">
              <a:lnSpc>
                <a:spcPct val="150000"/>
              </a:lnSpc>
              <a:buClrTx/>
              <a:buSzTx/>
              <a:buFontTx/>
            </a:pPr>
            <a:r>
              <a:rPr sz="1800" dirty="0" smtClean="0">
                <a:solidFill>
                  <a:srgbClr val="595959"/>
                </a:solidFill>
                <a:latin typeface="微软雅黑" panose="020B0503020204020204" pitchFamily="34" charset="-122"/>
                <a:ea typeface="微软雅黑" panose="020B0503020204020204" pitchFamily="34" charset="-122"/>
              </a:rPr>
              <a:t>需要注意的是，</a:t>
            </a:r>
            <a:r>
              <a:rPr lang="zh-CN" altLang="en-US" sz="2000" dirty="0" smtClean="0">
                <a:solidFill>
                  <a:srgbClr val="1369B2"/>
                </a:solidFill>
                <a:latin typeface="微软雅黑" panose="020B0503020204020204" pitchFamily="34" charset="-122"/>
                <a:ea typeface="微软雅黑" panose="020B0503020204020204" pitchFamily="34" charset="-122"/>
              </a:rPr>
              <a:t>变量、错误触发条件、错误处理程序和游标</a:t>
            </a:r>
            <a:r>
              <a:rPr sz="1800" dirty="0" smtClean="0">
                <a:solidFill>
                  <a:srgbClr val="595959"/>
                </a:solidFill>
                <a:latin typeface="微软雅黑" panose="020B0503020204020204" pitchFamily="34" charset="-122"/>
                <a:ea typeface="微软雅黑" panose="020B0503020204020204" pitchFamily="34" charset="-122"/>
              </a:rPr>
              <a:t>都是通过</a:t>
            </a:r>
            <a:r>
              <a:rPr lang="zh-CN" altLang="en-US" sz="2000" dirty="0" smtClean="0">
                <a:solidFill>
                  <a:srgbClr val="1369B2"/>
                </a:solidFill>
                <a:latin typeface="微软雅黑" panose="020B0503020204020204" pitchFamily="34" charset="-122"/>
                <a:ea typeface="微软雅黑" panose="020B0503020204020204" pitchFamily="34" charset="-122"/>
              </a:rPr>
              <a:t>DECLARE</a:t>
            </a:r>
            <a:r>
              <a:rPr sz="1800" dirty="0" smtClean="0">
                <a:solidFill>
                  <a:srgbClr val="595959"/>
                </a:solidFill>
                <a:latin typeface="微软雅黑" panose="020B0503020204020204" pitchFamily="34" charset="-122"/>
                <a:ea typeface="微软雅黑" panose="020B0503020204020204" pitchFamily="34" charset="-122"/>
              </a:rPr>
              <a:t>定义的，但它们的定义是有</a:t>
            </a:r>
            <a:r>
              <a:rPr lang="zh-CN" altLang="en-US" sz="2000" dirty="0" smtClean="0">
                <a:solidFill>
                  <a:srgbClr val="1369B2"/>
                </a:solidFill>
                <a:latin typeface="微软雅黑" panose="020B0503020204020204" pitchFamily="34" charset="-122"/>
                <a:ea typeface="微软雅黑" panose="020B0503020204020204" pitchFamily="34" charset="-122"/>
              </a:rPr>
              <a:t>先后顺序要求</a:t>
            </a:r>
            <a:r>
              <a:rPr sz="1800" dirty="0" smtClean="0">
                <a:solidFill>
                  <a:srgbClr val="595959"/>
                </a:solidFill>
                <a:latin typeface="微软雅黑" panose="020B0503020204020204" pitchFamily="34" charset="-122"/>
                <a:ea typeface="微软雅黑" panose="020B0503020204020204" pitchFamily="34" charset="-122"/>
              </a:rPr>
              <a:t>的，变量和错误触发条件必须在最前面声明，然后是游标的声明，最后才是错误处理程序的声明。</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20190" y="1636395"/>
            <a:ext cx="9500235" cy="395351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851025" y="1846580"/>
            <a:ext cx="8967470" cy="147637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2.</a:t>
            </a:r>
            <a:r>
              <a:rPr sz="2000" dirty="0" smtClean="0">
                <a:solidFill>
                  <a:srgbClr val="1369B2"/>
                </a:solidFill>
                <a:latin typeface="微软雅黑" panose="020B0503020204020204" pitchFamily="34" charset="-122"/>
                <a:ea typeface="微软雅黑" panose="020B0503020204020204" pitchFamily="34" charset="-122"/>
              </a:rPr>
              <a:t>打开游标</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声明游标之后，要想从游标中提取数据，需要先打开游标。在 MySQL 中，打开游标通过 </a:t>
            </a:r>
            <a:r>
              <a:rPr sz="2000" dirty="0" smtClean="0">
                <a:solidFill>
                  <a:srgbClr val="1369B2"/>
                </a:solidFill>
                <a:latin typeface="微软雅黑" panose="020B0503020204020204" pitchFamily="34" charset="-122"/>
                <a:ea typeface="微软雅黑" panose="020B0503020204020204" pitchFamily="34" charset="-122"/>
              </a:rPr>
              <a:t>OPEN </a:t>
            </a:r>
            <a:r>
              <a:rPr sz="2000" dirty="0" smtClean="0">
                <a:solidFill>
                  <a:srgbClr val="595959"/>
                </a:solidFill>
                <a:latin typeface="微软雅黑" panose="020B0503020204020204" pitchFamily="34" charset="-122"/>
                <a:ea typeface="微软雅黑" panose="020B0503020204020204" pitchFamily="34" charset="-122"/>
              </a:rPr>
              <a:t>关键字实现，其语法格式如下。</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1918335" y="3365500"/>
            <a:ext cx="7254240"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OPEN 游标名称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851660" y="4078605"/>
            <a:ext cx="8791575"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打开游标后，</a:t>
            </a:r>
            <a:r>
              <a:rPr sz="2000" dirty="0" smtClean="0">
                <a:solidFill>
                  <a:srgbClr val="1369B2"/>
                </a:solidFill>
                <a:latin typeface="微软雅黑" panose="020B0503020204020204" pitchFamily="34" charset="-122"/>
                <a:ea typeface="微软雅黑" panose="020B0503020204020204" pitchFamily="34" charset="-122"/>
              </a:rPr>
              <a:t>SELECT</a:t>
            </a:r>
            <a:r>
              <a:rPr sz="2000" dirty="0" smtClean="0">
                <a:solidFill>
                  <a:srgbClr val="595959"/>
                </a:solidFill>
                <a:latin typeface="微软雅黑" panose="020B0503020204020204" pitchFamily="34" charset="-122"/>
                <a:ea typeface="微软雅黑" panose="020B0503020204020204" pitchFamily="34" charset="-122"/>
              </a:rPr>
              <a:t>语句根据查询条件，将查询到的结果集存储到MySQL服务器的内存中。</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03045" y="1636395"/>
            <a:ext cx="9517380" cy="358521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702435" y="1702435"/>
            <a:ext cx="9370695" cy="119888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3.</a:t>
            </a:r>
            <a:r>
              <a:rPr sz="1600" dirty="0" smtClean="0">
                <a:solidFill>
                  <a:srgbClr val="1369B2"/>
                </a:solidFill>
                <a:latin typeface="微软雅黑" panose="020B0503020204020204" pitchFamily="34" charset="-122"/>
                <a:ea typeface="微软雅黑" panose="020B0503020204020204" pitchFamily="34" charset="-122"/>
              </a:rPr>
              <a:t>利用游标检索数据</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打开游标之后，就可以通过游标检索</a:t>
            </a:r>
            <a:r>
              <a:rPr sz="1600" dirty="0" smtClean="0">
                <a:solidFill>
                  <a:srgbClr val="1369B2"/>
                </a:solidFill>
                <a:latin typeface="微软雅黑" panose="020B0503020204020204" pitchFamily="34" charset="-122"/>
                <a:ea typeface="微软雅黑" panose="020B0503020204020204" pitchFamily="34" charset="-122"/>
              </a:rPr>
              <a:t>SELECT</a:t>
            </a:r>
            <a:r>
              <a:rPr sz="1600" dirty="0" smtClean="0">
                <a:solidFill>
                  <a:srgbClr val="595959"/>
                </a:solidFill>
                <a:latin typeface="微软雅黑" panose="020B0503020204020204" pitchFamily="34" charset="-122"/>
                <a:ea typeface="微软雅黑" panose="020B0503020204020204" pitchFamily="34" charset="-122"/>
              </a:rPr>
              <a:t>语句返回的结果集中的数据，游标检索数据的基本语法格式如下所示。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1774825" y="3048635"/>
            <a:ext cx="7254240"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FETCH 游标名称 INTO 变量名1 [,变量名2]...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702435" y="3790950"/>
            <a:ext cx="9269095" cy="119888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每执行一次</a:t>
            </a:r>
            <a:r>
              <a:rPr sz="1600" dirty="0" smtClean="0">
                <a:solidFill>
                  <a:srgbClr val="1369B2"/>
                </a:solidFill>
                <a:latin typeface="微软雅黑" panose="020B0503020204020204" pitchFamily="34" charset="-122"/>
                <a:ea typeface="微软雅黑" panose="020B0503020204020204" pitchFamily="34" charset="-122"/>
              </a:rPr>
              <a:t>FETCH</a:t>
            </a:r>
            <a:r>
              <a:rPr sz="1600" dirty="0" smtClean="0">
                <a:solidFill>
                  <a:srgbClr val="595959"/>
                </a:solidFill>
                <a:latin typeface="微软雅黑" panose="020B0503020204020204" pitchFamily="34" charset="-122"/>
                <a:ea typeface="微软雅黑" panose="020B0503020204020204" pitchFamily="34" charset="-122"/>
              </a:rPr>
              <a:t>语句就在结果集中获取一行记录，FETCH语句获取记录后，游标的内部指针就会向前移动一步，指向下一条记录。在上述语法格式中，FETCH语句根据指定的游标名称，将检索出来的数据存放到对应的变量中，变量名的个数需要和SELECT语句查询的结果集的字段个数保持一致。</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73530" y="1866900"/>
            <a:ext cx="9375140" cy="327152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45005" y="2206625"/>
            <a:ext cx="8776970" cy="239966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FETCH语句一般和循环语句一起完成数据的检索，</a:t>
            </a:r>
            <a:r>
              <a:rPr sz="2000" dirty="0" smtClean="0">
                <a:solidFill>
                  <a:srgbClr val="1369B2"/>
                </a:solidFill>
                <a:latin typeface="微软雅黑" panose="020B0503020204020204" pitchFamily="34" charset="-122"/>
                <a:ea typeface="微软雅黑" panose="020B0503020204020204" pitchFamily="34" charset="-122"/>
              </a:rPr>
              <a:t>FETCH</a:t>
            </a:r>
            <a:r>
              <a:rPr sz="2000" dirty="0" smtClean="0">
                <a:solidFill>
                  <a:srgbClr val="595959"/>
                </a:solidFill>
                <a:latin typeface="微软雅黑" panose="020B0503020204020204" pitchFamily="34" charset="-122"/>
                <a:ea typeface="微软雅黑" panose="020B0503020204020204" pitchFamily="34" charset="-122"/>
              </a:rPr>
              <a:t>语句通常和</a:t>
            </a:r>
            <a:r>
              <a:rPr sz="2000" dirty="0" smtClean="0">
                <a:solidFill>
                  <a:srgbClr val="1369B2"/>
                </a:solidFill>
                <a:latin typeface="微软雅黑" panose="020B0503020204020204" pitchFamily="34" charset="-122"/>
                <a:ea typeface="微软雅黑" panose="020B0503020204020204" pitchFamily="34" charset="-122"/>
              </a:rPr>
              <a:t>REPEAT</a:t>
            </a:r>
            <a:r>
              <a:rPr sz="2000" dirty="0" smtClean="0">
                <a:solidFill>
                  <a:srgbClr val="595959"/>
                </a:solidFill>
                <a:latin typeface="微软雅黑" panose="020B0503020204020204" pitchFamily="34" charset="-122"/>
                <a:ea typeface="微软雅黑" panose="020B0503020204020204" pitchFamily="34" charset="-122"/>
              </a:rPr>
              <a:t>循环语句一起使用。因为无法直接判断哪条记录是结果集中的最后一条记录，当利用游标从结果集中检索出最后一条记录后，再次执行FETCH语句，将产生“ERROR 1329(02000）：No data to FETCH”错误信息，因此，使用游标时通常需要自定义错误处理程序处理该错误，从而结束游标的循环。</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485900" y="1564640"/>
            <a:ext cx="9534525" cy="430911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702435" y="1500505"/>
            <a:ext cx="9277985" cy="147637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4.</a:t>
            </a:r>
            <a:r>
              <a:rPr sz="2000" dirty="0" smtClean="0">
                <a:solidFill>
                  <a:srgbClr val="1369B2"/>
                </a:solidFill>
                <a:latin typeface="微软雅黑" panose="020B0503020204020204" pitchFamily="34" charset="-122"/>
                <a:ea typeface="微软雅黑" panose="020B0503020204020204" pitchFamily="34" charset="-122"/>
              </a:rPr>
              <a:t>关闭游标</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游标检索完数据后，应该利用MySQL提供的语法关闭游标，释放游标占用的MySQL服务器的内存资源，</a:t>
            </a:r>
            <a:r>
              <a:rPr sz="2000" dirty="0" smtClean="0">
                <a:solidFill>
                  <a:srgbClr val="1369B2"/>
                </a:solidFill>
                <a:latin typeface="微软雅黑" panose="020B0503020204020204" pitchFamily="34" charset="-122"/>
                <a:ea typeface="微软雅黑" panose="020B0503020204020204" pitchFamily="34" charset="-122"/>
              </a:rPr>
              <a:t>关闭游标</a:t>
            </a:r>
            <a:r>
              <a:rPr sz="2000" dirty="0" smtClean="0">
                <a:solidFill>
                  <a:srgbClr val="595959"/>
                </a:solidFill>
                <a:latin typeface="微软雅黑" panose="020B0503020204020204" pitchFamily="34" charset="-122"/>
                <a:ea typeface="微软雅黑" panose="020B0503020204020204" pitchFamily="34" charset="-122"/>
              </a:rPr>
              <a:t>的基本语法格式如下所示。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1774825" y="3142615"/>
            <a:ext cx="7254240"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CLOSE 游标名称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710055" y="3794760"/>
            <a:ext cx="9086215"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在程序内，如果使用</a:t>
            </a:r>
            <a:r>
              <a:rPr sz="2000" dirty="0" smtClean="0">
                <a:solidFill>
                  <a:srgbClr val="1369B2"/>
                </a:solidFill>
                <a:latin typeface="微软雅黑" panose="020B0503020204020204" pitchFamily="34" charset="-122"/>
                <a:ea typeface="微软雅黑" panose="020B0503020204020204" pitchFamily="34" charset="-122"/>
              </a:rPr>
              <a:t>CLOSE</a:t>
            </a:r>
            <a:r>
              <a:rPr sz="2000" dirty="0" smtClean="0">
                <a:solidFill>
                  <a:srgbClr val="595959"/>
                </a:solidFill>
                <a:latin typeface="微软雅黑" panose="020B0503020204020204" pitchFamily="34" charset="-122"/>
                <a:ea typeface="微软雅黑" panose="020B0503020204020204" pitchFamily="34" charset="-122"/>
              </a:rPr>
              <a:t>关闭游标后，不能再通过 FETCH 使用该游标。如果想要再次利用游标检索数据，只需使用OPEN打开游标即可，而不用重新定义游标。如果没有使用CLOSE关闭游标，那么它将在被打开的</a:t>
            </a:r>
            <a:r>
              <a:rPr sz="2000" dirty="0" smtClean="0">
                <a:solidFill>
                  <a:srgbClr val="1369B2"/>
                </a:solidFill>
                <a:latin typeface="微软雅黑" panose="020B0503020204020204" pitchFamily="34" charset="-122"/>
                <a:ea typeface="微软雅黑" panose="020B0503020204020204" pitchFamily="34" charset="-122"/>
              </a:rPr>
              <a:t>BEGIN…END</a:t>
            </a:r>
            <a:r>
              <a:rPr sz="2000" dirty="0" smtClean="0">
                <a:solidFill>
                  <a:srgbClr val="595959"/>
                </a:solidFill>
                <a:latin typeface="微软雅黑" panose="020B0503020204020204" pitchFamily="34" charset="-122"/>
                <a:ea typeface="微软雅黑" panose="020B0503020204020204" pitchFamily="34" charset="-122"/>
              </a:rPr>
              <a:t>语句块的末尾关闭。</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游标的操作流程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1146175"/>
            <a:ext cx="9166860" cy="515747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18335" y="1417320"/>
            <a:ext cx="8668385" cy="156845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通过案例演示</a:t>
            </a:r>
            <a:r>
              <a:rPr lang="zh-CN" altLang="en-US" sz="1600" dirty="0" smtClean="0">
                <a:solidFill>
                  <a:srgbClr val="1369B2"/>
                </a:solidFill>
                <a:latin typeface="微软雅黑" panose="020B0503020204020204" pitchFamily="34" charset="-122"/>
                <a:ea typeface="微软雅黑" panose="020B0503020204020204" pitchFamily="34" charset="-122"/>
              </a:rPr>
              <a:t>使用游标检索数据</a:t>
            </a:r>
            <a:r>
              <a:rPr lang="zh-CN" altLang="en-US" sz="1600" dirty="0" smtClean="0">
                <a:solidFill>
                  <a:srgbClr val="595959"/>
                </a:solidFill>
                <a:latin typeface="微软雅黑" panose="020B0503020204020204" pitchFamily="34" charset="-122"/>
                <a:ea typeface="微软雅黑" panose="020B0503020204020204" pitchFamily="34" charset="-122"/>
              </a:rPr>
              <a:t>，例如，将员工表emp中奖金为NULL的员工信息存放在一个新的数据表emp_comm，数据表emp_comm的结构和员工表保持一致，具体实现如下所示。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首先创建用来存放结果数据的数据表</a:t>
            </a:r>
            <a:r>
              <a:rPr lang="zh-CN" altLang="en-US" sz="1600" dirty="0" smtClean="0">
                <a:solidFill>
                  <a:srgbClr val="1369B2"/>
                </a:solidFill>
                <a:latin typeface="微软雅黑" panose="020B0503020204020204" pitchFamily="34" charset="-122"/>
                <a:ea typeface="微软雅黑" panose="020B0503020204020204" pitchFamily="34" charset="-122"/>
              </a:rPr>
              <a:t>emp_comm</a:t>
            </a:r>
            <a:r>
              <a:rPr lang="zh-CN" altLang="en-US" sz="1600" dirty="0" smtClean="0">
                <a:solidFill>
                  <a:srgbClr val="595959"/>
                </a:solidFill>
                <a:latin typeface="微软雅黑" panose="020B0503020204020204" pitchFamily="34" charset="-122"/>
                <a:ea typeface="微软雅黑" panose="020B0503020204020204" pitchFamily="34" charset="-122"/>
              </a:rPr>
              <a:t>，具体SQL语句如下所示。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使用游标检索数据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2079625" y="3509010"/>
            <a:ext cx="7254240" cy="23082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CREATE TABLE emp_comm(</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lvl="1">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empno   INT PRIMARY KEY,</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lvl="1">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ename   VARCHAR(20) UNIQUE,</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lvl="1">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job     VARCHAR(20),</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lvl="1">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mgr     INT,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lvl="1">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sal     DECIMAL(7,2),</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lvl="1">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comm    DECIMAL(7,2),</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lvl="1">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deptno  INT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5285" y="1349375"/>
            <a:ext cx="9375140" cy="496189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1943735" y="1386840"/>
            <a:ext cx="9076690"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接着创建存储过程，在存储过程中将奖金为</a:t>
            </a:r>
            <a:r>
              <a:rPr sz="1600" dirty="0" smtClean="0">
                <a:solidFill>
                  <a:srgbClr val="1369B2"/>
                </a:solidFill>
                <a:latin typeface="微软雅黑" panose="020B0503020204020204" pitchFamily="34" charset="-122"/>
                <a:ea typeface="微软雅黑" panose="020B0503020204020204" pitchFamily="34" charset="-122"/>
              </a:rPr>
              <a:t>NULL</a:t>
            </a:r>
            <a:r>
              <a:rPr sz="1600" dirty="0" smtClean="0">
                <a:solidFill>
                  <a:srgbClr val="595959"/>
                </a:solidFill>
                <a:latin typeface="微软雅黑" panose="020B0503020204020204" pitchFamily="34" charset="-122"/>
                <a:ea typeface="微软雅黑" panose="020B0503020204020204" pitchFamily="34" charset="-122"/>
              </a:rPr>
              <a:t>的员工信息添加到数据表emp_comm，具体SQL语句</a:t>
            </a:r>
            <a:r>
              <a:rPr lang="zh-CN" sz="1600" dirty="0" smtClean="0">
                <a:solidFill>
                  <a:srgbClr val="595959"/>
                </a:solidFill>
                <a:latin typeface="微软雅黑" panose="020B0503020204020204" pitchFamily="34" charset="-122"/>
                <a:ea typeface="微软雅黑" panose="020B0503020204020204" pitchFamily="34" charset="-122"/>
              </a:rPr>
              <a:t>及执行结果</a:t>
            </a:r>
            <a:r>
              <a:rPr sz="1600" dirty="0" smtClean="0">
                <a:solidFill>
                  <a:srgbClr val="595959"/>
                </a:solidFill>
                <a:latin typeface="微软雅黑" panose="020B0503020204020204" pitchFamily="34" charset="-122"/>
                <a:ea typeface="微软雅黑" panose="020B0503020204020204" pitchFamily="34" charset="-122"/>
              </a:rPr>
              <a:t>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使用游标检索数据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1918335" y="2324100"/>
            <a:ext cx="847979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DELIMITER &amp;&amp;</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CREATE PROCEDURE proc_emp_comm()</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3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BEGIN</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4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DECLARE mark INT DEFAULT 0; -- mark:游标结束循环的标识</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5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DECLARE emp_no INT ; -- emp_no:存储员工表empno字段的值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6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DECLARE emp_name VARCHAR(20); -- emp_name:存储员工表ename字段的值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7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DECLARE emp_job VARCHAR(20); -- emp_job:存储员工表job字段的值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8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DECLARE emp_mgr INT; -- emp_mgr:存储员工表mgr字段的值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9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DECLARE emp_sal decimal(7,2); -- emp_sal:存储员工表sal字段的值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10    -&gt; DECLARE emp_comm decimal(7,2); -- emp_comm:存储员工表comm字段的值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11    -&gt; DECLARE emp_deptno INT; -- emp_deptno:存储员工表deptno字段的值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12    -&gt; # 定义游标</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13    -&gt; DECLARE cur CURSOR FOR SELECT * FROM emp WHERE comm IS NULL;</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14    -&gt; # 定义错误处理程序</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15    -&gt; DECLARE CONTINUE HANDLER FOR SQLSTATE '02000'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78890" y="1701800"/>
            <a:ext cx="9919335" cy="4150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16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SET mark=1;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17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#打开游标</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18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OPEN cur;</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19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REPEAT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20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 通过游标获取结果集的记录</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21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FETCH cur INTO emp_no,emp_name,emp_job,emp_mgr,emp_sal,emp_comm,emp_deptno;</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22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IF mark!=1 THEN</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23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INSERT INTO emp_comm(empno,ename,job,mgr,sal,comm,deptno)</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24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VALUES(emp_no,emp_name,emp_job,emp_mgr,emp_sal,emp_comm,emp_deptno);</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25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IF;</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26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UNTIL mark=1 END REPEAT;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27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-&gt;  # 关闭游标</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28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CLOSE cur;</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29    </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-&gt; END &amp;&amp;</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30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31</a:t>
            </a:r>
            <a:r>
              <a:rPr lang="en-US" altLang="zh-CN"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使用游标检索数据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5285" y="1636395"/>
            <a:ext cx="9375140" cy="355663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20240" y="1846580"/>
            <a:ext cx="8828405" cy="304609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上述代码中，创建了存储过程</a:t>
            </a:r>
            <a:r>
              <a:rPr sz="1600" dirty="0" smtClean="0">
                <a:solidFill>
                  <a:srgbClr val="1369B2"/>
                </a:solidFill>
                <a:latin typeface="微软雅黑" panose="020B0503020204020204" pitchFamily="34" charset="-122"/>
                <a:ea typeface="微软雅黑" panose="020B0503020204020204" pitchFamily="34" charset="-122"/>
              </a:rPr>
              <a:t>proc_emp_comm</a:t>
            </a:r>
            <a:r>
              <a:rPr sz="1600" dirty="0" smtClean="0">
                <a:solidFill>
                  <a:srgbClr val="595959"/>
                </a:solidFill>
                <a:latin typeface="微软雅黑" panose="020B0503020204020204" pitchFamily="34" charset="-122"/>
                <a:ea typeface="微软雅黑" panose="020B0503020204020204" pitchFamily="34" charset="-122"/>
              </a:rPr>
              <a:t>，第4行代码定义了变量</a:t>
            </a:r>
            <a:r>
              <a:rPr sz="1600" dirty="0" smtClean="0">
                <a:solidFill>
                  <a:srgbClr val="1369B2"/>
                </a:solidFill>
                <a:latin typeface="微软雅黑" panose="020B0503020204020204" pitchFamily="34" charset="-122"/>
                <a:ea typeface="微软雅黑" panose="020B0503020204020204" pitchFamily="34" charset="-122"/>
              </a:rPr>
              <a:t>mark</a:t>
            </a:r>
            <a:r>
              <a:rPr sz="1600" dirty="0" smtClean="0">
                <a:solidFill>
                  <a:srgbClr val="595959"/>
                </a:solidFill>
                <a:latin typeface="微软雅黑" panose="020B0503020204020204" pitchFamily="34" charset="-122"/>
                <a:ea typeface="微软雅黑" panose="020B0503020204020204" pitchFamily="34" charset="-122"/>
              </a:rPr>
              <a:t>用于存储游标</a:t>
            </a:r>
            <a:r>
              <a:rPr sz="1600" dirty="0" smtClean="0">
                <a:solidFill>
                  <a:srgbClr val="1369B2"/>
                </a:solidFill>
                <a:latin typeface="微软雅黑" panose="020B0503020204020204" pitchFamily="34" charset="-122"/>
                <a:ea typeface="微软雅黑" panose="020B0503020204020204" pitchFamily="34" charset="-122"/>
              </a:rPr>
              <a:t>结束循环</a:t>
            </a:r>
            <a:r>
              <a:rPr sz="1600" dirty="0" smtClean="0">
                <a:solidFill>
                  <a:srgbClr val="595959"/>
                </a:solidFill>
                <a:latin typeface="微软雅黑" panose="020B0503020204020204" pitchFamily="34" charset="-122"/>
                <a:ea typeface="微软雅黑" panose="020B0503020204020204" pitchFamily="34" charset="-122"/>
              </a:rPr>
              <a:t>的标识；第5~11行代码定义了7个变量，分别用于存储员工表emp中7个字段的值；第13行代码定义了游标cur，cur与员工表emp中奖金为NULL的记录相关联；第15~16行代码定义了错误处理程序，用于当游标获取最后一行记录后再获取记录时，继续执行程序，并且设置mark的值为1；第18行打开游标；第19~26行代码通过REPEAT遍历游标，每循环一次，</a:t>
            </a:r>
            <a:r>
              <a:rPr sz="1600" dirty="0" smtClean="0">
                <a:solidFill>
                  <a:srgbClr val="1369B2"/>
                </a:solidFill>
                <a:latin typeface="微软雅黑" panose="020B0503020204020204" pitchFamily="34" charset="-122"/>
                <a:ea typeface="微软雅黑" panose="020B0503020204020204" pitchFamily="34" charset="-122"/>
              </a:rPr>
              <a:t>FETCH</a:t>
            </a:r>
            <a:r>
              <a:rPr sz="1600" dirty="0" smtClean="0">
                <a:solidFill>
                  <a:srgbClr val="595959"/>
                </a:solidFill>
                <a:latin typeface="微软雅黑" panose="020B0503020204020204" pitchFamily="34" charset="-122"/>
                <a:ea typeface="微软雅黑" panose="020B0503020204020204" pitchFamily="34" charset="-122"/>
              </a:rPr>
              <a:t>取出游标标记的一行记录，并将记录中的值存入到第5~11行定义的变量中；接着会判断mark是否等于1，如果不等于1，则将记录插入到数据表emp_comm中；</a:t>
            </a:r>
            <a:r>
              <a:rPr sz="1600" dirty="0" smtClean="0">
                <a:solidFill>
                  <a:srgbClr val="1369B2"/>
                </a:solidFill>
                <a:latin typeface="微软雅黑" panose="020B0503020204020204" pitchFamily="34" charset="-122"/>
                <a:ea typeface="微软雅黑" panose="020B0503020204020204" pitchFamily="34" charset="-122"/>
              </a:rPr>
              <a:t>当mark的值为1时，说明已经将结果集的数据检索完毕</a:t>
            </a:r>
            <a:r>
              <a:rPr sz="1600" dirty="0" smtClean="0">
                <a:solidFill>
                  <a:srgbClr val="595959"/>
                </a:solidFill>
                <a:latin typeface="微软雅黑" panose="020B0503020204020204" pitchFamily="34" charset="-122"/>
                <a:ea typeface="微软雅黑" panose="020B0503020204020204" pitchFamily="34" charset="-122"/>
              </a:rPr>
              <a:t>，会执行第26~28行代码，</a:t>
            </a:r>
            <a:r>
              <a:rPr sz="1600" dirty="0" smtClean="0">
                <a:solidFill>
                  <a:srgbClr val="1369B2"/>
                </a:solidFill>
                <a:latin typeface="微软雅黑" panose="020B0503020204020204" pitchFamily="34" charset="-122"/>
                <a:ea typeface="微软雅黑" panose="020B0503020204020204" pitchFamily="34" charset="-122"/>
              </a:rPr>
              <a:t>结束循环并关闭游标</a:t>
            </a:r>
            <a:r>
              <a:rPr sz="1600" dirty="0" smtClean="0">
                <a:solidFill>
                  <a:srgbClr val="595959"/>
                </a:solidFill>
                <a:latin typeface="微软雅黑" panose="020B0503020204020204" pitchFamily="34" charset="-122"/>
                <a:ea typeface="微软雅黑" panose="020B0503020204020204" pitchFamily="34" charset="-122"/>
              </a:rPr>
              <a:t>。</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使用游标检索数据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374140" y="1277620"/>
            <a:ext cx="9845675" cy="425958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1631315" y="1343660"/>
            <a:ext cx="9369425"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在调用存储过程之前，先查看下员工表</a:t>
            </a:r>
            <a:r>
              <a:rPr sz="2000" dirty="0" smtClean="0">
                <a:solidFill>
                  <a:srgbClr val="1369B2"/>
                </a:solidFill>
                <a:latin typeface="微软雅黑" panose="020B0503020204020204" pitchFamily="34" charset="-122"/>
                <a:ea typeface="微软雅黑" panose="020B0503020204020204" pitchFamily="34" charset="-122"/>
              </a:rPr>
              <a:t>emp</a:t>
            </a:r>
            <a:r>
              <a:rPr sz="2000" dirty="0" smtClean="0">
                <a:solidFill>
                  <a:srgbClr val="595959"/>
                </a:solidFill>
                <a:latin typeface="微软雅黑" panose="020B0503020204020204" pitchFamily="34" charset="-122"/>
                <a:ea typeface="微软雅黑" panose="020B0503020204020204" pitchFamily="34" charset="-122"/>
              </a:rPr>
              <a:t>中记录，具体SQL及执行结果如下所示。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2639060" y="2136140"/>
            <a:ext cx="7254240" cy="30867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SELECT * FROM emp WHERE comm IS NULL;</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empno | ename  | job    | mgr  | sal     | comm | deptno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9369 | 张三   | 保洁   | 9902 |  900.00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9839 | 刘一   | 董事长 | NULL | 6000.00 | NULL |     10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9900 | 萧十一 | 保洁   | 9698 | 1050.00 | NULL |     30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9902 | 赵六   | 分析员 | 9566 | 4000.00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9936 | 张%一  | 保洁   | 9982 | 1200.00 | NULL |   NULL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9988 | 王五   | 分析员 | 9566 | 4000.00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6 rows in set (0.00 sec)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使用游标检索数据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30680" y="1066165"/>
            <a:ext cx="9375140" cy="545211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1988820" y="1273810"/>
            <a:ext cx="8724265" cy="119888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从上述查询结果可以看出，员工表emp中奖金为空的记录有6条，下面调用存储过程</a:t>
            </a:r>
            <a:r>
              <a:rPr sz="1600" dirty="0" smtClean="0">
                <a:solidFill>
                  <a:srgbClr val="1369B2"/>
                </a:solidFill>
                <a:latin typeface="微软雅黑" panose="020B0503020204020204" pitchFamily="34" charset="-122"/>
                <a:ea typeface="微软雅黑" panose="020B0503020204020204" pitchFamily="34" charset="-122"/>
              </a:rPr>
              <a:t>proc_emp_comm</a:t>
            </a:r>
            <a:r>
              <a:rPr sz="1600" dirty="0" smtClean="0">
                <a:solidFill>
                  <a:srgbClr val="595959"/>
                </a:solidFill>
                <a:latin typeface="微软雅黑" panose="020B0503020204020204" pitchFamily="34" charset="-122"/>
                <a:ea typeface="微软雅黑" panose="020B0503020204020204" pitchFamily="34" charset="-122"/>
              </a:rPr>
              <a:t>，并在调用后查看数据表</a:t>
            </a:r>
            <a:r>
              <a:rPr sz="1600" dirty="0" smtClean="0">
                <a:solidFill>
                  <a:srgbClr val="1369B2"/>
                </a:solidFill>
                <a:latin typeface="微软雅黑" panose="020B0503020204020204" pitchFamily="34" charset="-122"/>
                <a:ea typeface="微软雅黑" panose="020B0503020204020204" pitchFamily="34" charset="-122"/>
              </a:rPr>
              <a:t>emp_comm</a:t>
            </a:r>
            <a:r>
              <a:rPr sz="1600" dirty="0" smtClean="0">
                <a:solidFill>
                  <a:srgbClr val="595959"/>
                </a:solidFill>
                <a:latin typeface="微软雅黑" panose="020B0503020204020204" pitchFamily="34" charset="-122"/>
                <a:ea typeface="微软雅黑" panose="020B0503020204020204" pitchFamily="34" charset="-122"/>
              </a:rPr>
              <a:t>中的记录，具体SQL语句及执行结果如下所示。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使用游标检索数据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2638425" y="2544445"/>
            <a:ext cx="7254240" cy="37350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CALL proc_emp_comm();</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0 rows affected (0.01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SELECT * FROM emp_comm;</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empno | ename  | job    | mgr  | sal     | comm | deptno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9369 | 张三   | 保洁   | 9902 |  900.00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9839 | 刘一   | 董事长 | NULL | 6000.00 | NULL |     10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9900 | 萧十一 | 保洁   | 9698 | 1050.00 | NULL |     30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9902 | 赵六   | 分析员 | 9566 | 4000.00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9936 | 张%一  | 保洁   | 9982 | 1200.00 | NULL |   NULL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9988 | 王五   | 分析员 | 9566 | 4000.00 | NULL |     20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6 rows in set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触发器</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8.7</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566670" y="2061210"/>
            <a:ext cx="7416800" cy="3105150"/>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4836" y="3913"/>
              <a:ext cx="9790" cy="2508"/>
            </a:xfrm>
            <a:prstGeom prst="rect">
              <a:avLst/>
            </a:prstGeom>
            <a:noFill/>
          </p:spPr>
          <p:txBody>
            <a:bodyPr wrap="square" rtlCol="0">
              <a:spAutoFit/>
            </a:bodyPr>
            <a:lstStyle/>
            <a:p>
              <a:pPr algn="l">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rPr>
                <a:t>触发器</a:t>
              </a:r>
              <a:r>
                <a:rPr lang="zh-CN" altLang="en-US" sz="2000" dirty="0" smtClean="0">
                  <a:solidFill>
                    <a:srgbClr val="595959"/>
                  </a:solidFill>
                  <a:latin typeface="微软雅黑" panose="020B0503020204020204" pitchFamily="34" charset="-122"/>
                  <a:ea typeface="微软雅黑" panose="020B0503020204020204" pitchFamily="34" charset="-122"/>
                </a:rPr>
                <a:t>可以看作是一种特殊的存储过程，它与存储过程的区别在于，存储过程使用</a:t>
              </a:r>
              <a:r>
                <a:rPr lang="zh-CN" altLang="en-US" sz="2000" dirty="0" smtClean="0">
                  <a:solidFill>
                    <a:srgbClr val="1369B2"/>
                  </a:solidFill>
                  <a:latin typeface="微软雅黑" panose="020B0503020204020204" pitchFamily="34" charset="-122"/>
                  <a:ea typeface="微软雅黑" panose="020B0503020204020204" pitchFamily="34" charset="-122"/>
                </a:rPr>
                <a:t>CALL</a:t>
              </a:r>
              <a:r>
                <a:rPr lang="zh-CN" altLang="en-US" sz="2000" dirty="0" smtClean="0">
                  <a:solidFill>
                    <a:srgbClr val="595959"/>
                  </a:solidFill>
                  <a:latin typeface="微软雅黑" panose="020B0503020204020204" pitchFamily="34" charset="-122"/>
                  <a:ea typeface="微软雅黑" panose="020B0503020204020204" pitchFamily="34" charset="-122"/>
                </a:rPr>
                <a:t>语句调用时才会执行，而触发器会在预先定义好的事件，例如发生INSERT、DELETE等操作时自动调用。</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656715" y="2217420"/>
            <a:ext cx="9166860" cy="374904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06270" y="2493645"/>
            <a:ext cx="8668385" cy="3046095"/>
          </a:xfrm>
          <a:prstGeom prst="rect">
            <a:avLst/>
          </a:prstGeom>
          <a:noFill/>
        </p:spPr>
        <p:txBody>
          <a:bodyPr wrap="square" rtlCol="0">
            <a:spAutoFit/>
          </a:bodyPr>
          <a:lstStyle/>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创建触发器</a:t>
            </a:r>
            <a:r>
              <a:rPr lang="zh-CN" altLang="en-US" sz="1600" dirty="0" smtClean="0">
                <a:solidFill>
                  <a:srgbClr val="595959"/>
                </a:solidFill>
                <a:latin typeface="微软雅黑" panose="020B0503020204020204" pitchFamily="34" charset="-122"/>
                <a:ea typeface="微软雅黑" panose="020B0503020204020204" pitchFamily="34" charset="-122"/>
              </a:rPr>
              <a:t>时需要与</a:t>
            </a:r>
            <a:r>
              <a:rPr lang="zh-CN" altLang="en-US" sz="1600" dirty="0" smtClean="0">
                <a:solidFill>
                  <a:srgbClr val="1369B2"/>
                </a:solidFill>
                <a:latin typeface="微软雅黑" panose="020B0503020204020204" pitchFamily="34" charset="-122"/>
                <a:ea typeface="微软雅黑" panose="020B0503020204020204" pitchFamily="34" charset="-122"/>
              </a:rPr>
              <a:t>数据表</a:t>
            </a:r>
            <a:r>
              <a:rPr lang="zh-CN" altLang="en-US" sz="1600" dirty="0" smtClean="0">
                <a:solidFill>
                  <a:srgbClr val="595959"/>
                </a:solidFill>
                <a:latin typeface="微软雅黑" panose="020B0503020204020204" pitchFamily="34" charset="-122"/>
                <a:ea typeface="微软雅黑" panose="020B0503020204020204" pitchFamily="34" charset="-122"/>
              </a:rPr>
              <a:t>相关联，当数据表发生特定事件（如INSERT、DELETE等操作）时，会自动执行触发器中的SQL语句，例如，插入数据前，强制检验或转换数据等操作，或是在触发器中代码执行错误后，撤销已经执行成功的操作，保障数据的安全。</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从上述内容可以知道，触发器具有以下</a:t>
            </a:r>
            <a:r>
              <a:rPr lang="zh-CN" altLang="en-US" sz="1600" dirty="0" smtClean="0">
                <a:solidFill>
                  <a:srgbClr val="1369B2"/>
                </a:solidFill>
                <a:latin typeface="微软雅黑" panose="020B0503020204020204" pitchFamily="34" charset="-122"/>
                <a:ea typeface="微软雅黑" panose="020B0503020204020204" pitchFamily="34" charset="-122"/>
              </a:rPr>
              <a:t>优点</a:t>
            </a: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(1)触发器</a:t>
            </a:r>
            <a:r>
              <a:rPr lang="zh-CN" altLang="en-US" sz="1600" dirty="0" smtClean="0">
                <a:solidFill>
                  <a:srgbClr val="1369B2"/>
                </a:solidFill>
                <a:latin typeface="微软雅黑" panose="020B0503020204020204" pitchFamily="34" charset="-122"/>
                <a:ea typeface="微软雅黑" panose="020B0503020204020204" pitchFamily="34" charset="-122"/>
              </a:rPr>
              <a:t>自动执行</a:t>
            </a:r>
            <a:r>
              <a:rPr lang="zh-CN" altLang="en-US" sz="1600" dirty="0" smtClean="0">
                <a:solidFill>
                  <a:srgbClr val="595959"/>
                </a:solidFill>
                <a:latin typeface="微软雅黑" panose="020B0503020204020204" pitchFamily="34" charset="-122"/>
                <a:ea typeface="微软雅黑" panose="020B0503020204020204" pitchFamily="34" charset="-122"/>
              </a:rPr>
              <a:t>，在触发器相关联的数据表中的数据发生修改，触发器中定义的语句会自动执行。</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(2)触发器对数据进行</a:t>
            </a:r>
            <a:r>
              <a:rPr lang="zh-CN" altLang="en-US" sz="1600" dirty="0" smtClean="0">
                <a:solidFill>
                  <a:srgbClr val="1369B2"/>
                </a:solidFill>
                <a:latin typeface="微软雅黑" panose="020B0503020204020204" pitchFamily="34" charset="-122"/>
                <a:ea typeface="微软雅黑" panose="020B0503020204020204" pitchFamily="34" charset="-122"/>
              </a:rPr>
              <a:t>安全校验</a:t>
            </a:r>
            <a:r>
              <a:rPr lang="zh-CN" altLang="en-US" sz="1600" dirty="0" smtClean="0">
                <a:solidFill>
                  <a:srgbClr val="595959"/>
                </a:solidFill>
                <a:latin typeface="微软雅黑" panose="020B0503020204020204" pitchFamily="34" charset="-122"/>
                <a:ea typeface="微软雅黑" panose="020B0503020204020204" pitchFamily="34" charset="-122"/>
              </a:rPr>
              <a:t>，保障数据安全。</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en-US" altLang="zh-CN" sz="1600" dirty="0" smtClean="0">
                <a:solidFill>
                  <a:srgbClr val="595959"/>
                </a:solidFill>
                <a:latin typeface="微软雅黑" panose="020B0503020204020204" pitchFamily="34" charset="-122"/>
                <a:ea typeface="微软雅黑" panose="020B0503020204020204" pitchFamily="34" charset="-122"/>
              </a:rPr>
              <a:t>(3)</a:t>
            </a:r>
            <a:r>
              <a:rPr lang="zh-CN" altLang="en-US" sz="1600" dirty="0" smtClean="0">
                <a:solidFill>
                  <a:srgbClr val="595959"/>
                </a:solidFill>
                <a:latin typeface="微软雅黑" panose="020B0503020204020204" pitchFamily="34" charset="-122"/>
                <a:ea typeface="微软雅黑" panose="020B0503020204020204" pitchFamily="34" charset="-122"/>
              </a:rPr>
              <a:t>通过和触发器相关联的表，可以实现表数据的</a:t>
            </a:r>
            <a:r>
              <a:rPr lang="zh-CN" altLang="en-US" sz="1600" dirty="0" smtClean="0">
                <a:solidFill>
                  <a:srgbClr val="1369B2"/>
                </a:solidFill>
                <a:latin typeface="微软雅黑" panose="020B0503020204020204" pitchFamily="34" charset="-122"/>
                <a:ea typeface="微软雅黑" panose="020B0503020204020204" pitchFamily="34" charset="-122"/>
              </a:rPr>
              <a:t>级联更改</a:t>
            </a:r>
            <a:r>
              <a:rPr lang="zh-CN" altLang="en-US" sz="1600" dirty="0" smtClean="0">
                <a:solidFill>
                  <a:srgbClr val="595959"/>
                </a:solidFill>
                <a:latin typeface="微软雅黑" panose="020B0503020204020204" pitchFamily="34" charset="-122"/>
                <a:ea typeface="微软雅黑" panose="020B0503020204020204" pitchFamily="34" charset="-122"/>
              </a:rPr>
              <a:t>，在一定程度上保证了数据的完整性。</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7190" y="2306320"/>
            <a:ext cx="9375140" cy="400494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134870" y="4940300"/>
            <a:ext cx="8828405"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上述语法格式中，触发器的名称必须在当前数据库中</a:t>
            </a:r>
            <a:r>
              <a:rPr sz="2000" dirty="0" smtClean="0">
                <a:solidFill>
                  <a:srgbClr val="1369B2"/>
                </a:solidFill>
                <a:latin typeface="微软雅黑" panose="020B0503020204020204" pitchFamily="34" charset="-122"/>
                <a:ea typeface="微软雅黑" panose="020B0503020204020204" pitchFamily="34" charset="-122"/>
              </a:rPr>
              <a:t>唯一</a:t>
            </a:r>
            <a:r>
              <a:rPr sz="2000" dirty="0" smtClean="0">
                <a:solidFill>
                  <a:srgbClr val="595959"/>
                </a:solidFill>
                <a:latin typeface="微软雅黑" panose="020B0503020204020204" pitchFamily="34" charset="-122"/>
                <a:ea typeface="微软雅黑" panose="020B0503020204020204" pitchFamily="34" charset="-122"/>
              </a:rPr>
              <a:t>，如果要在指定的数据库中创建触发器，触发器名称前面应该加上数据库的名称。</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134870" y="4148455"/>
            <a:ext cx="7938770"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TRIGGER 触发器名称 触发时机 触发事件 ON 数据表名 FOR EACH ROW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触发程序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062480" y="2492375"/>
            <a:ext cx="8828405" cy="147637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1.</a:t>
            </a:r>
            <a:r>
              <a:rPr sz="2000" dirty="0" smtClean="0">
                <a:solidFill>
                  <a:srgbClr val="1369B2"/>
                </a:solidFill>
                <a:latin typeface="微软雅黑" panose="020B0503020204020204" pitchFamily="34" charset="-122"/>
                <a:ea typeface="微软雅黑" panose="020B0503020204020204" pitchFamily="34" charset="-122"/>
              </a:rPr>
              <a:t>创建触发器</a:t>
            </a:r>
            <a:endParaRPr sz="2000" dirty="0" smtClean="0">
              <a:solidFill>
                <a:srgbClr val="1369B2"/>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创建触发器时，需要</a:t>
            </a:r>
            <a:r>
              <a:rPr sz="2000" dirty="0" smtClean="0">
                <a:solidFill>
                  <a:srgbClr val="1369B2"/>
                </a:solidFill>
                <a:latin typeface="微软雅黑" panose="020B0503020204020204" pitchFamily="34" charset="-122"/>
                <a:ea typeface="微软雅黑" panose="020B0503020204020204" pitchFamily="34" charset="-122"/>
              </a:rPr>
              <a:t>指定触发器操作的数据表</a:t>
            </a:r>
            <a:r>
              <a:rPr sz="2000" dirty="0" smtClean="0">
                <a:solidFill>
                  <a:srgbClr val="595959"/>
                </a:solidFill>
                <a:latin typeface="微软雅黑" panose="020B0503020204020204" pitchFamily="34" charset="-122"/>
                <a:ea typeface="微软雅黑" panose="020B0503020204020204" pitchFamily="34" charset="-122"/>
              </a:rPr>
              <a:t>，创建触发器的基本语法格式如下所示。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918335" y="1058545"/>
            <a:ext cx="8668385" cy="553085"/>
          </a:xfrm>
          <a:prstGeom prst="rect">
            <a:avLst/>
          </a:prstGeom>
          <a:noFill/>
        </p:spPr>
        <p:txBody>
          <a:bodyPr wrap="square" rtlCol="0">
            <a:spAutoFit/>
          </a:bodyPr>
          <a:lstStyle/>
          <a:p>
            <a:pPr algn="l">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rPr>
              <a:t>触发器</a:t>
            </a:r>
            <a:r>
              <a:rPr lang="zh-CN" altLang="en-US" sz="2000" dirty="0" smtClean="0">
                <a:solidFill>
                  <a:srgbClr val="595959"/>
                </a:solidFill>
                <a:latin typeface="微软雅黑" panose="020B0503020204020204" pitchFamily="34" charset="-122"/>
                <a:ea typeface="微软雅黑" panose="020B0503020204020204" pitchFamily="34" charset="-122"/>
              </a:rPr>
              <a:t>的基本操作包括</a:t>
            </a:r>
            <a:r>
              <a:rPr lang="zh-CN" altLang="en-US" sz="2000" dirty="0" smtClean="0">
                <a:solidFill>
                  <a:srgbClr val="1369B2"/>
                </a:solidFill>
                <a:latin typeface="微软雅黑" panose="020B0503020204020204" pitchFamily="34" charset="-122"/>
                <a:ea typeface="微软雅黑" panose="020B0503020204020204" pitchFamily="34" charset="-122"/>
              </a:rPr>
              <a:t>创建</a:t>
            </a:r>
            <a:r>
              <a:rPr lang="zh-CN" altLang="en-US" sz="2000" dirty="0" smtClean="0">
                <a:solidFill>
                  <a:srgbClr val="595959"/>
                </a:solidFill>
                <a:latin typeface="微软雅黑" panose="020B0503020204020204" pitchFamily="34" charset="-122"/>
                <a:ea typeface="微软雅黑" panose="020B0503020204020204" pitchFamily="34" charset="-122"/>
              </a:rPr>
              <a:t>触发器、</a:t>
            </a:r>
            <a:r>
              <a:rPr lang="zh-CN" altLang="en-US" sz="2000" dirty="0" smtClean="0">
                <a:solidFill>
                  <a:srgbClr val="1369B2"/>
                </a:solidFill>
                <a:latin typeface="微软雅黑" panose="020B0503020204020204" pitchFamily="34" charset="-122"/>
                <a:ea typeface="微软雅黑" panose="020B0503020204020204" pitchFamily="34" charset="-122"/>
              </a:rPr>
              <a:t>查看</a:t>
            </a:r>
            <a:r>
              <a:rPr lang="zh-CN" altLang="en-US" sz="2000" dirty="0" smtClean="0">
                <a:solidFill>
                  <a:srgbClr val="595959"/>
                </a:solidFill>
                <a:latin typeface="微软雅黑" panose="020B0503020204020204" pitchFamily="34" charset="-122"/>
                <a:ea typeface="微软雅黑" panose="020B0503020204020204" pitchFamily="34" charset="-122"/>
              </a:rPr>
              <a:t>触发器、</a:t>
            </a:r>
            <a:r>
              <a:rPr lang="zh-CN" altLang="en-US" sz="2000" dirty="0" smtClean="0">
                <a:solidFill>
                  <a:srgbClr val="1369B2"/>
                </a:solidFill>
                <a:latin typeface="微软雅黑" panose="020B0503020204020204" pitchFamily="34" charset="-122"/>
                <a:ea typeface="微软雅黑" panose="020B0503020204020204" pitchFamily="34" charset="-122"/>
              </a:rPr>
              <a:t>触发</a:t>
            </a:r>
            <a:r>
              <a:rPr lang="zh-CN" altLang="en-US" sz="2000" dirty="0" smtClean="0">
                <a:solidFill>
                  <a:srgbClr val="595959"/>
                </a:solidFill>
                <a:latin typeface="微软雅黑" panose="020B0503020204020204" pitchFamily="34" charset="-122"/>
                <a:ea typeface="微软雅黑" panose="020B0503020204020204" pitchFamily="34" charset="-122"/>
              </a:rPr>
              <a:t>触发器和</a:t>
            </a:r>
            <a:r>
              <a:rPr lang="zh-CN" altLang="en-US" sz="2000" dirty="0" smtClean="0">
                <a:solidFill>
                  <a:srgbClr val="1369B2"/>
                </a:solidFill>
                <a:latin typeface="微软雅黑" panose="020B0503020204020204" pitchFamily="34" charset="-122"/>
                <a:ea typeface="微软雅黑" panose="020B0503020204020204" pitchFamily="34" charset="-122"/>
              </a:rPr>
              <a:t>删除</a:t>
            </a:r>
            <a:r>
              <a:rPr lang="zh-CN" altLang="en-US" sz="2000" dirty="0" smtClean="0">
                <a:solidFill>
                  <a:srgbClr val="595959"/>
                </a:solidFill>
                <a:latin typeface="微软雅黑" panose="020B0503020204020204" pitchFamily="34" charset="-122"/>
                <a:ea typeface="微软雅黑" panose="020B0503020204020204" pitchFamily="34" charset="-122"/>
              </a:rPr>
              <a:t>触发器。</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068830" y="1982470"/>
            <a:ext cx="8350885" cy="38461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2513330" y="2277110"/>
            <a:ext cx="7461885" cy="3322955"/>
          </a:xfrm>
          <a:prstGeom prst="rect">
            <a:avLst/>
          </a:prstGeom>
          <a:noFill/>
        </p:spPr>
        <p:txBody>
          <a:bodyPr wrap="square" rtlCol="0">
            <a:spAutoFit/>
          </a:bodyPr>
          <a:lstStyle/>
          <a:p>
            <a:pPr algn="l">
              <a:lnSpc>
                <a:spcPct val="150000"/>
              </a:lnSpc>
            </a:pPr>
            <a:r>
              <a:rPr sz="2000" dirty="0" smtClean="0">
                <a:solidFill>
                  <a:srgbClr val="1369B2"/>
                </a:solidFill>
                <a:latin typeface="微软雅黑" panose="020B0503020204020204" pitchFamily="34" charset="-122"/>
                <a:ea typeface="微软雅黑" panose="020B0503020204020204" pitchFamily="34" charset="-122"/>
              </a:rPr>
              <a:t>触发时机</a:t>
            </a:r>
            <a:r>
              <a:rPr sz="2000" dirty="0" smtClean="0">
                <a:solidFill>
                  <a:srgbClr val="595959"/>
                </a:solidFill>
                <a:latin typeface="微软雅黑" panose="020B0503020204020204" pitchFamily="34" charset="-122"/>
                <a:ea typeface="微软雅黑" panose="020B0503020204020204" pitchFamily="34" charset="-122"/>
              </a:rPr>
              <a:t>指触发程序执行的时间，可选值有</a:t>
            </a:r>
            <a:r>
              <a:rPr sz="2000" dirty="0" smtClean="0">
                <a:solidFill>
                  <a:srgbClr val="1369B2"/>
                </a:solidFill>
                <a:latin typeface="微软雅黑" panose="020B0503020204020204" pitchFamily="34" charset="-122"/>
                <a:ea typeface="微软雅黑" panose="020B0503020204020204" pitchFamily="34" charset="-122"/>
              </a:rPr>
              <a:t>BEFORE</a:t>
            </a:r>
            <a:r>
              <a:rPr sz="2000" dirty="0" smtClean="0">
                <a:solidFill>
                  <a:srgbClr val="595959"/>
                </a:solidFill>
                <a:latin typeface="微软雅黑" panose="020B0503020204020204" pitchFamily="34" charset="-122"/>
                <a:ea typeface="微软雅黑" panose="020B0503020204020204" pitchFamily="34" charset="-122"/>
              </a:rPr>
              <a:t>和</a:t>
            </a:r>
            <a:r>
              <a:rPr sz="2000" dirty="0" smtClean="0">
                <a:solidFill>
                  <a:srgbClr val="1369B2"/>
                </a:solidFill>
                <a:latin typeface="微软雅黑" panose="020B0503020204020204" pitchFamily="34" charset="-122"/>
                <a:ea typeface="微软雅黑" panose="020B0503020204020204" pitchFamily="34" charset="-122"/>
              </a:rPr>
              <a:t>AFTER</a:t>
            </a:r>
            <a:r>
              <a:rPr sz="2000" dirty="0" smtClean="0">
                <a:solidFill>
                  <a:srgbClr val="595959"/>
                </a:solidFill>
                <a:latin typeface="微软雅黑" panose="020B0503020204020204" pitchFamily="34" charset="-122"/>
                <a:ea typeface="微软雅黑" panose="020B0503020204020204" pitchFamily="34" charset="-122"/>
              </a:rPr>
              <a:t>；</a:t>
            </a:r>
            <a:r>
              <a:rPr sz="2000" dirty="0" smtClean="0">
                <a:solidFill>
                  <a:srgbClr val="1369B2"/>
                </a:solidFill>
                <a:latin typeface="微软雅黑" panose="020B0503020204020204" pitchFamily="34" charset="-122"/>
                <a:ea typeface="微软雅黑" panose="020B0503020204020204" pitchFamily="34" charset="-122"/>
              </a:rPr>
              <a:t>触发事件</a:t>
            </a:r>
            <a:r>
              <a:rPr sz="2000" dirty="0" smtClean="0">
                <a:solidFill>
                  <a:srgbClr val="595959"/>
                </a:solidFill>
                <a:latin typeface="微软雅黑" panose="020B0503020204020204" pitchFamily="34" charset="-122"/>
                <a:ea typeface="微软雅黑" panose="020B0503020204020204" pitchFamily="34" charset="-122"/>
              </a:rPr>
              <a:t>表示激活触发器的操作类型，可选值有</a:t>
            </a:r>
            <a:r>
              <a:rPr sz="2000" dirty="0" smtClean="0">
                <a:solidFill>
                  <a:srgbClr val="1369B2"/>
                </a:solidFill>
                <a:latin typeface="微软雅黑" panose="020B0503020204020204" pitchFamily="34" charset="-122"/>
                <a:ea typeface="微软雅黑" panose="020B0503020204020204" pitchFamily="34" charset="-122"/>
              </a:rPr>
              <a:t>INSERT</a:t>
            </a:r>
            <a:r>
              <a:rPr sz="2000" dirty="0" smtClean="0">
                <a:solidFill>
                  <a:srgbClr val="595959"/>
                </a:solidFill>
                <a:latin typeface="微软雅黑" panose="020B0503020204020204" pitchFamily="34" charset="-122"/>
                <a:ea typeface="微软雅黑" panose="020B0503020204020204" pitchFamily="34" charset="-122"/>
              </a:rPr>
              <a:t>、</a:t>
            </a:r>
            <a:r>
              <a:rPr sz="2000" dirty="0" smtClean="0">
                <a:solidFill>
                  <a:srgbClr val="1369B2"/>
                </a:solidFill>
                <a:latin typeface="微软雅黑" panose="020B0503020204020204" pitchFamily="34" charset="-122"/>
                <a:ea typeface="微软雅黑" panose="020B0503020204020204" pitchFamily="34" charset="-122"/>
              </a:rPr>
              <a:t>UPDATE</a:t>
            </a:r>
            <a:r>
              <a:rPr sz="2000" dirty="0" smtClean="0">
                <a:solidFill>
                  <a:srgbClr val="595959"/>
                </a:solidFill>
                <a:latin typeface="微软雅黑" panose="020B0503020204020204" pitchFamily="34" charset="-122"/>
                <a:ea typeface="微软雅黑" panose="020B0503020204020204" pitchFamily="34" charset="-122"/>
              </a:rPr>
              <a:t>和</a:t>
            </a:r>
            <a:r>
              <a:rPr sz="2000" dirty="0" smtClean="0">
                <a:solidFill>
                  <a:srgbClr val="1369B2"/>
                </a:solidFill>
                <a:latin typeface="微软雅黑" panose="020B0503020204020204" pitchFamily="34" charset="-122"/>
                <a:ea typeface="微软雅黑" panose="020B0503020204020204" pitchFamily="34" charset="-122"/>
              </a:rPr>
              <a:t>DELETE</a:t>
            </a:r>
            <a:r>
              <a:rPr lang="zh-CN" sz="2000" dirty="0" smtClean="0">
                <a:solidFill>
                  <a:srgbClr val="1369B2"/>
                </a:solidFill>
                <a:latin typeface="微软雅黑" panose="020B0503020204020204" pitchFamily="34" charset="-122"/>
                <a:ea typeface="微软雅黑" panose="020B0503020204020204" pitchFamily="34" charset="-122"/>
              </a:rPr>
              <a:t>；</a:t>
            </a:r>
            <a:endParaRPr lang="zh-CN" sz="2000" dirty="0" smtClean="0">
              <a:solidFill>
                <a:srgbClr val="1369B2"/>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1369B2"/>
                </a:solidFill>
                <a:latin typeface="微软雅黑" panose="020B0503020204020204" pitchFamily="34" charset="-122"/>
                <a:ea typeface="微软雅黑" panose="020B0503020204020204" pitchFamily="34" charset="-122"/>
                <a:sym typeface="+mn-ea"/>
              </a:rPr>
              <a:t>触发程序</a:t>
            </a:r>
            <a:r>
              <a:rPr sz="2000" dirty="0" smtClean="0">
                <a:solidFill>
                  <a:srgbClr val="595959"/>
                </a:solidFill>
                <a:latin typeface="微软雅黑" panose="020B0503020204020204" pitchFamily="34" charset="-122"/>
                <a:ea typeface="微软雅黑" panose="020B0503020204020204" pitchFamily="34" charset="-122"/>
                <a:sym typeface="+mn-ea"/>
              </a:rPr>
              <a:t>指的是触发器执行的SQL语句，如果要执行多个语句，可使用</a:t>
            </a:r>
            <a:r>
              <a:rPr sz="2000" dirty="0" smtClean="0">
                <a:solidFill>
                  <a:srgbClr val="1369B2"/>
                </a:solidFill>
                <a:latin typeface="微软雅黑" panose="020B0503020204020204" pitchFamily="34" charset="-122"/>
                <a:ea typeface="微软雅黑" panose="020B0503020204020204" pitchFamily="34" charset="-122"/>
                <a:sym typeface="+mn-ea"/>
              </a:rPr>
              <a:t>BEGIN…END </a:t>
            </a:r>
            <a:r>
              <a:rPr sz="2000" dirty="0" smtClean="0">
                <a:solidFill>
                  <a:srgbClr val="595959"/>
                </a:solidFill>
                <a:latin typeface="微软雅黑" panose="020B0503020204020204" pitchFamily="34" charset="-122"/>
                <a:ea typeface="微软雅黑" panose="020B0503020204020204" pitchFamily="34" charset="-122"/>
                <a:sym typeface="+mn-ea"/>
              </a:rPr>
              <a:t>作为语句的开始和结束。触发程序中可以使用</a:t>
            </a:r>
            <a:r>
              <a:rPr sz="2000" dirty="0" smtClean="0">
                <a:solidFill>
                  <a:srgbClr val="1369B2"/>
                </a:solidFill>
                <a:latin typeface="微软雅黑" panose="020B0503020204020204" pitchFamily="34" charset="-122"/>
                <a:ea typeface="微软雅黑" panose="020B0503020204020204" pitchFamily="34" charset="-122"/>
                <a:sym typeface="+mn-ea"/>
              </a:rPr>
              <a:t>NEW</a:t>
            </a:r>
            <a:r>
              <a:rPr sz="2000" dirty="0" smtClean="0">
                <a:solidFill>
                  <a:srgbClr val="595959"/>
                </a:solidFill>
                <a:latin typeface="微软雅黑" panose="020B0503020204020204" pitchFamily="34" charset="-122"/>
                <a:ea typeface="微软雅黑" panose="020B0503020204020204" pitchFamily="34" charset="-122"/>
                <a:sym typeface="+mn-ea"/>
              </a:rPr>
              <a:t>和</a:t>
            </a:r>
            <a:r>
              <a:rPr sz="2000" dirty="0" smtClean="0">
                <a:solidFill>
                  <a:srgbClr val="1369B2"/>
                </a:solidFill>
                <a:latin typeface="微软雅黑" panose="020B0503020204020204" pitchFamily="34" charset="-122"/>
                <a:ea typeface="微软雅黑" panose="020B0503020204020204" pitchFamily="34" charset="-122"/>
                <a:sym typeface="+mn-ea"/>
              </a:rPr>
              <a:t>OLD</a:t>
            </a:r>
            <a:r>
              <a:rPr sz="2000" dirty="0" smtClean="0">
                <a:solidFill>
                  <a:srgbClr val="595959"/>
                </a:solidFill>
                <a:latin typeface="微软雅黑" panose="020B0503020204020204" pitchFamily="34" charset="-122"/>
                <a:ea typeface="微软雅黑" panose="020B0503020204020204" pitchFamily="34" charset="-122"/>
                <a:sym typeface="+mn-ea"/>
              </a:rPr>
              <a:t>分别表示新纪录和旧记录。</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068830" y="1982470"/>
            <a:ext cx="8350885" cy="291147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2513330" y="2277110"/>
            <a:ext cx="7461885" cy="239966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sym typeface="+mn-ea"/>
              </a:rPr>
              <a:t>为了让读者更好的理解</a:t>
            </a:r>
            <a:r>
              <a:rPr sz="2000" dirty="0" smtClean="0">
                <a:solidFill>
                  <a:srgbClr val="1369B2"/>
                </a:solidFill>
                <a:latin typeface="微软雅黑" panose="020B0503020204020204" pitchFamily="34" charset="-122"/>
                <a:ea typeface="微软雅黑" panose="020B0503020204020204" pitchFamily="34" charset="-122"/>
                <a:sym typeface="+mn-ea"/>
              </a:rPr>
              <a:t>触发器的创建</a:t>
            </a:r>
            <a:r>
              <a:rPr sz="2000" dirty="0" smtClean="0">
                <a:solidFill>
                  <a:srgbClr val="595959"/>
                </a:solidFill>
                <a:latin typeface="微软雅黑" panose="020B0503020204020204" pitchFamily="34" charset="-122"/>
                <a:ea typeface="微软雅黑" panose="020B0503020204020204" pitchFamily="34" charset="-122"/>
                <a:sym typeface="+mn-ea"/>
              </a:rPr>
              <a:t>，下面通过一个案例演示在数据表中创建触发器。例如，在删除员工信息后，自动将删除的员工信息添加在其他数据表，以防后续需要查询删除了的员工信息，具体操作如下所示。</a:t>
            </a:r>
            <a:endParaRPr sz="2000" dirty="0" smtClean="0">
              <a:solidFill>
                <a:srgbClr val="595959"/>
              </a:solidFill>
              <a:latin typeface="微软雅黑" panose="020B0503020204020204" pitchFamily="34" charset="-122"/>
              <a:ea typeface="微软雅黑" panose="020B0503020204020204" pitchFamily="34" charset="-122"/>
              <a:sym typeface="+mn-ea"/>
            </a:endParaRPr>
          </a:p>
          <a:p>
            <a:pPr algn="l">
              <a:lnSpc>
                <a:spcPct val="150000"/>
              </a:lnSpc>
            </a:pP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374140" y="1995170"/>
            <a:ext cx="9845675" cy="408368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1631315" y="2061210"/>
            <a:ext cx="9369425" cy="50673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首先</a:t>
            </a:r>
            <a:r>
              <a:rPr sz="1800" dirty="0" smtClean="0">
                <a:solidFill>
                  <a:srgbClr val="1369B2"/>
                </a:solidFill>
                <a:latin typeface="微软雅黑" panose="020B0503020204020204" pitchFamily="34" charset="-122"/>
                <a:ea typeface="微软雅黑" panose="020B0503020204020204" pitchFamily="34" charset="-122"/>
              </a:rPr>
              <a:t>创建一张新的数据表</a:t>
            </a:r>
            <a:r>
              <a:rPr sz="1800" dirty="0" smtClean="0">
                <a:solidFill>
                  <a:srgbClr val="595959"/>
                </a:solidFill>
                <a:latin typeface="微软雅黑" panose="020B0503020204020204" pitchFamily="34" charset="-122"/>
                <a:ea typeface="微软雅黑" panose="020B0503020204020204" pitchFamily="34" charset="-122"/>
              </a:rPr>
              <a:t>，用于存放被删除的员工信息，具体SQL语句如下所示。</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2566670" y="2781935"/>
            <a:ext cx="7254240" cy="286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CREATE TABLE emp_del(</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empno   INT PRIMARY KEY,</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ename   VARCHAR(20) UNIQUE,</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job     VARCHAR(20),</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mgr     INT,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sal     DECIMAL(7,2),</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comm    DECIMAL(7,2),</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lvl="1">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deptno  INT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374140" y="1492885"/>
            <a:ext cx="9845675" cy="359537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1631315" y="1558925"/>
            <a:ext cx="9369425" cy="92202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接着在</a:t>
            </a:r>
            <a:r>
              <a:rPr sz="1800" dirty="0" smtClean="0">
                <a:solidFill>
                  <a:srgbClr val="1369B2"/>
                </a:solidFill>
                <a:latin typeface="微软雅黑" panose="020B0503020204020204" pitchFamily="34" charset="-122"/>
                <a:ea typeface="微软雅黑" panose="020B0503020204020204" pitchFamily="34" charset="-122"/>
              </a:rPr>
              <a:t>员工表emp中创建触发器</a:t>
            </a:r>
            <a:r>
              <a:rPr sz="1800" dirty="0" smtClean="0">
                <a:solidFill>
                  <a:srgbClr val="595959"/>
                </a:solidFill>
                <a:latin typeface="微软雅黑" panose="020B0503020204020204" pitchFamily="34" charset="-122"/>
                <a:ea typeface="微软雅黑" panose="020B0503020204020204" pitchFamily="34" charset="-122"/>
              </a:rPr>
              <a:t>，当删除员工表的数据后，触发该触发器，并且在触发器的触发程序中将被删除的员工添加到数据表emp_del中，具体SQL语句及执行结果如下所示。</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2112645" y="2787650"/>
            <a:ext cx="8887460" cy="16662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#在员工表emp中创建触发器trig_emp</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TRIGGER trig_emp</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AFTER DELETE ON emp FOR EACH ROW</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INSERT INTO emp_del(empno,ename,job,mgr,sal,comm,deptno)</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VALUES(old.empno,old.ename,old.job,old.mgr,old.sal,old.comm,old.deptno);</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7190" y="1129030"/>
            <a:ext cx="9375140" cy="405003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8" name="矩形 17"/>
          <p:cNvSpPr/>
          <p:nvPr/>
        </p:nvSpPr>
        <p:spPr>
          <a:xfrm>
            <a:off x="2125345" y="4152265"/>
            <a:ext cx="7938770"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SHOW TRIGGERS;</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文本框 1"/>
          <p:cNvSpPr txBox="1"/>
          <p:nvPr/>
        </p:nvSpPr>
        <p:spPr>
          <a:xfrm>
            <a:off x="2125345" y="1137920"/>
            <a:ext cx="8828405" cy="286131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2.</a:t>
            </a:r>
            <a:r>
              <a:rPr sz="2000" dirty="0" smtClean="0">
                <a:solidFill>
                  <a:srgbClr val="1369B2"/>
                </a:solidFill>
                <a:latin typeface="微软雅黑" panose="020B0503020204020204" pitchFamily="34" charset="-122"/>
                <a:ea typeface="微软雅黑" panose="020B0503020204020204" pitchFamily="34" charset="-122"/>
              </a:rPr>
              <a:t>查看触发器</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如果想通过语句查看数据库中已经存在的触发器的信息，MySQL中提供了2种查看触发器的方法，一种是利用</a:t>
            </a:r>
            <a:r>
              <a:rPr sz="2000" dirty="0" smtClean="0">
                <a:solidFill>
                  <a:srgbClr val="1369B2"/>
                </a:solidFill>
                <a:latin typeface="微软雅黑" panose="020B0503020204020204" pitchFamily="34" charset="-122"/>
                <a:ea typeface="微软雅黑" panose="020B0503020204020204" pitchFamily="34" charset="-122"/>
              </a:rPr>
              <a:t>SHOW TRIGGER</a:t>
            </a:r>
            <a:r>
              <a:rPr sz="2000" dirty="0" smtClean="0">
                <a:solidFill>
                  <a:srgbClr val="595959"/>
                </a:solidFill>
                <a:latin typeface="微软雅黑" panose="020B0503020204020204" pitchFamily="34" charset="-122"/>
                <a:ea typeface="微软雅黑" panose="020B0503020204020204" pitchFamily="34" charset="-122"/>
              </a:rPr>
              <a:t>语句查看触发器，另一种是利用</a:t>
            </a:r>
            <a:r>
              <a:rPr sz="2000" dirty="0" smtClean="0">
                <a:solidFill>
                  <a:srgbClr val="1369B2"/>
                </a:solidFill>
                <a:latin typeface="微软雅黑" panose="020B0503020204020204" pitchFamily="34" charset="-122"/>
                <a:ea typeface="微软雅黑" panose="020B0503020204020204" pitchFamily="34" charset="-122"/>
              </a:rPr>
              <a:t>SELECT</a:t>
            </a:r>
            <a:r>
              <a:rPr sz="2000" dirty="0" smtClean="0">
                <a:solidFill>
                  <a:srgbClr val="595959"/>
                </a:solidFill>
                <a:latin typeface="微软雅黑" panose="020B0503020204020204" pitchFamily="34" charset="-122"/>
                <a:ea typeface="微软雅黑" panose="020B0503020204020204" pitchFamily="34" charset="-122"/>
              </a:rPr>
              <a:t>语句查看数据库information_schema下数据表TRIGGERS中的触发器数据。</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利用SHOW TRIGGER语句查看触发器信息的语法格式如下所示。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7190" y="1186180"/>
            <a:ext cx="9375140" cy="470217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6" name="文本框 5"/>
          <p:cNvSpPr txBox="1"/>
          <p:nvPr/>
        </p:nvSpPr>
        <p:spPr>
          <a:xfrm>
            <a:off x="2047240" y="3283585"/>
            <a:ext cx="882840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上述语法格式中，可以通过</a:t>
            </a:r>
            <a:r>
              <a:rPr sz="1600" dirty="0" smtClean="0">
                <a:solidFill>
                  <a:srgbClr val="1369B2"/>
                </a:solidFill>
                <a:latin typeface="微软雅黑" panose="020B0503020204020204" pitchFamily="34" charset="-122"/>
                <a:ea typeface="微软雅黑" panose="020B0503020204020204" pitchFamily="34" charset="-122"/>
              </a:rPr>
              <a:t>WHERE</a:t>
            </a:r>
            <a:r>
              <a:rPr sz="1600" dirty="0" smtClean="0">
                <a:solidFill>
                  <a:srgbClr val="595959"/>
                </a:solidFill>
                <a:latin typeface="微软雅黑" panose="020B0503020204020204" pitchFamily="34" charset="-122"/>
                <a:ea typeface="微软雅黑" panose="020B0503020204020204" pitchFamily="34" charset="-122"/>
              </a:rPr>
              <a:t>子句指定触发器的名称，如果不指定触发器名称，则会查询出information_schema数据库中所有已经存在的触发器信息。</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047240" y="2569845"/>
            <a:ext cx="8515985" cy="5524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SELECT * FROM information_schema.triggers [WHERE trigger_name= '触发器名称'];</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 name="文本框 1"/>
          <p:cNvSpPr txBox="1"/>
          <p:nvPr/>
        </p:nvSpPr>
        <p:spPr>
          <a:xfrm>
            <a:off x="1990725" y="1185545"/>
            <a:ext cx="8828405" cy="119888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在MySQL中，触发器信息都保存在数据库information_schema下的数据表TRIGGERS中，可以通过</a:t>
            </a:r>
            <a:r>
              <a:rPr sz="1600" dirty="0" smtClean="0">
                <a:solidFill>
                  <a:srgbClr val="1369B2"/>
                </a:solidFill>
                <a:latin typeface="微软雅黑" panose="020B0503020204020204" pitchFamily="34" charset="-122"/>
                <a:ea typeface="微软雅黑" panose="020B0503020204020204" pitchFamily="34" charset="-122"/>
              </a:rPr>
              <a:t>SELECT</a:t>
            </a:r>
            <a:r>
              <a:rPr sz="1600" dirty="0" smtClean="0">
                <a:solidFill>
                  <a:srgbClr val="595959"/>
                </a:solidFill>
                <a:latin typeface="微软雅黑" panose="020B0503020204020204" pitchFamily="34" charset="-122"/>
                <a:ea typeface="微软雅黑" panose="020B0503020204020204" pitchFamily="34" charset="-122"/>
              </a:rPr>
              <a:t>语句查看该数据表获取触发器信息，通过</a:t>
            </a:r>
            <a:r>
              <a:rPr sz="1600" dirty="0" smtClean="0">
                <a:solidFill>
                  <a:srgbClr val="1369B2"/>
                </a:solidFill>
                <a:latin typeface="微软雅黑" panose="020B0503020204020204" pitchFamily="34" charset="-122"/>
                <a:ea typeface="微软雅黑" panose="020B0503020204020204" pitchFamily="34" charset="-122"/>
              </a:rPr>
              <a:t>TRIGGERS</a:t>
            </a:r>
            <a:r>
              <a:rPr sz="1600" dirty="0" smtClean="0">
                <a:solidFill>
                  <a:srgbClr val="595959"/>
                </a:solidFill>
                <a:latin typeface="微软雅黑" panose="020B0503020204020204" pitchFamily="34" charset="-122"/>
                <a:ea typeface="微软雅黑" panose="020B0503020204020204" pitchFamily="34" charset="-122"/>
              </a:rPr>
              <a:t>数据表查询触发器的语法格式如下所示。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903730" y="4436745"/>
            <a:ext cx="8828405" cy="460375"/>
          </a:xfrm>
          <a:prstGeom prst="rect">
            <a:avLst/>
          </a:prstGeom>
          <a:noFill/>
        </p:spPr>
        <p:txBody>
          <a:bodyPr wrap="square" rtlCol="0">
            <a:spAutoFit/>
          </a:bodyPr>
          <a:lstStyle/>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例如，</a:t>
            </a:r>
            <a:r>
              <a:rPr sz="1600" dirty="0" smtClean="0">
                <a:solidFill>
                  <a:srgbClr val="595959"/>
                </a:solidFill>
                <a:latin typeface="微软雅黑" panose="020B0503020204020204" pitchFamily="34" charset="-122"/>
                <a:ea typeface="微软雅黑" panose="020B0503020204020204" pitchFamily="34" charset="-122"/>
              </a:rPr>
              <a:t>使用</a:t>
            </a:r>
            <a:r>
              <a:rPr sz="1600" dirty="0" smtClean="0">
                <a:solidFill>
                  <a:srgbClr val="1369B2"/>
                </a:solidFill>
                <a:latin typeface="微软雅黑" panose="020B0503020204020204" pitchFamily="34" charset="-122"/>
                <a:ea typeface="微软雅黑" panose="020B0503020204020204" pitchFamily="34" charset="-122"/>
              </a:rPr>
              <a:t>SELECT语句</a:t>
            </a:r>
            <a:r>
              <a:rPr sz="1600" dirty="0" smtClean="0">
                <a:solidFill>
                  <a:srgbClr val="595959"/>
                </a:solidFill>
                <a:latin typeface="微软雅黑" panose="020B0503020204020204" pitchFamily="34" charset="-122"/>
                <a:ea typeface="微软雅黑" panose="020B0503020204020204" pitchFamily="34" charset="-122"/>
              </a:rPr>
              <a:t>查询触发器trig_emp的信息，具体SQL语句如下所示。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0" name="矩形 9"/>
          <p:cNvSpPr/>
          <p:nvPr/>
        </p:nvSpPr>
        <p:spPr>
          <a:xfrm>
            <a:off x="1887220" y="5086985"/>
            <a:ext cx="9034780" cy="4032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SELECT * FROM information_schema.triggers WHERE trigger_name= 'trig_emp' \G</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30680" y="1127760"/>
            <a:ext cx="9375140" cy="54184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2062480" y="1201420"/>
            <a:ext cx="8717280" cy="156845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3.</a:t>
            </a:r>
            <a:r>
              <a:rPr sz="1600" dirty="0" smtClean="0">
                <a:solidFill>
                  <a:srgbClr val="1369B2"/>
                </a:solidFill>
                <a:latin typeface="微软雅黑" panose="020B0503020204020204" pitchFamily="34" charset="-122"/>
                <a:ea typeface="微软雅黑" panose="020B0503020204020204" pitchFamily="34" charset="-122"/>
              </a:rPr>
              <a:t>触发触发器</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触发器</a:t>
            </a:r>
            <a:r>
              <a:rPr sz="1600" dirty="0" smtClean="0">
                <a:solidFill>
                  <a:srgbClr val="1369B2"/>
                </a:solidFill>
                <a:latin typeface="微软雅黑" panose="020B0503020204020204" pitchFamily="34" charset="-122"/>
                <a:ea typeface="微软雅黑" panose="020B0503020204020204" pitchFamily="34" charset="-122"/>
              </a:rPr>
              <a:t>trig_emp</a:t>
            </a:r>
            <a:r>
              <a:rPr sz="1600" dirty="0" smtClean="0">
                <a:solidFill>
                  <a:srgbClr val="595959"/>
                </a:solidFill>
                <a:latin typeface="微软雅黑" panose="020B0503020204020204" pitchFamily="34" charset="-122"/>
                <a:ea typeface="微软雅黑" panose="020B0503020204020204" pitchFamily="34" charset="-122"/>
              </a:rPr>
              <a:t>创建成功后，会根据触发时机和触发事件触发。</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例如，删除员工表中的一条员工记录，并且想要在</a:t>
            </a:r>
            <a:r>
              <a:rPr sz="1600" dirty="0" smtClean="0">
                <a:solidFill>
                  <a:srgbClr val="1369B2"/>
                </a:solidFill>
                <a:latin typeface="微软雅黑" panose="020B0503020204020204" pitchFamily="34" charset="-122"/>
                <a:ea typeface="微软雅黑" panose="020B0503020204020204" pitchFamily="34" charset="-122"/>
              </a:rPr>
              <a:t>删除操作后查看数据表</a:t>
            </a:r>
            <a:r>
              <a:rPr sz="1600" dirty="0" smtClean="0">
                <a:solidFill>
                  <a:srgbClr val="595959"/>
                </a:solidFill>
                <a:latin typeface="微软雅黑" panose="020B0503020204020204" pitchFamily="34" charset="-122"/>
                <a:ea typeface="微软雅黑" panose="020B0503020204020204" pitchFamily="34" charset="-122"/>
              </a:rPr>
              <a:t>emp_del中的记录，</a:t>
            </a:r>
            <a:r>
              <a:rPr sz="1600" dirty="0" smtClean="0">
                <a:solidFill>
                  <a:srgbClr val="1369B2"/>
                </a:solidFill>
                <a:latin typeface="微软雅黑" panose="020B0503020204020204" pitchFamily="34" charset="-122"/>
                <a:ea typeface="微软雅黑" panose="020B0503020204020204" pitchFamily="34" charset="-122"/>
              </a:rPr>
              <a:t>验证触发器是否触发</a:t>
            </a:r>
            <a:r>
              <a:rPr sz="1600" dirty="0" smtClean="0">
                <a:solidFill>
                  <a:srgbClr val="595959"/>
                </a:solidFill>
                <a:latin typeface="微软雅黑" panose="020B0503020204020204" pitchFamily="34" charset="-122"/>
                <a:ea typeface="微软雅黑" panose="020B0503020204020204" pitchFamily="34" charset="-122"/>
              </a:rPr>
              <a:t>，具体SQL语句及执行结果如下所示。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918335" y="5588635"/>
            <a:ext cx="882840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从上述执行结果可以看出，删除员工表emp中员工悟空的记录后，数据表emp_del中新增了一条记录，由此可以得出，对</a:t>
            </a:r>
            <a:r>
              <a:rPr sz="1600" dirty="0" smtClean="0">
                <a:solidFill>
                  <a:srgbClr val="1369B2"/>
                </a:solidFill>
                <a:latin typeface="微软雅黑" panose="020B0503020204020204" pitchFamily="34" charset="-122"/>
                <a:ea typeface="微软雅黑" panose="020B0503020204020204" pitchFamily="34" charset="-122"/>
              </a:rPr>
              <a:t>员工表emp执行删除操作后，触发了发触发器trig_emp</a:t>
            </a:r>
            <a:r>
              <a:rPr sz="1600" dirty="0" smtClean="0">
                <a:solidFill>
                  <a:srgbClr val="595959"/>
                </a:solidFill>
                <a:latin typeface="微软雅黑" panose="020B0503020204020204" pitchFamily="34" charset="-122"/>
                <a:ea typeface="微软雅黑" panose="020B0503020204020204" pitchFamily="34" charset="-122"/>
              </a:rPr>
              <a:t>。</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1990725" y="2779395"/>
            <a:ext cx="8515985" cy="27438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DELETE FROM emp WHERE ename="悟空";</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Query OK, 1 row affected (0.02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SELECT * FROM emp_del;</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empno | ename | job  | mgr  | sal     | comm    | deptno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9999 | 悟空  | 人事 | 9982 | 3000.00 | 1800.00 |     40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7190" y="1416050"/>
            <a:ext cx="9375140" cy="418782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047240" y="4295775"/>
            <a:ext cx="8828405"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在上述语法格式中，利用</a:t>
            </a:r>
            <a:r>
              <a:rPr lang="en-US" sz="2000" dirty="0" smtClean="0">
                <a:solidFill>
                  <a:srgbClr val="595959"/>
                </a:solidFill>
                <a:latin typeface="微软雅黑" panose="020B0503020204020204" pitchFamily="34" charset="-122"/>
                <a:ea typeface="微软雅黑" panose="020B0503020204020204" pitchFamily="34" charset="-122"/>
              </a:rPr>
              <a:t>“</a:t>
            </a:r>
            <a:r>
              <a:rPr sz="2000" dirty="0" smtClean="0">
                <a:solidFill>
                  <a:srgbClr val="595959"/>
                </a:solidFill>
                <a:latin typeface="微软雅黑" panose="020B0503020204020204" pitchFamily="34" charset="-122"/>
                <a:ea typeface="微软雅黑" panose="020B0503020204020204" pitchFamily="34" charset="-122"/>
                <a:sym typeface="+mn-ea"/>
              </a:rPr>
              <a:t>数据库名.触发器名</a:t>
            </a:r>
            <a:r>
              <a:rPr lang="en-US" sz="2000" dirty="0" smtClean="0">
                <a:solidFill>
                  <a:srgbClr val="595959"/>
                </a:solidFill>
                <a:latin typeface="微软雅黑" panose="020B0503020204020204" pitchFamily="34" charset="-122"/>
                <a:ea typeface="微软雅黑" panose="020B0503020204020204" pitchFamily="34" charset="-122"/>
              </a:rPr>
              <a:t>”</a:t>
            </a:r>
            <a:r>
              <a:rPr sz="2000" dirty="0" smtClean="0">
                <a:solidFill>
                  <a:srgbClr val="595959"/>
                </a:solidFill>
                <a:latin typeface="微软雅黑" panose="020B0503020204020204" pitchFamily="34" charset="-122"/>
                <a:ea typeface="微软雅黑" panose="020B0503020204020204" pitchFamily="34" charset="-122"/>
              </a:rPr>
              <a:t>的方式可以删除指定数据库下的触发器，当省略“数据库名.”时，则删除当前选择的数据库下的触发器。</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134870" y="3575685"/>
            <a:ext cx="8515985" cy="670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DROP TRIGGER [ IF EXISTS ] [数据库名.] 触发器名;</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047240" y="1468120"/>
            <a:ext cx="8828405"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4.</a:t>
            </a:r>
            <a:r>
              <a:rPr sz="2000" dirty="0" smtClean="0">
                <a:solidFill>
                  <a:srgbClr val="1369B2"/>
                </a:solidFill>
                <a:latin typeface="微软雅黑" panose="020B0503020204020204" pitchFamily="34" charset="-122"/>
                <a:ea typeface="微软雅黑" panose="020B0503020204020204" pitchFamily="34" charset="-122"/>
              </a:rPr>
              <a:t>删除触发器</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当创建的触发器不再符合当前的需求时，可以将触发器删除。删除触发器的操作很简单，只需使用MySQL提供的DROP TRIGGER语句即可，</a:t>
            </a:r>
            <a:r>
              <a:rPr sz="2000" dirty="0" smtClean="0">
                <a:solidFill>
                  <a:srgbClr val="1369B2"/>
                </a:solidFill>
                <a:latin typeface="微软雅黑" panose="020B0503020204020204" pitchFamily="34" charset="-122"/>
                <a:ea typeface="微软雅黑" panose="020B0503020204020204" pitchFamily="34" charset="-122"/>
              </a:rPr>
              <a:t>DROP TRIGGER</a:t>
            </a:r>
            <a:r>
              <a:rPr sz="2000" dirty="0" smtClean="0">
                <a:solidFill>
                  <a:srgbClr val="595959"/>
                </a:solidFill>
                <a:latin typeface="微软雅黑" panose="020B0503020204020204" pitchFamily="34" charset="-122"/>
                <a:ea typeface="微软雅黑" panose="020B0503020204020204" pitchFamily="34" charset="-122"/>
              </a:rPr>
              <a:t>语句的基本语法格式如下所示。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7190" y="1149350"/>
            <a:ext cx="9375140" cy="438277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90725" y="3576320"/>
            <a:ext cx="8828405"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再次</a:t>
            </a:r>
            <a:r>
              <a:rPr sz="2000" dirty="0" smtClean="0">
                <a:solidFill>
                  <a:srgbClr val="1369B2"/>
                </a:solidFill>
                <a:latin typeface="微软雅黑" panose="020B0503020204020204" pitchFamily="34" charset="-122"/>
                <a:ea typeface="微软雅黑" panose="020B0503020204020204" pitchFamily="34" charset="-122"/>
              </a:rPr>
              <a:t>查询触发器trig_emp</a:t>
            </a:r>
            <a:r>
              <a:rPr sz="2000" dirty="0" smtClean="0">
                <a:solidFill>
                  <a:srgbClr val="595959"/>
                </a:solidFill>
                <a:latin typeface="微软雅黑" panose="020B0503020204020204" pitchFamily="34" charset="-122"/>
                <a:ea typeface="微软雅黑" panose="020B0503020204020204" pitchFamily="34" charset="-122"/>
              </a:rPr>
              <a:t>的信息，</a:t>
            </a:r>
            <a:r>
              <a:rPr sz="2000" dirty="0" smtClean="0">
                <a:solidFill>
                  <a:srgbClr val="595959"/>
                </a:solidFill>
                <a:latin typeface="微软雅黑" panose="020B0503020204020204" pitchFamily="34" charset="-122"/>
                <a:ea typeface="微软雅黑" panose="020B0503020204020204" pitchFamily="34" charset="-122"/>
                <a:sym typeface="+mn-ea"/>
              </a:rPr>
              <a:t>具体SQL语句</a:t>
            </a:r>
            <a:r>
              <a:rPr lang="zh-CN" sz="2000" dirty="0" smtClean="0">
                <a:solidFill>
                  <a:srgbClr val="595959"/>
                </a:solidFill>
                <a:latin typeface="微软雅黑" panose="020B0503020204020204" pitchFamily="34" charset="-122"/>
                <a:ea typeface="微软雅黑" panose="020B0503020204020204" pitchFamily="34" charset="-122"/>
                <a:sym typeface="+mn-ea"/>
              </a:rPr>
              <a:t>及查询</a:t>
            </a:r>
            <a:r>
              <a:rPr sz="2000" dirty="0" smtClean="0">
                <a:solidFill>
                  <a:srgbClr val="595959"/>
                </a:solidFill>
                <a:latin typeface="微软雅黑" panose="020B0503020204020204" pitchFamily="34" charset="-122"/>
                <a:ea typeface="微软雅黑" panose="020B0503020204020204" pitchFamily="34" charset="-122"/>
              </a:rPr>
              <a:t>结果如下所示。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076450" y="2447925"/>
            <a:ext cx="8515985" cy="6813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DROP TRIGGER IF EXISTS ems.trig_emp;</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990725" y="1257300"/>
            <a:ext cx="8828405"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例如，</a:t>
            </a:r>
            <a:r>
              <a:rPr sz="2000" dirty="0" smtClean="0">
                <a:solidFill>
                  <a:srgbClr val="1369B2"/>
                </a:solidFill>
                <a:latin typeface="微软雅黑" panose="020B0503020204020204" pitchFamily="34" charset="-122"/>
                <a:ea typeface="微软雅黑" panose="020B0503020204020204" pitchFamily="34" charset="-122"/>
              </a:rPr>
              <a:t>删除</a:t>
            </a:r>
            <a:r>
              <a:rPr lang="zh-CN" sz="2000" dirty="0" smtClean="0">
                <a:solidFill>
                  <a:srgbClr val="1369B2"/>
                </a:solidFill>
                <a:latin typeface="微软雅黑" panose="020B0503020204020204" pitchFamily="34" charset="-122"/>
                <a:ea typeface="微软雅黑" panose="020B0503020204020204" pitchFamily="34" charset="-122"/>
              </a:rPr>
              <a:t>数据库</a:t>
            </a:r>
            <a:r>
              <a:rPr sz="2000" dirty="0" smtClean="0">
                <a:solidFill>
                  <a:srgbClr val="1369B2"/>
                </a:solidFill>
                <a:latin typeface="微软雅黑" panose="020B0503020204020204" pitchFamily="34" charset="-122"/>
                <a:ea typeface="微软雅黑" panose="020B0503020204020204" pitchFamily="34" charset="-122"/>
              </a:rPr>
              <a:t>ems中的触发器trig_emp</a:t>
            </a:r>
            <a:r>
              <a:rPr sz="2000" dirty="0" smtClean="0">
                <a:solidFill>
                  <a:srgbClr val="595959"/>
                </a:solidFill>
                <a:latin typeface="微软雅黑" panose="020B0503020204020204" pitchFamily="34" charset="-122"/>
                <a:ea typeface="微软雅黑" panose="020B0503020204020204" pitchFamily="34" charset="-122"/>
              </a:rPr>
              <a:t>，具体SQL语句如下所示。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触发器的基本操作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887855" y="4368165"/>
            <a:ext cx="9034780" cy="676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mysql&gt; SELECT * FROM information_schema.triggers WHERE trigger_name= 'trig_emp' \G</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Empty set (0.00 sec)</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759700"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上机实践：</a:t>
            </a:r>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数据库编程</a:t>
            </a:r>
            <a:r>
              <a:rPr lang="zh-CN" altLang="en-GB" sz="4800" b="1" dirty="0">
                <a:solidFill>
                  <a:srgbClr val="595959"/>
                </a:solidFill>
                <a:latin typeface="微软雅黑" panose="020B0503020204020204" pitchFamily="34" charset="-122"/>
                <a:ea typeface="微软雅黑" panose="020B0503020204020204" pitchFamily="34" charset="-122"/>
                <a:cs typeface="+mn-ea"/>
                <a:sym typeface="+mn-lt"/>
              </a:rPr>
              <a:t>实战</a:t>
            </a:r>
            <a:endParaRPr lang="zh-CN" altLang="en-GB"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8.8</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564005" y="887730"/>
            <a:ext cx="9357360" cy="82994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创建一个存储过程proc_1，用于获取图书的名称、价格和借阅状态，如果是已借阅的状态，则显示借阅人。</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创建完存储过程proc_1后，执行该存储过程查看效果</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流程图: 过程 7"/>
          <p:cNvSpPr/>
          <p:nvPr/>
        </p:nvSpPr>
        <p:spPr>
          <a:xfrm>
            <a:off x="1608455" y="1833880"/>
            <a:ext cx="9005570" cy="480123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13" name="文本框 12"/>
          <p:cNvSpPr txBox="1"/>
          <p:nvPr/>
        </p:nvSpPr>
        <p:spPr>
          <a:xfrm>
            <a:off x="1685925" y="1779905"/>
            <a:ext cx="8522970" cy="1938020"/>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1</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创建名称为proc_1的存储过程，创建后执行存储过程</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proc_1。</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存储过程的过程体如下：</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查询图书表book的name、price、borrower_id字段信息，如果borrower_id为NULL，则显示borrower_id的值为</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未借阅</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如果不为</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NULL</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，则显示</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borrower_id对应的用户名称；</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717675" y="3756660"/>
            <a:ext cx="8515985" cy="28054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创建存储过程proc_1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PROCEDURE proc_1()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BEGIN</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SELECT b.name,b.price,IF(borrower_id IS NULL,'未借阅',u.name) 借阅人</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FROM book b LEFT JOIN user u ON b.borrower_id=u.id;</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调用存储过程proc_1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mysql&gt;  CALL proc_1();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635760" y="1246505"/>
            <a:ext cx="9357360" cy="82994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创建一个存储过程proc_2，用于获取所有可借阅的图书信息，图书信息只需显示图书名称、图书价格和上架时间。</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创建完存储过程proc_2后，执行该存储过程查看效果</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流程图: 过程 1"/>
          <p:cNvSpPr/>
          <p:nvPr/>
        </p:nvSpPr>
        <p:spPr>
          <a:xfrm>
            <a:off x="1608455" y="2264410"/>
            <a:ext cx="9005570" cy="431800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3" name="文本框 2"/>
          <p:cNvSpPr txBox="1"/>
          <p:nvPr/>
        </p:nvSpPr>
        <p:spPr>
          <a:xfrm>
            <a:off x="1685925" y="2210435"/>
            <a:ext cx="8522970" cy="1568450"/>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2</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创建名称为proc_</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的存储过程，创建后执行存储过程proc_</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存储过程的过程体如下：</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查询图书表book图书信息中</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state</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值为</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的name、price、</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upload_time</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字段信息。</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1779270" y="3914140"/>
            <a:ext cx="8515985" cy="2287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创建存储过程proc_2</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PROCEDURE proc_2()</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BEGIN</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SELECT name,price,upload_time   FROM book WHERE state=0;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调用存储过程proc_2</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CALL proc_2();</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635760" y="1031240"/>
            <a:ext cx="9357360" cy="82994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创建一个存储函数func_1，可以根据输入的用户名称，显示用户当前借阅中的图书名称。</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创建完存储函数func_1后，执行该存储函数查看效果</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流程图: 过程 1"/>
          <p:cNvSpPr/>
          <p:nvPr/>
        </p:nvSpPr>
        <p:spPr>
          <a:xfrm>
            <a:off x="1358900" y="2045970"/>
            <a:ext cx="9545320" cy="46081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3" name="文本框 2"/>
          <p:cNvSpPr txBox="1"/>
          <p:nvPr/>
        </p:nvSpPr>
        <p:spPr>
          <a:xfrm>
            <a:off x="1685925" y="2066925"/>
            <a:ext cx="8522970" cy="1938020"/>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3</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创建名称为</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func_1</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存储函数</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，创建后执行存储</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函数</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func_1</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存储函数的过程体如下：</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根据输入的用户名称，查询图书表book图书信息中</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name</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字段的信息，其中查询出的信息中</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字段和用户名称对应的</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一致，并</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将查询的结果返回</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1624965" y="4076700"/>
            <a:ext cx="9003665" cy="25685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创建存储函数func_1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FUNCTION func_1(uname varchar(20))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RETURNS  varchar(20)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BEGIN</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RETURN (SELECT b.name FROM user u,book b WHERE u.id=b.borrower_id AND u.name=uname);</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调用存储函数func_1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SELECT func_1('张三');</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630680" y="1560830"/>
            <a:ext cx="9357360" cy="1445260"/>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存储函数func_2，执行时输入图书名称，显示图书当前的价格档位；如果价格小于等于40元，显示“平民价格”；如果价格大于40元并且小于等于60元，则显示“主流价格”；如果价格大于60元，则显示“高价格”。</a:t>
            </a:r>
            <a:r>
              <a:rPr 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创建完存储函数func_2后，执行该存储函数查看效果</a:t>
            </a:r>
            <a:r>
              <a:rPr 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267970"/>
            <a:endParaRPr lang="zh-CN" altLang="en-US" sz="16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流程图: 过程 1"/>
          <p:cNvSpPr/>
          <p:nvPr/>
        </p:nvSpPr>
        <p:spPr>
          <a:xfrm>
            <a:off x="1322705" y="1062355"/>
            <a:ext cx="9545320" cy="560959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3" name="文本框 2"/>
          <p:cNvSpPr txBox="1"/>
          <p:nvPr/>
        </p:nvSpPr>
        <p:spPr>
          <a:xfrm>
            <a:off x="1685925" y="1062355"/>
            <a:ext cx="8522970" cy="1076325"/>
          </a:xfrm>
          <a:prstGeom prst="rect">
            <a:avLst/>
          </a:prstGeom>
          <a:noFill/>
          <a:ln w="9525">
            <a:noFill/>
          </a:ln>
        </p:spPr>
        <p:txBody>
          <a:bodyPr wrap="square">
            <a:spAutoFit/>
          </a:bodyPr>
          <a:p>
            <a:pPr algn="l" fontAlgn="auto">
              <a:lnSpc>
                <a:spcPct val="10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4</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创建名称为func_</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的存储函数，创建后执行存储函数func_</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0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存储函数的过程体中，根据输入的图书名称查询图书价格，根据查询出的图书价格得出价格的档位，设置一个变量存储该价格档位。</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0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2004695" y="2099945"/>
            <a:ext cx="9003665" cy="44932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FUNCTION func_2(bname varchar(20))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RETURNS  varchar(20)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BEGIN</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DECLARE blevel VARCHAR(10);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DECLARE bprice decimal(6, 2);</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SELECT price INTO bprice FROM book WHERE name=bname;</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IF bprice&gt;60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THEN SET blevel='高价格';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ELSEIF bprice&lt;=60 AND bprice&gt;40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THEN SET blevel='主流价格';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ELSEIF empsal&lt;=40</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THEN SET blevel='平民价格';</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IF;</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RETURN blevel;</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END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DELIMITER ;</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SELECT func_2('西游记');</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630680" y="986790"/>
            <a:ext cx="9357360" cy="46037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查看当前数据库中存储过程proc_1和存储函数func_1的信息</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630680" y="3928745"/>
            <a:ext cx="9357360" cy="46037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删除</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存储过程proc_1和存储函数func_1</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流程图: 过程 4"/>
          <p:cNvSpPr/>
          <p:nvPr/>
        </p:nvSpPr>
        <p:spPr>
          <a:xfrm>
            <a:off x="1630680" y="1492885"/>
            <a:ext cx="9005570" cy="224472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6" name="文本框 5"/>
          <p:cNvSpPr txBox="1"/>
          <p:nvPr/>
        </p:nvSpPr>
        <p:spPr>
          <a:xfrm>
            <a:off x="1685925" y="1492885"/>
            <a:ext cx="8522970" cy="829945"/>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5</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使用</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SHOW语句查看当前数据库中存储过程proc_1和存储函数func_1的信息，</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1790700" y="2412365"/>
            <a:ext cx="8346440" cy="1173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查看存储过程proc_1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SHOW PROCEDURE STATUS LIKE 'proc_1'\G</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查看存储函数func_1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SHOW FUNCTION STATUS LIKE 'func_1' \G</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 name="流程图: 过程 7"/>
          <p:cNvSpPr/>
          <p:nvPr/>
        </p:nvSpPr>
        <p:spPr>
          <a:xfrm>
            <a:off x="1614170" y="4490085"/>
            <a:ext cx="9005570" cy="211391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9" name="文本框 8"/>
          <p:cNvSpPr txBox="1"/>
          <p:nvPr/>
        </p:nvSpPr>
        <p:spPr>
          <a:xfrm>
            <a:off x="1669415" y="4490085"/>
            <a:ext cx="8522970" cy="829945"/>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6</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使用</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DROP PROCEDURE </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语句和</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DROP FUNCTION语句分别删除存储过程proc_1和存储函数func_1</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1792605" y="5404485"/>
            <a:ext cx="8344535" cy="1102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删除存储过程proc_1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DROP PROCEDURE IF EXISTS proc_1;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删除存储函数func_1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DROP FUNCTION IF EXISTS func_1;</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630680" y="4215765"/>
            <a:ext cx="9357360" cy="46037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创建好触发器trig_book后，</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对该触发器的信息进行查看</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614170" y="970280"/>
            <a:ext cx="9357360" cy="82994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创建一个触发器trig_book，在借阅记录表中插入数据时，</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自动修改</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图书表中借阅相关的信息。</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流程图: 过程 1"/>
          <p:cNvSpPr/>
          <p:nvPr/>
        </p:nvSpPr>
        <p:spPr>
          <a:xfrm>
            <a:off x="1499870" y="1851660"/>
            <a:ext cx="9386570" cy="224472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3" name="文本框 2"/>
          <p:cNvSpPr txBox="1"/>
          <p:nvPr/>
        </p:nvSpPr>
        <p:spPr>
          <a:xfrm>
            <a:off x="1685925" y="1851660"/>
            <a:ext cx="8522970" cy="1198880"/>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7</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创建一个名称为trig_book的触发器</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，在借阅记录表</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record中</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插入数据后触发执行触发程序，触发程序中根据借阅记录的图书编号，分别设置图书表中</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borrower_id 、borrow_time、state字段的值</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NULL、NULL、0，</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1678940" y="3103880"/>
            <a:ext cx="9003665" cy="961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TRIGGER trig_book</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AFTER INSERT ON record FOR EACH ROW</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 UPDATE book SET borrower_id =NULL,borrow_time=NULL,state=0 WHERE book.id=NEW.book_id;</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 name="流程图: 过程 7"/>
          <p:cNvSpPr/>
          <p:nvPr/>
        </p:nvSpPr>
        <p:spPr>
          <a:xfrm>
            <a:off x="1483360" y="4705350"/>
            <a:ext cx="9386570" cy="18141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9" name="文本框 8"/>
          <p:cNvSpPr txBox="1"/>
          <p:nvPr/>
        </p:nvSpPr>
        <p:spPr>
          <a:xfrm>
            <a:off x="1669415" y="4705350"/>
            <a:ext cx="8522970" cy="829945"/>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8</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在数据库information_schema的TRIGGERS表中查询</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trigger_name值为trig_book</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的记录，具体的SQL语句如下所示。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1722120" y="5676900"/>
            <a:ext cx="9003665" cy="6140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SELECT * FROM information_schema.triggers WHERE trigger_name= 'trig_book' \G</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内容占位符 1"/>
          <p:cNvSpPr>
            <a:spLocks noGrp="1"/>
          </p:cNvSpPr>
          <p:nvPr>
            <p:ph idx="1"/>
          </p:nvPr>
        </p:nvSpPr>
        <p:spPr>
          <a:xfrm>
            <a:off x="1925955" y="1125220"/>
            <a:ext cx="8229600" cy="5059363"/>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200000"/>
              </a:lnSpc>
              <a:spcBef>
                <a:spcPts val="1000"/>
              </a:spcBef>
              <a:spcAft>
                <a:spcPts val="0"/>
              </a:spcAft>
              <a:buClrTx/>
              <a:buSzTx/>
              <a:buFontTx/>
              <a:buNone/>
              <a:defRPr/>
            </a:pPr>
            <a:endParaRPr kumimoji="0" lang="zh-CN" altLang="zh-CN" sz="28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Tx/>
              <a:buNone/>
              <a:defRPr/>
            </a:pP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本章主要对</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数据库编程</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进行了详细讲解。首先对</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存储过程</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以及</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存储函数</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进行了讲解，其次讲解了变量和流程控制，然后讲解了错误和游标，接着讲解了</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触发器</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，最后通过上机实践，提升读者对数据库编程的理解。通过本章的学习，希望读者能够掌握触发器的基本使用，为后续的学习打下坚实的基础。</a:t>
            </a:r>
            <a:endPar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圆角矩形 26"/>
          <p:cNvSpPr/>
          <p:nvPr/>
        </p:nvSpPr>
        <p:spPr>
          <a:xfrm>
            <a:off x="1143635" y="1485265"/>
            <a:ext cx="9794240" cy="462343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2" grpId="1"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TABLE_BEAUTIFY" val="smartTable{adaa1fd5-5006-4d30-82af-cb7c9d80ac47}"/>
</p:tagLst>
</file>

<file path=ppt/tags/tag2.xml><?xml version="1.0" encoding="utf-8"?>
<p:tagLst xmlns:p="http://schemas.openxmlformats.org/presentationml/2006/main">
  <p:tag name="KSO_WM_SLIDE_MODEL_TYPE" val="dynamicNum"/>
</p:tagLst>
</file>

<file path=ppt/tags/tag3.xml><?xml version="1.0" encoding="utf-8"?>
<p:tagLst xmlns:p="http://schemas.openxmlformats.org/presentationml/2006/main">
  <p:tag name="PA" val="v5.2.7"/>
  <p:tag name="RESOURCELIBID_ANIM" val="450"/>
</p:tagLst>
</file>

<file path=ppt/tags/tag4.xml><?xml version="1.0" encoding="utf-8"?>
<p:tagLst xmlns:p="http://schemas.openxmlformats.org/presentationml/2006/main">
  <p:tag name="PA" val="v5.2.7"/>
  <p:tag name="RESOURCELIBID_ANIM" val="450"/>
</p:tagLst>
</file>

<file path=ppt/tags/tag5.xml><?xml version="1.0" encoding="utf-8"?>
<p:tagLst xmlns:p="http://schemas.openxmlformats.org/presentationml/2006/main">
  <p:tag name="ISPRING_RESOURCE_PATHS_HASH_PRESENTER" val="3f15e6573a385e41c33bb97e7105a62faa5c48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33935</Words>
  <Application>WPS 演示</Application>
  <PresentationFormat>自定义</PresentationFormat>
  <Paragraphs>1450</Paragraphs>
  <Slides>130</Slides>
  <Notes>16</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130</vt:i4>
      </vt:variant>
    </vt:vector>
  </HeadingPairs>
  <TitlesOfParts>
    <vt:vector size="150" baseType="lpstr">
      <vt:lpstr>Arial</vt:lpstr>
      <vt:lpstr>宋体</vt:lpstr>
      <vt:lpstr>Wingdings</vt:lpstr>
      <vt:lpstr>微软雅黑</vt:lpstr>
      <vt:lpstr>思源黑体 CN Medium</vt:lpstr>
      <vt:lpstr>黑体</vt:lpstr>
      <vt:lpstr>字魂58号-创中黑</vt:lpstr>
      <vt:lpstr>Source Han Sans K Bold</vt:lpstr>
      <vt:lpstr>Calibri</vt:lpstr>
      <vt:lpstr>MS UI Gothic</vt:lpstr>
      <vt:lpstr>U.S. 101</vt:lpstr>
      <vt:lpstr>Roboto</vt:lpstr>
      <vt:lpstr>Open Sans Light</vt:lpstr>
      <vt:lpstr>Courier New</vt:lpstr>
      <vt:lpstr>字魂105号-简雅黑</vt:lpstr>
      <vt:lpstr>Arial Unicode MS</vt:lpstr>
      <vt:lpstr>Segoe Print</vt:lpstr>
      <vt:lpstr>Open Sans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tk</cp:lastModifiedBy>
  <cp:revision>127</cp:revision>
  <dcterms:created xsi:type="dcterms:W3CDTF">2020-11-11T09:29:00Z</dcterms:created>
  <dcterms:modified xsi:type="dcterms:W3CDTF">2022-06-17T08:18:36Z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y fmtid="{D5CDD505-2E9C-101B-9397-08002B2CF9AE}" pid="3" name="ICV">
    <vt:lpwstr>8A5B42C3FF3D45DBA27DAFB89F05A874</vt:lpwstr>
  </property>
</Properties>
</file>