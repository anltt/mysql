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"/>
  </p:notesMasterIdLst>
  <p:handoutMasterIdLst>
    <p:handoutMasterId r:id="rId77"/>
  </p:handoutMasterIdLst>
  <p:sldIdLst>
    <p:sldId id="325" r:id="rId4"/>
    <p:sldId id="264" r:id="rId6"/>
    <p:sldId id="350" r:id="rId7"/>
    <p:sldId id="328" r:id="rId8"/>
    <p:sldId id="327" r:id="rId9"/>
    <p:sldId id="309" r:id="rId10"/>
    <p:sldId id="485" r:id="rId11"/>
    <p:sldId id="604" r:id="rId12"/>
    <p:sldId id="354" r:id="rId13"/>
    <p:sldId id="355" r:id="rId14"/>
    <p:sldId id="486" r:id="rId15"/>
    <p:sldId id="356" r:id="rId16"/>
    <p:sldId id="357" r:id="rId17"/>
    <p:sldId id="358" r:id="rId18"/>
    <p:sldId id="363" r:id="rId19"/>
    <p:sldId id="365" r:id="rId20"/>
    <p:sldId id="366" r:id="rId21"/>
    <p:sldId id="368" r:id="rId22"/>
    <p:sldId id="370" r:id="rId23"/>
    <p:sldId id="371" r:id="rId24"/>
    <p:sldId id="372" r:id="rId25"/>
    <p:sldId id="373" r:id="rId26"/>
    <p:sldId id="374" r:id="rId27"/>
    <p:sldId id="376" r:id="rId28"/>
    <p:sldId id="377" r:id="rId29"/>
    <p:sldId id="379" r:id="rId30"/>
    <p:sldId id="380" r:id="rId31"/>
    <p:sldId id="382" r:id="rId32"/>
    <p:sldId id="381" r:id="rId33"/>
    <p:sldId id="384" r:id="rId34"/>
    <p:sldId id="385" r:id="rId35"/>
    <p:sldId id="386" r:id="rId36"/>
    <p:sldId id="388" r:id="rId37"/>
    <p:sldId id="390" r:id="rId38"/>
    <p:sldId id="557" r:id="rId39"/>
    <p:sldId id="678" r:id="rId40"/>
    <p:sldId id="679" r:id="rId41"/>
    <p:sldId id="391" r:id="rId42"/>
    <p:sldId id="558" r:id="rId43"/>
    <p:sldId id="559" r:id="rId44"/>
    <p:sldId id="681" r:id="rId45"/>
    <p:sldId id="487" r:id="rId46"/>
    <p:sldId id="394" r:id="rId47"/>
    <p:sldId id="682" r:id="rId48"/>
    <p:sldId id="340" r:id="rId49"/>
    <p:sldId id="395" r:id="rId50"/>
    <p:sldId id="488" r:id="rId51"/>
    <p:sldId id="397" r:id="rId52"/>
    <p:sldId id="398" r:id="rId53"/>
    <p:sldId id="399" r:id="rId54"/>
    <p:sldId id="400" r:id="rId55"/>
    <p:sldId id="562" r:id="rId56"/>
    <p:sldId id="401" r:id="rId57"/>
    <p:sldId id="402" r:id="rId58"/>
    <p:sldId id="403" r:id="rId59"/>
    <p:sldId id="404" r:id="rId60"/>
    <p:sldId id="405" r:id="rId61"/>
    <p:sldId id="406" r:id="rId62"/>
    <p:sldId id="407" r:id="rId63"/>
    <p:sldId id="408" r:id="rId64"/>
    <p:sldId id="409" r:id="rId65"/>
    <p:sldId id="489" r:id="rId66"/>
    <p:sldId id="410" r:id="rId67"/>
    <p:sldId id="411" r:id="rId68"/>
    <p:sldId id="412" r:id="rId69"/>
    <p:sldId id="413" r:id="rId70"/>
    <p:sldId id="341" r:id="rId71"/>
    <p:sldId id="714" r:id="rId72"/>
    <p:sldId id="570" r:id="rId73"/>
    <p:sldId id="684" r:id="rId74"/>
    <p:sldId id="416" r:id="rId75"/>
    <p:sldId id="326" r:id="rId76"/>
  </p:sldIdLst>
  <p:sldSz cx="12190095" cy="6859270"/>
  <p:notesSz cx="6858000" cy="9144000"/>
  <p:custDataLst>
    <p:tags r:id="rId82"/>
  </p:custDataLst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n" initials="s" lastIdx="7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69B2"/>
    <a:srgbClr val="595959"/>
    <a:srgbClr val="FF0000"/>
    <a:srgbClr val="FAFAFA"/>
    <a:srgbClr val="F2F2F2"/>
    <a:srgbClr val="006BBC"/>
    <a:srgbClr val="0075CC"/>
    <a:srgbClr val="008DF6"/>
    <a:srgbClr val="005DA2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471" autoAdjust="0"/>
    <p:restoredTop sz="94660" autoAdjust="0"/>
  </p:normalViewPr>
  <p:slideViewPr>
    <p:cSldViewPr>
      <p:cViewPr varScale="1">
        <p:scale>
          <a:sx n="64" d="100"/>
          <a:sy n="64" d="100"/>
        </p:scale>
        <p:origin x="90" y="294"/>
      </p:cViewPr>
      <p:guideLst>
        <p:guide orient="horz" pos="2043"/>
        <p:guide pos="256"/>
        <p:guide pos="64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-3810" y="-90"/>
      </p:cViewPr>
      <p:guideLst>
        <p:guide orient="horz" pos="2724"/>
        <p:guide pos="212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2" Type="http://schemas.openxmlformats.org/officeDocument/2006/relationships/tags" Target="tags/tag29.xml"/><Relationship Id="rId81" Type="http://schemas.openxmlformats.org/officeDocument/2006/relationships/commentAuthors" Target="commentAuthors.xml"/><Relationship Id="rId80" Type="http://schemas.openxmlformats.org/officeDocument/2006/relationships/tableStyles" Target="tableStyles.xml"/><Relationship Id="rId8" Type="http://schemas.openxmlformats.org/officeDocument/2006/relationships/slide" Target="slides/slide4.xml"/><Relationship Id="rId79" Type="http://schemas.openxmlformats.org/officeDocument/2006/relationships/viewProps" Target="viewProps.xml"/><Relationship Id="rId78" Type="http://schemas.openxmlformats.org/officeDocument/2006/relationships/presProps" Target="presProps.xml"/><Relationship Id="rId77" Type="http://schemas.openxmlformats.org/officeDocument/2006/relationships/handoutMaster" Target="handoutMasters/handoutMaster1.xml"/><Relationship Id="rId76" Type="http://schemas.openxmlformats.org/officeDocument/2006/relationships/slide" Target="slides/slide72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7" Type="http://schemas.openxmlformats.org/officeDocument/2006/relationships/slide" Target="slides/slide3.xml"/><Relationship Id="rId69" Type="http://schemas.openxmlformats.org/officeDocument/2006/relationships/slide" Target="slides/slide65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2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777" y="2309308"/>
            <a:ext cx="10850541" cy="899333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820" y="3566185"/>
            <a:ext cx="10850454" cy="80151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9974" y="727845"/>
            <a:ext cx="3931306" cy="1115266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7617" y="727845"/>
            <a:ext cx="6171235" cy="5404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39974" y="2240060"/>
            <a:ext cx="3931306" cy="3892636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765" indent="0">
              <a:buNone/>
              <a:defRPr sz="1000"/>
            </a:lvl8pPr>
            <a:lvl9pPr marL="3656965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单击此处编辑正文</a:t>
            </a:r>
            <a:endParaRPr lang="zh-CN" altLang="en-US" smtClean="0"/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  <a:endParaRPr lang="zh-CN" altLang="en-US" smtClean="0"/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  <a:endParaRPr lang="zh-CN" altLang="en-US" smtClean="0"/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  <a:endParaRPr lang="zh-CN" altLang="en-US" smtClean="0">
              <a:sym typeface="+mn-ea"/>
            </a:endParaRPr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820" y="5606183"/>
            <a:ext cx="10850454" cy="558268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820" y="641469"/>
            <a:ext cx="10850454" cy="4556969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4539" cy="686943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22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6787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623706"/>
            <a:ext cx="10850541" cy="899333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0" y="2202951"/>
            <a:ext cx="12190413" cy="2420263"/>
            <a:chOff x="170694" y="177982"/>
            <a:chExt cx="3936004" cy="781165"/>
          </a:xfrm>
        </p:grpSpPr>
        <p:sp>
          <p:nvSpPr>
            <p:cNvPr id="44" name="等腰三角形 43"/>
            <p:cNvSpPr/>
            <p:nvPr/>
          </p:nvSpPr>
          <p:spPr>
            <a:xfrm>
              <a:off x="1233863" y="17798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200258" y="602633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7919172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6191205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7055189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4463238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5327222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15" y="390618"/>
            <a:ext cx="520428" cy="274702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" name="TextBox 4"/>
          <p:cNvSpPr txBox="1"/>
          <p:nvPr userDrawn="1"/>
        </p:nvSpPr>
        <p:spPr>
          <a:xfrm>
            <a:off x="305731" y="6526138"/>
            <a:ext cx="29091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yx.ityxb.com</a:t>
            </a:r>
            <a:endParaRPr lang="zh-CN" altLang="en-US" sz="1200" b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6794447"/>
            <a:ext cx="10631710" cy="8463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10703717" y="6794446"/>
            <a:ext cx="1486695" cy="846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3518" y="294845"/>
            <a:ext cx="2595061" cy="4050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2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693670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98623" y="3693670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8890" y="5045086"/>
            <a:ext cx="3952633" cy="6169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7120" y="654595"/>
            <a:ext cx="575989" cy="577246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9153" y="655120"/>
            <a:ext cx="575989" cy="576197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3137" y="654595"/>
            <a:ext cx="577036" cy="577246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187" y="654595"/>
            <a:ext cx="577036" cy="577246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5170" y="654595"/>
            <a:ext cx="577036" cy="577246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998" y="3789834"/>
            <a:ext cx="3952633" cy="616956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40" name="等腰三角形 39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766394" y="-28491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flipH="1" flipV="1">
            <a:off x="1414174" y="635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6086073" y="4299128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43734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0011958" y="343734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寄语(1)"/>
          <p:cNvPicPr>
            <a:picLocks noChangeAspect="1"/>
          </p:cNvPicPr>
          <p:nvPr userDrawn="1"/>
        </p:nvPicPr>
        <p:blipFill>
          <a:blip r:embed="rId3"/>
          <a:srcRect l="114" t="60287" r="-114" b="572"/>
          <a:stretch>
            <a:fillRect/>
          </a:stretch>
        </p:blipFill>
        <p:spPr>
          <a:xfrm>
            <a:off x="2480310" y="2508250"/>
            <a:ext cx="7532370" cy="16579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605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5357" y="6351009"/>
            <a:ext cx="3959381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254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0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8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9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0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8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 18"/>
          <p:cNvSpPr txBox="1"/>
          <p:nvPr/>
        </p:nvSpPr>
        <p:spPr>
          <a:xfrm>
            <a:off x="2350790" y="2534497"/>
            <a:ext cx="7706107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第</a:t>
            </a:r>
            <a:r>
              <a:rPr lang="en-US" altLang="zh-CN" sz="6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6</a:t>
            </a:r>
            <a:r>
              <a:rPr lang="zh-CN" altLang="en-US" sz="6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章  索引和视图</a:t>
            </a:r>
            <a:endParaRPr lang="zh-CN" altLang="en-US" sz="6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2" name="Rectangle 4"/>
          <p:cNvSpPr txBox="1">
            <a:spLocks noChangeArrowheads="1"/>
          </p:cNvSpPr>
          <p:nvPr/>
        </p:nvSpPr>
        <p:spPr>
          <a:xfrm>
            <a:off x="5361305" y="3861435"/>
            <a:ext cx="4695825" cy="430530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《MySQL数据库入门（第2版）》</a:t>
            </a:r>
            <a:endParaRPr lang="zh-CN" altLang="en-US" sz="2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226185" y="2205355"/>
            <a:ext cx="9978390" cy="3295015"/>
            <a:chOff x="4042" y="3473"/>
            <a:chExt cx="11486" cy="5189"/>
          </a:xfrm>
        </p:grpSpPr>
        <p:grpSp>
          <p:nvGrpSpPr>
            <p:cNvPr id="80" name="组合 79"/>
            <p:cNvGrpSpPr/>
            <p:nvPr/>
          </p:nvGrpSpPr>
          <p:grpSpPr>
            <a:xfrm>
              <a:off x="4042" y="3473"/>
              <a:ext cx="11486" cy="1084"/>
              <a:chOff x="978872" y="1800500"/>
              <a:chExt cx="5471124" cy="515937"/>
            </a:xfrm>
          </p:grpSpPr>
          <p:sp>
            <p:nvSpPr>
              <p:cNvPr id="81" name="Pentagon 3"/>
              <p:cNvSpPr/>
              <p:nvPr/>
            </p:nvSpPr>
            <p:spPr bwMode="auto">
              <a:xfrm>
                <a:off x="978872" y="1800500"/>
                <a:ext cx="5471124" cy="515937"/>
              </a:xfrm>
              <a:prstGeom prst="homePlat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defRPr/>
                </a:pPr>
                <a:r>
                  <a:rPr lang="zh-CN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    </a:t>
                </a:r>
                <a:r>
                  <a:rPr lang="zh-CN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了解索引的概念，能够说出</a:t>
                </a:r>
                <a:r>
                  <a:rPr lang="zh-CN" altLang="en-US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索引</a:t>
                </a:r>
                <a:r>
                  <a:rPr lang="zh-CN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的</a:t>
                </a:r>
                <a:r>
                  <a:rPr lang="zh-CN" altLang="en-US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作用</a:t>
                </a:r>
                <a:endPara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endParaRPr>
              </a:p>
            </p:txBody>
          </p:sp>
          <p:sp>
            <p:nvSpPr>
              <p:cNvPr id="82" name="MH_Others_1"/>
              <p:cNvSpPr/>
              <p:nvPr/>
            </p:nvSpPr>
            <p:spPr bwMode="auto">
              <a:xfrm>
                <a:off x="985222" y="1800500"/>
                <a:ext cx="82550" cy="515937"/>
              </a:xfrm>
              <a:custGeom>
                <a:avLst/>
                <a:gdLst>
                  <a:gd name="connsiteX0" fmla="*/ 0 w 3276600"/>
                  <a:gd name="connsiteY0" fmla="*/ 6311900 h 6311900"/>
                  <a:gd name="connsiteX1" fmla="*/ 0 w 3276600"/>
                  <a:gd name="connsiteY1" fmla="*/ 0 h 6311900"/>
                  <a:gd name="connsiteX2" fmla="*/ 3276600 w 3276600"/>
                  <a:gd name="connsiteY2" fmla="*/ 0 h 6311900"/>
                  <a:gd name="connsiteX0-1" fmla="*/ 0 w 0"/>
                  <a:gd name="connsiteY0-2" fmla="*/ 6311900 h 6311900"/>
                  <a:gd name="connsiteX1-3" fmla="*/ 0 w 0"/>
                  <a:gd name="connsiteY1-4" fmla="*/ 0 h 631190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</a:cxnLst>
                <a:rect l="l" t="t" r="r" b="b"/>
                <a:pathLst>
                  <a:path h="6311900">
                    <a:moveTo>
                      <a:pt x="0" y="63119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369B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zh-CN" altLang="en-US" sz="2500">
                  <a:solidFill>
                    <a:schemeClr val="bg1">
                      <a:lumMod val="50000"/>
                    </a:schemeClr>
                  </a:solidFill>
                  <a:latin typeface="Source Han Sans K Bold" panose="020B0800000000000000" pitchFamily="34" charset="-128"/>
                  <a:ea typeface="Source Han Sans K Bold" panose="020B0800000000000000" pitchFamily="34" charset="-128"/>
                  <a:sym typeface="Source Han Sans K Bold" panose="020B0800000000000000" pitchFamily="34" charset="-128"/>
                </a:endParaRPr>
              </a:p>
            </p:txBody>
          </p:sp>
        </p:grpSp>
        <p:grpSp>
          <p:nvGrpSpPr>
            <p:cNvPr id="83" name="组合 82"/>
            <p:cNvGrpSpPr/>
            <p:nvPr/>
          </p:nvGrpSpPr>
          <p:grpSpPr>
            <a:xfrm>
              <a:off x="4042" y="4844"/>
              <a:ext cx="11415" cy="1080"/>
              <a:chOff x="978872" y="2570437"/>
              <a:chExt cx="5437064" cy="514350"/>
            </a:xfrm>
          </p:grpSpPr>
          <p:sp>
            <p:nvSpPr>
              <p:cNvPr id="84" name="Pentagon 5"/>
              <p:cNvSpPr/>
              <p:nvPr/>
            </p:nvSpPr>
            <p:spPr bwMode="auto">
              <a:xfrm>
                <a:off x="978872" y="2570437"/>
                <a:ext cx="5437064" cy="514350"/>
              </a:xfrm>
              <a:prstGeom prst="homePlat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defRPr/>
                </a:pPr>
                <a:r>
                  <a:rPr lang="zh-CN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   </a:t>
                </a:r>
                <a:r>
                  <a:rPr lang="zh-CN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 掌握索引的创建，能够在</a:t>
                </a:r>
                <a:r>
                  <a:rPr lang="zh-CN" altLang="en-US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创建</a:t>
                </a:r>
                <a:r>
                  <a:rPr lang="zh-CN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和</a:t>
                </a:r>
                <a:r>
                  <a:rPr lang="zh-CN" altLang="en-US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修改</a:t>
                </a:r>
                <a:r>
                  <a:rPr lang="zh-CN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数据表的同时</a:t>
                </a:r>
                <a:r>
                  <a:rPr lang="zh-CN" altLang="en-US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创建索引</a:t>
                </a:r>
                <a:r>
                  <a:rPr lang="zh-CN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、在已有的数据表上创建索引</a:t>
                </a:r>
                <a:endPara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endParaRPr>
              </a:p>
            </p:txBody>
          </p:sp>
          <p:sp>
            <p:nvSpPr>
              <p:cNvPr id="85" name="MH_Others_1"/>
              <p:cNvSpPr/>
              <p:nvPr/>
            </p:nvSpPr>
            <p:spPr bwMode="auto">
              <a:xfrm>
                <a:off x="985222" y="2570437"/>
                <a:ext cx="82550" cy="514350"/>
              </a:xfrm>
              <a:custGeom>
                <a:avLst/>
                <a:gdLst>
                  <a:gd name="connsiteX0" fmla="*/ 0 w 3276600"/>
                  <a:gd name="connsiteY0" fmla="*/ 6311900 h 6311900"/>
                  <a:gd name="connsiteX1" fmla="*/ 0 w 3276600"/>
                  <a:gd name="connsiteY1" fmla="*/ 0 h 6311900"/>
                  <a:gd name="connsiteX2" fmla="*/ 3276600 w 3276600"/>
                  <a:gd name="connsiteY2" fmla="*/ 0 h 6311900"/>
                  <a:gd name="connsiteX0-1" fmla="*/ 0 w 0"/>
                  <a:gd name="connsiteY0-2" fmla="*/ 6311900 h 6311900"/>
                  <a:gd name="connsiteX1-3" fmla="*/ 0 w 0"/>
                  <a:gd name="connsiteY1-4" fmla="*/ 0 h 631190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</a:cxnLst>
                <a:rect l="l" t="t" r="r" b="b"/>
                <a:pathLst>
                  <a:path h="6311900">
                    <a:moveTo>
                      <a:pt x="0" y="63119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369B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zh-CN" altLang="en-US" sz="2500">
                  <a:solidFill>
                    <a:schemeClr val="bg1">
                      <a:lumMod val="50000"/>
                    </a:schemeClr>
                  </a:solidFill>
                  <a:latin typeface="Source Han Sans K Bold" panose="020B0800000000000000" pitchFamily="34" charset="-128"/>
                  <a:ea typeface="Source Han Sans K Bold" panose="020B0800000000000000" pitchFamily="34" charset="-128"/>
                  <a:sym typeface="Source Han Sans K Bold" panose="020B0800000000000000" pitchFamily="34" charset="-128"/>
                </a:endParaRPr>
              </a:p>
            </p:txBody>
          </p:sp>
        </p:grpSp>
        <p:grpSp>
          <p:nvGrpSpPr>
            <p:cNvPr id="86" name="组合 85"/>
            <p:cNvGrpSpPr/>
            <p:nvPr/>
          </p:nvGrpSpPr>
          <p:grpSpPr>
            <a:xfrm>
              <a:off x="4042" y="6211"/>
              <a:ext cx="11415" cy="1084"/>
              <a:chOff x="978872" y="3338787"/>
              <a:chExt cx="5437064" cy="515938"/>
            </a:xfrm>
          </p:grpSpPr>
          <p:sp>
            <p:nvSpPr>
              <p:cNvPr id="87" name="Pentagon 6"/>
              <p:cNvSpPr/>
              <p:nvPr/>
            </p:nvSpPr>
            <p:spPr bwMode="auto">
              <a:xfrm>
                <a:off x="978872" y="3338787"/>
                <a:ext cx="5437064" cy="515938"/>
              </a:xfrm>
              <a:prstGeom prst="homePlat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defRPr/>
                </a:pPr>
                <a:r>
                  <a:rPr lang="zh-CN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    </a:t>
                </a:r>
                <a:r>
                  <a:rPr lang="zh-CN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熟悉索引的查看，能够通过</a:t>
                </a:r>
                <a:r>
                  <a:rPr lang="zh-CN" altLang="en-US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SHOW语句</a:t>
                </a:r>
                <a:r>
                  <a:rPr lang="zh-CN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查看数据表中</a:t>
                </a:r>
                <a:r>
                  <a:rPr lang="zh-CN" altLang="en-US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索引的信息</a:t>
                </a:r>
                <a:endPara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endParaRPr>
              </a:p>
            </p:txBody>
          </p:sp>
          <p:sp>
            <p:nvSpPr>
              <p:cNvPr id="88" name="MH_Others_1"/>
              <p:cNvSpPr/>
              <p:nvPr/>
            </p:nvSpPr>
            <p:spPr bwMode="auto">
              <a:xfrm>
                <a:off x="985222" y="3338787"/>
                <a:ext cx="82550" cy="515938"/>
              </a:xfrm>
              <a:custGeom>
                <a:avLst/>
                <a:gdLst>
                  <a:gd name="connsiteX0" fmla="*/ 0 w 3276600"/>
                  <a:gd name="connsiteY0" fmla="*/ 6311900 h 6311900"/>
                  <a:gd name="connsiteX1" fmla="*/ 0 w 3276600"/>
                  <a:gd name="connsiteY1" fmla="*/ 0 h 6311900"/>
                  <a:gd name="connsiteX2" fmla="*/ 3276600 w 3276600"/>
                  <a:gd name="connsiteY2" fmla="*/ 0 h 6311900"/>
                  <a:gd name="connsiteX0-1" fmla="*/ 0 w 0"/>
                  <a:gd name="connsiteY0-2" fmla="*/ 6311900 h 6311900"/>
                  <a:gd name="connsiteX1-3" fmla="*/ 0 w 0"/>
                  <a:gd name="connsiteY1-4" fmla="*/ 0 h 631190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</a:cxnLst>
                <a:rect l="l" t="t" r="r" b="b"/>
                <a:pathLst>
                  <a:path h="6311900">
                    <a:moveTo>
                      <a:pt x="0" y="63119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369B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zh-CN" altLang="en-US" sz="2500">
                  <a:solidFill>
                    <a:schemeClr val="bg1">
                      <a:lumMod val="50000"/>
                    </a:schemeClr>
                  </a:solidFill>
                  <a:latin typeface="Source Han Sans K Bold" panose="020B0800000000000000" pitchFamily="34" charset="-128"/>
                  <a:ea typeface="Source Han Sans K Bold" panose="020B0800000000000000" pitchFamily="34" charset="-128"/>
                  <a:sym typeface="Source Han Sans K Bold" panose="020B0800000000000000" pitchFamily="34" charset="-128"/>
                </a:endParaRPr>
              </a:p>
            </p:txBody>
          </p:sp>
        </p:grpSp>
        <p:grpSp>
          <p:nvGrpSpPr>
            <p:cNvPr id="89" name="组合 88"/>
            <p:cNvGrpSpPr/>
            <p:nvPr/>
          </p:nvGrpSpPr>
          <p:grpSpPr>
            <a:xfrm>
              <a:off x="4042" y="7582"/>
              <a:ext cx="11415" cy="1080"/>
              <a:chOff x="978872" y="4108725"/>
              <a:chExt cx="5437064" cy="514350"/>
            </a:xfrm>
          </p:grpSpPr>
          <p:sp>
            <p:nvSpPr>
              <p:cNvPr id="90" name="Pentagon 7"/>
              <p:cNvSpPr/>
              <p:nvPr/>
            </p:nvSpPr>
            <p:spPr bwMode="auto">
              <a:xfrm>
                <a:off x="978872" y="4108725"/>
                <a:ext cx="5437064" cy="514350"/>
              </a:xfrm>
              <a:prstGeom prst="homePlat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defRPr/>
                </a:pPr>
                <a:r>
                  <a:rPr lang="zh-CN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    </a:t>
                </a:r>
                <a:r>
                  <a:rPr lang="zh-CN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掌握索引的删除，能够使用</a:t>
                </a:r>
                <a:r>
                  <a:rPr lang="zh-CN" altLang="en-US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ALTER TABLE</a:t>
                </a:r>
                <a:r>
                  <a:rPr lang="zh-CN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语句和</a:t>
                </a:r>
                <a:r>
                  <a:rPr lang="zh-CN" altLang="en-US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DROP INDEX</a:t>
                </a:r>
                <a:r>
                  <a:rPr lang="zh-CN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语句删除索引</a:t>
                </a:r>
                <a:endPara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endParaRPr>
              </a:p>
            </p:txBody>
          </p:sp>
          <p:sp>
            <p:nvSpPr>
              <p:cNvPr id="91" name="MH_Others_1"/>
              <p:cNvSpPr/>
              <p:nvPr/>
            </p:nvSpPr>
            <p:spPr bwMode="auto">
              <a:xfrm>
                <a:off x="985222" y="4108725"/>
                <a:ext cx="82550" cy="514350"/>
              </a:xfrm>
              <a:custGeom>
                <a:avLst/>
                <a:gdLst>
                  <a:gd name="connsiteX0" fmla="*/ 0 w 3276600"/>
                  <a:gd name="connsiteY0" fmla="*/ 6311900 h 6311900"/>
                  <a:gd name="connsiteX1" fmla="*/ 0 w 3276600"/>
                  <a:gd name="connsiteY1" fmla="*/ 0 h 6311900"/>
                  <a:gd name="connsiteX2" fmla="*/ 3276600 w 3276600"/>
                  <a:gd name="connsiteY2" fmla="*/ 0 h 6311900"/>
                  <a:gd name="connsiteX0-1" fmla="*/ 0 w 0"/>
                  <a:gd name="connsiteY0-2" fmla="*/ 6311900 h 6311900"/>
                  <a:gd name="connsiteX1-3" fmla="*/ 0 w 0"/>
                  <a:gd name="connsiteY1-4" fmla="*/ 0 h 631190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</a:cxnLst>
                <a:rect l="l" t="t" r="r" b="b"/>
                <a:pathLst>
                  <a:path h="6311900">
                    <a:moveTo>
                      <a:pt x="0" y="63119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369B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zh-CN" altLang="en-US" sz="2500">
                  <a:solidFill>
                    <a:schemeClr val="bg1">
                      <a:lumMod val="50000"/>
                    </a:schemeClr>
                  </a:solidFill>
                  <a:latin typeface="Source Han Sans K Bold" panose="020B0800000000000000" pitchFamily="34" charset="-128"/>
                  <a:ea typeface="Source Han Sans K Bold" panose="020B0800000000000000" pitchFamily="34" charset="-128"/>
                  <a:sym typeface="Source Han Sans K Bold" panose="020B0800000000000000" pitchFamily="34" charset="-128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251585" y="2205355"/>
            <a:ext cx="9811385" cy="2426970"/>
            <a:chOff x="4042" y="3473"/>
            <a:chExt cx="11486" cy="3822"/>
          </a:xfrm>
        </p:grpSpPr>
        <p:grpSp>
          <p:nvGrpSpPr>
            <p:cNvPr id="80" name="组合 79"/>
            <p:cNvGrpSpPr/>
            <p:nvPr/>
          </p:nvGrpSpPr>
          <p:grpSpPr>
            <a:xfrm>
              <a:off x="4042" y="3473"/>
              <a:ext cx="11486" cy="1084"/>
              <a:chOff x="978872" y="1800500"/>
              <a:chExt cx="5471124" cy="515937"/>
            </a:xfrm>
          </p:grpSpPr>
          <p:sp>
            <p:nvSpPr>
              <p:cNvPr id="81" name="Pentagon 3"/>
              <p:cNvSpPr/>
              <p:nvPr/>
            </p:nvSpPr>
            <p:spPr bwMode="auto">
              <a:xfrm>
                <a:off x="978872" y="1800500"/>
                <a:ext cx="5471124" cy="515937"/>
              </a:xfrm>
              <a:prstGeom prst="homePlat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defRPr/>
                </a:pPr>
                <a:r>
                  <a:rPr lang="zh-CN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    </a:t>
                </a:r>
                <a:r>
                  <a:rPr lang="zh-CN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了解视图的概念，能够说出</a:t>
                </a:r>
                <a:r>
                  <a:rPr lang="zh-CN" altLang="en-US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视图</a:t>
                </a:r>
                <a:r>
                  <a:rPr lang="zh-CN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的</a:t>
                </a:r>
                <a:r>
                  <a:rPr lang="zh-CN" altLang="en-US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优点</a:t>
                </a:r>
                <a:endPara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endParaRPr>
              </a:p>
            </p:txBody>
          </p:sp>
          <p:sp>
            <p:nvSpPr>
              <p:cNvPr id="82" name="MH_Others_1"/>
              <p:cNvSpPr/>
              <p:nvPr/>
            </p:nvSpPr>
            <p:spPr bwMode="auto">
              <a:xfrm>
                <a:off x="985222" y="1800500"/>
                <a:ext cx="82550" cy="515937"/>
              </a:xfrm>
              <a:custGeom>
                <a:avLst/>
                <a:gdLst>
                  <a:gd name="connsiteX0" fmla="*/ 0 w 3276600"/>
                  <a:gd name="connsiteY0" fmla="*/ 6311900 h 6311900"/>
                  <a:gd name="connsiteX1" fmla="*/ 0 w 3276600"/>
                  <a:gd name="connsiteY1" fmla="*/ 0 h 6311900"/>
                  <a:gd name="connsiteX2" fmla="*/ 3276600 w 3276600"/>
                  <a:gd name="connsiteY2" fmla="*/ 0 h 6311900"/>
                  <a:gd name="connsiteX0-1" fmla="*/ 0 w 0"/>
                  <a:gd name="connsiteY0-2" fmla="*/ 6311900 h 6311900"/>
                  <a:gd name="connsiteX1-3" fmla="*/ 0 w 0"/>
                  <a:gd name="connsiteY1-4" fmla="*/ 0 h 631190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</a:cxnLst>
                <a:rect l="l" t="t" r="r" b="b"/>
                <a:pathLst>
                  <a:path h="6311900">
                    <a:moveTo>
                      <a:pt x="0" y="63119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369B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zh-CN" altLang="en-US" sz="2500">
                  <a:solidFill>
                    <a:schemeClr val="bg1">
                      <a:lumMod val="50000"/>
                    </a:schemeClr>
                  </a:solidFill>
                  <a:latin typeface="Source Han Sans K Bold" panose="020B0800000000000000" pitchFamily="34" charset="-128"/>
                  <a:ea typeface="Source Han Sans K Bold" panose="020B0800000000000000" pitchFamily="34" charset="-128"/>
                  <a:sym typeface="Source Han Sans K Bold" panose="020B0800000000000000" pitchFamily="34" charset="-128"/>
                </a:endParaRPr>
              </a:p>
            </p:txBody>
          </p:sp>
        </p:grpSp>
        <p:grpSp>
          <p:nvGrpSpPr>
            <p:cNvPr id="83" name="组合 82"/>
            <p:cNvGrpSpPr/>
            <p:nvPr/>
          </p:nvGrpSpPr>
          <p:grpSpPr>
            <a:xfrm>
              <a:off x="4042" y="4844"/>
              <a:ext cx="11415" cy="1080"/>
              <a:chOff x="978872" y="2570437"/>
              <a:chExt cx="5437064" cy="514350"/>
            </a:xfrm>
          </p:grpSpPr>
          <p:sp>
            <p:nvSpPr>
              <p:cNvPr id="84" name="Pentagon 5"/>
              <p:cNvSpPr/>
              <p:nvPr/>
            </p:nvSpPr>
            <p:spPr bwMode="auto">
              <a:xfrm>
                <a:off x="978872" y="2570437"/>
                <a:ext cx="5437064" cy="514350"/>
              </a:xfrm>
              <a:prstGeom prst="homePlat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defRPr/>
                </a:pPr>
                <a:r>
                  <a:rPr lang="zh-CN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    </a:t>
                </a:r>
                <a:r>
                  <a:rPr lang="zh-CN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掌握视图的管理，能够</a:t>
                </a:r>
                <a:r>
                  <a:rPr lang="zh-CN" altLang="en-US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创建</a:t>
                </a:r>
                <a:r>
                  <a:rPr lang="zh-CN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、</a:t>
                </a:r>
                <a:r>
                  <a:rPr lang="zh-CN" altLang="en-US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查看</a:t>
                </a:r>
                <a:r>
                  <a:rPr lang="zh-CN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、</a:t>
                </a:r>
                <a:r>
                  <a:rPr lang="zh-CN" altLang="en-US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修改</a:t>
                </a:r>
                <a:r>
                  <a:rPr lang="zh-CN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和</a:t>
                </a:r>
                <a:r>
                  <a:rPr lang="zh-CN" altLang="en-US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删除</a:t>
                </a:r>
                <a:r>
                  <a:rPr lang="zh-CN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视图</a:t>
                </a:r>
                <a:endPara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endParaRPr>
              </a:p>
            </p:txBody>
          </p:sp>
          <p:sp>
            <p:nvSpPr>
              <p:cNvPr id="85" name="MH_Others_1"/>
              <p:cNvSpPr/>
              <p:nvPr/>
            </p:nvSpPr>
            <p:spPr bwMode="auto">
              <a:xfrm>
                <a:off x="985222" y="2570437"/>
                <a:ext cx="82550" cy="514350"/>
              </a:xfrm>
              <a:custGeom>
                <a:avLst/>
                <a:gdLst>
                  <a:gd name="connsiteX0" fmla="*/ 0 w 3276600"/>
                  <a:gd name="connsiteY0" fmla="*/ 6311900 h 6311900"/>
                  <a:gd name="connsiteX1" fmla="*/ 0 w 3276600"/>
                  <a:gd name="connsiteY1" fmla="*/ 0 h 6311900"/>
                  <a:gd name="connsiteX2" fmla="*/ 3276600 w 3276600"/>
                  <a:gd name="connsiteY2" fmla="*/ 0 h 6311900"/>
                  <a:gd name="connsiteX0-1" fmla="*/ 0 w 0"/>
                  <a:gd name="connsiteY0-2" fmla="*/ 6311900 h 6311900"/>
                  <a:gd name="connsiteX1-3" fmla="*/ 0 w 0"/>
                  <a:gd name="connsiteY1-4" fmla="*/ 0 h 631190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</a:cxnLst>
                <a:rect l="l" t="t" r="r" b="b"/>
                <a:pathLst>
                  <a:path h="6311900">
                    <a:moveTo>
                      <a:pt x="0" y="63119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369B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zh-CN" altLang="en-US" sz="2500">
                  <a:solidFill>
                    <a:schemeClr val="bg1">
                      <a:lumMod val="50000"/>
                    </a:schemeClr>
                  </a:solidFill>
                  <a:latin typeface="Source Han Sans K Bold" panose="020B0800000000000000" pitchFamily="34" charset="-128"/>
                  <a:ea typeface="Source Han Sans K Bold" panose="020B0800000000000000" pitchFamily="34" charset="-128"/>
                  <a:sym typeface="Source Han Sans K Bold" panose="020B0800000000000000" pitchFamily="34" charset="-128"/>
                </a:endParaRPr>
              </a:p>
            </p:txBody>
          </p:sp>
        </p:grpSp>
        <p:grpSp>
          <p:nvGrpSpPr>
            <p:cNvPr id="86" name="组合 85"/>
            <p:cNvGrpSpPr/>
            <p:nvPr/>
          </p:nvGrpSpPr>
          <p:grpSpPr>
            <a:xfrm>
              <a:off x="4042" y="6211"/>
              <a:ext cx="11415" cy="1084"/>
              <a:chOff x="978872" y="3338787"/>
              <a:chExt cx="5437064" cy="515938"/>
            </a:xfrm>
          </p:grpSpPr>
          <p:sp>
            <p:nvSpPr>
              <p:cNvPr id="87" name="Pentagon 6"/>
              <p:cNvSpPr/>
              <p:nvPr/>
            </p:nvSpPr>
            <p:spPr bwMode="auto">
              <a:xfrm>
                <a:off x="978872" y="3338787"/>
                <a:ext cx="5437064" cy="515938"/>
              </a:xfrm>
              <a:prstGeom prst="homePlat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defRPr/>
                </a:pPr>
                <a:r>
                  <a:rPr lang="zh-CN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    掌握视图数据操作，能够通过视图</a:t>
                </a:r>
                <a:r>
                  <a:rPr lang="zh-CN" altLang="en-US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添加</a:t>
                </a:r>
                <a:r>
                  <a:rPr lang="zh-CN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、</a:t>
                </a:r>
                <a:r>
                  <a:rPr lang="zh-CN" altLang="en-US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修改</a:t>
                </a:r>
                <a:r>
                  <a:rPr lang="zh-CN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和</a:t>
                </a:r>
                <a:r>
                  <a:rPr lang="zh-CN" altLang="en-US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删除</a:t>
                </a:r>
                <a:r>
                  <a:rPr lang="zh-CN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基本表中的数据</a:t>
                </a:r>
                <a:endPara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endParaRPr>
              </a:p>
            </p:txBody>
          </p:sp>
          <p:sp>
            <p:nvSpPr>
              <p:cNvPr id="88" name="MH_Others_1"/>
              <p:cNvSpPr/>
              <p:nvPr/>
            </p:nvSpPr>
            <p:spPr bwMode="auto">
              <a:xfrm>
                <a:off x="985222" y="3338787"/>
                <a:ext cx="82550" cy="515938"/>
              </a:xfrm>
              <a:custGeom>
                <a:avLst/>
                <a:gdLst>
                  <a:gd name="connsiteX0" fmla="*/ 0 w 3276600"/>
                  <a:gd name="connsiteY0" fmla="*/ 6311900 h 6311900"/>
                  <a:gd name="connsiteX1" fmla="*/ 0 w 3276600"/>
                  <a:gd name="connsiteY1" fmla="*/ 0 h 6311900"/>
                  <a:gd name="connsiteX2" fmla="*/ 3276600 w 3276600"/>
                  <a:gd name="connsiteY2" fmla="*/ 0 h 6311900"/>
                  <a:gd name="connsiteX0-1" fmla="*/ 0 w 0"/>
                  <a:gd name="connsiteY0-2" fmla="*/ 6311900 h 6311900"/>
                  <a:gd name="connsiteX1-3" fmla="*/ 0 w 0"/>
                  <a:gd name="connsiteY1-4" fmla="*/ 0 h 631190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</a:cxnLst>
                <a:rect l="l" t="t" r="r" b="b"/>
                <a:pathLst>
                  <a:path h="6311900">
                    <a:moveTo>
                      <a:pt x="0" y="63119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369B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zh-CN" altLang="en-US" sz="2500">
                  <a:solidFill>
                    <a:schemeClr val="bg1">
                      <a:lumMod val="50000"/>
                    </a:schemeClr>
                  </a:solidFill>
                  <a:latin typeface="Source Han Sans K Bold" panose="020B0800000000000000" pitchFamily="34" charset="-128"/>
                  <a:ea typeface="Source Han Sans K Bold" panose="020B0800000000000000" pitchFamily="34" charset="-128"/>
                  <a:sym typeface="Source Han Sans K Bold" panose="020B0800000000000000" pitchFamily="34" charset="-128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671292" y="572758"/>
            <a:ext cx="3911746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章节概述</a:t>
            </a:r>
            <a:r>
              <a:rPr lang="en-US" altLang="zh-CN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en-US" altLang="zh-CN" sz="24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Summary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/>
        </p:nvSpPr>
        <p:spPr bwMode="auto">
          <a:xfrm>
            <a:off x="1009935" y="2288714"/>
            <a:ext cx="10151132" cy="289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在MySQL中，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索引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类似于书籍的目录，如果想要快速访问数据表中的特定信息，可以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建立索引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加快数据查询效率。使用数据库时，不仅需要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提高对数据的查询效率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，也需要考虑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数据的安全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问题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。在MySQL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中可以创建一种叫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视图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的虚拟表，让使用视图的用户只能访问被允许访问的结果集，从而提高数据的安全性。除了安全性，视图还具备简化查询语句和逻辑数据独立性等优点，本章将对数据库中的索引和视图分别进行讲解。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945640" y="2421255"/>
            <a:ext cx="8478520" cy="2486762"/>
            <a:chOff x="4912" y="3009"/>
            <a:chExt cx="9524" cy="3916"/>
          </a:xfrm>
        </p:grpSpPr>
        <p:grpSp>
          <p:nvGrpSpPr>
            <p:cNvPr id="45" name="组合 44"/>
            <p:cNvGrpSpPr/>
            <p:nvPr/>
          </p:nvGrpSpPr>
          <p:grpSpPr>
            <a:xfrm>
              <a:off x="4912" y="3044"/>
              <a:ext cx="1877" cy="965"/>
              <a:chOff x="2215144" y="982844"/>
              <a:chExt cx="1244730" cy="842780"/>
            </a:xfrm>
          </p:grpSpPr>
          <p:sp>
            <p:nvSpPr>
              <p:cNvPr id="46" name="平行四边形 45"/>
              <p:cNvSpPr/>
              <p:nvPr/>
            </p:nvSpPr>
            <p:spPr>
              <a:xfrm>
                <a:off x="2215144" y="982844"/>
                <a:ext cx="1120898" cy="842780"/>
              </a:xfrm>
              <a:prstGeom prst="parallelogram">
                <a:avLst>
                  <a:gd name="adj" fmla="val 48207"/>
                </a:avLst>
              </a:prstGeom>
              <a:solidFill>
                <a:srgbClr val="1369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47" name="文本框 9"/>
              <p:cNvSpPr txBox="1"/>
              <p:nvPr/>
            </p:nvSpPr>
            <p:spPr>
              <a:xfrm>
                <a:off x="2393075" y="1005670"/>
                <a:ext cx="1066799" cy="802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01</a:t>
                </a:r>
                <a:endParaRPr lang="zh-CN" altLang="en-US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48" name="组合 47"/>
            <p:cNvGrpSpPr/>
            <p:nvPr/>
          </p:nvGrpSpPr>
          <p:grpSpPr>
            <a:xfrm>
              <a:off x="4912" y="4494"/>
              <a:ext cx="1877" cy="974"/>
              <a:chOff x="2215144" y="2026500"/>
              <a:chExt cx="1244730" cy="850129"/>
            </a:xfrm>
          </p:grpSpPr>
          <p:sp>
            <p:nvSpPr>
              <p:cNvPr id="49" name="平行四边形 48"/>
              <p:cNvSpPr/>
              <p:nvPr/>
            </p:nvSpPr>
            <p:spPr>
              <a:xfrm>
                <a:off x="2215144" y="2033848"/>
                <a:ext cx="1120898" cy="842781"/>
              </a:xfrm>
              <a:prstGeom prst="parallelogram">
                <a:avLst>
                  <a:gd name="adj" fmla="val 48207"/>
                </a:avLst>
              </a:prstGeom>
              <a:solidFill>
                <a:srgbClr val="1369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50" name="文本框 10"/>
              <p:cNvSpPr txBox="1"/>
              <p:nvPr/>
            </p:nvSpPr>
            <p:spPr>
              <a:xfrm>
                <a:off x="2393075" y="2026500"/>
                <a:ext cx="1066799" cy="802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02</a:t>
                </a:r>
                <a:endParaRPr lang="zh-CN" altLang="en-US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51" name="组合 50"/>
            <p:cNvGrpSpPr/>
            <p:nvPr/>
          </p:nvGrpSpPr>
          <p:grpSpPr>
            <a:xfrm>
              <a:off x="4912" y="5959"/>
              <a:ext cx="1877" cy="966"/>
              <a:chOff x="2215144" y="3084852"/>
              <a:chExt cx="1244730" cy="843007"/>
            </a:xfrm>
          </p:grpSpPr>
          <p:sp>
            <p:nvSpPr>
              <p:cNvPr id="52" name="平行四边形 51"/>
              <p:cNvSpPr/>
              <p:nvPr/>
            </p:nvSpPr>
            <p:spPr>
              <a:xfrm>
                <a:off x="2215144" y="3084852"/>
                <a:ext cx="1120898" cy="842781"/>
              </a:xfrm>
              <a:prstGeom prst="parallelogram">
                <a:avLst>
                  <a:gd name="adj" fmla="val 48207"/>
                </a:avLst>
              </a:prstGeom>
              <a:solidFill>
                <a:srgbClr val="1369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53" name="文本框 11"/>
              <p:cNvSpPr txBox="1"/>
              <p:nvPr/>
            </p:nvSpPr>
            <p:spPr>
              <a:xfrm>
                <a:off x="2393075" y="3125750"/>
                <a:ext cx="1066799" cy="802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03</a:t>
                </a:r>
                <a:endParaRPr lang="zh-CN" altLang="en-US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60" name="组合 59"/>
            <p:cNvGrpSpPr/>
            <p:nvPr/>
          </p:nvGrpSpPr>
          <p:grpSpPr>
            <a:xfrm>
              <a:off x="6338" y="3009"/>
              <a:ext cx="8098" cy="965"/>
              <a:chOff x="4315150" y="953426"/>
              <a:chExt cx="3857250" cy="540057"/>
            </a:xfrm>
          </p:grpSpPr>
          <p:sp>
            <p:nvSpPr>
              <p:cNvPr id="61" name="矩形 60"/>
              <p:cNvSpPr/>
              <p:nvPr/>
            </p:nvSpPr>
            <p:spPr>
              <a:xfrm>
                <a:off x="4841196" y="1036090"/>
                <a:ext cx="2827147" cy="331104"/>
              </a:xfrm>
              <a:prstGeom prst="rect">
                <a:avLst/>
              </a:prstGeom>
              <a:ln w="15875">
                <a:noFill/>
              </a:ln>
            </p:spPr>
            <p:txBody>
              <a:bodyPr wrap="square" lIns="68580" tIns="34290" rIns="68580" bIns="34290">
                <a:spAutoFit/>
              </a:bodyPr>
              <a:lstStyle/>
              <a:p>
                <a:r>
                  <a:rPr lang="zh-CN" altLang="en-GB" sz="20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索引</a:t>
                </a:r>
                <a:endParaRPr lang="zh-CN" altLang="en-GB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62" name="平行四边形 61"/>
              <p:cNvSpPr/>
              <p:nvPr/>
            </p:nvSpPr>
            <p:spPr>
              <a:xfrm>
                <a:off x="4315150" y="953426"/>
                <a:ext cx="3857250" cy="540057"/>
              </a:xfrm>
              <a:prstGeom prst="parallelogram">
                <a:avLst>
                  <a:gd name="adj" fmla="val 48207"/>
                </a:avLst>
              </a:prstGeom>
              <a:noFill/>
              <a:ln w="158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80" tIns="34290" rIns="68580" bIns="34290" rtlCol="0" anchor="ctr"/>
              <a:lstStyle/>
              <a:p>
                <a:endParaRPr lang="zh-CN" altLang="en-US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63" name="组合 62"/>
            <p:cNvGrpSpPr/>
            <p:nvPr/>
          </p:nvGrpSpPr>
          <p:grpSpPr>
            <a:xfrm>
              <a:off x="6338" y="4467"/>
              <a:ext cx="8098" cy="965"/>
              <a:chOff x="4315150" y="1647579"/>
              <a:chExt cx="3857250" cy="540057"/>
            </a:xfrm>
          </p:grpSpPr>
          <p:sp>
            <p:nvSpPr>
              <p:cNvPr id="64" name="矩形 63"/>
              <p:cNvSpPr/>
              <p:nvPr/>
            </p:nvSpPr>
            <p:spPr>
              <a:xfrm>
                <a:off x="4841196" y="1730243"/>
                <a:ext cx="2827147" cy="331104"/>
              </a:xfrm>
              <a:prstGeom prst="rect">
                <a:avLst/>
              </a:prstGeom>
              <a:ln w="15875">
                <a:noFill/>
              </a:ln>
            </p:spPr>
            <p:txBody>
              <a:bodyPr wrap="square" lIns="68580" tIns="34290" rIns="68580" bIns="34290">
                <a:spAutoFit/>
              </a:bodyPr>
              <a:lstStyle/>
              <a:p>
                <a:r>
                  <a:rPr lang="zh-CN" altLang="en-GB" sz="20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视图</a:t>
                </a:r>
                <a:endParaRPr lang="zh-CN" altLang="en-GB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65" name="平行四边形 64"/>
              <p:cNvSpPr/>
              <p:nvPr/>
            </p:nvSpPr>
            <p:spPr>
              <a:xfrm>
                <a:off x="4315150" y="1647579"/>
                <a:ext cx="3857250" cy="540057"/>
              </a:xfrm>
              <a:prstGeom prst="parallelogram">
                <a:avLst>
                  <a:gd name="adj" fmla="val 48207"/>
                </a:avLst>
              </a:prstGeom>
              <a:noFill/>
              <a:ln w="158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80" tIns="34290" rIns="68580" bIns="34290" rtlCol="0" anchor="ctr"/>
              <a:lstStyle/>
              <a:p>
                <a:endParaRPr lang="zh-CN" altLang="en-US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66" name="组合 65"/>
            <p:cNvGrpSpPr/>
            <p:nvPr/>
          </p:nvGrpSpPr>
          <p:grpSpPr>
            <a:xfrm>
              <a:off x="6338" y="5925"/>
              <a:ext cx="8098" cy="965"/>
              <a:chOff x="4315150" y="2341731"/>
              <a:chExt cx="3857250" cy="540057"/>
            </a:xfrm>
          </p:grpSpPr>
          <p:sp>
            <p:nvSpPr>
              <p:cNvPr id="67" name="矩形 66"/>
              <p:cNvSpPr/>
              <p:nvPr/>
            </p:nvSpPr>
            <p:spPr>
              <a:xfrm>
                <a:off x="4841197" y="2424395"/>
                <a:ext cx="2827146" cy="331104"/>
              </a:xfrm>
              <a:prstGeom prst="rect">
                <a:avLst/>
              </a:prstGeom>
              <a:ln w="15875">
                <a:noFill/>
              </a:ln>
            </p:spPr>
            <p:txBody>
              <a:bodyPr wrap="square" lIns="68580" tIns="34290" rIns="68580" bIns="34290">
                <a:spAutoFit/>
              </a:bodyPr>
              <a:lstStyle/>
              <a:p>
                <a:r>
                  <a:rPr lang="zh-CN" altLang="en-US" sz="20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Source Han Sans K Bold" panose="020B0800000000000000" pitchFamily="34" charset="-128"/>
                  </a:rPr>
                  <a:t>上机实践：图书管理系统中索引和视图的应用</a:t>
                </a:r>
                <a:endPara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endParaRPr>
              </a:p>
            </p:txBody>
          </p:sp>
          <p:sp>
            <p:nvSpPr>
              <p:cNvPr id="68" name="平行四边形 67"/>
              <p:cNvSpPr/>
              <p:nvPr/>
            </p:nvSpPr>
            <p:spPr>
              <a:xfrm>
                <a:off x="4315150" y="2341731"/>
                <a:ext cx="3857250" cy="540057"/>
              </a:xfrm>
              <a:prstGeom prst="parallelogram">
                <a:avLst>
                  <a:gd name="adj" fmla="val 48207"/>
                </a:avLst>
              </a:prstGeom>
              <a:noFill/>
              <a:ln w="158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80" tIns="34290" rIns="68580" bIns="34290" rtlCol="0" anchor="ctr"/>
              <a:lstStyle/>
              <a:p>
                <a:endParaRPr lang="zh-CN" altLang="en-US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2994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GB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索引</a:t>
            </a:r>
            <a:endParaRPr lang="zh-CN" altLang="en-GB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2355850" y="1770380"/>
            <a:ext cx="7627620" cy="3340336"/>
            <a:chOff x="4042" y="3473"/>
            <a:chExt cx="11680" cy="4019"/>
          </a:xfrm>
        </p:grpSpPr>
        <p:sp>
          <p:nvSpPr>
            <p:cNvPr id="2" name="折角形 1"/>
            <p:cNvSpPr/>
            <p:nvPr/>
          </p:nvSpPr>
          <p:spPr>
            <a:xfrm>
              <a:off x="4042" y="3473"/>
              <a:ext cx="11680" cy="4019"/>
            </a:xfrm>
            <a:prstGeom prst="foldedCorner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4949" y="3769"/>
              <a:ext cx="9923" cy="3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fontAlgn="auto">
                <a:lnSpc>
                  <a:spcPct val="150000"/>
                </a:lnSpc>
              </a:pP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索引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是数据库中用来提高数据查询效率最常用的</a:t>
              </a: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数据库对象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，好比新华字典的音序表，通过音序表可以快速的查找内容。索引对数据表中一列或多列的值与记录行之间按照一定的</a:t>
              </a: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顺序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建立关系，以提高对数据表中</a:t>
              </a: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数据的查询速度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。根据索引实现语法不同，MySQL中常见的索引大致分为5种，具体描述如下。</a:t>
              </a:r>
              <a:endPara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索引概述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7"/>
          <p:cNvSpPr>
            <a:spLocks noChangeArrowheads="1"/>
          </p:cNvSpPr>
          <p:nvPr/>
        </p:nvSpPr>
        <p:spPr bwMode="auto">
          <a:xfrm>
            <a:off x="5287434" y="1881917"/>
            <a:ext cx="1384300" cy="1221316"/>
          </a:xfrm>
          <a:custGeom>
            <a:avLst/>
            <a:gdLst>
              <a:gd name="T0" fmla="*/ 2684 w 2684"/>
              <a:gd name="T1" fmla="*/ 2365 h 2365"/>
              <a:gd name="T2" fmla="*/ 1342 w 2684"/>
              <a:gd name="T3" fmla="*/ 0 h 2365"/>
              <a:gd name="T4" fmla="*/ 0 w 2684"/>
              <a:gd name="T5" fmla="*/ 2365 h 2365"/>
              <a:gd name="T6" fmla="*/ 2684 w 2684"/>
              <a:gd name="T7" fmla="*/ 2365 h 2365"/>
              <a:gd name="T8" fmla="*/ 0 60000 65536"/>
              <a:gd name="T9" fmla="*/ 0 60000 65536"/>
              <a:gd name="T10" fmla="*/ 0 60000 65536"/>
              <a:gd name="T11" fmla="*/ 0 60000 65536"/>
              <a:gd name="T12" fmla="*/ 0 w 2684"/>
              <a:gd name="T13" fmla="*/ 0 h 2365"/>
              <a:gd name="T14" fmla="*/ 2684 w 2684"/>
              <a:gd name="T15" fmla="*/ 2365 h 236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84" h="2365">
                <a:moveTo>
                  <a:pt x="2684" y="2365"/>
                </a:moveTo>
                <a:lnTo>
                  <a:pt x="1342" y="0"/>
                </a:lnTo>
                <a:lnTo>
                  <a:pt x="0" y="2365"/>
                </a:lnTo>
                <a:lnTo>
                  <a:pt x="2684" y="2365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zh-CN" altLang="zh-CN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3" name="Freeform 8"/>
          <p:cNvSpPr>
            <a:spLocks noChangeArrowheads="1"/>
          </p:cNvSpPr>
          <p:nvPr/>
        </p:nvSpPr>
        <p:spPr bwMode="auto">
          <a:xfrm>
            <a:off x="3915833" y="3103232"/>
            <a:ext cx="1371600" cy="1320800"/>
          </a:xfrm>
          <a:custGeom>
            <a:avLst/>
            <a:gdLst>
              <a:gd name="T0" fmla="*/ 2664 w 2664"/>
              <a:gd name="T1" fmla="*/ 0 h 2553"/>
              <a:gd name="T2" fmla="*/ 0 w 2664"/>
              <a:gd name="T3" fmla="*/ 546 h 2553"/>
              <a:gd name="T4" fmla="*/ 1835 w 2664"/>
              <a:gd name="T5" fmla="*/ 2553 h 2553"/>
              <a:gd name="T6" fmla="*/ 2664 w 2664"/>
              <a:gd name="T7" fmla="*/ 0 h 2553"/>
              <a:gd name="T8" fmla="*/ 0 60000 65536"/>
              <a:gd name="T9" fmla="*/ 0 60000 65536"/>
              <a:gd name="T10" fmla="*/ 0 60000 65536"/>
              <a:gd name="T11" fmla="*/ 0 60000 65536"/>
              <a:gd name="T12" fmla="*/ 0 w 2664"/>
              <a:gd name="T13" fmla="*/ 0 h 2553"/>
              <a:gd name="T14" fmla="*/ 2664 w 2664"/>
              <a:gd name="T15" fmla="*/ 2553 h 255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64" h="2553">
                <a:moveTo>
                  <a:pt x="2664" y="0"/>
                </a:moveTo>
                <a:lnTo>
                  <a:pt x="0" y="546"/>
                </a:lnTo>
                <a:lnTo>
                  <a:pt x="1835" y="2553"/>
                </a:lnTo>
                <a:lnTo>
                  <a:pt x="2664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zh-CN" altLang="zh-CN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4" name="Freeform 9"/>
          <p:cNvSpPr>
            <a:spLocks noChangeArrowheads="1"/>
          </p:cNvSpPr>
          <p:nvPr/>
        </p:nvSpPr>
        <p:spPr bwMode="auto">
          <a:xfrm>
            <a:off x="4703234" y="4424033"/>
            <a:ext cx="1274233" cy="1392767"/>
          </a:xfrm>
          <a:custGeom>
            <a:avLst/>
            <a:gdLst>
              <a:gd name="T0" fmla="*/ 305 w 2476"/>
              <a:gd name="T1" fmla="*/ 0 h 2702"/>
              <a:gd name="T2" fmla="*/ 0 w 2476"/>
              <a:gd name="T3" fmla="*/ 2702 h 2702"/>
              <a:gd name="T4" fmla="*/ 2476 w 2476"/>
              <a:gd name="T5" fmla="*/ 1578 h 2702"/>
              <a:gd name="T6" fmla="*/ 305 w 2476"/>
              <a:gd name="T7" fmla="*/ 0 h 2702"/>
              <a:gd name="T8" fmla="*/ 0 60000 65536"/>
              <a:gd name="T9" fmla="*/ 0 60000 65536"/>
              <a:gd name="T10" fmla="*/ 0 60000 65536"/>
              <a:gd name="T11" fmla="*/ 0 60000 65536"/>
              <a:gd name="T12" fmla="*/ 0 w 2476"/>
              <a:gd name="T13" fmla="*/ 0 h 2702"/>
              <a:gd name="T14" fmla="*/ 2476 w 2476"/>
              <a:gd name="T15" fmla="*/ 2702 h 270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476" h="2702">
                <a:moveTo>
                  <a:pt x="305" y="0"/>
                </a:moveTo>
                <a:lnTo>
                  <a:pt x="0" y="2702"/>
                </a:lnTo>
                <a:lnTo>
                  <a:pt x="2476" y="1578"/>
                </a:lnTo>
                <a:lnTo>
                  <a:pt x="305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zh-CN" altLang="zh-CN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5" name="Freeform 10"/>
          <p:cNvSpPr>
            <a:spLocks noChangeArrowheads="1"/>
          </p:cNvSpPr>
          <p:nvPr/>
        </p:nvSpPr>
        <p:spPr bwMode="auto">
          <a:xfrm>
            <a:off x="5977467" y="4424033"/>
            <a:ext cx="1278467" cy="1392767"/>
          </a:xfrm>
          <a:custGeom>
            <a:avLst/>
            <a:gdLst>
              <a:gd name="T0" fmla="*/ 0 w 2476"/>
              <a:gd name="T1" fmla="*/ 1578 h 2702"/>
              <a:gd name="T2" fmla="*/ 2476 w 2476"/>
              <a:gd name="T3" fmla="*/ 2702 h 2702"/>
              <a:gd name="T4" fmla="*/ 2172 w 2476"/>
              <a:gd name="T5" fmla="*/ 0 h 2702"/>
              <a:gd name="T6" fmla="*/ 0 w 2476"/>
              <a:gd name="T7" fmla="*/ 1578 h 2702"/>
              <a:gd name="T8" fmla="*/ 0 60000 65536"/>
              <a:gd name="T9" fmla="*/ 0 60000 65536"/>
              <a:gd name="T10" fmla="*/ 0 60000 65536"/>
              <a:gd name="T11" fmla="*/ 0 60000 65536"/>
              <a:gd name="T12" fmla="*/ 0 w 2476"/>
              <a:gd name="T13" fmla="*/ 0 h 2702"/>
              <a:gd name="T14" fmla="*/ 2476 w 2476"/>
              <a:gd name="T15" fmla="*/ 2702 h 270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476" h="2702">
                <a:moveTo>
                  <a:pt x="0" y="1578"/>
                </a:moveTo>
                <a:lnTo>
                  <a:pt x="2476" y="2702"/>
                </a:lnTo>
                <a:lnTo>
                  <a:pt x="2172" y="0"/>
                </a:lnTo>
                <a:lnTo>
                  <a:pt x="0" y="1578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zh-CN" altLang="zh-CN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6" name="Freeform 11"/>
          <p:cNvSpPr>
            <a:spLocks noChangeArrowheads="1"/>
          </p:cNvSpPr>
          <p:nvPr/>
        </p:nvSpPr>
        <p:spPr bwMode="auto">
          <a:xfrm>
            <a:off x="6671733" y="3103232"/>
            <a:ext cx="1371600" cy="1320800"/>
          </a:xfrm>
          <a:custGeom>
            <a:avLst/>
            <a:gdLst>
              <a:gd name="T0" fmla="*/ 830 w 2664"/>
              <a:gd name="T1" fmla="*/ 2553 h 2553"/>
              <a:gd name="T2" fmla="*/ 2664 w 2664"/>
              <a:gd name="T3" fmla="*/ 546 h 2553"/>
              <a:gd name="T4" fmla="*/ 0 w 2664"/>
              <a:gd name="T5" fmla="*/ 0 h 2553"/>
              <a:gd name="T6" fmla="*/ 830 w 2664"/>
              <a:gd name="T7" fmla="*/ 2553 h 2553"/>
              <a:gd name="T8" fmla="*/ 0 60000 65536"/>
              <a:gd name="T9" fmla="*/ 0 60000 65536"/>
              <a:gd name="T10" fmla="*/ 0 60000 65536"/>
              <a:gd name="T11" fmla="*/ 0 60000 65536"/>
              <a:gd name="T12" fmla="*/ 0 w 2664"/>
              <a:gd name="T13" fmla="*/ 0 h 2553"/>
              <a:gd name="T14" fmla="*/ 2664 w 2664"/>
              <a:gd name="T15" fmla="*/ 2553 h 255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64" h="2553">
                <a:moveTo>
                  <a:pt x="830" y="2553"/>
                </a:moveTo>
                <a:lnTo>
                  <a:pt x="2664" y="546"/>
                </a:lnTo>
                <a:lnTo>
                  <a:pt x="0" y="0"/>
                </a:lnTo>
                <a:lnTo>
                  <a:pt x="830" y="2553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zh-CN" altLang="zh-CN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7" name="矩形 7"/>
          <p:cNvSpPr>
            <a:spLocks noChangeArrowheads="1"/>
          </p:cNvSpPr>
          <p:nvPr/>
        </p:nvSpPr>
        <p:spPr bwMode="auto">
          <a:xfrm>
            <a:off x="5615947" y="2440717"/>
            <a:ext cx="723899" cy="574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373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01</a:t>
            </a:r>
            <a:endParaRPr lang="zh-CN" altLang="en-US" sz="373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8" name="矩形 8"/>
          <p:cNvSpPr>
            <a:spLocks noChangeArrowheads="1"/>
          </p:cNvSpPr>
          <p:nvPr/>
        </p:nvSpPr>
        <p:spPr bwMode="auto">
          <a:xfrm>
            <a:off x="6817783" y="3311225"/>
            <a:ext cx="876300" cy="574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373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02</a:t>
            </a:r>
            <a:endParaRPr lang="zh-CN" altLang="en-US" sz="373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9" name="矩形 9"/>
          <p:cNvSpPr>
            <a:spLocks noChangeArrowheads="1"/>
          </p:cNvSpPr>
          <p:nvPr/>
        </p:nvSpPr>
        <p:spPr bwMode="auto">
          <a:xfrm>
            <a:off x="6462183" y="4867929"/>
            <a:ext cx="711200" cy="574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373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03</a:t>
            </a:r>
            <a:endParaRPr lang="zh-CN" altLang="en-US" sz="373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0" name="矩形 10"/>
          <p:cNvSpPr>
            <a:spLocks noChangeArrowheads="1"/>
          </p:cNvSpPr>
          <p:nvPr/>
        </p:nvSpPr>
        <p:spPr bwMode="auto">
          <a:xfrm>
            <a:off x="4861984" y="4891816"/>
            <a:ext cx="657952" cy="574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373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04</a:t>
            </a:r>
            <a:endParaRPr lang="zh-CN" altLang="en-US" sz="373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1" name="矩形 11"/>
          <p:cNvSpPr>
            <a:spLocks noChangeArrowheads="1"/>
          </p:cNvSpPr>
          <p:nvPr/>
        </p:nvSpPr>
        <p:spPr bwMode="auto">
          <a:xfrm>
            <a:off x="4464051" y="3365699"/>
            <a:ext cx="622564" cy="574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373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05</a:t>
            </a:r>
            <a:endParaRPr lang="zh-CN" altLang="en-US" sz="373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2" name="TextBox 12"/>
          <p:cNvSpPr>
            <a:spLocks noChangeArrowheads="1"/>
          </p:cNvSpPr>
          <p:nvPr/>
        </p:nvSpPr>
        <p:spPr bwMode="auto">
          <a:xfrm>
            <a:off x="6506634" y="1790013"/>
            <a:ext cx="3429000" cy="884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普通索引</a:t>
            </a: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是MySQL中的基本索引类型，使用</a:t>
            </a:r>
            <a:r>
              <a:rPr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KEY</a:t>
            </a: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或</a:t>
            </a:r>
            <a:r>
              <a:rPr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INDEX</a:t>
            </a: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定义，不需要添加任何限制条件。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3" name="TextBox 13"/>
          <p:cNvSpPr>
            <a:spLocks noChangeArrowheads="1"/>
          </p:cNvSpPr>
          <p:nvPr/>
        </p:nvSpPr>
        <p:spPr bwMode="auto">
          <a:xfrm>
            <a:off x="8185152" y="3312783"/>
            <a:ext cx="2813049" cy="884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just">
              <a:lnSpc>
                <a:spcPct val="120000"/>
              </a:lnSpc>
            </a:pP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创建</a:t>
            </a:r>
            <a:r>
              <a:rPr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唯一性索引</a:t>
            </a: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的字段，允许有</a:t>
            </a:r>
            <a:r>
              <a:rPr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NULL</a:t>
            </a: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值，但需要保证索引对应字段中的值是唯一的。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4" name="TextBox 14"/>
          <p:cNvSpPr>
            <a:spLocks noChangeArrowheads="1"/>
          </p:cNvSpPr>
          <p:nvPr/>
        </p:nvSpPr>
        <p:spPr bwMode="auto">
          <a:xfrm>
            <a:off x="7497233" y="5241066"/>
            <a:ext cx="3179233" cy="1179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just">
              <a:lnSpc>
                <a:spcPct val="120000"/>
              </a:lnSpc>
            </a:pPr>
            <a:r>
              <a:rPr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主键索引</a:t>
            </a: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是一种特殊的唯一性索引，用于根据主键自身的唯一性标识每一条记录。主键索引的字段不允许有</a:t>
            </a:r>
            <a:r>
              <a:rPr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NULL</a:t>
            </a: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值。</a:t>
            </a:r>
            <a:endParaRPr lang="en-US" altLang="zh-CN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5" name="TextBox 15"/>
          <p:cNvSpPr>
            <a:spLocks noChangeArrowheads="1"/>
          </p:cNvSpPr>
          <p:nvPr/>
        </p:nvSpPr>
        <p:spPr bwMode="auto">
          <a:xfrm>
            <a:off x="1515534" y="4838899"/>
            <a:ext cx="2810933" cy="589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全文索引</a:t>
            </a: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主要用于提高在</a:t>
            </a:r>
            <a:r>
              <a:rPr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数据量较大</a:t>
            </a: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的字段中的查询效率。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6" name="TextBox 16"/>
          <p:cNvSpPr>
            <a:spLocks noChangeArrowheads="1"/>
          </p:cNvSpPr>
          <p:nvPr/>
        </p:nvSpPr>
        <p:spPr bwMode="auto">
          <a:xfrm>
            <a:off x="1515534" y="2508450"/>
            <a:ext cx="2810933" cy="589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空间索引</a:t>
            </a: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只能创建在</a:t>
            </a:r>
            <a:r>
              <a:rPr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空间数据类型</a:t>
            </a: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的字段上。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17"/>
          <p:cNvSpPr>
            <a:spLocks noChangeArrowheads="1"/>
          </p:cNvSpPr>
          <p:nvPr/>
        </p:nvSpPr>
        <p:spPr bwMode="auto">
          <a:xfrm>
            <a:off x="6506634" y="1412178"/>
            <a:ext cx="1682751" cy="368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普通索引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8" name="TextBox 18"/>
          <p:cNvSpPr>
            <a:spLocks noChangeArrowheads="1"/>
          </p:cNvSpPr>
          <p:nvPr/>
        </p:nvSpPr>
        <p:spPr bwMode="auto">
          <a:xfrm>
            <a:off x="8185150" y="2926080"/>
            <a:ext cx="2091055" cy="368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唯一性索引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9" name="TextBox 19"/>
          <p:cNvSpPr>
            <a:spLocks noChangeArrowheads="1"/>
          </p:cNvSpPr>
          <p:nvPr/>
        </p:nvSpPr>
        <p:spPr bwMode="auto">
          <a:xfrm>
            <a:off x="7497233" y="4858042"/>
            <a:ext cx="1682751" cy="738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主键索引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l">
              <a:buClrTx/>
              <a:buSzTx/>
              <a:buFontTx/>
            </a:pP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0" name="TextBox 20"/>
          <p:cNvSpPr>
            <a:spLocks noChangeArrowheads="1"/>
          </p:cNvSpPr>
          <p:nvPr/>
        </p:nvSpPr>
        <p:spPr bwMode="auto">
          <a:xfrm>
            <a:off x="1515533" y="4464732"/>
            <a:ext cx="1604136" cy="368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全文索引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1" name="TextBox 21"/>
          <p:cNvSpPr>
            <a:spLocks noChangeArrowheads="1"/>
          </p:cNvSpPr>
          <p:nvPr/>
        </p:nvSpPr>
        <p:spPr bwMode="auto">
          <a:xfrm>
            <a:off x="1515745" y="2019300"/>
            <a:ext cx="2025650" cy="368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空间索引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2" name="TextBox 22"/>
          <p:cNvSpPr>
            <a:spLocks noChangeArrowheads="1"/>
          </p:cNvSpPr>
          <p:nvPr/>
        </p:nvSpPr>
        <p:spPr bwMode="auto">
          <a:xfrm>
            <a:off x="5327915" y="3650443"/>
            <a:ext cx="1321859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点击添加标题内容</a:t>
            </a:r>
            <a:endParaRPr lang="zh-CN" altLang="en-US" sz="2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索引概述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2134870" y="2061210"/>
            <a:ext cx="8320405" cy="4060987"/>
            <a:chOff x="3260" y="2469"/>
            <a:chExt cx="13103" cy="6395"/>
          </a:xfrm>
        </p:grpSpPr>
        <p:grpSp>
          <p:nvGrpSpPr>
            <p:cNvPr id="18" name="组合 17"/>
            <p:cNvGrpSpPr/>
            <p:nvPr/>
          </p:nvGrpSpPr>
          <p:grpSpPr>
            <a:xfrm>
              <a:off x="4124" y="2469"/>
              <a:ext cx="10966" cy="2268"/>
              <a:chOff x="2655457" y="2246012"/>
              <a:chExt cx="6963152" cy="1440000"/>
            </a:xfrm>
          </p:grpSpPr>
          <p:sp>
            <p:nvSpPr>
              <p:cNvPr id="19" name="Rectangle 58"/>
              <p:cNvSpPr>
                <a:spLocks noChangeArrowheads="1"/>
              </p:cNvSpPr>
              <p:nvPr/>
            </p:nvSpPr>
            <p:spPr bwMode="auto">
              <a:xfrm rot="2700000">
                <a:off x="3737952" y="2246012"/>
                <a:ext cx="1440000" cy="1440000"/>
              </a:xfrm>
              <a:prstGeom prst="rect">
                <a:avLst/>
              </a:prstGeom>
              <a:solidFill>
                <a:srgbClr val="0070C0"/>
              </a:solidFill>
              <a:ln w="25400" cap="flat" cmpd="sng" algn="ctr">
                <a:noFill/>
                <a:prstDash val="solid"/>
              </a:ln>
              <a:effectLst>
                <a:outerShdw blurRad="190500" dist="38100" dir="2700000" algn="tl" rotWithShape="0">
                  <a:prstClr val="black">
                    <a:alpha val="20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US" sz="16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0" name="Rectangle 58"/>
              <p:cNvSpPr>
                <a:spLocks noChangeArrowheads="1"/>
              </p:cNvSpPr>
              <p:nvPr/>
            </p:nvSpPr>
            <p:spPr bwMode="auto">
              <a:xfrm rot="2700000">
                <a:off x="5376000" y="2246012"/>
                <a:ext cx="1440000" cy="1440000"/>
              </a:xfrm>
              <a:prstGeom prst="rect">
                <a:avLst/>
              </a:prstGeom>
              <a:solidFill>
                <a:schemeClr val="bg1"/>
              </a:solidFill>
              <a:ln w="25400" cap="flat" cmpd="sng" algn="ctr">
                <a:noFill/>
                <a:prstDash val="solid"/>
              </a:ln>
              <a:effectLst>
                <a:outerShdw blurRad="190500" dist="38100" dir="2700000" algn="tl" rotWithShape="0">
                  <a:prstClr val="black">
                    <a:alpha val="20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US" sz="16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1" name="Rectangle 58"/>
              <p:cNvSpPr>
                <a:spLocks noChangeArrowheads="1"/>
              </p:cNvSpPr>
              <p:nvPr/>
            </p:nvSpPr>
            <p:spPr bwMode="auto">
              <a:xfrm rot="2700000">
                <a:off x="7084003" y="2246012"/>
                <a:ext cx="1440000" cy="1440000"/>
              </a:xfrm>
              <a:prstGeom prst="rect">
                <a:avLst/>
              </a:prstGeom>
              <a:solidFill>
                <a:srgbClr val="0070C0"/>
              </a:solidFill>
              <a:ln w="25400" cap="flat" cmpd="sng" algn="ctr">
                <a:noFill/>
                <a:prstDash val="solid"/>
              </a:ln>
              <a:effectLst>
                <a:outerShdw blurRad="190500" dist="38100" dir="2700000" algn="tl" rotWithShape="0">
                  <a:prstClr val="black">
                    <a:alpha val="20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US" sz="16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2" name="Freeform 28"/>
              <p:cNvSpPr>
                <a:spLocks noEditPoints="1"/>
              </p:cNvSpPr>
              <p:nvPr/>
            </p:nvSpPr>
            <p:spPr bwMode="auto">
              <a:xfrm>
                <a:off x="5723670" y="2607118"/>
                <a:ext cx="721832" cy="688172"/>
              </a:xfrm>
              <a:custGeom>
                <a:avLst/>
                <a:gdLst>
                  <a:gd name="T0" fmla="*/ 188 w 490"/>
                  <a:gd name="T1" fmla="*/ 199 h 467"/>
                  <a:gd name="T2" fmla="*/ 162 w 490"/>
                  <a:gd name="T3" fmla="*/ 123 h 467"/>
                  <a:gd name="T4" fmla="*/ 162 w 490"/>
                  <a:gd name="T5" fmla="*/ 117 h 467"/>
                  <a:gd name="T6" fmla="*/ 329 w 490"/>
                  <a:gd name="T7" fmla="*/ 117 h 467"/>
                  <a:gd name="T8" fmla="*/ 329 w 490"/>
                  <a:gd name="T9" fmla="*/ 123 h 467"/>
                  <a:gd name="T10" fmla="*/ 303 w 490"/>
                  <a:gd name="T11" fmla="*/ 199 h 467"/>
                  <a:gd name="T12" fmla="*/ 391 w 490"/>
                  <a:gd name="T13" fmla="*/ 244 h 467"/>
                  <a:gd name="T14" fmla="*/ 445 w 490"/>
                  <a:gd name="T15" fmla="*/ 172 h 467"/>
                  <a:gd name="T16" fmla="*/ 445 w 490"/>
                  <a:gd name="T17" fmla="*/ 172 h 467"/>
                  <a:gd name="T18" fmla="*/ 407 w 490"/>
                  <a:gd name="T19" fmla="*/ 94 h 467"/>
                  <a:gd name="T20" fmla="*/ 375 w 490"/>
                  <a:gd name="T21" fmla="*/ 93 h 467"/>
                  <a:gd name="T22" fmla="*/ 337 w 490"/>
                  <a:gd name="T23" fmla="*/ 172 h 467"/>
                  <a:gd name="T24" fmla="*/ 337 w 490"/>
                  <a:gd name="T25" fmla="*/ 172 h 467"/>
                  <a:gd name="T26" fmla="*/ 391 w 490"/>
                  <a:gd name="T27" fmla="*/ 244 h 467"/>
                  <a:gd name="T28" fmla="*/ 344 w 490"/>
                  <a:gd name="T29" fmla="*/ 173 h 467"/>
                  <a:gd name="T30" fmla="*/ 349 w 490"/>
                  <a:gd name="T31" fmla="*/ 148 h 467"/>
                  <a:gd name="T32" fmla="*/ 430 w 490"/>
                  <a:gd name="T33" fmla="*/ 134 h 467"/>
                  <a:gd name="T34" fmla="*/ 434 w 490"/>
                  <a:gd name="T35" fmla="*/ 160 h 467"/>
                  <a:gd name="T36" fmla="*/ 422 w 490"/>
                  <a:gd name="T37" fmla="*/ 217 h 467"/>
                  <a:gd name="T38" fmla="*/ 360 w 490"/>
                  <a:gd name="T39" fmla="*/ 217 h 467"/>
                  <a:gd name="T40" fmla="*/ 137 w 490"/>
                  <a:gd name="T41" fmla="*/ 221 h 467"/>
                  <a:gd name="T42" fmla="*/ 154 w 490"/>
                  <a:gd name="T43" fmla="*/ 172 h 467"/>
                  <a:gd name="T44" fmla="*/ 154 w 490"/>
                  <a:gd name="T45" fmla="*/ 168 h 467"/>
                  <a:gd name="T46" fmla="*/ 99 w 490"/>
                  <a:gd name="T47" fmla="*/ 92 h 467"/>
                  <a:gd name="T48" fmla="*/ 46 w 490"/>
                  <a:gd name="T49" fmla="*/ 168 h 467"/>
                  <a:gd name="T50" fmla="*/ 46 w 490"/>
                  <a:gd name="T51" fmla="*/ 172 h 467"/>
                  <a:gd name="T52" fmla="*/ 62 w 490"/>
                  <a:gd name="T53" fmla="*/ 221 h 467"/>
                  <a:gd name="T54" fmla="*/ 68 w 490"/>
                  <a:gd name="T55" fmla="*/ 217 h 467"/>
                  <a:gd name="T56" fmla="*/ 56 w 490"/>
                  <a:gd name="T57" fmla="*/ 160 h 467"/>
                  <a:gd name="T58" fmla="*/ 61 w 490"/>
                  <a:gd name="T59" fmla="*/ 134 h 467"/>
                  <a:gd name="T60" fmla="*/ 142 w 490"/>
                  <a:gd name="T61" fmla="*/ 148 h 467"/>
                  <a:gd name="T62" fmla="*/ 146 w 490"/>
                  <a:gd name="T63" fmla="*/ 173 h 467"/>
                  <a:gd name="T64" fmla="*/ 100 w 490"/>
                  <a:gd name="T65" fmla="*/ 237 h 467"/>
                  <a:gd name="T66" fmla="*/ 262 w 490"/>
                  <a:gd name="T67" fmla="*/ 291 h 467"/>
                  <a:gd name="T68" fmla="*/ 252 w 490"/>
                  <a:gd name="T69" fmla="*/ 313 h 467"/>
                  <a:gd name="T70" fmla="*/ 314 w 490"/>
                  <a:gd name="T71" fmla="*/ 264 h 467"/>
                  <a:gd name="T72" fmla="*/ 402 w 490"/>
                  <a:gd name="T73" fmla="*/ 437 h 467"/>
                  <a:gd name="T74" fmla="*/ 119 w 490"/>
                  <a:gd name="T75" fmla="*/ 467 h 467"/>
                  <a:gd name="T76" fmla="*/ 88 w 490"/>
                  <a:gd name="T77" fmla="*/ 334 h 467"/>
                  <a:gd name="T78" fmla="*/ 231 w 490"/>
                  <a:gd name="T79" fmla="*/ 413 h 467"/>
                  <a:gd name="T80" fmla="*/ 238 w 490"/>
                  <a:gd name="T81" fmla="*/ 308 h 467"/>
                  <a:gd name="T82" fmla="*/ 229 w 490"/>
                  <a:gd name="T83" fmla="*/ 288 h 467"/>
                  <a:gd name="T84" fmla="*/ 259 w 490"/>
                  <a:gd name="T85" fmla="*/ 286 h 467"/>
                  <a:gd name="T86" fmla="*/ 262 w 490"/>
                  <a:gd name="T87" fmla="*/ 291 h 467"/>
                  <a:gd name="T88" fmla="*/ 490 w 490"/>
                  <a:gd name="T89" fmla="*/ 305 h 467"/>
                  <a:gd name="T90" fmla="*/ 412 w 490"/>
                  <a:gd name="T91" fmla="*/ 312 h 467"/>
                  <a:gd name="T92" fmla="*/ 416 w 490"/>
                  <a:gd name="T93" fmla="*/ 388 h 467"/>
                  <a:gd name="T94" fmla="*/ 490 w 490"/>
                  <a:gd name="T95" fmla="*/ 371 h 467"/>
                  <a:gd name="T96" fmla="*/ 16 w 490"/>
                  <a:gd name="T97" fmla="*/ 388 h 467"/>
                  <a:gd name="T98" fmla="*/ 74 w 490"/>
                  <a:gd name="T99" fmla="*/ 334 h 467"/>
                  <a:gd name="T100" fmla="*/ 139 w 490"/>
                  <a:gd name="T101" fmla="*/ 260 h 467"/>
                  <a:gd name="T102" fmla="*/ 0 w 490"/>
                  <a:gd name="T103" fmla="*/ 371 h 467"/>
                  <a:gd name="T104" fmla="*/ 245 w 490"/>
                  <a:gd name="T105" fmla="*/ 223 h 467"/>
                  <a:gd name="T106" fmla="*/ 317 w 490"/>
                  <a:gd name="T107" fmla="*/ 124 h 467"/>
                  <a:gd name="T108" fmla="*/ 310 w 490"/>
                  <a:gd name="T109" fmla="*/ 85 h 467"/>
                  <a:gd name="T110" fmla="*/ 274 w 490"/>
                  <a:gd name="T111" fmla="*/ 61 h 467"/>
                  <a:gd name="T112" fmla="*/ 216 w 490"/>
                  <a:gd name="T113" fmla="*/ 61 h 467"/>
                  <a:gd name="T114" fmla="*/ 185 w 490"/>
                  <a:gd name="T115" fmla="*/ 64 h 467"/>
                  <a:gd name="T116" fmla="*/ 178 w 490"/>
                  <a:gd name="T117" fmla="*/ 105 h 467"/>
                  <a:gd name="T118" fmla="*/ 197 w 490"/>
                  <a:gd name="T119" fmla="*/ 192 h 4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490" h="467">
                    <a:moveTo>
                      <a:pt x="245" y="235"/>
                    </a:moveTo>
                    <a:cubicBezTo>
                      <a:pt x="224" y="235"/>
                      <a:pt x="203" y="220"/>
                      <a:pt x="188" y="199"/>
                    </a:cubicBezTo>
                    <a:cubicBezTo>
                      <a:pt x="172" y="178"/>
                      <a:pt x="162" y="150"/>
                      <a:pt x="162" y="123"/>
                    </a:cubicBezTo>
                    <a:cubicBezTo>
                      <a:pt x="162" y="123"/>
                      <a:pt x="162" y="123"/>
                      <a:pt x="162" y="123"/>
                    </a:cubicBezTo>
                    <a:cubicBezTo>
                      <a:pt x="162" y="122"/>
                      <a:pt x="162" y="122"/>
                      <a:pt x="162" y="122"/>
                    </a:cubicBezTo>
                    <a:cubicBezTo>
                      <a:pt x="162" y="121"/>
                      <a:pt x="162" y="119"/>
                      <a:pt x="162" y="117"/>
                    </a:cubicBezTo>
                    <a:cubicBezTo>
                      <a:pt x="162" y="52"/>
                      <a:pt x="151" y="0"/>
                      <a:pt x="245" y="0"/>
                    </a:cubicBezTo>
                    <a:cubicBezTo>
                      <a:pt x="340" y="0"/>
                      <a:pt x="329" y="52"/>
                      <a:pt x="329" y="117"/>
                    </a:cubicBezTo>
                    <a:cubicBezTo>
                      <a:pt x="329" y="119"/>
                      <a:pt x="329" y="121"/>
                      <a:pt x="329" y="122"/>
                    </a:cubicBezTo>
                    <a:cubicBezTo>
                      <a:pt x="329" y="123"/>
                      <a:pt x="329" y="123"/>
                      <a:pt x="329" y="123"/>
                    </a:cubicBezTo>
                    <a:cubicBezTo>
                      <a:pt x="329" y="123"/>
                      <a:pt x="329" y="123"/>
                      <a:pt x="329" y="123"/>
                    </a:cubicBezTo>
                    <a:cubicBezTo>
                      <a:pt x="329" y="150"/>
                      <a:pt x="318" y="178"/>
                      <a:pt x="303" y="199"/>
                    </a:cubicBezTo>
                    <a:cubicBezTo>
                      <a:pt x="287" y="220"/>
                      <a:pt x="266" y="235"/>
                      <a:pt x="245" y="235"/>
                    </a:cubicBezTo>
                    <a:close/>
                    <a:moveTo>
                      <a:pt x="391" y="244"/>
                    </a:moveTo>
                    <a:cubicBezTo>
                      <a:pt x="404" y="244"/>
                      <a:pt x="418" y="235"/>
                      <a:pt x="428" y="221"/>
                    </a:cubicBezTo>
                    <a:cubicBezTo>
                      <a:pt x="438" y="208"/>
                      <a:pt x="445" y="190"/>
                      <a:pt x="445" y="172"/>
                    </a:cubicBezTo>
                    <a:cubicBezTo>
                      <a:pt x="445" y="172"/>
                      <a:pt x="445" y="172"/>
                      <a:pt x="445" y="172"/>
                    </a:cubicBezTo>
                    <a:cubicBezTo>
                      <a:pt x="445" y="172"/>
                      <a:pt x="445" y="172"/>
                      <a:pt x="445" y="172"/>
                    </a:cubicBezTo>
                    <a:cubicBezTo>
                      <a:pt x="445" y="170"/>
                      <a:pt x="445" y="169"/>
                      <a:pt x="445" y="168"/>
                    </a:cubicBezTo>
                    <a:cubicBezTo>
                      <a:pt x="445" y="131"/>
                      <a:pt x="451" y="99"/>
                      <a:pt x="407" y="94"/>
                    </a:cubicBezTo>
                    <a:cubicBezTo>
                      <a:pt x="402" y="93"/>
                      <a:pt x="397" y="92"/>
                      <a:pt x="391" y="92"/>
                    </a:cubicBezTo>
                    <a:cubicBezTo>
                      <a:pt x="385" y="92"/>
                      <a:pt x="380" y="93"/>
                      <a:pt x="375" y="93"/>
                    </a:cubicBezTo>
                    <a:cubicBezTo>
                      <a:pt x="331" y="99"/>
                      <a:pt x="337" y="130"/>
                      <a:pt x="337" y="168"/>
                    </a:cubicBezTo>
                    <a:cubicBezTo>
                      <a:pt x="337" y="169"/>
                      <a:pt x="337" y="170"/>
                      <a:pt x="337" y="172"/>
                    </a:cubicBezTo>
                    <a:cubicBezTo>
                      <a:pt x="337" y="172"/>
                      <a:pt x="337" y="172"/>
                      <a:pt x="337" y="172"/>
                    </a:cubicBezTo>
                    <a:cubicBezTo>
                      <a:pt x="337" y="172"/>
                      <a:pt x="337" y="172"/>
                      <a:pt x="337" y="172"/>
                    </a:cubicBezTo>
                    <a:cubicBezTo>
                      <a:pt x="337" y="190"/>
                      <a:pt x="344" y="208"/>
                      <a:pt x="354" y="221"/>
                    </a:cubicBezTo>
                    <a:cubicBezTo>
                      <a:pt x="364" y="235"/>
                      <a:pt x="377" y="244"/>
                      <a:pt x="391" y="244"/>
                    </a:cubicBezTo>
                    <a:close/>
                    <a:moveTo>
                      <a:pt x="360" y="217"/>
                    </a:moveTo>
                    <a:cubicBezTo>
                      <a:pt x="351" y="204"/>
                      <a:pt x="345" y="188"/>
                      <a:pt x="344" y="173"/>
                    </a:cubicBezTo>
                    <a:cubicBezTo>
                      <a:pt x="348" y="160"/>
                      <a:pt x="348" y="160"/>
                      <a:pt x="348" y="160"/>
                    </a:cubicBezTo>
                    <a:cubicBezTo>
                      <a:pt x="349" y="156"/>
                      <a:pt x="349" y="152"/>
                      <a:pt x="349" y="148"/>
                    </a:cubicBezTo>
                    <a:cubicBezTo>
                      <a:pt x="349" y="142"/>
                      <a:pt x="349" y="138"/>
                      <a:pt x="352" y="134"/>
                    </a:cubicBezTo>
                    <a:cubicBezTo>
                      <a:pt x="354" y="127"/>
                      <a:pt x="429" y="127"/>
                      <a:pt x="430" y="134"/>
                    </a:cubicBezTo>
                    <a:cubicBezTo>
                      <a:pt x="433" y="138"/>
                      <a:pt x="433" y="142"/>
                      <a:pt x="433" y="148"/>
                    </a:cubicBezTo>
                    <a:cubicBezTo>
                      <a:pt x="433" y="152"/>
                      <a:pt x="433" y="156"/>
                      <a:pt x="434" y="160"/>
                    </a:cubicBezTo>
                    <a:cubicBezTo>
                      <a:pt x="437" y="173"/>
                      <a:pt x="437" y="173"/>
                      <a:pt x="437" y="173"/>
                    </a:cubicBezTo>
                    <a:cubicBezTo>
                      <a:pt x="437" y="188"/>
                      <a:pt x="431" y="204"/>
                      <a:pt x="422" y="217"/>
                    </a:cubicBezTo>
                    <a:cubicBezTo>
                      <a:pt x="413" y="229"/>
                      <a:pt x="402" y="237"/>
                      <a:pt x="391" y="237"/>
                    </a:cubicBezTo>
                    <a:cubicBezTo>
                      <a:pt x="380" y="237"/>
                      <a:pt x="368" y="229"/>
                      <a:pt x="360" y="217"/>
                    </a:cubicBezTo>
                    <a:close/>
                    <a:moveTo>
                      <a:pt x="100" y="244"/>
                    </a:moveTo>
                    <a:cubicBezTo>
                      <a:pt x="113" y="244"/>
                      <a:pt x="127" y="235"/>
                      <a:pt x="137" y="221"/>
                    </a:cubicBezTo>
                    <a:cubicBezTo>
                      <a:pt x="147" y="208"/>
                      <a:pt x="154" y="190"/>
                      <a:pt x="154" y="172"/>
                    </a:cubicBezTo>
                    <a:cubicBezTo>
                      <a:pt x="154" y="172"/>
                      <a:pt x="154" y="172"/>
                      <a:pt x="154" y="172"/>
                    </a:cubicBezTo>
                    <a:cubicBezTo>
                      <a:pt x="154" y="172"/>
                      <a:pt x="154" y="172"/>
                      <a:pt x="154" y="172"/>
                    </a:cubicBezTo>
                    <a:cubicBezTo>
                      <a:pt x="154" y="170"/>
                      <a:pt x="154" y="169"/>
                      <a:pt x="154" y="168"/>
                    </a:cubicBezTo>
                    <a:cubicBezTo>
                      <a:pt x="154" y="130"/>
                      <a:pt x="160" y="99"/>
                      <a:pt x="114" y="93"/>
                    </a:cubicBezTo>
                    <a:cubicBezTo>
                      <a:pt x="110" y="92"/>
                      <a:pt x="105" y="92"/>
                      <a:pt x="99" y="92"/>
                    </a:cubicBezTo>
                    <a:cubicBezTo>
                      <a:pt x="93" y="92"/>
                      <a:pt x="87" y="93"/>
                      <a:pt x="82" y="94"/>
                    </a:cubicBezTo>
                    <a:cubicBezTo>
                      <a:pt x="40" y="100"/>
                      <a:pt x="46" y="131"/>
                      <a:pt x="46" y="168"/>
                    </a:cubicBezTo>
                    <a:cubicBezTo>
                      <a:pt x="46" y="169"/>
                      <a:pt x="46" y="170"/>
                      <a:pt x="46" y="172"/>
                    </a:cubicBezTo>
                    <a:cubicBezTo>
                      <a:pt x="46" y="172"/>
                      <a:pt x="46" y="172"/>
                      <a:pt x="46" y="172"/>
                    </a:cubicBezTo>
                    <a:cubicBezTo>
                      <a:pt x="46" y="172"/>
                      <a:pt x="46" y="172"/>
                      <a:pt x="46" y="172"/>
                    </a:cubicBezTo>
                    <a:cubicBezTo>
                      <a:pt x="46" y="190"/>
                      <a:pt x="52" y="208"/>
                      <a:pt x="62" y="221"/>
                    </a:cubicBezTo>
                    <a:cubicBezTo>
                      <a:pt x="72" y="235"/>
                      <a:pt x="86" y="244"/>
                      <a:pt x="100" y="244"/>
                    </a:cubicBezTo>
                    <a:close/>
                    <a:moveTo>
                      <a:pt x="68" y="217"/>
                    </a:moveTo>
                    <a:cubicBezTo>
                      <a:pt x="59" y="204"/>
                      <a:pt x="53" y="188"/>
                      <a:pt x="53" y="173"/>
                    </a:cubicBezTo>
                    <a:cubicBezTo>
                      <a:pt x="56" y="160"/>
                      <a:pt x="56" y="160"/>
                      <a:pt x="56" y="160"/>
                    </a:cubicBezTo>
                    <a:cubicBezTo>
                      <a:pt x="57" y="156"/>
                      <a:pt x="57" y="152"/>
                      <a:pt x="58" y="148"/>
                    </a:cubicBezTo>
                    <a:cubicBezTo>
                      <a:pt x="58" y="142"/>
                      <a:pt x="58" y="138"/>
                      <a:pt x="61" y="134"/>
                    </a:cubicBezTo>
                    <a:cubicBezTo>
                      <a:pt x="63" y="127"/>
                      <a:pt x="138" y="127"/>
                      <a:pt x="139" y="134"/>
                    </a:cubicBezTo>
                    <a:cubicBezTo>
                      <a:pt x="141" y="138"/>
                      <a:pt x="142" y="142"/>
                      <a:pt x="142" y="148"/>
                    </a:cubicBezTo>
                    <a:cubicBezTo>
                      <a:pt x="142" y="152"/>
                      <a:pt x="142" y="156"/>
                      <a:pt x="143" y="160"/>
                    </a:cubicBezTo>
                    <a:cubicBezTo>
                      <a:pt x="146" y="173"/>
                      <a:pt x="146" y="173"/>
                      <a:pt x="146" y="173"/>
                    </a:cubicBezTo>
                    <a:cubicBezTo>
                      <a:pt x="146" y="188"/>
                      <a:pt x="140" y="204"/>
                      <a:pt x="131" y="217"/>
                    </a:cubicBezTo>
                    <a:cubicBezTo>
                      <a:pt x="122" y="229"/>
                      <a:pt x="111" y="237"/>
                      <a:pt x="100" y="237"/>
                    </a:cubicBezTo>
                    <a:cubicBezTo>
                      <a:pt x="89" y="237"/>
                      <a:pt x="77" y="229"/>
                      <a:pt x="68" y="217"/>
                    </a:cubicBezTo>
                    <a:close/>
                    <a:moveTo>
                      <a:pt x="262" y="291"/>
                    </a:moveTo>
                    <a:cubicBezTo>
                      <a:pt x="253" y="308"/>
                      <a:pt x="253" y="308"/>
                      <a:pt x="253" y="308"/>
                    </a:cubicBezTo>
                    <a:cubicBezTo>
                      <a:pt x="252" y="310"/>
                      <a:pt x="251" y="311"/>
                      <a:pt x="252" y="313"/>
                    </a:cubicBezTo>
                    <a:cubicBezTo>
                      <a:pt x="260" y="412"/>
                      <a:pt x="260" y="412"/>
                      <a:pt x="260" y="412"/>
                    </a:cubicBezTo>
                    <a:cubicBezTo>
                      <a:pt x="285" y="360"/>
                      <a:pt x="299" y="326"/>
                      <a:pt x="314" y="264"/>
                    </a:cubicBezTo>
                    <a:cubicBezTo>
                      <a:pt x="364" y="275"/>
                      <a:pt x="402" y="298"/>
                      <a:pt x="402" y="334"/>
                    </a:cubicBezTo>
                    <a:cubicBezTo>
                      <a:pt x="402" y="437"/>
                      <a:pt x="402" y="437"/>
                      <a:pt x="402" y="437"/>
                    </a:cubicBezTo>
                    <a:cubicBezTo>
                      <a:pt x="402" y="454"/>
                      <a:pt x="388" y="467"/>
                      <a:pt x="371" y="467"/>
                    </a:cubicBezTo>
                    <a:cubicBezTo>
                      <a:pt x="287" y="467"/>
                      <a:pt x="203" y="467"/>
                      <a:pt x="119" y="467"/>
                    </a:cubicBezTo>
                    <a:cubicBezTo>
                      <a:pt x="102" y="467"/>
                      <a:pt x="88" y="454"/>
                      <a:pt x="88" y="437"/>
                    </a:cubicBezTo>
                    <a:cubicBezTo>
                      <a:pt x="88" y="402"/>
                      <a:pt x="88" y="368"/>
                      <a:pt x="88" y="334"/>
                    </a:cubicBezTo>
                    <a:cubicBezTo>
                      <a:pt x="88" y="298"/>
                      <a:pt x="126" y="275"/>
                      <a:pt x="176" y="264"/>
                    </a:cubicBezTo>
                    <a:cubicBezTo>
                      <a:pt x="191" y="327"/>
                      <a:pt x="206" y="360"/>
                      <a:pt x="231" y="413"/>
                    </a:cubicBezTo>
                    <a:cubicBezTo>
                      <a:pt x="239" y="313"/>
                      <a:pt x="239" y="313"/>
                      <a:pt x="239" y="313"/>
                    </a:cubicBezTo>
                    <a:cubicBezTo>
                      <a:pt x="239" y="311"/>
                      <a:pt x="239" y="310"/>
                      <a:pt x="238" y="308"/>
                    </a:cubicBezTo>
                    <a:cubicBezTo>
                      <a:pt x="229" y="291"/>
                      <a:pt x="229" y="291"/>
                      <a:pt x="229" y="291"/>
                    </a:cubicBezTo>
                    <a:cubicBezTo>
                      <a:pt x="228" y="290"/>
                      <a:pt x="228" y="289"/>
                      <a:pt x="229" y="288"/>
                    </a:cubicBezTo>
                    <a:cubicBezTo>
                      <a:pt x="229" y="287"/>
                      <a:pt x="230" y="286"/>
                      <a:pt x="231" y="286"/>
                    </a:cubicBezTo>
                    <a:cubicBezTo>
                      <a:pt x="241" y="286"/>
                      <a:pt x="250" y="286"/>
                      <a:pt x="259" y="286"/>
                    </a:cubicBezTo>
                    <a:cubicBezTo>
                      <a:pt x="261" y="286"/>
                      <a:pt x="262" y="287"/>
                      <a:pt x="262" y="288"/>
                    </a:cubicBezTo>
                    <a:cubicBezTo>
                      <a:pt x="263" y="289"/>
                      <a:pt x="263" y="290"/>
                      <a:pt x="262" y="291"/>
                    </a:cubicBezTo>
                    <a:close/>
                    <a:moveTo>
                      <a:pt x="490" y="371"/>
                    </a:moveTo>
                    <a:cubicBezTo>
                      <a:pt x="490" y="305"/>
                      <a:pt x="490" y="305"/>
                      <a:pt x="490" y="305"/>
                    </a:cubicBezTo>
                    <a:cubicBezTo>
                      <a:pt x="490" y="263"/>
                      <a:pt x="410" y="248"/>
                      <a:pt x="351" y="260"/>
                    </a:cubicBezTo>
                    <a:cubicBezTo>
                      <a:pt x="376" y="269"/>
                      <a:pt x="402" y="286"/>
                      <a:pt x="412" y="312"/>
                    </a:cubicBezTo>
                    <a:cubicBezTo>
                      <a:pt x="415" y="319"/>
                      <a:pt x="416" y="326"/>
                      <a:pt x="416" y="334"/>
                    </a:cubicBezTo>
                    <a:cubicBezTo>
                      <a:pt x="416" y="388"/>
                      <a:pt x="416" y="388"/>
                      <a:pt x="416" y="388"/>
                    </a:cubicBezTo>
                    <a:cubicBezTo>
                      <a:pt x="435" y="388"/>
                      <a:pt x="454" y="388"/>
                      <a:pt x="474" y="388"/>
                    </a:cubicBezTo>
                    <a:cubicBezTo>
                      <a:pt x="483" y="388"/>
                      <a:pt x="490" y="380"/>
                      <a:pt x="490" y="371"/>
                    </a:cubicBezTo>
                    <a:close/>
                    <a:moveTo>
                      <a:pt x="0" y="371"/>
                    </a:moveTo>
                    <a:cubicBezTo>
                      <a:pt x="0" y="380"/>
                      <a:pt x="7" y="388"/>
                      <a:pt x="16" y="388"/>
                    </a:cubicBezTo>
                    <a:cubicBezTo>
                      <a:pt x="36" y="388"/>
                      <a:pt x="55" y="388"/>
                      <a:pt x="74" y="388"/>
                    </a:cubicBezTo>
                    <a:cubicBezTo>
                      <a:pt x="74" y="334"/>
                      <a:pt x="74" y="334"/>
                      <a:pt x="74" y="334"/>
                    </a:cubicBezTo>
                    <a:cubicBezTo>
                      <a:pt x="74" y="326"/>
                      <a:pt x="75" y="319"/>
                      <a:pt x="78" y="312"/>
                    </a:cubicBezTo>
                    <a:cubicBezTo>
                      <a:pt x="88" y="286"/>
                      <a:pt x="114" y="269"/>
                      <a:pt x="139" y="260"/>
                    </a:cubicBezTo>
                    <a:cubicBezTo>
                      <a:pt x="80" y="248"/>
                      <a:pt x="0" y="263"/>
                      <a:pt x="0" y="305"/>
                    </a:cubicBezTo>
                    <a:cubicBezTo>
                      <a:pt x="0" y="327"/>
                      <a:pt x="0" y="349"/>
                      <a:pt x="0" y="371"/>
                    </a:cubicBezTo>
                    <a:close/>
                    <a:moveTo>
                      <a:pt x="197" y="192"/>
                    </a:moveTo>
                    <a:cubicBezTo>
                      <a:pt x="211" y="210"/>
                      <a:pt x="228" y="223"/>
                      <a:pt x="245" y="223"/>
                    </a:cubicBezTo>
                    <a:cubicBezTo>
                      <a:pt x="262" y="223"/>
                      <a:pt x="280" y="210"/>
                      <a:pt x="293" y="192"/>
                    </a:cubicBezTo>
                    <a:cubicBezTo>
                      <a:pt x="307" y="173"/>
                      <a:pt x="317" y="148"/>
                      <a:pt x="317" y="124"/>
                    </a:cubicBezTo>
                    <a:cubicBezTo>
                      <a:pt x="312" y="105"/>
                      <a:pt x="312" y="105"/>
                      <a:pt x="312" y="105"/>
                    </a:cubicBezTo>
                    <a:cubicBezTo>
                      <a:pt x="310" y="98"/>
                      <a:pt x="310" y="91"/>
                      <a:pt x="310" y="85"/>
                    </a:cubicBezTo>
                    <a:cubicBezTo>
                      <a:pt x="310" y="77"/>
                      <a:pt x="310" y="70"/>
                      <a:pt x="305" y="64"/>
                    </a:cubicBezTo>
                    <a:cubicBezTo>
                      <a:pt x="298" y="54"/>
                      <a:pt x="287" y="57"/>
                      <a:pt x="274" y="61"/>
                    </a:cubicBezTo>
                    <a:cubicBezTo>
                      <a:pt x="265" y="64"/>
                      <a:pt x="256" y="66"/>
                      <a:pt x="245" y="66"/>
                    </a:cubicBezTo>
                    <a:cubicBezTo>
                      <a:pt x="235" y="66"/>
                      <a:pt x="225" y="64"/>
                      <a:pt x="216" y="61"/>
                    </a:cubicBezTo>
                    <a:cubicBezTo>
                      <a:pt x="216" y="61"/>
                      <a:pt x="216" y="61"/>
                      <a:pt x="216" y="61"/>
                    </a:cubicBezTo>
                    <a:cubicBezTo>
                      <a:pt x="203" y="57"/>
                      <a:pt x="192" y="54"/>
                      <a:pt x="185" y="64"/>
                    </a:cubicBezTo>
                    <a:cubicBezTo>
                      <a:pt x="181" y="70"/>
                      <a:pt x="180" y="77"/>
                      <a:pt x="180" y="85"/>
                    </a:cubicBezTo>
                    <a:cubicBezTo>
                      <a:pt x="180" y="91"/>
                      <a:pt x="180" y="98"/>
                      <a:pt x="178" y="105"/>
                    </a:cubicBezTo>
                    <a:cubicBezTo>
                      <a:pt x="174" y="124"/>
                      <a:pt x="174" y="124"/>
                      <a:pt x="174" y="124"/>
                    </a:cubicBezTo>
                    <a:cubicBezTo>
                      <a:pt x="174" y="148"/>
                      <a:pt x="183" y="173"/>
                      <a:pt x="197" y="192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3" name="Freeform 29"/>
              <p:cNvSpPr>
                <a:spLocks noEditPoints="1"/>
              </p:cNvSpPr>
              <p:nvPr/>
            </p:nvSpPr>
            <p:spPr bwMode="auto">
              <a:xfrm>
                <a:off x="4193165" y="2651859"/>
                <a:ext cx="506744" cy="598693"/>
              </a:xfrm>
              <a:custGeom>
                <a:avLst/>
                <a:gdLst>
                  <a:gd name="T0" fmla="*/ 344 w 420"/>
                  <a:gd name="T1" fmla="*/ 0 h 496"/>
                  <a:gd name="T2" fmla="*/ 332 w 420"/>
                  <a:gd name="T3" fmla="*/ 79 h 496"/>
                  <a:gd name="T4" fmla="*/ 347 w 420"/>
                  <a:gd name="T5" fmla="*/ 92 h 496"/>
                  <a:gd name="T6" fmla="*/ 360 w 420"/>
                  <a:gd name="T7" fmla="*/ 13 h 496"/>
                  <a:gd name="T8" fmla="*/ 193 w 420"/>
                  <a:gd name="T9" fmla="*/ 362 h 496"/>
                  <a:gd name="T10" fmla="*/ 145 w 420"/>
                  <a:gd name="T11" fmla="*/ 410 h 496"/>
                  <a:gd name="T12" fmla="*/ 193 w 420"/>
                  <a:gd name="T13" fmla="*/ 362 h 496"/>
                  <a:gd name="T14" fmla="*/ 229 w 420"/>
                  <a:gd name="T15" fmla="*/ 362 h 496"/>
                  <a:gd name="T16" fmla="*/ 276 w 420"/>
                  <a:gd name="T17" fmla="*/ 410 h 496"/>
                  <a:gd name="T18" fmla="*/ 110 w 420"/>
                  <a:gd name="T19" fmla="*/ 362 h 496"/>
                  <a:gd name="T20" fmla="*/ 62 w 420"/>
                  <a:gd name="T21" fmla="*/ 410 h 496"/>
                  <a:gd name="T22" fmla="*/ 110 w 420"/>
                  <a:gd name="T23" fmla="*/ 362 h 496"/>
                  <a:gd name="T24" fmla="*/ 312 w 420"/>
                  <a:gd name="T25" fmla="*/ 291 h 496"/>
                  <a:gd name="T26" fmla="*/ 360 w 420"/>
                  <a:gd name="T27" fmla="*/ 338 h 496"/>
                  <a:gd name="T28" fmla="*/ 193 w 420"/>
                  <a:gd name="T29" fmla="*/ 291 h 496"/>
                  <a:gd name="T30" fmla="*/ 145 w 420"/>
                  <a:gd name="T31" fmla="*/ 338 h 496"/>
                  <a:gd name="T32" fmla="*/ 193 w 420"/>
                  <a:gd name="T33" fmla="*/ 291 h 496"/>
                  <a:gd name="T34" fmla="*/ 229 w 420"/>
                  <a:gd name="T35" fmla="*/ 291 h 496"/>
                  <a:gd name="T36" fmla="*/ 276 w 420"/>
                  <a:gd name="T37" fmla="*/ 338 h 496"/>
                  <a:gd name="T38" fmla="*/ 110 w 420"/>
                  <a:gd name="T39" fmla="*/ 291 h 496"/>
                  <a:gd name="T40" fmla="*/ 62 w 420"/>
                  <a:gd name="T41" fmla="*/ 338 h 496"/>
                  <a:gd name="T42" fmla="*/ 110 w 420"/>
                  <a:gd name="T43" fmla="*/ 291 h 496"/>
                  <a:gd name="T44" fmla="*/ 312 w 420"/>
                  <a:gd name="T45" fmla="*/ 219 h 496"/>
                  <a:gd name="T46" fmla="*/ 360 w 420"/>
                  <a:gd name="T47" fmla="*/ 267 h 496"/>
                  <a:gd name="T48" fmla="*/ 193 w 420"/>
                  <a:gd name="T49" fmla="*/ 219 h 496"/>
                  <a:gd name="T50" fmla="*/ 145 w 420"/>
                  <a:gd name="T51" fmla="*/ 267 h 496"/>
                  <a:gd name="T52" fmla="*/ 193 w 420"/>
                  <a:gd name="T53" fmla="*/ 219 h 496"/>
                  <a:gd name="T54" fmla="*/ 229 w 420"/>
                  <a:gd name="T55" fmla="*/ 219 h 496"/>
                  <a:gd name="T56" fmla="*/ 276 w 420"/>
                  <a:gd name="T57" fmla="*/ 267 h 496"/>
                  <a:gd name="T58" fmla="*/ 77 w 420"/>
                  <a:gd name="T59" fmla="*/ 0 h 496"/>
                  <a:gd name="T60" fmla="*/ 62 w 420"/>
                  <a:gd name="T61" fmla="*/ 13 h 496"/>
                  <a:gd name="T62" fmla="*/ 75 w 420"/>
                  <a:gd name="T63" fmla="*/ 92 h 496"/>
                  <a:gd name="T64" fmla="*/ 90 w 420"/>
                  <a:gd name="T65" fmla="*/ 79 h 496"/>
                  <a:gd name="T66" fmla="*/ 77 w 420"/>
                  <a:gd name="T67" fmla="*/ 0 h 496"/>
                  <a:gd name="T68" fmla="*/ 392 w 420"/>
                  <a:gd name="T69" fmla="*/ 441 h 496"/>
                  <a:gd name="T70" fmla="*/ 34 w 420"/>
                  <a:gd name="T71" fmla="*/ 446 h 496"/>
                  <a:gd name="T72" fmla="*/ 28 w 420"/>
                  <a:gd name="T73" fmla="*/ 185 h 496"/>
                  <a:gd name="T74" fmla="*/ 386 w 420"/>
                  <a:gd name="T75" fmla="*/ 180 h 496"/>
                  <a:gd name="T76" fmla="*/ 392 w 420"/>
                  <a:gd name="T77" fmla="*/ 460 h 496"/>
                  <a:gd name="T78" fmla="*/ 28 w 420"/>
                  <a:gd name="T79" fmla="*/ 463 h 496"/>
                  <a:gd name="T80" fmla="*/ 392 w 420"/>
                  <a:gd name="T81" fmla="*/ 460 h 496"/>
                  <a:gd name="T82" fmla="*/ 392 w 420"/>
                  <a:gd name="T83" fmla="*/ 481 h 496"/>
                  <a:gd name="T84" fmla="*/ 28 w 420"/>
                  <a:gd name="T85" fmla="*/ 478 h 496"/>
                  <a:gd name="T86" fmla="*/ 386 w 420"/>
                  <a:gd name="T87" fmla="*/ 41 h 496"/>
                  <a:gd name="T88" fmla="*/ 420 w 420"/>
                  <a:gd name="T89" fmla="*/ 463 h 496"/>
                  <a:gd name="T90" fmla="*/ 34 w 420"/>
                  <a:gd name="T91" fmla="*/ 496 h 496"/>
                  <a:gd name="T92" fmla="*/ 0 w 420"/>
                  <a:gd name="T93" fmla="*/ 75 h 496"/>
                  <a:gd name="T94" fmla="*/ 51 w 420"/>
                  <a:gd name="T95" fmla="*/ 41 h 496"/>
                  <a:gd name="T96" fmla="*/ 69 w 420"/>
                  <a:gd name="T97" fmla="*/ 106 h 496"/>
                  <a:gd name="T98" fmla="*/ 101 w 420"/>
                  <a:gd name="T99" fmla="*/ 88 h 496"/>
                  <a:gd name="T100" fmla="*/ 321 w 420"/>
                  <a:gd name="T101" fmla="*/ 41 h 496"/>
                  <a:gd name="T102" fmla="*/ 339 w 420"/>
                  <a:gd name="T103" fmla="*/ 106 h 496"/>
                  <a:gd name="T104" fmla="*/ 370 w 420"/>
                  <a:gd name="T105" fmla="*/ 88 h 496"/>
                  <a:gd name="T106" fmla="*/ 386 w 420"/>
                  <a:gd name="T107" fmla="*/ 41 h 4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420" h="496">
                    <a:moveTo>
                      <a:pt x="347" y="0"/>
                    </a:moveTo>
                    <a:cubicBezTo>
                      <a:pt x="346" y="0"/>
                      <a:pt x="345" y="0"/>
                      <a:pt x="344" y="0"/>
                    </a:cubicBezTo>
                    <a:cubicBezTo>
                      <a:pt x="337" y="0"/>
                      <a:pt x="332" y="6"/>
                      <a:pt x="332" y="13"/>
                    </a:cubicBezTo>
                    <a:cubicBezTo>
                      <a:pt x="332" y="79"/>
                      <a:pt x="332" y="79"/>
                      <a:pt x="332" y="79"/>
                    </a:cubicBezTo>
                    <a:cubicBezTo>
                      <a:pt x="332" y="87"/>
                      <a:pt x="337" y="92"/>
                      <a:pt x="344" y="92"/>
                    </a:cubicBezTo>
                    <a:cubicBezTo>
                      <a:pt x="345" y="92"/>
                      <a:pt x="346" y="92"/>
                      <a:pt x="347" y="92"/>
                    </a:cubicBezTo>
                    <a:cubicBezTo>
                      <a:pt x="354" y="92"/>
                      <a:pt x="360" y="87"/>
                      <a:pt x="360" y="79"/>
                    </a:cubicBezTo>
                    <a:cubicBezTo>
                      <a:pt x="360" y="13"/>
                      <a:pt x="360" y="13"/>
                      <a:pt x="360" y="13"/>
                    </a:cubicBezTo>
                    <a:cubicBezTo>
                      <a:pt x="360" y="6"/>
                      <a:pt x="354" y="0"/>
                      <a:pt x="347" y="0"/>
                    </a:cubicBezTo>
                    <a:close/>
                    <a:moveTo>
                      <a:pt x="193" y="362"/>
                    </a:moveTo>
                    <a:cubicBezTo>
                      <a:pt x="177" y="362"/>
                      <a:pt x="161" y="362"/>
                      <a:pt x="145" y="362"/>
                    </a:cubicBezTo>
                    <a:cubicBezTo>
                      <a:pt x="145" y="378"/>
                      <a:pt x="145" y="394"/>
                      <a:pt x="145" y="410"/>
                    </a:cubicBezTo>
                    <a:cubicBezTo>
                      <a:pt x="161" y="410"/>
                      <a:pt x="177" y="410"/>
                      <a:pt x="193" y="410"/>
                    </a:cubicBezTo>
                    <a:cubicBezTo>
                      <a:pt x="193" y="394"/>
                      <a:pt x="193" y="378"/>
                      <a:pt x="193" y="362"/>
                    </a:cubicBezTo>
                    <a:close/>
                    <a:moveTo>
                      <a:pt x="276" y="362"/>
                    </a:moveTo>
                    <a:cubicBezTo>
                      <a:pt x="260" y="362"/>
                      <a:pt x="245" y="362"/>
                      <a:pt x="229" y="362"/>
                    </a:cubicBezTo>
                    <a:cubicBezTo>
                      <a:pt x="229" y="378"/>
                      <a:pt x="229" y="394"/>
                      <a:pt x="229" y="410"/>
                    </a:cubicBezTo>
                    <a:cubicBezTo>
                      <a:pt x="245" y="410"/>
                      <a:pt x="260" y="410"/>
                      <a:pt x="276" y="410"/>
                    </a:cubicBezTo>
                    <a:cubicBezTo>
                      <a:pt x="276" y="394"/>
                      <a:pt x="276" y="378"/>
                      <a:pt x="276" y="362"/>
                    </a:cubicBezTo>
                    <a:close/>
                    <a:moveTo>
                      <a:pt x="110" y="362"/>
                    </a:moveTo>
                    <a:cubicBezTo>
                      <a:pt x="62" y="362"/>
                      <a:pt x="62" y="362"/>
                      <a:pt x="62" y="362"/>
                    </a:cubicBezTo>
                    <a:cubicBezTo>
                      <a:pt x="62" y="410"/>
                      <a:pt x="62" y="410"/>
                      <a:pt x="62" y="410"/>
                    </a:cubicBezTo>
                    <a:cubicBezTo>
                      <a:pt x="110" y="410"/>
                      <a:pt x="110" y="410"/>
                      <a:pt x="110" y="410"/>
                    </a:cubicBezTo>
                    <a:cubicBezTo>
                      <a:pt x="110" y="362"/>
                      <a:pt x="110" y="362"/>
                      <a:pt x="110" y="362"/>
                    </a:cubicBezTo>
                    <a:close/>
                    <a:moveTo>
                      <a:pt x="360" y="291"/>
                    </a:moveTo>
                    <a:cubicBezTo>
                      <a:pt x="312" y="291"/>
                      <a:pt x="312" y="291"/>
                      <a:pt x="312" y="291"/>
                    </a:cubicBezTo>
                    <a:cubicBezTo>
                      <a:pt x="312" y="338"/>
                      <a:pt x="312" y="338"/>
                      <a:pt x="312" y="338"/>
                    </a:cubicBezTo>
                    <a:cubicBezTo>
                      <a:pt x="360" y="338"/>
                      <a:pt x="360" y="338"/>
                      <a:pt x="360" y="338"/>
                    </a:cubicBezTo>
                    <a:cubicBezTo>
                      <a:pt x="360" y="291"/>
                      <a:pt x="360" y="291"/>
                      <a:pt x="360" y="291"/>
                    </a:cubicBezTo>
                    <a:close/>
                    <a:moveTo>
                      <a:pt x="193" y="291"/>
                    </a:moveTo>
                    <a:cubicBezTo>
                      <a:pt x="177" y="291"/>
                      <a:pt x="161" y="291"/>
                      <a:pt x="145" y="291"/>
                    </a:cubicBezTo>
                    <a:cubicBezTo>
                      <a:pt x="145" y="306"/>
                      <a:pt x="145" y="322"/>
                      <a:pt x="145" y="338"/>
                    </a:cubicBezTo>
                    <a:cubicBezTo>
                      <a:pt x="161" y="338"/>
                      <a:pt x="177" y="338"/>
                      <a:pt x="193" y="338"/>
                    </a:cubicBezTo>
                    <a:cubicBezTo>
                      <a:pt x="193" y="322"/>
                      <a:pt x="193" y="306"/>
                      <a:pt x="193" y="291"/>
                    </a:cubicBezTo>
                    <a:close/>
                    <a:moveTo>
                      <a:pt x="276" y="291"/>
                    </a:moveTo>
                    <a:cubicBezTo>
                      <a:pt x="260" y="291"/>
                      <a:pt x="245" y="291"/>
                      <a:pt x="229" y="291"/>
                    </a:cubicBezTo>
                    <a:cubicBezTo>
                      <a:pt x="229" y="306"/>
                      <a:pt x="229" y="322"/>
                      <a:pt x="229" y="338"/>
                    </a:cubicBezTo>
                    <a:cubicBezTo>
                      <a:pt x="245" y="338"/>
                      <a:pt x="260" y="338"/>
                      <a:pt x="276" y="338"/>
                    </a:cubicBezTo>
                    <a:cubicBezTo>
                      <a:pt x="276" y="322"/>
                      <a:pt x="276" y="306"/>
                      <a:pt x="276" y="291"/>
                    </a:cubicBezTo>
                    <a:close/>
                    <a:moveTo>
                      <a:pt x="110" y="291"/>
                    </a:moveTo>
                    <a:cubicBezTo>
                      <a:pt x="62" y="291"/>
                      <a:pt x="62" y="291"/>
                      <a:pt x="62" y="291"/>
                    </a:cubicBezTo>
                    <a:cubicBezTo>
                      <a:pt x="62" y="338"/>
                      <a:pt x="62" y="338"/>
                      <a:pt x="62" y="338"/>
                    </a:cubicBezTo>
                    <a:cubicBezTo>
                      <a:pt x="110" y="338"/>
                      <a:pt x="110" y="338"/>
                      <a:pt x="110" y="338"/>
                    </a:cubicBezTo>
                    <a:cubicBezTo>
                      <a:pt x="110" y="291"/>
                      <a:pt x="110" y="291"/>
                      <a:pt x="110" y="291"/>
                    </a:cubicBezTo>
                    <a:close/>
                    <a:moveTo>
                      <a:pt x="360" y="219"/>
                    </a:moveTo>
                    <a:cubicBezTo>
                      <a:pt x="312" y="219"/>
                      <a:pt x="312" y="219"/>
                      <a:pt x="312" y="219"/>
                    </a:cubicBezTo>
                    <a:cubicBezTo>
                      <a:pt x="312" y="267"/>
                      <a:pt x="312" y="267"/>
                      <a:pt x="312" y="267"/>
                    </a:cubicBezTo>
                    <a:cubicBezTo>
                      <a:pt x="360" y="267"/>
                      <a:pt x="360" y="267"/>
                      <a:pt x="360" y="267"/>
                    </a:cubicBezTo>
                    <a:cubicBezTo>
                      <a:pt x="360" y="219"/>
                      <a:pt x="360" y="219"/>
                      <a:pt x="360" y="219"/>
                    </a:cubicBezTo>
                    <a:close/>
                    <a:moveTo>
                      <a:pt x="193" y="219"/>
                    </a:moveTo>
                    <a:cubicBezTo>
                      <a:pt x="177" y="219"/>
                      <a:pt x="161" y="219"/>
                      <a:pt x="145" y="219"/>
                    </a:cubicBezTo>
                    <a:cubicBezTo>
                      <a:pt x="145" y="235"/>
                      <a:pt x="145" y="251"/>
                      <a:pt x="145" y="267"/>
                    </a:cubicBezTo>
                    <a:cubicBezTo>
                      <a:pt x="161" y="267"/>
                      <a:pt x="177" y="267"/>
                      <a:pt x="193" y="267"/>
                    </a:cubicBezTo>
                    <a:cubicBezTo>
                      <a:pt x="193" y="251"/>
                      <a:pt x="193" y="235"/>
                      <a:pt x="193" y="219"/>
                    </a:cubicBezTo>
                    <a:close/>
                    <a:moveTo>
                      <a:pt x="276" y="219"/>
                    </a:moveTo>
                    <a:cubicBezTo>
                      <a:pt x="260" y="219"/>
                      <a:pt x="245" y="219"/>
                      <a:pt x="229" y="219"/>
                    </a:cubicBezTo>
                    <a:cubicBezTo>
                      <a:pt x="229" y="235"/>
                      <a:pt x="229" y="251"/>
                      <a:pt x="229" y="267"/>
                    </a:cubicBezTo>
                    <a:cubicBezTo>
                      <a:pt x="245" y="267"/>
                      <a:pt x="260" y="267"/>
                      <a:pt x="276" y="267"/>
                    </a:cubicBezTo>
                    <a:cubicBezTo>
                      <a:pt x="276" y="251"/>
                      <a:pt x="276" y="235"/>
                      <a:pt x="276" y="219"/>
                    </a:cubicBezTo>
                    <a:close/>
                    <a:moveTo>
                      <a:pt x="77" y="0"/>
                    </a:moveTo>
                    <a:cubicBezTo>
                      <a:pt x="76" y="0"/>
                      <a:pt x="76" y="0"/>
                      <a:pt x="75" y="0"/>
                    </a:cubicBezTo>
                    <a:cubicBezTo>
                      <a:pt x="68" y="0"/>
                      <a:pt x="62" y="6"/>
                      <a:pt x="62" y="13"/>
                    </a:cubicBezTo>
                    <a:cubicBezTo>
                      <a:pt x="62" y="79"/>
                      <a:pt x="62" y="79"/>
                      <a:pt x="62" y="79"/>
                    </a:cubicBezTo>
                    <a:cubicBezTo>
                      <a:pt x="62" y="87"/>
                      <a:pt x="68" y="92"/>
                      <a:pt x="75" y="92"/>
                    </a:cubicBezTo>
                    <a:cubicBezTo>
                      <a:pt x="76" y="92"/>
                      <a:pt x="76" y="92"/>
                      <a:pt x="77" y="92"/>
                    </a:cubicBezTo>
                    <a:cubicBezTo>
                      <a:pt x="84" y="92"/>
                      <a:pt x="90" y="87"/>
                      <a:pt x="90" y="79"/>
                    </a:cubicBezTo>
                    <a:cubicBezTo>
                      <a:pt x="90" y="13"/>
                      <a:pt x="90" y="13"/>
                      <a:pt x="90" y="13"/>
                    </a:cubicBezTo>
                    <a:cubicBezTo>
                      <a:pt x="90" y="6"/>
                      <a:pt x="84" y="0"/>
                      <a:pt x="77" y="0"/>
                    </a:cubicBezTo>
                    <a:close/>
                    <a:moveTo>
                      <a:pt x="392" y="185"/>
                    </a:moveTo>
                    <a:cubicBezTo>
                      <a:pt x="392" y="441"/>
                      <a:pt x="392" y="441"/>
                      <a:pt x="392" y="441"/>
                    </a:cubicBezTo>
                    <a:cubicBezTo>
                      <a:pt x="392" y="443"/>
                      <a:pt x="389" y="446"/>
                      <a:pt x="386" y="446"/>
                    </a:cubicBezTo>
                    <a:cubicBezTo>
                      <a:pt x="34" y="446"/>
                      <a:pt x="34" y="446"/>
                      <a:pt x="34" y="446"/>
                    </a:cubicBezTo>
                    <a:cubicBezTo>
                      <a:pt x="31" y="446"/>
                      <a:pt x="28" y="443"/>
                      <a:pt x="28" y="441"/>
                    </a:cubicBezTo>
                    <a:cubicBezTo>
                      <a:pt x="28" y="185"/>
                      <a:pt x="28" y="185"/>
                      <a:pt x="28" y="185"/>
                    </a:cubicBezTo>
                    <a:cubicBezTo>
                      <a:pt x="28" y="182"/>
                      <a:pt x="31" y="180"/>
                      <a:pt x="34" y="180"/>
                    </a:cubicBezTo>
                    <a:cubicBezTo>
                      <a:pt x="386" y="180"/>
                      <a:pt x="386" y="180"/>
                      <a:pt x="386" y="180"/>
                    </a:cubicBezTo>
                    <a:cubicBezTo>
                      <a:pt x="389" y="180"/>
                      <a:pt x="392" y="182"/>
                      <a:pt x="392" y="185"/>
                    </a:cubicBezTo>
                    <a:close/>
                    <a:moveTo>
                      <a:pt x="392" y="460"/>
                    </a:moveTo>
                    <a:cubicBezTo>
                      <a:pt x="392" y="463"/>
                      <a:pt x="392" y="463"/>
                      <a:pt x="392" y="463"/>
                    </a:cubicBezTo>
                    <a:cubicBezTo>
                      <a:pt x="28" y="463"/>
                      <a:pt x="28" y="463"/>
                      <a:pt x="28" y="463"/>
                    </a:cubicBezTo>
                    <a:cubicBezTo>
                      <a:pt x="28" y="460"/>
                      <a:pt x="28" y="460"/>
                      <a:pt x="28" y="460"/>
                    </a:cubicBezTo>
                    <a:cubicBezTo>
                      <a:pt x="392" y="460"/>
                      <a:pt x="392" y="460"/>
                      <a:pt x="392" y="460"/>
                    </a:cubicBezTo>
                    <a:close/>
                    <a:moveTo>
                      <a:pt x="392" y="478"/>
                    </a:moveTo>
                    <a:cubicBezTo>
                      <a:pt x="392" y="481"/>
                      <a:pt x="392" y="481"/>
                      <a:pt x="392" y="481"/>
                    </a:cubicBezTo>
                    <a:cubicBezTo>
                      <a:pt x="28" y="481"/>
                      <a:pt x="28" y="481"/>
                      <a:pt x="28" y="481"/>
                    </a:cubicBezTo>
                    <a:cubicBezTo>
                      <a:pt x="28" y="478"/>
                      <a:pt x="28" y="478"/>
                      <a:pt x="28" y="478"/>
                    </a:cubicBezTo>
                    <a:cubicBezTo>
                      <a:pt x="392" y="478"/>
                      <a:pt x="392" y="478"/>
                      <a:pt x="392" y="478"/>
                    </a:cubicBezTo>
                    <a:close/>
                    <a:moveTo>
                      <a:pt x="386" y="41"/>
                    </a:moveTo>
                    <a:cubicBezTo>
                      <a:pt x="405" y="41"/>
                      <a:pt x="420" y="56"/>
                      <a:pt x="420" y="75"/>
                    </a:cubicBezTo>
                    <a:cubicBezTo>
                      <a:pt x="420" y="463"/>
                      <a:pt x="420" y="463"/>
                      <a:pt x="420" y="463"/>
                    </a:cubicBezTo>
                    <a:cubicBezTo>
                      <a:pt x="420" y="481"/>
                      <a:pt x="405" y="496"/>
                      <a:pt x="386" y="496"/>
                    </a:cubicBezTo>
                    <a:cubicBezTo>
                      <a:pt x="269" y="496"/>
                      <a:pt x="151" y="496"/>
                      <a:pt x="34" y="496"/>
                    </a:cubicBezTo>
                    <a:cubicBezTo>
                      <a:pt x="15" y="496"/>
                      <a:pt x="0" y="481"/>
                      <a:pt x="0" y="463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56"/>
                      <a:pt x="15" y="41"/>
                      <a:pt x="34" y="41"/>
                    </a:cubicBezTo>
                    <a:cubicBezTo>
                      <a:pt x="51" y="41"/>
                      <a:pt x="51" y="41"/>
                      <a:pt x="51" y="41"/>
                    </a:cubicBezTo>
                    <a:cubicBezTo>
                      <a:pt x="51" y="57"/>
                      <a:pt x="51" y="72"/>
                      <a:pt x="51" y="88"/>
                    </a:cubicBezTo>
                    <a:cubicBezTo>
                      <a:pt x="51" y="98"/>
                      <a:pt x="59" y="106"/>
                      <a:pt x="69" y="106"/>
                    </a:cubicBezTo>
                    <a:cubicBezTo>
                      <a:pt x="74" y="106"/>
                      <a:pt x="78" y="106"/>
                      <a:pt x="83" y="106"/>
                    </a:cubicBezTo>
                    <a:cubicBezTo>
                      <a:pt x="93" y="106"/>
                      <a:pt x="101" y="98"/>
                      <a:pt x="101" y="88"/>
                    </a:cubicBezTo>
                    <a:cubicBezTo>
                      <a:pt x="101" y="72"/>
                      <a:pt x="101" y="57"/>
                      <a:pt x="101" y="41"/>
                    </a:cubicBezTo>
                    <a:cubicBezTo>
                      <a:pt x="321" y="41"/>
                      <a:pt x="321" y="41"/>
                      <a:pt x="321" y="41"/>
                    </a:cubicBezTo>
                    <a:cubicBezTo>
                      <a:pt x="321" y="57"/>
                      <a:pt x="321" y="72"/>
                      <a:pt x="321" y="88"/>
                    </a:cubicBezTo>
                    <a:cubicBezTo>
                      <a:pt x="321" y="98"/>
                      <a:pt x="329" y="106"/>
                      <a:pt x="339" y="106"/>
                    </a:cubicBezTo>
                    <a:cubicBezTo>
                      <a:pt x="343" y="106"/>
                      <a:pt x="348" y="106"/>
                      <a:pt x="352" y="106"/>
                    </a:cubicBezTo>
                    <a:cubicBezTo>
                      <a:pt x="362" y="106"/>
                      <a:pt x="370" y="98"/>
                      <a:pt x="370" y="88"/>
                    </a:cubicBezTo>
                    <a:cubicBezTo>
                      <a:pt x="370" y="72"/>
                      <a:pt x="370" y="57"/>
                      <a:pt x="370" y="41"/>
                    </a:cubicBezTo>
                    <a:lnTo>
                      <a:pt x="386" y="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4" name="Freeform 30"/>
              <p:cNvSpPr>
                <a:spLocks noEditPoints="1"/>
              </p:cNvSpPr>
              <p:nvPr/>
            </p:nvSpPr>
            <p:spPr bwMode="auto">
              <a:xfrm>
                <a:off x="7516809" y="2606482"/>
                <a:ext cx="551558" cy="689448"/>
              </a:xfrm>
              <a:custGeom>
                <a:avLst/>
                <a:gdLst>
                  <a:gd name="T0" fmla="*/ 100 w 408"/>
                  <a:gd name="T1" fmla="*/ 18 h 510"/>
                  <a:gd name="T2" fmla="*/ 290 w 408"/>
                  <a:gd name="T3" fmla="*/ 368 h 510"/>
                  <a:gd name="T4" fmla="*/ 345 w 408"/>
                  <a:gd name="T5" fmla="*/ 332 h 510"/>
                  <a:gd name="T6" fmla="*/ 259 w 408"/>
                  <a:gd name="T7" fmla="*/ 464 h 510"/>
                  <a:gd name="T8" fmla="*/ 267 w 408"/>
                  <a:gd name="T9" fmla="*/ 397 h 510"/>
                  <a:gd name="T10" fmla="*/ 241 w 408"/>
                  <a:gd name="T11" fmla="*/ 345 h 510"/>
                  <a:gd name="T12" fmla="*/ 216 w 408"/>
                  <a:gd name="T13" fmla="*/ 319 h 510"/>
                  <a:gd name="T14" fmla="*/ 320 w 408"/>
                  <a:gd name="T15" fmla="*/ 474 h 510"/>
                  <a:gd name="T16" fmla="*/ 159 w 408"/>
                  <a:gd name="T17" fmla="*/ 386 h 510"/>
                  <a:gd name="T18" fmla="*/ 196 w 408"/>
                  <a:gd name="T19" fmla="*/ 298 h 510"/>
                  <a:gd name="T20" fmla="*/ 229 w 408"/>
                  <a:gd name="T21" fmla="*/ 381 h 510"/>
                  <a:gd name="T22" fmla="*/ 338 w 408"/>
                  <a:gd name="T23" fmla="*/ 391 h 510"/>
                  <a:gd name="T24" fmla="*/ 278 w 408"/>
                  <a:gd name="T25" fmla="*/ 440 h 510"/>
                  <a:gd name="T26" fmla="*/ 289 w 408"/>
                  <a:gd name="T27" fmla="*/ 332 h 510"/>
                  <a:gd name="T28" fmla="*/ 126 w 408"/>
                  <a:gd name="T29" fmla="*/ 86 h 510"/>
                  <a:gd name="T30" fmla="*/ 138 w 408"/>
                  <a:gd name="T31" fmla="*/ 19 h 510"/>
                  <a:gd name="T32" fmla="*/ 217 w 408"/>
                  <a:gd name="T33" fmla="*/ 61 h 510"/>
                  <a:gd name="T34" fmla="*/ 127 w 408"/>
                  <a:gd name="T35" fmla="*/ 22 h 510"/>
                  <a:gd name="T36" fmla="*/ 244 w 408"/>
                  <a:gd name="T37" fmla="*/ 59 h 510"/>
                  <a:gd name="T38" fmla="*/ 134 w 408"/>
                  <a:gd name="T39" fmla="*/ 343 h 510"/>
                  <a:gd name="T40" fmla="*/ 87 w 408"/>
                  <a:gd name="T41" fmla="*/ 290 h 510"/>
                  <a:gd name="T42" fmla="*/ 86 w 408"/>
                  <a:gd name="T43" fmla="*/ 290 h 510"/>
                  <a:gd name="T44" fmla="*/ 85 w 408"/>
                  <a:gd name="T45" fmla="*/ 290 h 510"/>
                  <a:gd name="T46" fmla="*/ 84 w 408"/>
                  <a:gd name="T47" fmla="*/ 289 h 510"/>
                  <a:gd name="T48" fmla="*/ 83 w 408"/>
                  <a:gd name="T49" fmla="*/ 289 h 510"/>
                  <a:gd name="T50" fmla="*/ 83 w 408"/>
                  <a:gd name="T51" fmla="*/ 289 h 510"/>
                  <a:gd name="T52" fmla="*/ 82 w 408"/>
                  <a:gd name="T53" fmla="*/ 289 h 510"/>
                  <a:gd name="T54" fmla="*/ 81 w 408"/>
                  <a:gd name="T55" fmla="*/ 288 h 510"/>
                  <a:gd name="T56" fmla="*/ 81 w 408"/>
                  <a:gd name="T57" fmla="*/ 288 h 510"/>
                  <a:gd name="T58" fmla="*/ 80 w 408"/>
                  <a:gd name="T59" fmla="*/ 287 h 510"/>
                  <a:gd name="T60" fmla="*/ 80 w 408"/>
                  <a:gd name="T61" fmla="*/ 287 h 510"/>
                  <a:gd name="T62" fmla="*/ 79 w 408"/>
                  <a:gd name="T63" fmla="*/ 286 h 510"/>
                  <a:gd name="T64" fmla="*/ 79 w 408"/>
                  <a:gd name="T65" fmla="*/ 285 h 510"/>
                  <a:gd name="T66" fmla="*/ 78 w 408"/>
                  <a:gd name="T67" fmla="*/ 284 h 510"/>
                  <a:gd name="T68" fmla="*/ 78 w 408"/>
                  <a:gd name="T69" fmla="*/ 284 h 510"/>
                  <a:gd name="T70" fmla="*/ 78 w 408"/>
                  <a:gd name="T71" fmla="*/ 283 h 510"/>
                  <a:gd name="T72" fmla="*/ 78 w 408"/>
                  <a:gd name="T73" fmla="*/ 282 h 510"/>
                  <a:gd name="T74" fmla="*/ 77 w 408"/>
                  <a:gd name="T75" fmla="*/ 281 h 510"/>
                  <a:gd name="T76" fmla="*/ 77 w 408"/>
                  <a:gd name="T77" fmla="*/ 281 h 510"/>
                  <a:gd name="T78" fmla="*/ 77 w 408"/>
                  <a:gd name="T79" fmla="*/ 280 h 510"/>
                  <a:gd name="T80" fmla="*/ 77 w 408"/>
                  <a:gd name="T81" fmla="*/ 279 h 510"/>
                  <a:gd name="T82" fmla="*/ 78 w 408"/>
                  <a:gd name="T83" fmla="*/ 278 h 510"/>
                  <a:gd name="T84" fmla="*/ 78 w 408"/>
                  <a:gd name="T85" fmla="*/ 278 h 510"/>
                  <a:gd name="T86" fmla="*/ 78 w 408"/>
                  <a:gd name="T87" fmla="*/ 277 h 510"/>
                  <a:gd name="T88" fmla="*/ 79 w 408"/>
                  <a:gd name="T89" fmla="*/ 276 h 510"/>
                  <a:gd name="T90" fmla="*/ 79 w 408"/>
                  <a:gd name="T91" fmla="*/ 275 h 510"/>
                  <a:gd name="T92" fmla="*/ 80 w 408"/>
                  <a:gd name="T93" fmla="*/ 274 h 510"/>
                  <a:gd name="T94" fmla="*/ 80 w 408"/>
                  <a:gd name="T95" fmla="*/ 274 h 510"/>
                  <a:gd name="T96" fmla="*/ 81 w 408"/>
                  <a:gd name="T97" fmla="*/ 273 h 510"/>
                  <a:gd name="T98" fmla="*/ 82 w 408"/>
                  <a:gd name="T99" fmla="*/ 272 h 510"/>
                  <a:gd name="T100" fmla="*/ 83 w 408"/>
                  <a:gd name="T101" fmla="*/ 272 h 510"/>
                  <a:gd name="T102" fmla="*/ 84 w 408"/>
                  <a:gd name="T103" fmla="*/ 272 h 510"/>
                  <a:gd name="T104" fmla="*/ 86 w 408"/>
                  <a:gd name="T105" fmla="*/ 271 h 510"/>
                  <a:gd name="T106" fmla="*/ 77 w 408"/>
                  <a:gd name="T107" fmla="*/ 280 h 510"/>
                  <a:gd name="T108" fmla="*/ 87 w 408"/>
                  <a:gd name="T109" fmla="*/ 237 h 510"/>
                  <a:gd name="T110" fmla="*/ 267 w 408"/>
                  <a:gd name="T111" fmla="*/ 175 h 510"/>
                  <a:gd name="T112" fmla="*/ 258 w 408"/>
                  <a:gd name="T113" fmla="*/ 115 h 510"/>
                  <a:gd name="T114" fmla="*/ 87 w 408"/>
                  <a:gd name="T115" fmla="*/ 115 h 510"/>
                  <a:gd name="T116" fmla="*/ 212 w 408"/>
                  <a:gd name="T117" fmla="*/ 28 h 5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408" h="510">
                    <a:moveTo>
                      <a:pt x="23" y="460"/>
                    </a:moveTo>
                    <a:cubicBezTo>
                      <a:pt x="147" y="460"/>
                      <a:pt x="147" y="460"/>
                      <a:pt x="147" y="460"/>
                    </a:cubicBezTo>
                    <a:cubicBezTo>
                      <a:pt x="140" y="447"/>
                      <a:pt x="135" y="434"/>
                      <a:pt x="132" y="419"/>
                    </a:cubicBezTo>
                    <a:cubicBezTo>
                      <a:pt x="43" y="419"/>
                      <a:pt x="43" y="419"/>
                      <a:pt x="43" y="419"/>
                    </a:cubicBezTo>
                    <a:cubicBezTo>
                      <a:pt x="43" y="59"/>
                      <a:pt x="43" y="59"/>
                      <a:pt x="43" y="59"/>
                    </a:cubicBezTo>
                    <a:cubicBezTo>
                      <a:pt x="100" y="59"/>
                      <a:pt x="100" y="59"/>
                      <a:pt x="100" y="59"/>
                    </a:cubicBezTo>
                    <a:cubicBezTo>
                      <a:pt x="100" y="18"/>
                      <a:pt x="100" y="18"/>
                      <a:pt x="100" y="18"/>
                    </a:cubicBezTo>
                    <a:cubicBezTo>
                      <a:pt x="23" y="18"/>
                      <a:pt x="23" y="18"/>
                      <a:pt x="23" y="18"/>
                    </a:cubicBezTo>
                    <a:cubicBezTo>
                      <a:pt x="11" y="18"/>
                      <a:pt x="0" y="28"/>
                      <a:pt x="0" y="41"/>
                    </a:cubicBezTo>
                    <a:cubicBezTo>
                      <a:pt x="0" y="437"/>
                      <a:pt x="0" y="437"/>
                      <a:pt x="0" y="437"/>
                    </a:cubicBezTo>
                    <a:cubicBezTo>
                      <a:pt x="0" y="450"/>
                      <a:pt x="11" y="460"/>
                      <a:pt x="23" y="460"/>
                    </a:cubicBezTo>
                    <a:close/>
                    <a:moveTo>
                      <a:pt x="286" y="370"/>
                    </a:moveTo>
                    <a:cubicBezTo>
                      <a:pt x="286" y="370"/>
                      <a:pt x="287" y="369"/>
                      <a:pt x="287" y="369"/>
                    </a:cubicBezTo>
                    <a:cubicBezTo>
                      <a:pt x="288" y="368"/>
                      <a:pt x="289" y="368"/>
                      <a:pt x="290" y="368"/>
                    </a:cubicBezTo>
                    <a:cubicBezTo>
                      <a:pt x="291" y="369"/>
                      <a:pt x="291" y="369"/>
                      <a:pt x="291" y="370"/>
                    </a:cubicBezTo>
                    <a:cubicBezTo>
                      <a:pt x="292" y="370"/>
                      <a:pt x="292" y="370"/>
                      <a:pt x="292" y="370"/>
                    </a:cubicBezTo>
                    <a:cubicBezTo>
                      <a:pt x="337" y="325"/>
                      <a:pt x="337" y="325"/>
                      <a:pt x="337" y="325"/>
                    </a:cubicBezTo>
                    <a:cubicBezTo>
                      <a:pt x="338" y="324"/>
                      <a:pt x="340" y="323"/>
                      <a:pt x="341" y="323"/>
                    </a:cubicBezTo>
                    <a:cubicBezTo>
                      <a:pt x="342" y="323"/>
                      <a:pt x="344" y="324"/>
                      <a:pt x="345" y="325"/>
                    </a:cubicBezTo>
                    <a:cubicBezTo>
                      <a:pt x="346" y="326"/>
                      <a:pt x="346" y="327"/>
                      <a:pt x="346" y="329"/>
                    </a:cubicBezTo>
                    <a:cubicBezTo>
                      <a:pt x="346" y="330"/>
                      <a:pt x="346" y="331"/>
                      <a:pt x="345" y="332"/>
                    </a:cubicBezTo>
                    <a:cubicBezTo>
                      <a:pt x="293" y="384"/>
                      <a:pt x="293" y="384"/>
                      <a:pt x="293" y="384"/>
                    </a:cubicBezTo>
                    <a:cubicBezTo>
                      <a:pt x="300" y="389"/>
                      <a:pt x="300" y="389"/>
                      <a:pt x="300" y="389"/>
                    </a:cubicBezTo>
                    <a:cubicBezTo>
                      <a:pt x="302" y="391"/>
                      <a:pt x="303" y="392"/>
                      <a:pt x="303" y="394"/>
                    </a:cubicBezTo>
                    <a:cubicBezTo>
                      <a:pt x="304" y="398"/>
                      <a:pt x="301" y="402"/>
                      <a:pt x="297" y="403"/>
                    </a:cubicBezTo>
                    <a:cubicBezTo>
                      <a:pt x="295" y="403"/>
                      <a:pt x="293" y="403"/>
                      <a:pt x="291" y="401"/>
                    </a:cubicBezTo>
                    <a:cubicBezTo>
                      <a:pt x="283" y="396"/>
                      <a:pt x="283" y="396"/>
                      <a:pt x="283" y="396"/>
                    </a:cubicBezTo>
                    <a:cubicBezTo>
                      <a:pt x="259" y="464"/>
                      <a:pt x="259" y="464"/>
                      <a:pt x="259" y="464"/>
                    </a:cubicBezTo>
                    <a:cubicBezTo>
                      <a:pt x="259" y="465"/>
                      <a:pt x="258" y="465"/>
                      <a:pt x="258" y="466"/>
                    </a:cubicBezTo>
                    <a:cubicBezTo>
                      <a:pt x="256" y="466"/>
                      <a:pt x="254" y="466"/>
                      <a:pt x="253" y="464"/>
                    </a:cubicBezTo>
                    <a:cubicBezTo>
                      <a:pt x="253" y="463"/>
                      <a:pt x="253" y="463"/>
                      <a:pt x="253" y="462"/>
                    </a:cubicBezTo>
                    <a:cubicBezTo>
                      <a:pt x="274" y="402"/>
                      <a:pt x="274" y="402"/>
                      <a:pt x="274" y="402"/>
                    </a:cubicBezTo>
                    <a:cubicBezTo>
                      <a:pt x="274" y="402"/>
                      <a:pt x="273" y="403"/>
                      <a:pt x="272" y="403"/>
                    </a:cubicBezTo>
                    <a:cubicBezTo>
                      <a:pt x="271" y="403"/>
                      <a:pt x="270" y="402"/>
                      <a:pt x="269" y="401"/>
                    </a:cubicBezTo>
                    <a:cubicBezTo>
                      <a:pt x="268" y="400"/>
                      <a:pt x="267" y="399"/>
                      <a:pt x="267" y="397"/>
                    </a:cubicBezTo>
                    <a:cubicBezTo>
                      <a:pt x="267" y="396"/>
                      <a:pt x="268" y="394"/>
                      <a:pt x="269" y="393"/>
                    </a:cubicBezTo>
                    <a:cubicBezTo>
                      <a:pt x="274" y="388"/>
                      <a:pt x="274" y="388"/>
                      <a:pt x="274" y="388"/>
                    </a:cubicBezTo>
                    <a:cubicBezTo>
                      <a:pt x="232" y="357"/>
                      <a:pt x="232" y="357"/>
                      <a:pt x="232" y="357"/>
                    </a:cubicBezTo>
                    <a:cubicBezTo>
                      <a:pt x="231" y="356"/>
                      <a:pt x="230" y="354"/>
                      <a:pt x="229" y="352"/>
                    </a:cubicBezTo>
                    <a:cubicBezTo>
                      <a:pt x="229" y="350"/>
                      <a:pt x="230" y="348"/>
                      <a:pt x="231" y="347"/>
                    </a:cubicBezTo>
                    <a:cubicBezTo>
                      <a:pt x="232" y="345"/>
                      <a:pt x="234" y="344"/>
                      <a:pt x="236" y="344"/>
                    </a:cubicBezTo>
                    <a:cubicBezTo>
                      <a:pt x="238" y="344"/>
                      <a:pt x="240" y="344"/>
                      <a:pt x="241" y="345"/>
                    </a:cubicBezTo>
                    <a:cubicBezTo>
                      <a:pt x="283" y="377"/>
                      <a:pt x="283" y="377"/>
                      <a:pt x="283" y="377"/>
                    </a:cubicBezTo>
                    <a:cubicBezTo>
                      <a:pt x="286" y="370"/>
                      <a:pt x="286" y="370"/>
                      <a:pt x="286" y="370"/>
                    </a:cubicBezTo>
                    <a:close/>
                    <a:moveTo>
                      <a:pt x="350" y="319"/>
                    </a:moveTo>
                    <a:cubicBezTo>
                      <a:pt x="342" y="310"/>
                      <a:pt x="331" y="303"/>
                      <a:pt x="320" y="299"/>
                    </a:cubicBezTo>
                    <a:cubicBezTo>
                      <a:pt x="309" y="294"/>
                      <a:pt x="296" y="291"/>
                      <a:pt x="283" y="291"/>
                    </a:cubicBezTo>
                    <a:cubicBezTo>
                      <a:pt x="271" y="291"/>
                      <a:pt x="258" y="294"/>
                      <a:pt x="247" y="299"/>
                    </a:cubicBezTo>
                    <a:cubicBezTo>
                      <a:pt x="236" y="303"/>
                      <a:pt x="225" y="310"/>
                      <a:pt x="216" y="319"/>
                    </a:cubicBezTo>
                    <a:cubicBezTo>
                      <a:pt x="208" y="328"/>
                      <a:pt x="201" y="338"/>
                      <a:pt x="196" y="350"/>
                    </a:cubicBezTo>
                    <a:cubicBezTo>
                      <a:pt x="191" y="361"/>
                      <a:pt x="189" y="373"/>
                      <a:pt x="189" y="386"/>
                    </a:cubicBezTo>
                    <a:cubicBezTo>
                      <a:pt x="189" y="399"/>
                      <a:pt x="191" y="411"/>
                      <a:pt x="196" y="422"/>
                    </a:cubicBezTo>
                    <a:cubicBezTo>
                      <a:pt x="201" y="434"/>
                      <a:pt x="208" y="444"/>
                      <a:pt x="216" y="453"/>
                    </a:cubicBezTo>
                    <a:cubicBezTo>
                      <a:pt x="225" y="462"/>
                      <a:pt x="236" y="469"/>
                      <a:pt x="247" y="474"/>
                    </a:cubicBezTo>
                    <a:cubicBezTo>
                      <a:pt x="258" y="478"/>
                      <a:pt x="271" y="481"/>
                      <a:pt x="283" y="481"/>
                    </a:cubicBezTo>
                    <a:cubicBezTo>
                      <a:pt x="296" y="481"/>
                      <a:pt x="309" y="478"/>
                      <a:pt x="320" y="474"/>
                    </a:cubicBezTo>
                    <a:cubicBezTo>
                      <a:pt x="331" y="469"/>
                      <a:pt x="342" y="462"/>
                      <a:pt x="350" y="453"/>
                    </a:cubicBezTo>
                    <a:cubicBezTo>
                      <a:pt x="359" y="444"/>
                      <a:pt x="366" y="434"/>
                      <a:pt x="371" y="422"/>
                    </a:cubicBezTo>
                    <a:cubicBezTo>
                      <a:pt x="376" y="411"/>
                      <a:pt x="378" y="399"/>
                      <a:pt x="378" y="386"/>
                    </a:cubicBezTo>
                    <a:cubicBezTo>
                      <a:pt x="378" y="373"/>
                      <a:pt x="376" y="361"/>
                      <a:pt x="371" y="350"/>
                    </a:cubicBezTo>
                    <a:cubicBezTo>
                      <a:pt x="366" y="338"/>
                      <a:pt x="359" y="328"/>
                      <a:pt x="350" y="319"/>
                    </a:cubicBezTo>
                    <a:close/>
                    <a:moveTo>
                      <a:pt x="196" y="298"/>
                    </a:moveTo>
                    <a:cubicBezTo>
                      <a:pt x="173" y="321"/>
                      <a:pt x="159" y="352"/>
                      <a:pt x="159" y="386"/>
                    </a:cubicBezTo>
                    <a:cubicBezTo>
                      <a:pt x="159" y="420"/>
                      <a:pt x="173" y="451"/>
                      <a:pt x="196" y="474"/>
                    </a:cubicBezTo>
                    <a:cubicBezTo>
                      <a:pt x="218" y="496"/>
                      <a:pt x="249" y="510"/>
                      <a:pt x="283" y="510"/>
                    </a:cubicBezTo>
                    <a:cubicBezTo>
                      <a:pt x="318" y="510"/>
                      <a:pt x="349" y="496"/>
                      <a:pt x="371" y="474"/>
                    </a:cubicBezTo>
                    <a:cubicBezTo>
                      <a:pt x="394" y="451"/>
                      <a:pt x="408" y="420"/>
                      <a:pt x="408" y="386"/>
                    </a:cubicBezTo>
                    <a:cubicBezTo>
                      <a:pt x="408" y="352"/>
                      <a:pt x="394" y="321"/>
                      <a:pt x="371" y="298"/>
                    </a:cubicBezTo>
                    <a:cubicBezTo>
                      <a:pt x="349" y="276"/>
                      <a:pt x="318" y="262"/>
                      <a:pt x="283" y="262"/>
                    </a:cubicBezTo>
                    <a:cubicBezTo>
                      <a:pt x="249" y="262"/>
                      <a:pt x="218" y="276"/>
                      <a:pt x="196" y="298"/>
                    </a:cubicBezTo>
                    <a:close/>
                    <a:moveTo>
                      <a:pt x="229" y="381"/>
                    </a:moveTo>
                    <a:cubicBezTo>
                      <a:pt x="202" y="381"/>
                      <a:pt x="202" y="381"/>
                      <a:pt x="202" y="381"/>
                    </a:cubicBezTo>
                    <a:cubicBezTo>
                      <a:pt x="199" y="381"/>
                      <a:pt x="197" y="383"/>
                      <a:pt x="197" y="386"/>
                    </a:cubicBezTo>
                    <a:cubicBezTo>
                      <a:pt x="197" y="389"/>
                      <a:pt x="199" y="391"/>
                      <a:pt x="202" y="391"/>
                    </a:cubicBezTo>
                    <a:cubicBezTo>
                      <a:pt x="229" y="391"/>
                      <a:pt x="229" y="391"/>
                      <a:pt x="229" y="391"/>
                    </a:cubicBezTo>
                    <a:cubicBezTo>
                      <a:pt x="232" y="391"/>
                      <a:pt x="235" y="389"/>
                      <a:pt x="235" y="386"/>
                    </a:cubicBezTo>
                    <a:cubicBezTo>
                      <a:pt x="235" y="383"/>
                      <a:pt x="232" y="381"/>
                      <a:pt x="229" y="381"/>
                    </a:cubicBezTo>
                    <a:close/>
                    <a:moveTo>
                      <a:pt x="338" y="391"/>
                    </a:moveTo>
                    <a:cubicBezTo>
                      <a:pt x="365" y="391"/>
                      <a:pt x="365" y="391"/>
                      <a:pt x="365" y="391"/>
                    </a:cubicBezTo>
                    <a:cubicBezTo>
                      <a:pt x="368" y="391"/>
                      <a:pt x="370" y="389"/>
                      <a:pt x="370" y="386"/>
                    </a:cubicBezTo>
                    <a:cubicBezTo>
                      <a:pt x="370" y="383"/>
                      <a:pt x="368" y="381"/>
                      <a:pt x="365" y="381"/>
                    </a:cubicBezTo>
                    <a:cubicBezTo>
                      <a:pt x="338" y="381"/>
                      <a:pt x="338" y="381"/>
                      <a:pt x="338" y="381"/>
                    </a:cubicBezTo>
                    <a:cubicBezTo>
                      <a:pt x="335" y="381"/>
                      <a:pt x="332" y="383"/>
                      <a:pt x="332" y="386"/>
                    </a:cubicBezTo>
                    <a:cubicBezTo>
                      <a:pt x="332" y="389"/>
                      <a:pt x="335" y="391"/>
                      <a:pt x="338" y="391"/>
                    </a:cubicBezTo>
                    <a:close/>
                    <a:moveTo>
                      <a:pt x="278" y="440"/>
                    </a:moveTo>
                    <a:cubicBezTo>
                      <a:pt x="278" y="467"/>
                      <a:pt x="278" y="467"/>
                      <a:pt x="278" y="467"/>
                    </a:cubicBezTo>
                    <a:cubicBezTo>
                      <a:pt x="278" y="470"/>
                      <a:pt x="280" y="473"/>
                      <a:pt x="283" y="473"/>
                    </a:cubicBezTo>
                    <a:cubicBezTo>
                      <a:pt x="286" y="473"/>
                      <a:pt x="289" y="470"/>
                      <a:pt x="289" y="467"/>
                    </a:cubicBezTo>
                    <a:cubicBezTo>
                      <a:pt x="289" y="440"/>
                      <a:pt x="289" y="440"/>
                      <a:pt x="289" y="440"/>
                    </a:cubicBezTo>
                    <a:cubicBezTo>
                      <a:pt x="289" y="437"/>
                      <a:pt x="286" y="435"/>
                      <a:pt x="283" y="435"/>
                    </a:cubicBezTo>
                    <a:cubicBezTo>
                      <a:pt x="280" y="435"/>
                      <a:pt x="278" y="437"/>
                      <a:pt x="278" y="440"/>
                    </a:cubicBezTo>
                    <a:close/>
                    <a:moveTo>
                      <a:pt x="289" y="332"/>
                    </a:moveTo>
                    <a:cubicBezTo>
                      <a:pt x="289" y="305"/>
                      <a:pt x="289" y="305"/>
                      <a:pt x="289" y="305"/>
                    </a:cubicBezTo>
                    <a:cubicBezTo>
                      <a:pt x="289" y="302"/>
                      <a:pt x="286" y="299"/>
                      <a:pt x="283" y="299"/>
                    </a:cubicBezTo>
                    <a:cubicBezTo>
                      <a:pt x="280" y="299"/>
                      <a:pt x="278" y="302"/>
                      <a:pt x="278" y="305"/>
                    </a:cubicBezTo>
                    <a:cubicBezTo>
                      <a:pt x="278" y="332"/>
                      <a:pt x="278" y="332"/>
                      <a:pt x="278" y="332"/>
                    </a:cubicBezTo>
                    <a:cubicBezTo>
                      <a:pt x="278" y="335"/>
                      <a:pt x="280" y="337"/>
                      <a:pt x="283" y="337"/>
                    </a:cubicBezTo>
                    <a:cubicBezTo>
                      <a:pt x="286" y="337"/>
                      <a:pt x="289" y="335"/>
                      <a:pt x="289" y="332"/>
                    </a:cubicBezTo>
                    <a:close/>
                    <a:moveTo>
                      <a:pt x="218" y="0"/>
                    </a:moveTo>
                    <a:cubicBezTo>
                      <a:pt x="224" y="0"/>
                      <a:pt x="228" y="2"/>
                      <a:pt x="232" y="4"/>
                    </a:cubicBezTo>
                    <a:cubicBezTo>
                      <a:pt x="235" y="7"/>
                      <a:pt x="237" y="11"/>
                      <a:pt x="237" y="14"/>
                    </a:cubicBezTo>
                    <a:cubicBezTo>
                      <a:pt x="237" y="72"/>
                      <a:pt x="237" y="72"/>
                      <a:pt x="237" y="72"/>
                    </a:cubicBezTo>
                    <a:cubicBezTo>
                      <a:pt x="237" y="75"/>
                      <a:pt x="235" y="79"/>
                      <a:pt x="232" y="82"/>
                    </a:cubicBezTo>
                    <a:cubicBezTo>
                      <a:pt x="228" y="84"/>
                      <a:pt x="224" y="86"/>
                      <a:pt x="218" y="86"/>
                    </a:cubicBezTo>
                    <a:cubicBezTo>
                      <a:pt x="126" y="86"/>
                      <a:pt x="126" y="86"/>
                      <a:pt x="126" y="86"/>
                    </a:cubicBezTo>
                    <a:cubicBezTo>
                      <a:pt x="121" y="86"/>
                      <a:pt x="116" y="84"/>
                      <a:pt x="113" y="82"/>
                    </a:cubicBezTo>
                    <a:cubicBezTo>
                      <a:pt x="110" y="79"/>
                      <a:pt x="108" y="75"/>
                      <a:pt x="108" y="72"/>
                    </a:cubicBezTo>
                    <a:cubicBezTo>
                      <a:pt x="108" y="14"/>
                      <a:pt x="108" y="14"/>
                      <a:pt x="108" y="14"/>
                    </a:cubicBezTo>
                    <a:cubicBezTo>
                      <a:pt x="108" y="11"/>
                      <a:pt x="110" y="7"/>
                      <a:pt x="113" y="4"/>
                    </a:cubicBezTo>
                    <a:cubicBezTo>
                      <a:pt x="116" y="2"/>
                      <a:pt x="121" y="0"/>
                      <a:pt x="126" y="0"/>
                    </a:cubicBezTo>
                    <a:cubicBezTo>
                      <a:pt x="218" y="0"/>
                      <a:pt x="218" y="0"/>
                      <a:pt x="218" y="0"/>
                    </a:cubicBezTo>
                    <a:close/>
                    <a:moveTo>
                      <a:pt x="138" y="19"/>
                    </a:moveTo>
                    <a:cubicBezTo>
                      <a:pt x="206" y="19"/>
                      <a:pt x="206" y="19"/>
                      <a:pt x="206" y="19"/>
                    </a:cubicBezTo>
                    <a:cubicBezTo>
                      <a:pt x="210" y="19"/>
                      <a:pt x="214" y="20"/>
                      <a:pt x="217" y="22"/>
                    </a:cubicBezTo>
                    <a:cubicBezTo>
                      <a:pt x="217" y="22"/>
                      <a:pt x="217" y="22"/>
                      <a:pt x="217" y="22"/>
                    </a:cubicBezTo>
                    <a:cubicBezTo>
                      <a:pt x="220" y="25"/>
                      <a:pt x="222" y="29"/>
                      <a:pt x="222" y="33"/>
                    </a:cubicBezTo>
                    <a:cubicBezTo>
                      <a:pt x="222" y="51"/>
                      <a:pt x="222" y="51"/>
                      <a:pt x="222" y="51"/>
                    </a:cubicBezTo>
                    <a:cubicBezTo>
                      <a:pt x="222" y="55"/>
                      <a:pt x="220" y="58"/>
                      <a:pt x="217" y="61"/>
                    </a:cubicBezTo>
                    <a:cubicBezTo>
                      <a:pt x="217" y="61"/>
                      <a:pt x="217" y="61"/>
                      <a:pt x="217" y="61"/>
                    </a:cubicBezTo>
                    <a:cubicBezTo>
                      <a:pt x="214" y="63"/>
                      <a:pt x="210" y="65"/>
                      <a:pt x="206" y="65"/>
                    </a:cubicBezTo>
                    <a:cubicBezTo>
                      <a:pt x="138" y="65"/>
                      <a:pt x="138" y="65"/>
                      <a:pt x="138" y="65"/>
                    </a:cubicBezTo>
                    <a:cubicBezTo>
                      <a:pt x="134" y="65"/>
                      <a:pt x="130" y="63"/>
                      <a:pt x="127" y="61"/>
                    </a:cubicBezTo>
                    <a:cubicBezTo>
                      <a:pt x="127" y="61"/>
                      <a:pt x="127" y="61"/>
                      <a:pt x="127" y="61"/>
                    </a:cubicBezTo>
                    <a:cubicBezTo>
                      <a:pt x="124" y="58"/>
                      <a:pt x="122" y="55"/>
                      <a:pt x="122" y="51"/>
                    </a:cubicBezTo>
                    <a:cubicBezTo>
                      <a:pt x="122" y="33"/>
                      <a:pt x="122" y="33"/>
                      <a:pt x="122" y="33"/>
                    </a:cubicBezTo>
                    <a:cubicBezTo>
                      <a:pt x="122" y="29"/>
                      <a:pt x="124" y="25"/>
                      <a:pt x="127" y="22"/>
                    </a:cubicBezTo>
                    <a:cubicBezTo>
                      <a:pt x="127" y="22"/>
                      <a:pt x="127" y="22"/>
                      <a:pt x="127" y="22"/>
                    </a:cubicBezTo>
                    <a:cubicBezTo>
                      <a:pt x="130" y="20"/>
                      <a:pt x="134" y="19"/>
                      <a:pt x="138" y="19"/>
                    </a:cubicBezTo>
                    <a:close/>
                    <a:moveTo>
                      <a:pt x="344" y="243"/>
                    </a:moveTo>
                    <a:cubicBezTo>
                      <a:pt x="344" y="41"/>
                      <a:pt x="344" y="41"/>
                      <a:pt x="344" y="41"/>
                    </a:cubicBezTo>
                    <a:cubicBezTo>
                      <a:pt x="344" y="28"/>
                      <a:pt x="334" y="18"/>
                      <a:pt x="321" y="18"/>
                    </a:cubicBezTo>
                    <a:cubicBezTo>
                      <a:pt x="244" y="18"/>
                      <a:pt x="244" y="18"/>
                      <a:pt x="244" y="18"/>
                    </a:cubicBezTo>
                    <a:cubicBezTo>
                      <a:pt x="244" y="59"/>
                      <a:pt x="244" y="59"/>
                      <a:pt x="244" y="59"/>
                    </a:cubicBezTo>
                    <a:cubicBezTo>
                      <a:pt x="302" y="59"/>
                      <a:pt x="302" y="59"/>
                      <a:pt x="302" y="59"/>
                    </a:cubicBezTo>
                    <a:cubicBezTo>
                      <a:pt x="302" y="92"/>
                      <a:pt x="302" y="92"/>
                      <a:pt x="302" y="92"/>
                    </a:cubicBezTo>
                    <a:cubicBezTo>
                      <a:pt x="302" y="232"/>
                      <a:pt x="302" y="232"/>
                      <a:pt x="302" y="232"/>
                    </a:cubicBezTo>
                    <a:cubicBezTo>
                      <a:pt x="317" y="234"/>
                      <a:pt x="331" y="238"/>
                      <a:pt x="344" y="243"/>
                    </a:cubicBezTo>
                    <a:close/>
                    <a:moveTo>
                      <a:pt x="87" y="324"/>
                    </a:moveTo>
                    <a:cubicBezTo>
                      <a:pt x="141" y="324"/>
                      <a:pt x="141" y="324"/>
                      <a:pt x="141" y="324"/>
                    </a:cubicBezTo>
                    <a:cubicBezTo>
                      <a:pt x="139" y="330"/>
                      <a:pt x="136" y="336"/>
                      <a:pt x="134" y="343"/>
                    </a:cubicBezTo>
                    <a:cubicBezTo>
                      <a:pt x="87" y="343"/>
                      <a:pt x="87" y="343"/>
                      <a:pt x="87" y="343"/>
                    </a:cubicBezTo>
                    <a:cubicBezTo>
                      <a:pt x="82" y="343"/>
                      <a:pt x="77" y="339"/>
                      <a:pt x="77" y="333"/>
                    </a:cubicBezTo>
                    <a:cubicBezTo>
                      <a:pt x="77" y="333"/>
                      <a:pt x="77" y="333"/>
                      <a:pt x="77" y="333"/>
                    </a:cubicBezTo>
                    <a:cubicBezTo>
                      <a:pt x="77" y="328"/>
                      <a:pt x="82" y="324"/>
                      <a:pt x="87" y="324"/>
                    </a:cubicBezTo>
                    <a:close/>
                    <a:moveTo>
                      <a:pt x="162" y="290"/>
                    </a:moveTo>
                    <a:cubicBezTo>
                      <a:pt x="87" y="290"/>
                      <a:pt x="87" y="290"/>
                      <a:pt x="87" y="290"/>
                    </a:cubicBezTo>
                    <a:cubicBezTo>
                      <a:pt x="87" y="290"/>
                      <a:pt x="87" y="290"/>
                      <a:pt x="87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2" y="289"/>
                      <a:pt x="82" y="289"/>
                      <a:pt x="82" y="289"/>
                    </a:cubicBezTo>
                    <a:cubicBezTo>
                      <a:pt x="82" y="289"/>
                      <a:pt x="82" y="289"/>
                      <a:pt x="82" y="289"/>
                    </a:cubicBezTo>
                    <a:cubicBezTo>
                      <a:pt x="82" y="289"/>
                      <a:pt x="82" y="289"/>
                      <a:pt x="82" y="289"/>
                    </a:cubicBezTo>
                    <a:cubicBezTo>
                      <a:pt x="82" y="289"/>
                      <a:pt x="82" y="289"/>
                      <a:pt x="82" y="289"/>
                    </a:cubicBezTo>
                    <a:cubicBezTo>
                      <a:pt x="82" y="289"/>
                      <a:pt x="82" y="289"/>
                      <a:pt x="82" y="289"/>
                    </a:cubicBezTo>
                    <a:cubicBezTo>
                      <a:pt x="82" y="289"/>
                      <a:pt x="82" y="289"/>
                      <a:pt x="82" y="289"/>
                    </a:cubicBezTo>
                    <a:cubicBezTo>
                      <a:pt x="82" y="288"/>
                      <a:pt x="82" y="288"/>
                      <a:pt x="82" y="288"/>
                    </a:cubicBezTo>
                    <a:cubicBezTo>
                      <a:pt x="82" y="288"/>
                      <a:pt x="82" y="288"/>
                      <a:pt x="82" y="288"/>
                    </a:cubicBezTo>
                    <a:cubicBezTo>
                      <a:pt x="82" y="288"/>
                      <a:pt x="82" y="288"/>
                      <a:pt x="82" y="288"/>
                    </a:cubicBezTo>
                    <a:cubicBezTo>
                      <a:pt x="82" y="288"/>
                      <a:pt x="82" y="288"/>
                      <a:pt x="82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7"/>
                      <a:pt x="81" y="287"/>
                      <a:pt x="81" y="287"/>
                    </a:cubicBezTo>
                    <a:cubicBezTo>
                      <a:pt x="81" y="287"/>
                      <a:pt x="81" y="287"/>
                      <a:pt x="81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6"/>
                      <a:pt x="80" y="286"/>
                      <a:pt x="80" y="286"/>
                    </a:cubicBezTo>
                    <a:cubicBezTo>
                      <a:pt x="80" y="286"/>
                      <a:pt x="80" y="286"/>
                      <a:pt x="80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5"/>
                      <a:pt x="79" y="285"/>
                      <a:pt x="79" y="285"/>
                    </a:cubicBezTo>
                    <a:cubicBezTo>
                      <a:pt x="79" y="285"/>
                      <a:pt x="79" y="285"/>
                      <a:pt x="79" y="285"/>
                    </a:cubicBezTo>
                    <a:cubicBezTo>
                      <a:pt x="79" y="285"/>
                      <a:pt x="79" y="285"/>
                      <a:pt x="79" y="285"/>
                    </a:cubicBezTo>
                    <a:cubicBezTo>
                      <a:pt x="79" y="285"/>
                      <a:pt x="79" y="285"/>
                      <a:pt x="79" y="285"/>
                    </a:cubicBezTo>
                    <a:cubicBezTo>
                      <a:pt x="79" y="285"/>
                      <a:pt x="79" y="285"/>
                      <a:pt x="79" y="285"/>
                    </a:cubicBezTo>
                    <a:cubicBezTo>
                      <a:pt x="79" y="285"/>
                      <a:pt x="79" y="285"/>
                      <a:pt x="79" y="285"/>
                    </a:cubicBezTo>
                    <a:cubicBezTo>
                      <a:pt x="78" y="285"/>
                      <a:pt x="78" y="285"/>
                      <a:pt x="78" y="285"/>
                    </a:cubicBezTo>
                    <a:cubicBezTo>
                      <a:pt x="78" y="285"/>
                      <a:pt x="78" y="285"/>
                      <a:pt x="78" y="285"/>
                    </a:cubicBezTo>
                    <a:cubicBezTo>
                      <a:pt x="78" y="285"/>
                      <a:pt x="78" y="285"/>
                      <a:pt x="78" y="285"/>
                    </a:cubicBezTo>
                    <a:cubicBezTo>
                      <a:pt x="78" y="285"/>
                      <a:pt x="78" y="285"/>
                      <a:pt x="78" y="285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2"/>
                      <a:pt x="78" y="282"/>
                      <a:pt x="78" y="282"/>
                    </a:cubicBezTo>
                    <a:cubicBezTo>
                      <a:pt x="78" y="282"/>
                      <a:pt x="78" y="282"/>
                      <a:pt x="78" y="282"/>
                    </a:cubicBezTo>
                    <a:cubicBezTo>
                      <a:pt x="78" y="282"/>
                      <a:pt x="78" y="282"/>
                      <a:pt x="78" y="282"/>
                    </a:cubicBezTo>
                    <a:cubicBezTo>
                      <a:pt x="78" y="282"/>
                      <a:pt x="78" y="282"/>
                      <a:pt x="78" y="282"/>
                    </a:cubicBezTo>
                    <a:cubicBezTo>
                      <a:pt x="77" y="282"/>
                      <a:pt x="77" y="282"/>
                      <a:pt x="77" y="282"/>
                    </a:cubicBezTo>
                    <a:cubicBezTo>
                      <a:pt x="77" y="282"/>
                      <a:pt x="77" y="282"/>
                      <a:pt x="77" y="282"/>
                    </a:cubicBezTo>
                    <a:cubicBezTo>
                      <a:pt x="77" y="282"/>
                      <a:pt x="77" y="282"/>
                      <a:pt x="77" y="282"/>
                    </a:cubicBezTo>
                    <a:cubicBezTo>
                      <a:pt x="77" y="282"/>
                      <a:pt x="77" y="282"/>
                      <a:pt x="77" y="282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79"/>
                      <a:pt x="77" y="279"/>
                      <a:pt x="77" y="279"/>
                    </a:cubicBezTo>
                    <a:cubicBezTo>
                      <a:pt x="77" y="279"/>
                      <a:pt x="77" y="279"/>
                      <a:pt x="77" y="279"/>
                    </a:cubicBezTo>
                    <a:cubicBezTo>
                      <a:pt x="77" y="279"/>
                      <a:pt x="77" y="279"/>
                      <a:pt x="77" y="279"/>
                    </a:cubicBezTo>
                    <a:cubicBezTo>
                      <a:pt x="77" y="279"/>
                      <a:pt x="77" y="279"/>
                      <a:pt x="77" y="279"/>
                    </a:cubicBezTo>
                    <a:cubicBezTo>
                      <a:pt x="78" y="279"/>
                      <a:pt x="78" y="279"/>
                      <a:pt x="78" y="279"/>
                    </a:cubicBezTo>
                    <a:cubicBezTo>
                      <a:pt x="78" y="279"/>
                      <a:pt x="78" y="279"/>
                      <a:pt x="78" y="279"/>
                    </a:cubicBezTo>
                    <a:cubicBezTo>
                      <a:pt x="78" y="279"/>
                      <a:pt x="78" y="279"/>
                      <a:pt x="78" y="279"/>
                    </a:cubicBezTo>
                    <a:cubicBezTo>
                      <a:pt x="78" y="279"/>
                      <a:pt x="78" y="279"/>
                      <a:pt x="78" y="279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6"/>
                      <a:pt x="78" y="276"/>
                      <a:pt x="78" y="276"/>
                    </a:cubicBezTo>
                    <a:cubicBezTo>
                      <a:pt x="78" y="276"/>
                      <a:pt x="78" y="276"/>
                      <a:pt x="78" y="276"/>
                    </a:cubicBezTo>
                    <a:cubicBezTo>
                      <a:pt x="78" y="276"/>
                      <a:pt x="78" y="276"/>
                      <a:pt x="78" y="276"/>
                    </a:cubicBezTo>
                    <a:cubicBezTo>
                      <a:pt x="78" y="276"/>
                      <a:pt x="78" y="276"/>
                      <a:pt x="78" y="276"/>
                    </a:cubicBezTo>
                    <a:cubicBezTo>
                      <a:pt x="78" y="276"/>
                      <a:pt x="78" y="276"/>
                      <a:pt x="78" y="276"/>
                    </a:cubicBezTo>
                    <a:cubicBezTo>
                      <a:pt x="79" y="276"/>
                      <a:pt x="79" y="276"/>
                      <a:pt x="79" y="276"/>
                    </a:cubicBezTo>
                    <a:cubicBezTo>
                      <a:pt x="79" y="276"/>
                      <a:pt x="79" y="276"/>
                      <a:pt x="79" y="276"/>
                    </a:cubicBezTo>
                    <a:cubicBezTo>
                      <a:pt x="79" y="276"/>
                      <a:pt x="79" y="276"/>
                      <a:pt x="79" y="276"/>
                    </a:cubicBezTo>
                    <a:cubicBezTo>
                      <a:pt x="79" y="276"/>
                      <a:pt x="79" y="276"/>
                      <a:pt x="79" y="276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80" y="275"/>
                      <a:pt x="80" y="275"/>
                      <a:pt x="80" y="275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2" y="273"/>
                      <a:pt x="82" y="273"/>
                      <a:pt x="82" y="273"/>
                    </a:cubicBezTo>
                    <a:cubicBezTo>
                      <a:pt x="82" y="273"/>
                      <a:pt x="82" y="273"/>
                      <a:pt x="82" y="273"/>
                    </a:cubicBezTo>
                    <a:cubicBezTo>
                      <a:pt x="82" y="273"/>
                      <a:pt x="82" y="273"/>
                      <a:pt x="82" y="273"/>
                    </a:cubicBezTo>
                    <a:cubicBezTo>
                      <a:pt x="82" y="272"/>
                      <a:pt x="82" y="272"/>
                      <a:pt x="82" y="272"/>
                    </a:cubicBezTo>
                    <a:cubicBezTo>
                      <a:pt x="82" y="272"/>
                      <a:pt x="82" y="272"/>
                      <a:pt x="82" y="272"/>
                    </a:cubicBezTo>
                    <a:cubicBezTo>
                      <a:pt x="82" y="272"/>
                      <a:pt x="82" y="272"/>
                      <a:pt x="82" y="272"/>
                    </a:cubicBezTo>
                    <a:cubicBezTo>
                      <a:pt x="82" y="272"/>
                      <a:pt x="82" y="272"/>
                      <a:pt x="82" y="272"/>
                    </a:cubicBezTo>
                    <a:cubicBezTo>
                      <a:pt x="83" y="272"/>
                      <a:pt x="83" y="272"/>
                      <a:pt x="83" y="272"/>
                    </a:cubicBezTo>
                    <a:cubicBezTo>
                      <a:pt x="83" y="272"/>
                      <a:pt x="83" y="272"/>
                      <a:pt x="83" y="272"/>
                    </a:cubicBezTo>
                    <a:cubicBezTo>
                      <a:pt x="83" y="272"/>
                      <a:pt x="83" y="272"/>
                      <a:pt x="83" y="272"/>
                    </a:cubicBezTo>
                    <a:cubicBezTo>
                      <a:pt x="83" y="272"/>
                      <a:pt x="83" y="272"/>
                      <a:pt x="83" y="272"/>
                    </a:cubicBezTo>
                    <a:cubicBezTo>
                      <a:pt x="83" y="272"/>
                      <a:pt x="83" y="272"/>
                      <a:pt x="83" y="272"/>
                    </a:cubicBezTo>
                    <a:cubicBezTo>
                      <a:pt x="83" y="272"/>
                      <a:pt x="83" y="272"/>
                      <a:pt x="83" y="272"/>
                    </a:cubicBezTo>
                    <a:cubicBezTo>
                      <a:pt x="83" y="272"/>
                      <a:pt x="83" y="272"/>
                      <a:pt x="83" y="272"/>
                    </a:cubicBezTo>
                    <a:cubicBezTo>
                      <a:pt x="84" y="272"/>
                      <a:pt x="84" y="272"/>
                      <a:pt x="84" y="272"/>
                    </a:cubicBezTo>
                    <a:cubicBezTo>
                      <a:pt x="84" y="272"/>
                      <a:pt x="84" y="272"/>
                      <a:pt x="84" y="272"/>
                    </a:cubicBezTo>
                    <a:cubicBezTo>
                      <a:pt x="84" y="272"/>
                      <a:pt x="84" y="272"/>
                      <a:pt x="84" y="272"/>
                    </a:cubicBezTo>
                    <a:cubicBezTo>
                      <a:pt x="84" y="272"/>
                      <a:pt x="84" y="272"/>
                      <a:pt x="84" y="272"/>
                    </a:cubicBezTo>
                    <a:cubicBezTo>
                      <a:pt x="84" y="272"/>
                      <a:pt x="84" y="272"/>
                      <a:pt x="84" y="272"/>
                    </a:cubicBezTo>
                    <a:cubicBezTo>
                      <a:pt x="85" y="271"/>
                      <a:pt x="85" y="271"/>
                      <a:pt x="85" y="271"/>
                    </a:cubicBezTo>
                    <a:cubicBezTo>
                      <a:pt x="85" y="271"/>
                      <a:pt x="85" y="271"/>
                      <a:pt x="85" y="271"/>
                    </a:cubicBezTo>
                    <a:cubicBezTo>
                      <a:pt x="85" y="271"/>
                      <a:pt x="85" y="271"/>
                      <a:pt x="85" y="271"/>
                    </a:cubicBezTo>
                    <a:cubicBezTo>
                      <a:pt x="85" y="271"/>
                      <a:pt x="85" y="271"/>
                      <a:pt x="85" y="271"/>
                    </a:cubicBezTo>
                    <a:cubicBezTo>
                      <a:pt x="85" y="271"/>
                      <a:pt x="85" y="271"/>
                      <a:pt x="85" y="271"/>
                    </a:cubicBezTo>
                    <a:cubicBezTo>
                      <a:pt x="86" y="271"/>
                      <a:pt x="86" y="271"/>
                      <a:pt x="86" y="271"/>
                    </a:cubicBezTo>
                    <a:cubicBezTo>
                      <a:pt x="86" y="271"/>
                      <a:pt x="86" y="271"/>
                      <a:pt x="86" y="271"/>
                    </a:cubicBezTo>
                    <a:cubicBezTo>
                      <a:pt x="86" y="271"/>
                      <a:pt x="86" y="271"/>
                      <a:pt x="86" y="271"/>
                    </a:cubicBezTo>
                    <a:cubicBezTo>
                      <a:pt x="86" y="271"/>
                      <a:pt x="86" y="271"/>
                      <a:pt x="86" y="271"/>
                    </a:cubicBezTo>
                    <a:cubicBezTo>
                      <a:pt x="87" y="271"/>
                      <a:pt x="87" y="271"/>
                      <a:pt x="87" y="271"/>
                    </a:cubicBezTo>
                    <a:cubicBezTo>
                      <a:pt x="179" y="271"/>
                      <a:pt x="179" y="271"/>
                      <a:pt x="179" y="271"/>
                    </a:cubicBezTo>
                    <a:cubicBezTo>
                      <a:pt x="173" y="277"/>
                      <a:pt x="167" y="283"/>
                      <a:pt x="162" y="290"/>
                    </a:cubicBezTo>
                    <a:close/>
                    <a:moveTo>
                      <a:pt x="77" y="280"/>
                    </a:moveTo>
                    <a:cubicBezTo>
                      <a:pt x="77" y="280"/>
                      <a:pt x="77" y="280"/>
                      <a:pt x="77" y="280"/>
                    </a:cubicBezTo>
                    <a:close/>
                    <a:moveTo>
                      <a:pt x="87" y="218"/>
                    </a:moveTo>
                    <a:cubicBezTo>
                      <a:pt x="258" y="218"/>
                      <a:pt x="258" y="218"/>
                      <a:pt x="258" y="218"/>
                    </a:cubicBezTo>
                    <a:cubicBezTo>
                      <a:pt x="263" y="218"/>
                      <a:pt x="267" y="222"/>
                      <a:pt x="267" y="228"/>
                    </a:cubicBezTo>
                    <a:cubicBezTo>
                      <a:pt x="267" y="228"/>
                      <a:pt x="267" y="228"/>
                      <a:pt x="267" y="228"/>
                    </a:cubicBezTo>
                    <a:cubicBezTo>
                      <a:pt x="267" y="229"/>
                      <a:pt x="267" y="231"/>
                      <a:pt x="266" y="232"/>
                    </a:cubicBezTo>
                    <a:cubicBezTo>
                      <a:pt x="257" y="233"/>
                      <a:pt x="249" y="235"/>
                      <a:pt x="241" y="237"/>
                    </a:cubicBezTo>
                    <a:cubicBezTo>
                      <a:pt x="87" y="237"/>
                      <a:pt x="87" y="237"/>
                      <a:pt x="87" y="237"/>
                    </a:cubicBezTo>
                    <a:cubicBezTo>
                      <a:pt x="82" y="237"/>
                      <a:pt x="77" y="233"/>
                      <a:pt x="77" y="228"/>
                    </a:cubicBezTo>
                    <a:cubicBezTo>
                      <a:pt x="77" y="228"/>
                      <a:pt x="77" y="228"/>
                      <a:pt x="77" y="228"/>
                    </a:cubicBezTo>
                    <a:cubicBezTo>
                      <a:pt x="77" y="222"/>
                      <a:pt x="82" y="218"/>
                      <a:pt x="87" y="218"/>
                    </a:cubicBezTo>
                    <a:close/>
                    <a:moveTo>
                      <a:pt x="87" y="165"/>
                    </a:moveTo>
                    <a:cubicBezTo>
                      <a:pt x="258" y="165"/>
                      <a:pt x="258" y="165"/>
                      <a:pt x="258" y="165"/>
                    </a:cubicBezTo>
                    <a:cubicBezTo>
                      <a:pt x="263" y="165"/>
                      <a:pt x="267" y="170"/>
                      <a:pt x="267" y="175"/>
                    </a:cubicBezTo>
                    <a:cubicBezTo>
                      <a:pt x="267" y="175"/>
                      <a:pt x="267" y="175"/>
                      <a:pt x="267" y="175"/>
                    </a:cubicBezTo>
                    <a:cubicBezTo>
                      <a:pt x="267" y="180"/>
                      <a:pt x="263" y="184"/>
                      <a:pt x="258" y="184"/>
                    </a:cubicBezTo>
                    <a:cubicBezTo>
                      <a:pt x="87" y="184"/>
                      <a:pt x="87" y="184"/>
                      <a:pt x="87" y="184"/>
                    </a:cubicBezTo>
                    <a:cubicBezTo>
                      <a:pt x="82" y="184"/>
                      <a:pt x="77" y="180"/>
                      <a:pt x="77" y="175"/>
                    </a:cubicBezTo>
                    <a:cubicBezTo>
                      <a:pt x="77" y="175"/>
                      <a:pt x="77" y="175"/>
                      <a:pt x="77" y="175"/>
                    </a:cubicBezTo>
                    <a:cubicBezTo>
                      <a:pt x="77" y="170"/>
                      <a:pt x="82" y="165"/>
                      <a:pt x="87" y="165"/>
                    </a:cubicBezTo>
                    <a:close/>
                    <a:moveTo>
                      <a:pt x="87" y="115"/>
                    </a:moveTo>
                    <a:cubicBezTo>
                      <a:pt x="258" y="115"/>
                      <a:pt x="258" y="115"/>
                      <a:pt x="258" y="115"/>
                    </a:cubicBezTo>
                    <a:cubicBezTo>
                      <a:pt x="263" y="115"/>
                      <a:pt x="267" y="120"/>
                      <a:pt x="267" y="125"/>
                    </a:cubicBezTo>
                    <a:cubicBezTo>
                      <a:pt x="267" y="125"/>
                      <a:pt x="267" y="125"/>
                      <a:pt x="267" y="125"/>
                    </a:cubicBezTo>
                    <a:cubicBezTo>
                      <a:pt x="267" y="130"/>
                      <a:pt x="263" y="134"/>
                      <a:pt x="258" y="134"/>
                    </a:cubicBezTo>
                    <a:cubicBezTo>
                      <a:pt x="87" y="134"/>
                      <a:pt x="87" y="134"/>
                      <a:pt x="87" y="134"/>
                    </a:cubicBezTo>
                    <a:cubicBezTo>
                      <a:pt x="82" y="134"/>
                      <a:pt x="77" y="130"/>
                      <a:pt x="77" y="125"/>
                    </a:cubicBezTo>
                    <a:cubicBezTo>
                      <a:pt x="77" y="125"/>
                      <a:pt x="77" y="125"/>
                      <a:pt x="77" y="125"/>
                    </a:cubicBezTo>
                    <a:cubicBezTo>
                      <a:pt x="77" y="120"/>
                      <a:pt x="82" y="115"/>
                      <a:pt x="87" y="115"/>
                    </a:cubicBezTo>
                    <a:close/>
                    <a:moveTo>
                      <a:pt x="130" y="59"/>
                    </a:moveTo>
                    <a:cubicBezTo>
                      <a:pt x="130" y="33"/>
                      <a:pt x="130" y="33"/>
                      <a:pt x="130" y="33"/>
                    </a:cubicBezTo>
                    <a:cubicBezTo>
                      <a:pt x="130" y="31"/>
                      <a:pt x="131" y="29"/>
                      <a:pt x="132" y="28"/>
                    </a:cubicBezTo>
                    <a:cubicBezTo>
                      <a:pt x="132" y="28"/>
                      <a:pt x="132" y="28"/>
                      <a:pt x="132" y="28"/>
                    </a:cubicBezTo>
                    <a:cubicBezTo>
                      <a:pt x="134" y="27"/>
                      <a:pt x="136" y="26"/>
                      <a:pt x="138" y="26"/>
                    </a:cubicBezTo>
                    <a:cubicBezTo>
                      <a:pt x="206" y="26"/>
                      <a:pt x="206" y="26"/>
                      <a:pt x="206" y="26"/>
                    </a:cubicBezTo>
                    <a:cubicBezTo>
                      <a:pt x="208" y="26"/>
                      <a:pt x="211" y="27"/>
                      <a:pt x="212" y="28"/>
                    </a:cubicBezTo>
                    <a:cubicBezTo>
                      <a:pt x="212" y="28"/>
                      <a:pt x="212" y="28"/>
                      <a:pt x="212" y="28"/>
                    </a:cubicBezTo>
                    <a:cubicBezTo>
                      <a:pt x="214" y="29"/>
                      <a:pt x="215" y="31"/>
                      <a:pt x="215" y="33"/>
                    </a:cubicBezTo>
                    <a:cubicBezTo>
                      <a:pt x="215" y="59"/>
                      <a:pt x="215" y="59"/>
                      <a:pt x="215" y="59"/>
                    </a:cubicBezTo>
                    <a:lnTo>
                      <a:pt x="130" y="59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5" name="Rectangle 58"/>
              <p:cNvSpPr>
                <a:spLocks noChangeArrowheads="1"/>
              </p:cNvSpPr>
              <p:nvPr/>
            </p:nvSpPr>
            <p:spPr bwMode="auto">
              <a:xfrm rot="2700000">
                <a:off x="2655457" y="2650490"/>
                <a:ext cx="631043" cy="631043"/>
              </a:xfrm>
              <a:prstGeom prst="rect">
                <a:avLst/>
              </a:prstGeom>
              <a:solidFill>
                <a:schemeClr val="bg1"/>
              </a:solidFill>
              <a:ln w="25400" cap="flat" cmpd="sng" algn="ctr">
                <a:noFill/>
                <a:prstDash val="solid"/>
              </a:ln>
              <a:effectLst>
                <a:outerShdw blurRad="190500" dist="38100" dir="2700000" algn="tl" rotWithShape="0">
                  <a:prstClr val="black">
                    <a:alpha val="20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US" sz="16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6" name="Rectangle 58"/>
              <p:cNvSpPr>
                <a:spLocks noChangeArrowheads="1"/>
              </p:cNvSpPr>
              <p:nvPr/>
            </p:nvSpPr>
            <p:spPr bwMode="auto">
              <a:xfrm rot="2700000">
                <a:off x="8987566" y="2650490"/>
                <a:ext cx="631043" cy="631043"/>
              </a:xfrm>
              <a:prstGeom prst="rect">
                <a:avLst/>
              </a:prstGeom>
              <a:solidFill>
                <a:schemeClr val="bg1"/>
              </a:solidFill>
              <a:ln w="25400" cap="flat" cmpd="sng" algn="ctr">
                <a:noFill/>
                <a:prstDash val="solid"/>
              </a:ln>
              <a:effectLst>
                <a:outerShdw blurRad="190500" dist="38100" dir="2700000" algn="tl" rotWithShape="0">
                  <a:prstClr val="black">
                    <a:alpha val="20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US" sz="16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3260" y="5641"/>
              <a:ext cx="5648" cy="3223"/>
              <a:chOff x="1276684" y="4550152"/>
              <a:chExt cx="3586261" cy="2046559"/>
            </a:xfrm>
          </p:grpSpPr>
          <p:sp>
            <p:nvSpPr>
              <p:cNvPr id="28" name="TextBox 76"/>
              <p:cNvSpPr txBox="1"/>
              <p:nvPr/>
            </p:nvSpPr>
            <p:spPr>
              <a:xfrm>
                <a:off x="1276684" y="4550152"/>
                <a:ext cx="2036467" cy="460328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单列索引</a:t>
                </a:r>
                <a:endParaRPr lang="zh-CN" altLang="en-US" sz="24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1276684" y="5225885"/>
                <a:ext cx="3586261" cy="1370826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单列索引</a:t>
                </a:r>
                <a:r>
                  <a:rPr lang="zh-CN" altLang="en-US" sz="1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指的是在表中</a:t>
                </a:r>
                <a:r>
                  <a:rPr lang="zh-CN" altLang="en-US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单个字段</a:t>
                </a:r>
                <a:r>
                  <a:rPr lang="zh-CN" altLang="en-US" sz="1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上创建索引，它可以是普通索引、唯一索引或者全文索引，只要保证该索引只对应表中一个字段即可。</a:t>
                </a:r>
                <a:endPara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10612" y="5592"/>
              <a:ext cx="5751" cy="3272"/>
              <a:chOff x="1211336" y="4519375"/>
              <a:chExt cx="3651610" cy="2077537"/>
            </a:xfrm>
          </p:grpSpPr>
          <p:sp>
            <p:nvSpPr>
              <p:cNvPr id="31" name="TextBox 76"/>
              <p:cNvSpPr txBox="1"/>
              <p:nvPr/>
            </p:nvSpPr>
            <p:spPr>
              <a:xfrm>
                <a:off x="1214152" y="4519375"/>
                <a:ext cx="1957435" cy="460396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复合索引</a:t>
                </a:r>
                <a:endParaRPr lang="zh-CN" altLang="en-US" sz="24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2" name="文本框 31"/>
              <p:cNvSpPr txBox="1"/>
              <p:nvPr/>
            </p:nvSpPr>
            <p:spPr>
              <a:xfrm>
                <a:off x="1211336" y="5225885"/>
                <a:ext cx="3651610" cy="1371027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复合索引</a:t>
                </a:r>
                <a:r>
                  <a:rPr lang="zh-CN" altLang="en-US" sz="1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指的是在表中</a:t>
                </a:r>
                <a:r>
                  <a:rPr lang="zh-CN" altLang="en-US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多个字段</a:t>
                </a:r>
                <a:r>
                  <a:rPr lang="zh-CN" altLang="en-US" sz="1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上创建一个索引，并且只有在查询条件中使用了这些字段中的第一个字段时，该索引才会被使用。</a:t>
                </a:r>
                <a:endPara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2" name="文本框 1"/>
          <p:cNvSpPr txBox="1"/>
          <p:nvPr/>
        </p:nvSpPr>
        <p:spPr>
          <a:xfrm>
            <a:off x="1784985" y="975995"/>
            <a:ext cx="89808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上述5种索引可以在一列或多列字段上进行创建，根据创建索引的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字段个数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，可以将索引分为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单列索引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复合索引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，具体介绍如下。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索引概述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缺角矩形 1"/>
          <p:cNvSpPr/>
          <p:nvPr/>
        </p:nvSpPr>
        <p:spPr>
          <a:xfrm>
            <a:off x="2855595" y="2205990"/>
            <a:ext cx="6889750" cy="2419985"/>
          </a:xfrm>
          <a:prstGeom prst="plaqu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491865" y="2631440"/>
            <a:ext cx="5617210" cy="1370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需要注意的是，虽然索引可以提高数据的</a:t>
            </a:r>
            <a:r>
              <a:rPr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查询速度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，但索引会占用一定的</a:t>
            </a:r>
            <a:r>
              <a:rPr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磁盘空间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，并且在创建和维护索引时，其消耗的时间是</a:t>
            </a:r>
            <a:r>
              <a:rPr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随着数据量的增加而增加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的。因此，使用索引时，应该综合</a:t>
            </a:r>
            <a:r>
              <a:rPr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考虑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索引的</a:t>
            </a:r>
            <a:r>
              <a:rPr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优点和缺点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索引概述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2566670" y="2205355"/>
            <a:ext cx="7416800" cy="3501390"/>
            <a:chOff x="4042" y="3473"/>
            <a:chExt cx="11680" cy="4019"/>
          </a:xfrm>
        </p:grpSpPr>
        <p:sp>
          <p:nvSpPr>
            <p:cNvPr id="2" name="折角形 1"/>
            <p:cNvSpPr/>
            <p:nvPr/>
          </p:nvSpPr>
          <p:spPr>
            <a:xfrm>
              <a:off x="4042" y="3473"/>
              <a:ext cx="11680" cy="4019"/>
            </a:xfrm>
            <a:prstGeom prst="foldedCorner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5516" y="3832"/>
              <a:ext cx="8993" cy="22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要想使用索引提高数据表的访问速度，首先得创建索引。MySQL提供了3种</a:t>
              </a: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创建索引的方式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，分别是</a:t>
              </a: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创建数据表的同时创建索引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在已有的数据表上创建索引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修改数据表的同时创建索引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索引的创建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流程图: 过程 2"/>
          <p:cNvSpPr/>
          <p:nvPr/>
        </p:nvSpPr>
        <p:spPr>
          <a:xfrm>
            <a:off x="1744345" y="2061845"/>
            <a:ext cx="8979535" cy="3563620"/>
          </a:xfrm>
          <a:prstGeom prst="flowChart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400300" y="2277110"/>
            <a:ext cx="790892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创建数据表的同时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创建索引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的基本语法格式如下所示。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索引的创建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982345" y="909320"/>
            <a:ext cx="4452620" cy="676275"/>
            <a:chOff x="1547" y="1432"/>
            <a:chExt cx="4780" cy="1065"/>
          </a:xfrm>
        </p:grpSpPr>
        <p:sp>
          <p:nvSpPr>
            <p:cNvPr id="10" name="五边形 9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1"/>
            <p:cNvSpPr txBox="1"/>
            <p:nvPr>
              <p:custDataLst>
                <p:tags r:id="rId1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创建数据表的同时创建索引</a:t>
              </a:r>
              <a:endParaRPr lang="zh-CN" altLang="en-US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2422525" y="3069590"/>
            <a:ext cx="8008620" cy="20326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CREATE TABLE 表名（字段名1 数据类型[完整性约束条件],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                …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{INDEX | KEY} [索引名] [索引类型] (字段列表) 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| UNIQUE [INDEX | KEY] [索引名] [索引类型] (字段列表) 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| PRIMARY KEY  [索引类型] (字段列表) 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| {FULLTEXT | SPATIAL} [INDEX | KEY]  [索引名]  (字段列表) 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                …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                );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1942465"/>
            <a:ext cx="8348345" cy="379476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651760" y="2061210"/>
            <a:ext cx="731456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上述语法格式中各选项的含义如下所示。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{INDEX | KEY}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：INDEX 和KEY为同义词，表示索引，二者选一即可。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索引名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：可选项，表示为创建的索引定义的名称，不使用该选项时，默认使用建立索引的字段表示，复合索引则使用第一个字段的名称作为索引名称。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索引类型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：可选项，某些存储引擎允许在创建索引时指定索引类型，使用语法是USING {BTREE | HASH}，不同的存储引擎支持的索引类型也不同。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</a:t>
            </a:r>
            <a:endParaRPr lang="en-US" altLang="zh-CN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UNIQUE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：可选项，表示唯一性索引。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FULLTEXT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：表示全文索引。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SPATIAL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：表示空间索引。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索引的创建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982345" y="909320"/>
            <a:ext cx="4452620" cy="676275"/>
            <a:chOff x="1547" y="1432"/>
            <a:chExt cx="4780" cy="1065"/>
          </a:xfrm>
        </p:grpSpPr>
        <p:sp>
          <p:nvSpPr>
            <p:cNvPr id="10" name="五边形 9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1"/>
            <p:cNvSpPr txBox="1"/>
            <p:nvPr>
              <p:custDataLst>
                <p:tags r:id="rId1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创建数据表的同时创建索引</a:t>
              </a:r>
              <a:endParaRPr lang="zh-CN" altLang="en-US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流程图: 过程 2"/>
          <p:cNvSpPr/>
          <p:nvPr/>
        </p:nvSpPr>
        <p:spPr>
          <a:xfrm>
            <a:off x="1744345" y="1487805"/>
            <a:ext cx="8979535" cy="1052195"/>
          </a:xfrm>
          <a:prstGeom prst="flowChart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990090" y="1489710"/>
            <a:ext cx="873379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为了方便读者更好的理解索引的创建，下面通过案例演示如何在创建数据表dept_index时，创建单列的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普通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索引、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唯一性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索引、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主键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索引、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全文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索引和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索引。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索引的创建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091055" y="2994025"/>
            <a:ext cx="8008620" cy="35007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CREATE TABLE dept_index(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	id INT,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	deptno  INT 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	dname   VARCHAR(20),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	introduction VARCHAR(200),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	address GEOMETRY NOT NULL SRID 4326,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	PRIMARY KEY(id),        -- 创建主键索引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	UNIQUE INDEX (deptno),  -- 创建唯一性索引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	INDEX (dname),          -- 创建普通索引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	FULLTEXT (introduction),-- 创建全文索引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	SPATIAL INDEX (address) -- 创建空间索引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) 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919605" y="967105"/>
            <a:ext cx="948880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下面，通过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SHOW CREATE TABLE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语句显示创建数据表index_normal的语句，具体SQL语句及执行结果如下所示。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索引的创建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918970" y="2204085"/>
            <a:ext cx="8867775" cy="44329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1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   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mysql&gt; SHOW CREATE TABLE dept_index\G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2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   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*************************** 1. row ***************************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3       Table: dept_index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4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   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Create Table: CREATE TABLE `dept_index` (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5  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 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`id` int NOT NULL,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6  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 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`deptno` int DEFAULT NULL,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7  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 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`dname` varchar(20) DEFAULT NULL,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8  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 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`introduction` varchar(200) DEFAULT NULL,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9  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 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`address` geometry NOT NULL /*!80003 SRID 4326 */,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10  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PRIMARY KEY (`id`),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11  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UNIQUE KEY `deptno` (`deptno`),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12  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KEY `dname` (`dname`),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13  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SPATIAL KEY `address` (`address`),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14  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FULLTEXT KEY `introduction` (`introduction`)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15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 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) ENGINE=InnoDB DEFAULT CHARSET=utf8mb4 COLLATE=utf8mb4_0900_ai_ci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16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 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1 row in set (0.00 sec)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1655445"/>
            <a:ext cx="8348345" cy="158305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710815" y="1774190"/>
            <a:ext cx="731456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上述执行结果中，第10行的id字段是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主键索引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；第11行的deptno字段是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唯一性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索引；第12行的dname字段是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普通索引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；第13行的address字段是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索引；第14行的introduction字段是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全文索引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索引的创建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134870" y="3934460"/>
            <a:ext cx="834771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上述案例只是为了演示创建数据表时创建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单列索引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，真实开发中一般不会为字段都加索引，需要避免过度使用索引，因为索引不仅会占用一定的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物理空间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，而且当对数据表中的数据进行增加、删除和修改时，也会需要动态维护索引，导致数据库的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写性能降低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减缓数据表的修改速度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44980" y="1559560"/>
            <a:ext cx="897953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上面创建的索引都是对数据表中的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单个字段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设定的索引，下面对创建数据表时，创建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复合索引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进行演示。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索引的创建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流程图: 过程 5"/>
          <p:cNvSpPr/>
          <p:nvPr/>
        </p:nvSpPr>
        <p:spPr>
          <a:xfrm>
            <a:off x="1744345" y="3002280"/>
            <a:ext cx="8979535" cy="3403600"/>
          </a:xfrm>
          <a:prstGeom prst="flowChart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206625" y="3147060"/>
            <a:ext cx="79089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例如，创建数据表index_multi，在数据表中的id和name字段上建立索引名为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multi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的普通索引，具体SQL语句如下所示。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292985" y="4302760"/>
            <a:ext cx="7445375" cy="17945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CREATE TABLE index_multi(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	id INT NOT NULL,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	name VARCHAR(20) NOT NULL,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	score FLOAT,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	INDEX multi(id,name)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);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索引的创建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84630" y="5443855"/>
            <a:ext cx="928497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从上述结果中的第8行可以得出，id字段和name字段上共同创建了一个名称为multi的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普通索引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流程图: 过程 2"/>
          <p:cNvSpPr/>
          <p:nvPr/>
        </p:nvSpPr>
        <p:spPr>
          <a:xfrm>
            <a:off x="1484630" y="994410"/>
            <a:ext cx="9284335" cy="422846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863725" y="1210945"/>
            <a:ext cx="85274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SHOW CREATE TABLE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语句查看数据表index_multi的创建信息，以验证多列字段的普通索引multi是否创建成功，具体SQL语句及执行结果如下所示。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846580" y="2419350"/>
            <a:ext cx="8675370" cy="25920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1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    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mysql&gt; SHOW CREATE TABLE index_multi\G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2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    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*************************** 1. row ***************************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3       Table: index_multi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4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    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Create Table: CREATE TABLE `index_multi` (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5  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  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`id` int NOT NULL,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6  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  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`name` varchar(20) NOT NULL,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7  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  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`score` float DEFAULT NULL,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8  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  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KEY `multi` (`id`,`name`)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9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    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) ENGINE=InnoDB DEFAULT CHARSET=utf8mb4 COLLATE=utf8mb4_0900_ai_ci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10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  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1 row in set (0.00 sec)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缺角矩形 1"/>
          <p:cNvSpPr/>
          <p:nvPr/>
        </p:nvSpPr>
        <p:spPr>
          <a:xfrm>
            <a:off x="2855595" y="2205990"/>
            <a:ext cx="6889750" cy="3207385"/>
          </a:xfrm>
          <a:prstGeom prst="plaqu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491865" y="2631440"/>
            <a:ext cx="5617210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需要注意的是，复合索引中，多个字段的设置顺序要准守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“最左前缀原则”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，也就是在创建索引时，把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使用频繁最高的字段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放在索引字段列表的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最左边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次频繁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使用的字段放在设计索引字段列表的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第二位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以此类推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索引的创建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流程图: 过程 2"/>
          <p:cNvSpPr/>
          <p:nvPr/>
        </p:nvSpPr>
        <p:spPr>
          <a:xfrm>
            <a:off x="1744345" y="2061845"/>
            <a:ext cx="8979535" cy="3583305"/>
          </a:xfrm>
          <a:prstGeom prst="flowChart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350770" y="2205355"/>
            <a:ext cx="79089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若想在一个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已经存在的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数据表上创建索引，可以使用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CREATE INDEX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语句，CREATE INDEX语句创建索引的具体语法格式如下所示。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索引的创建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982345" y="909320"/>
            <a:ext cx="4452620" cy="676275"/>
            <a:chOff x="1547" y="1432"/>
            <a:chExt cx="4780" cy="1065"/>
          </a:xfrm>
        </p:grpSpPr>
        <p:sp>
          <p:nvSpPr>
            <p:cNvPr id="10" name="五边形 9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1"/>
            <p:cNvSpPr txBox="1"/>
            <p:nvPr>
              <p:custDataLst>
                <p:tags r:id="rId1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在已有的数据表上创建索引</a:t>
              </a:r>
              <a:endParaRPr lang="zh-CN" altLang="en-US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2423160" y="3357245"/>
            <a:ext cx="8008620" cy="9080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CREATE [UNIQUE|FULLTEXT|SPATIAL] INDEX 索引名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[索引类型] ON 数据表名 (字段列表);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423160" y="4437380"/>
            <a:ext cx="788606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在上述语法格式中，UNIQUE、FULLTEXT和SPATIAL都是可选参数，分别用于表示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唯一性索引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全文索引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空间索引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流程图: 过程 2"/>
          <p:cNvSpPr/>
          <p:nvPr/>
        </p:nvSpPr>
        <p:spPr>
          <a:xfrm>
            <a:off x="1774825" y="2061845"/>
            <a:ext cx="8979535" cy="3914775"/>
          </a:xfrm>
          <a:prstGeom prst="flowChart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320290" y="2277745"/>
            <a:ext cx="812165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为了便于读者更好的观察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CREATE INDEX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语句创建索引的结果，下面先创建一个新数据表dept_index02，创建dept_index02表的SQL语句如下所示。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索引的创建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422525" y="3933190"/>
            <a:ext cx="7640955" cy="16522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CREATE TABLE dept_index02(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 lvl="1"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id INT,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 lvl="1"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deptno  INT 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 lvl="1"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dname   VARCHAR(20),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 lvl="1"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introduction VARCHAR(200)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);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982345" y="909320"/>
            <a:ext cx="4452620" cy="676275"/>
            <a:chOff x="1547" y="1432"/>
            <a:chExt cx="4780" cy="1065"/>
          </a:xfrm>
        </p:grpSpPr>
        <p:sp>
          <p:nvSpPr>
            <p:cNvPr id="7" name="五边形 6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1"/>
            <p:cNvSpPr txBox="1"/>
            <p:nvPr>
              <p:custDataLst>
                <p:tags r:id="rId1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在已有的数据表上创建索引</a:t>
              </a:r>
              <a:endParaRPr lang="zh-CN" altLang="en-US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206625" y="2710815"/>
            <a:ext cx="8348345" cy="170434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638425" y="3070860"/>
            <a:ext cx="731456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CREATE INDEX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语句中字段列表的个数，可将创建的索引分为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单列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索引和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复合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索引，下面针对这两种情况分别进行讲解。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索引的创建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982345" y="909320"/>
            <a:ext cx="4452620" cy="676275"/>
            <a:chOff x="1547" y="1432"/>
            <a:chExt cx="4780" cy="1065"/>
          </a:xfrm>
        </p:grpSpPr>
        <p:sp>
          <p:nvSpPr>
            <p:cNvPr id="3" name="五边形 2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1"/>
            <p:cNvSpPr txBox="1"/>
            <p:nvPr>
              <p:custDataLst>
                <p:tags r:id="rId1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在已有的数据表上创建索引</a:t>
              </a:r>
              <a:endParaRPr lang="zh-CN" altLang="en-US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299210" y="1705610"/>
            <a:ext cx="935926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CREATE INDEX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语句可以创建普通索引、唯一性索引、全文索引和空间索引。由于创建索引的格式都一样，此处以创建唯一性索引为例，演示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单列索引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的创建。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索引的创建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流程图: 过程 1"/>
          <p:cNvSpPr/>
          <p:nvPr/>
        </p:nvSpPr>
        <p:spPr>
          <a:xfrm>
            <a:off x="1371600" y="3282950"/>
            <a:ext cx="8968105" cy="271272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647190" y="3348355"/>
            <a:ext cx="849566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例如，在数据表dept_index02中的id字段上，建立一个名称为unique_id的唯一性索引，具体SQL语句及执行结果如下所示。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816100" y="4577715"/>
            <a:ext cx="7747635" cy="9131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CREATE UNIQUE INDEX unique_id ON dept_index02(id);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793240" y="5610860"/>
            <a:ext cx="8887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从上述结果中的第9行可以得出，id字段上新增了一个名称为unique_id的唯一性索引。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索引的创建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流程图: 过程 5"/>
          <p:cNvSpPr/>
          <p:nvPr/>
        </p:nvSpPr>
        <p:spPr>
          <a:xfrm>
            <a:off x="1793240" y="2025650"/>
            <a:ext cx="8888095" cy="320802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985645" y="2188210"/>
            <a:ext cx="8569325" cy="30454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1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    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mysql&gt; SHOW CREATE TABLE dept_index02\G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2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    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*************************** 1. row ***************************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3       Table: dept_index02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4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    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Create Table: CREATE TABLE `dept_index02` (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5 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  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`id` int DEFAULT NULL,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6  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  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`deptno` int DEFAULT NULL,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7  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  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`dname` varchar(20) DEFAULT NULL,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8  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  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`introduction` varchar(200) DEFAULT NULL,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9  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  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UNIQUE KEY `unique_id` (`id`)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10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  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) ENGINE=InnoDB DEFAULT CHARSET=utf8mb4 COLLATE=utf8mb4_0900_ai_ci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11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  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1 row in set (0.00 sec)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793875" y="907415"/>
            <a:ext cx="888746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下面通过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SHOW CREATE TABLE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语句查看数据表book的创建信息，以验证bookid字段上是否成功创建索引，具体SQL语句及执行结果如下所示。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流程图: 过程 2"/>
          <p:cNvSpPr/>
          <p:nvPr/>
        </p:nvSpPr>
        <p:spPr>
          <a:xfrm>
            <a:off x="1744345" y="2061210"/>
            <a:ext cx="8979535" cy="2935605"/>
          </a:xfrm>
          <a:prstGeom prst="flowChart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279650" y="2133600"/>
            <a:ext cx="7908925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下面使用CREATE INDEX语句创建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复合索引。</a:t>
            </a:r>
            <a:endParaRPr lang="zh-CN" altLang="en-US" sz="18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例如，在dept_index02表中的deptno字段和dname字段上，创建一个名称为multi_index的复合索引，具体SQL语句如下所示。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索引的创建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350770" y="3860800"/>
            <a:ext cx="8008620" cy="6045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CREATE INDEX multi_index ON dept_index02(deptno,dname);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索引的创建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流程图: 过程 5"/>
          <p:cNvSpPr/>
          <p:nvPr/>
        </p:nvSpPr>
        <p:spPr>
          <a:xfrm>
            <a:off x="1373505" y="2541905"/>
            <a:ext cx="9479915" cy="361950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704340" y="2667635"/>
            <a:ext cx="8702040" cy="32454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1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    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mysql&gt; SHOW CREATE TABLE dept_index02\G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2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    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*************************** 1. row ***************************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3       Table: dept_index02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4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    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Create Table: CREATE TABLE `dept_index02` (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5  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  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`id` int DEFAULT NULL,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6 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  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`deptno` int DEFAULT NULL,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7  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  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`dname` varchar(20) DEFAULT NULL,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8  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  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`introduction` varchar(200) DEFAULT NULL,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9 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  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UNIQUE KEY `unique_id` (`id`),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10  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KEY `multi_index` (`deptno`,`dname`)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11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  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) ENGINE=InnoDB DEFAULT CHARSET=utf8mb4 COLLATE=utf8mb4_0900_ai_ci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12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  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1 row in set (0.00 sec)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373505" y="975995"/>
            <a:ext cx="947991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下面通过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SHOW CREATE TABLE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语句查看数据表dept_index02的创建信息，以验证deptno字段和dname字段上是否成功创建索引，具体SQL语句及执行结果如下所示。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流程图: 过程 2"/>
          <p:cNvSpPr/>
          <p:nvPr/>
        </p:nvSpPr>
        <p:spPr>
          <a:xfrm>
            <a:off x="1744345" y="2061845"/>
            <a:ext cx="8979535" cy="3583305"/>
          </a:xfrm>
          <a:prstGeom prst="flowChart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400300" y="2277110"/>
            <a:ext cx="7908925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在已经存在的数据表中创建索引，除了可以使用CREATE INDEX语句外，还可以使用ALTER TABLE语句。使用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ALTER TABLE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语句在修改数据表的同时创建索引，其基本语法格式如下所示。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索引的创建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400300" y="3717290"/>
            <a:ext cx="8008620" cy="13728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ALTER TABLE 数据表名 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ADD {INDEX | KEY} [索引名] [索引类型] (字段列表) 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| ADD UNIQUE [INDEX | KEY] [索引名] [索引类型] (字段列表) 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| ADD PRIMARY KEY  [索引类型] (字段列表) 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| ADD {FULLTEXT | SPATIAL} [INDEX | KEY]  [索引名]  (字段列表) 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982345" y="909320"/>
            <a:ext cx="4452620" cy="676275"/>
            <a:chOff x="1547" y="1432"/>
            <a:chExt cx="4780" cy="1065"/>
          </a:xfrm>
        </p:grpSpPr>
        <p:sp>
          <p:nvSpPr>
            <p:cNvPr id="8" name="五边形 7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1"/>
            <p:cNvSpPr txBox="1"/>
            <p:nvPr>
              <p:custDataLst>
                <p:tags r:id="rId1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修改数据表的同时创建索引</a:t>
              </a:r>
              <a:endParaRPr lang="zh-CN" altLang="en-US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流程图: 过程 2"/>
          <p:cNvSpPr/>
          <p:nvPr/>
        </p:nvSpPr>
        <p:spPr>
          <a:xfrm>
            <a:off x="1744345" y="2061845"/>
            <a:ext cx="8979535" cy="3583305"/>
          </a:xfrm>
          <a:prstGeom prst="flowChart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400300" y="2277110"/>
            <a:ext cx="79089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为了便于读者更好的查看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ALTER TABLE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语句创建索引的结果，下面创建一个新的数据表dept_index03，创建数据表dept_index03的SQL语句如下所示。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索引的创建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982345" y="909320"/>
            <a:ext cx="4452620" cy="676275"/>
            <a:chOff x="1547" y="1432"/>
            <a:chExt cx="4780" cy="1065"/>
          </a:xfrm>
        </p:grpSpPr>
        <p:sp>
          <p:nvSpPr>
            <p:cNvPr id="10" name="五边形 9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1"/>
            <p:cNvSpPr txBox="1"/>
            <p:nvPr>
              <p:custDataLst>
                <p:tags r:id="rId1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修改数据表的同时创建索引</a:t>
              </a:r>
              <a:endParaRPr lang="zh-CN" altLang="en-US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2400300" y="3285490"/>
            <a:ext cx="8008620" cy="13665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CREATE TABLE dept_index03(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 lvl="1"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id INT,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 lvl="1"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deptno  INT 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 lvl="1"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dname   VARCHAR(20)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) 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400300" y="4798060"/>
            <a:ext cx="79781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根据ALTER TABLE语句中索引作用字段列表的个数，可将创建的索引分为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单列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索引和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复合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索引，下面针对这两种情况分别进行讲解。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1942465"/>
            <a:ext cx="8348345" cy="331978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710815" y="2108200"/>
            <a:ext cx="7314565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下面以创建唯一性索引为例，演示使用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ALTER TABLE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语句创建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单列索引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例如，在数据表dept_index03中的id字段上，创建名称为index_id的唯一性索引，具体SQL语句如下所示。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索引的创建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754630" y="3789045"/>
            <a:ext cx="7226935" cy="7105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ALTER TABLE dept_index03 ADD UNIQUE INDEX index_id(id);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索引的创建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935480" y="5854065"/>
            <a:ext cx="78651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从上述结果中的第9行可以得出，id字段上新增了一个名称为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index_id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的索引。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流程图: 过程 5"/>
          <p:cNvSpPr/>
          <p:nvPr/>
        </p:nvSpPr>
        <p:spPr>
          <a:xfrm>
            <a:off x="1314450" y="917575"/>
            <a:ext cx="9520555" cy="464693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935480" y="1061720"/>
            <a:ext cx="871855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下面通过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SHOW CREATE TABLE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语句查看数据表dept_index03的创建信息，以验证id字段上是否成功创建唯一性索引，具体SQL语句及执行结果如下所示。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935480" y="2617470"/>
            <a:ext cx="8717915" cy="26511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1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    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mysql&gt; SHOW CREATE TABLE dept_index03\G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2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    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*************************** 1. row ***************************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3       Table: dept_index03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4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    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Create Table: CREATE TABLE `dept_index03` (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5  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  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`id` int DEFAULT NULL,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6  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  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`deptno` int DEFAULT NULL,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7  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  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`dname` varchar(20) DEFAULT NULL,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8  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  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UNIQUE KEY `index_id` (`id`)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9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    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) ENGINE=InnoDB DEFAULT CHARSET=utf8mb4 COLLATE=utf8mb4_0900_ai_ci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10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  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1 row in set (0.00 sec)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缺角矩形 1"/>
          <p:cNvSpPr/>
          <p:nvPr/>
        </p:nvSpPr>
        <p:spPr>
          <a:xfrm>
            <a:off x="2855595" y="2205990"/>
            <a:ext cx="6889750" cy="1857375"/>
          </a:xfrm>
          <a:prstGeom prst="plaqu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491865" y="2631440"/>
            <a:ext cx="561721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需要注意的是，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创建唯一性索引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时，需要确保数据表中的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数据不存在重复的值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，否则会出错。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索引概述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流程图: 过程 2"/>
          <p:cNvSpPr/>
          <p:nvPr/>
        </p:nvSpPr>
        <p:spPr>
          <a:xfrm>
            <a:off x="1672590" y="1489710"/>
            <a:ext cx="8979535" cy="4416425"/>
          </a:xfrm>
          <a:prstGeom prst="flowChart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279015" y="1702435"/>
            <a:ext cx="790892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上面使用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ALTER TABLE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语句创建的普通索引、唯一性索引、全文索引和空间索引都是对数据表中的单列字段设定的索引。下面使用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ALTER TABLE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语句演示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复合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索引的创建。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例如，在dept_index03表中的deptno字段和dname字段上，创建一个名称为multi_index的复合唯一性索引，具体SQL语句如下所示。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索引的创建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350770" y="4396105"/>
            <a:ext cx="8008620" cy="7213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ALTER TABLE dept_index03 ADD UNIQUE INDEX multi_index(deptno,dname);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索引的创建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09065" y="5732780"/>
            <a:ext cx="98253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从上述结果中的第9行可以得出，deptno字段和dname字段上新增了一个名称为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multi_index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的复合索引。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流程图: 过程 7"/>
          <p:cNvSpPr/>
          <p:nvPr/>
        </p:nvSpPr>
        <p:spPr>
          <a:xfrm>
            <a:off x="1409065" y="908050"/>
            <a:ext cx="9824720" cy="469011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864995" y="843280"/>
            <a:ext cx="917511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下面通过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SHOW CREATE TABLE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语句查看数据表dept_index03的创建信息，以验证deptno字段和dname字段上是否成功创建索引，具体SQL语句及执行结果如下所示。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903730" y="2391410"/>
            <a:ext cx="8794750" cy="30232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1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    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mysql&gt; SHOW CREATE TABLE dept_index03\G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2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    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*************************** 1. row ***************************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3       Table: dept_index03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4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    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Create Table: CREATE TABLE `dept_index03` (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5  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  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`id` int DEFAULT NULL,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6  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  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`deptno` int DEFAULT NULL,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7  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  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`dname` varchar(20) DEFAULT NULL,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8  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  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UNIQUE KEY `index_id` (`id`),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9  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  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UNIQUE KEY `multi_index` (`deptno`,`dname`)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10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  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) ENGINE=InnoDB DEFAULT CHARSET=utf8mb4 COLLATE=utf8mb4_0900_ai_ci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11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  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1 row in set (0.00 sec)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流程图: 过程 2"/>
          <p:cNvSpPr/>
          <p:nvPr/>
        </p:nvSpPr>
        <p:spPr>
          <a:xfrm>
            <a:off x="1744345" y="1633220"/>
            <a:ext cx="8979535" cy="3678555"/>
          </a:xfrm>
          <a:prstGeom prst="flowChart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350770" y="1774190"/>
            <a:ext cx="790892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如果需要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查看数据表中已经创建的索引的信息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，除了使用SHOW CREATE TABLE语句在数据表的创建语句中查看，还可以通过如下语法格式的语句进行查看。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6.1.3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索引的查看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422525" y="3430270"/>
            <a:ext cx="8008620" cy="5791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SHOW {INDEXES|INDEX|KEYS} FROM 数据表名;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423160" y="4294505"/>
            <a:ext cx="757237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上述语法格式中，使用INDEXES、INDEX、KEYS含义都一样，都可以查询出数据表中所有的索引信息。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5460" y="1274445"/>
            <a:ext cx="834834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下面查看数据表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dept_index 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中的索引，具体SQL语句及执行结果如下所示。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019300" y="1781175"/>
            <a:ext cx="7038975" cy="48717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mysql&gt; SHOW INDEX FROM dept_index \G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… 此处省略了</a:t>
            </a:r>
            <a:r>
              <a:rPr lang="en-US" altLang="zh-CN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</a:t>
            </a: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行记录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*************************** 5. row ***************************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Table: dept_index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Non_unique: 1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Key_name: introduction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Seq_in_index: 1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Column_name: introduction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Collation: NULL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Cardinality: 0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Sub_part: NULL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Packed: NULL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Null: YES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Index_type: FULLTEXT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Comment: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Index_comment: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Visible: YES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Expression: NULL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5 rows in set (0.00 sec)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6.1.3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索引的查看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框 99"/>
          <p:cNvSpPr txBox="1"/>
          <p:nvPr/>
        </p:nvSpPr>
        <p:spPr>
          <a:xfrm>
            <a:off x="4415790" y="943610"/>
            <a:ext cx="253492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索引信息字段的含义</a:t>
            </a:r>
            <a:endParaRPr lang="zh-CN" altLang="en-US" sz="18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356360" y="1604815"/>
          <a:ext cx="9502775" cy="41160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70125"/>
                <a:gridCol w="7232650"/>
              </a:tblGrid>
              <a:tr h="51117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spc="12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字段名</a:t>
                      </a:r>
                      <a:endParaRPr lang="en-US" sz="1600" b="1" spc="120">
                        <a:solidFill>
                          <a:srgbClr val="64646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25400" marB="25400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spc="12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描述的含义</a:t>
                      </a:r>
                      <a:endParaRPr lang="en-US" sz="1600" b="1" spc="120">
                        <a:solidFill>
                          <a:srgbClr val="64646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25400" marB="25400" anchor="ctr">
                    <a:lnL w="12700">
                      <a:solidFill>
                        <a:schemeClr val="bg1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Table</a:t>
                      </a:r>
                      <a:endParaRPr lang="en-US" sz="1600" b="0" spc="120">
                        <a:solidFill>
                          <a:srgbClr val="64646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25400" marB="25400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索引所在的数据表的名称</a:t>
                      </a:r>
                      <a:endParaRPr lang="en-US" sz="1600" b="0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25400" marB="25400" anchor="ctr">
                    <a:lnL w="12700">
                      <a:solidFill>
                        <a:schemeClr val="bg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Non_unique</a:t>
                      </a:r>
                      <a:endParaRPr lang="en-US" sz="1600" b="0" spc="120">
                        <a:solidFill>
                          <a:srgbClr val="64646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25400" marB="25400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索引是否可以重复，0表示不可以，1表示可以</a:t>
                      </a:r>
                      <a:endParaRPr lang="en-US" sz="1600" b="0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25400" marB="25400" anchor="ctr">
                    <a:lnL w="12700">
                      <a:solidFill>
                        <a:schemeClr val="bg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50215"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Key_name</a:t>
                      </a:r>
                      <a:endParaRPr lang="en-US" sz="1600" b="0" spc="120">
                        <a:solidFill>
                          <a:srgbClr val="64646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25400" marB="25400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索引的名字，如果索引是主键索引，则它的名字为PRIMARY</a:t>
                      </a:r>
                      <a:endParaRPr lang="en-US" sz="1600" b="0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25400" marB="25400" anchor="ctr">
                    <a:lnL w="12700">
                      <a:solidFill>
                        <a:schemeClr val="bg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Seq_in_index</a:t>
                      </a:r>
                      <a:endParaRPr lang="en-US" sz="1600" b="0" spc="120">
                        <a:solidFill>
                          <a:srgbClr val="64646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25400" marB="25400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建立索引的字段序号值，默认从1开始</a:t>
                      </a:r>
                      <a:endParaRPr lang="en-US" sz="1600" b="0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25400" marB="25400" anchor="ctr">
                    <a:lnL w="12700">
                      <a:solidFill>
                        <a:schemeClr val="bg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51485"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Column_name</a:t>
                      </a:r>
                      <a:endParaRPr lang="en-US" sz="1600" b="0" spc="120">
                        <a:solidFill>
                          <a:srgbClr val="64646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25400" marB="25400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建立索引的字段</a:t>
                      </a:r>
                      <a:endParaRPr lang="en-US" sz="1600" b="0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25400" marB="25400" anchor="ctr">
                    <a:lnL w="12700">
                      <a:solidFill>
                        <a:schemeClr val="bg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Collation</a:t>
                      </a:r>
                      <a:endParaRPr lang="en-US" sz="1600" b="0" spc="120">
                        <a:solidFill>
                          <a:srgbClr val="64646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25400" marB="25400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索引字段是否有排序，A表示有排序，NULL表示没有排序</a:t>
                      </a:r>
                      <a:endParaRPr lang="en-US" sz="1600" b="0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25400" marB="25400" anchor="ctr">
                    <a:lnL w="12700">
                      <a:solidFill>
                        <a:schemeClr val="bg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50215"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Cardinality</a:t>
                      </a:r>
                      <a:endParaRPr lang="en-US" sz="1600" b="0" spc="120">
                        <a:solidFill>
                          <a:srgbClr val="64646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25400" marB="25400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MySQL连接时使用索引的可能性（精确度不高），值越大可能性越高</a:t>
                      </a:r>
                      <a:endParaRPr lang="en-US" sz="1600" b="0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25400" marB="25400" anchor="ctr">
                    <a:lnL w="12700">
                      <a:solidFill>
                        <a:schemeClr val="bg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Sub_part</a:t>
                      </a:r>
                      <a:endParaRPr lang="en-US" sz="1600" b="0" spc="120">
                        <a:solidFill>
                          <a:srgbClr val="64646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25400" marB="25400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前缀索引的长度，如字段值都被索引，则Sub_part为NULL</a:t>
                      </a:r>
                      <a:endParaRPr lang="en-US" sz="1600" b="0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25400" marB="25400" anchor="ctr">
                    <a:lnL w="12700">
                      <a:solidFill>
                        <a:schemeClr val="bg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6.1.3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索引的查看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356360" y="1820080"/>
          <a:ext cx="9490075" cy="3378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66950"/>
                <a:gridCol w="7223125"/>
              </a:tblGrid>
              <a:tr h="42227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spc="12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字段名</a:t>
                      </a:r>
                      <a:endParaRPr lang="en-US" sz="1600" b="1" spc="120">
                        <a:solidFill>
                          <a:srgbClr val="64646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25400" marB="25400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spc="12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描述的含义</a:t>
                      </a:r>
                      <a:endParaRPr lang="en-US" sz="1600" b="1" spc="120">
                        <a:solidFill>
                          <a:srgbClr val="64646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25400" marB="25400" anchor="ctr">
                    <a:lnL w="12700">
                      <a:solidFill>
                        <a:schemeClr val="bg1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22275"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Packed</a:t>
                      </a:r>
                      <a:endParaRPr lang="en-US" sz="1600" b="0" spc="120">
                        <a:solidFill>
                          <a:srgbClr val="64646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25400" marB="25400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关键词如何被压缩，如果没有被压缩，则为NULL</a:t>
                      </a:r>
                      <a:endParaRPr lang="en-US" sz="1600" b="0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25400" marB="25400" anchor="ctr">
                    <a:lnL w="12700">
                      <a:solidFill>
                        <a:schemeClr val="bg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22275"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Null</a:t>
                      </a:r>
                      <a:endParaRPr lang="en-US" sz="1600" b="0" spc="120">
                        <a:solidFill>
                          <a:srgbClr val="64646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25400" marB="25400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索引字段是否含有NULL值，YES表示含有，NO表示不含有</a:t>
                      </a:r>
                      <a:endParaRPr lang="en-US" sz="1600" b="0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25400" marB="25400" anchor="ctr">
                    <a:lnL w="12700">
                      <a:solidFill>
                        <a:schemeClr val="bg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22275"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Index_type</a:t>
                      </a:r>
                      <a:endParaRPr lang="en-US" sz="1600" b="0" spc="120">
                        <a:solidFill>
                          <a:srgbClr val="64646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25400" marB="25400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索引方式，可选值有FULLTEXT、HASH、BTREE、RTREE</a:t>
                      </a:r>
                      <a:endParaRPr lang="en-US" sz="1600" b="0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25400" marB="25400" anchor="ctr">
                    <a:lnL w="12700">
                      <a:solidFill>
                        <a:schemeClr val="bg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22275"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Comment</a:t>
                      </a:r>
                      <a:endParaRPr lang="en-US" sz="1600" b="0" spc="120">
                        <a:solidFill>
                          <a:srgbClr val="64646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25400" marB="25400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索引字段的注释信息</a:t>
                      </a:r>
                      <a:endParaRPr lang="en-US" sz="1600" b="0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25400" marB="25400" anchor="ctr">
                    <a:lnL w="12700">
                      <a:solidFill>
                        <a:schemeClr val="bg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22275"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Index_comment</a:t>
                      </a:r>
                      <a:endParaRPr lang="en-US" sz="1600" b="0" spc="120">
                        <a:solidFill>
                          <a:srgbClr val="64646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25400" marB="25400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创建索引时添加的注释信息</a:t>
                      </a:r>
                      <a:endParaRPr lang="en-US" sz="1600" b="0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25400" marB="25400" anchor="ctr">
                    <a:lnL w="12700">
                      <a:solidFill>
                        <a:schemeClr val="bg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22275"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Visible</a:t>
                      </a:r>
                      <a:endParaRPr lang="en-US" sz="1600" b="0" spc="120">
                        <a:solidFill>
                          <a:srgbClr val="64646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25400" marB="25400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索引对查询优化器是否可见，YES表示可见，NO表示不可见</a:t>
                      </a:r>
                      <a:endParaRPr lang="en-US" sz="1600" b="0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25400" marB="25400" anchor="ctr">
                    <a:lnL w="12700">
                      <a:solidFill>
                        <a:schemeClr val="bg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22275"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Expression</a:t>
                      </a:r>
                      <a:endParaRPr lang="en-US" sz="1600" b="0" spc="120">
                        <a:solidFill>
                          <a:srgbClr val="64646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25400" marB="25400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使用什么表达式作为建立索引的字段，NULL表示没有</a:t>
                      </a:r>
                      <a:endParaRPr lang="en-US" sz="1600" b="0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25400" marB="25400" anchor="ctr">
                    <a:lnL w="12700">
                      <a:solidFill>
                        <a:schemeClr val="bg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6.1.3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索引的查看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415790" y="1087120"/>
            <a:ext cx="253492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索引信息字段的含义</a:t>
            </a:r>
            <a:endParaRPr lang="zh-CN" altLang="en-US" sz="18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235" y="1794510"/>
            <a:ext cx="8348345" cy="285877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710815" y="2278380"/>
            <a:ext cx="731456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在MySQL中除了可以查看数据表中的索引信息，还可以通过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EXPLAIN关键字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分析SQL语句的执行情况，例如分析SQL语句执行时是否使用了索引。EXPLAIN可以分析的语句有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SELECT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UPDATE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DELETE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INSERT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REPLACE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6.1.3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索引的查看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1847850" y="2085340"/>
            <a:ext cx="9020810" cy="286385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134870" y="2277745"/>
            <a:ext cx="765302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（1）先往数据表dept_index中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插入数据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，具体SQL语句如下所示。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015490" y="3000375"/>
            <a:ext cx="8548370" cy="12122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INSERT INTO dept_index VALUES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(1,'10','总裁办','决定公司发展的部门',ST_GeometryFromText('point(88 34)',4326)),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(2,'20','研究院','研发公司核心产品的部门',ST_GeometryFromText('point(88 34)',4326));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2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6.1.3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索引的查看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134870" y="897890"/>
            <a:ext cx="83483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下面以查询数据表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dept_index中id为1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的部门信息为例分析语句的执行情况，具体如下。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1120775"/>
            <a:ext cx="8348345" cy="511492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487930" y="1129665"/>
            <a:ext cx="75869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（2）使用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EXPLAIN关键字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查看查询语句的执行情况，具体SQL语句及如下所示。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566670" y="2291715"/>
            <a:ext cx="7508240" cy="38347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mysql&gt; EXPLAIN SELECT id FROM ems.dept_index WHERE id=1 \G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*************************** 1. row ***************************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           id: 1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  select_type: SIMPLE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        table: dept_index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   partitions: NULL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         type: const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possible_keys: PRIMARY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          key: PRIMARY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      key_len: 4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          ref: const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         rows: 1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     filtered: 100.00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        Extra: Using index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1 row in set, 1 warning (0.00 sec)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2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6.1.3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索引的查看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框 99"/>
          <p:cNvSpPr txBox="1"/>
          <p:nvPr/>
        </p:nvSpPr>
        <p:spPr>
          <a:xfrm>
            <a:off x="3555047" y="1233805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266700" indent="-266700" algn="ctr"/>
            <a:r>
              <a:rPr lang="zh-CN" sz="1800" b="1">
                <a:latin typeface="微软雅黑" panose="020B0503020204020204" pitchFamily="34" charset="-122"/>
                <a:ea typeface="微软雅黑" panose="020B0503020204020204" pitchFamily="34" charset="-122"/>
              </a:rPr>
              <a:t>分析执行语句的字段</a:t>
            </a:r>
            <a:endParaRPr lang="zh-CN" altLang="en-US" sz="1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607695" y="1855470"/>
          <a:ext cx="11128375" cy="40149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73860"/>
                <a:gridCol w="9454515"/>
              </a:tblGrid>
              <a:tr h="36449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spc="12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字段名</a:t>
                      </a:r>
                      <a:endParaRPr lang="en-US" sz="1600" b="1" spc="120">
                        <a:solidFill>
                          <a:srgbClr val="64646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36195" marB="36195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spc="12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  <a:endParaRPr lang="en-US" sz="1600" b="1" spc="120">
                        <a:solidFill>
                          <a:srgbClr val="64646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36195" marB="36195" anchor="ctr">
                    <a:lnL w="12700">
                      <a:solidFill>
                        <a:schemeClr val="bg1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64490"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id</a:t>
                      </a:r>
                      <a:endParaRPr lang="en-US" sz="1600" b="0" spc="120">
                        <a:solidFill>
                          <a:srgbClr val="64646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36195" marB="36195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查询标识符，默认从1开始，如果使用了联合查询，则该值依次递增</a:t>
                      </a:r>
                      <a:endParaRPr lang="en-US" sz="1600" b="0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36195" marB="36195" anchor="ctr">
                    <a:lnL w="12700">
                      <a:solidFill>
                        <a:schemeClr val="bg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64490"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select_type</a:t>
                      </a:r>
                      <a:endParaRPr lang="en-US" sz="1600" b="0" spc="120">
                        <a:solidFill>
                          <a:srgbClr val="64646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36195" marB="36195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查询类型，它的值包含多种，如SIMPLE表示简单SELECT，不使用UNION或子查询</a:t>
                      </a:r>
                      <a:endParaRPr lang="en-US" sz="1600" b="0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36195" marB="36195" anchor="ctr">
                    <a:lnL w="12700">
                      <a:solidFill>
                        <a:schemeClr val="bg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64490"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table</a:t>
                      </a:r>
                      <a:endParaRPr lang="en-US" sz="1600" b="0" spc="120">
                        <a:solidFill>
                          <a:srgbClr val="64646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36195" marB="36195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输出行所引用的数据表的名称</a:t>
                      </a:r>
                      <a:endParaRPr lang="en-US" sz="1600" b="0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36195" marB="36195" anchor="ctr">
                    <a:lnL w="12700">
                      <a:solidFill>
                        <a:schemeClr val="bg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64490"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partitions</a:t>
                      </a:r>
                      <a:endParaRPr lang="en-US" sz="1600" b="0" spc="120">
                        <a:solidFill>
                          <a:srgbClr val="64646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36195" marB="36195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匹配的分区</a:t>
                      </a:r>
                      <a:endParaRPr lang="en-US" sz="1600" b="0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36195" marB="36195" anchor="ctr">
                    <a:lnL w="12700">
                      <a:solidFill>
                        <a:schemeClr val="bg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64490"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type</a:t>
                      </a:r>
                      <a:endParaRPr lang="en-US" sz="1600" b="0" spc="120">
                        <a:solidFill>
                          <a:srgbClr val="64646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36195" marB="36195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连接的类型，它的值有多种，如ref表示使用前缀索引或条件中含有运算符“=”或“&lt;=&gt;”等</a:t>
                      </a:r>
                      <a:endParaRPr lang="en-US" sz="1600" b="0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36195" marB="36195" anchor="ctr">
                    <a:lnL w="12700">
                      <a:solidFill>
                        <a:schemeClr val="bg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64490"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key_len</a:t>
                      </a:r>
                      <a:endParaRPr lang="en-US" sz="1600" b="0" spc="120">
                        <a:solidFill>
                          <a:srgbClr val="64646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36195" marB="36195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索引字段的长度</a:t>
                      </a:r>
                      <a:endParaRPr lang="en-US" sz="1600" b="0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36195" marB="36195" anchor="ctr">
                    <a:lnL w="12700">
                      <a:solidFill>
                        <a:schemeClr val="bg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64490"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ref</a:t>
                      </a:r>
                      <a:endParaRPr lang="en-US" sz="1600" b="0" spc="120">
                        <a:solidFill>
                          <a:srgbClr val="64646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36195" marB="36195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表示哪些字段或常量与索引进行了比较</a:t>
                      </a:r>
                      <a:endParaRPr lang="en-US" sz="1600" b="0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36195" marB="36195" anchor="ctr">
                    <a:lnL w="12700">
                      <a:solidFill>
                        <a:schemeClr val="bg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64490"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rows</a:t>
                      </a:r>
                      <a:endParaRPr lang="en-US" sz="1600" b="0" spc="120">
                        <a:solidFill>
                          <a:srgbClr val="64646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36195" marB="36195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预计需要检索的记录数</a:t>
                      </a:r>
                      <a:endParaRPr lang="en-US" sz="1600" b="0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36195" marB="36195" anchor="ctr">
                    <a:lnL w="12700">
                      <a:solidFill>
                        <a:schemeClr val="bg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64490"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filtered</a:t>
                      </a:r>
                      <a:endParaRPr lang="en-US" sz="1600" b="0" spc="120">
                        <a:solidFill>
                          <a:srgbClr val="64646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36195" marB="36195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按条件过滤的百分比</a:t>
                      </a:r>
                      <a:endParaRPr lang="en-US" sz="1600" b="0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36195" marB="36195" anchor="ctr">
                    <a:lnL w="12700">
                      <a:solidFill>
                        <a:schemeClr val="bg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64490"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Extra</a:t>
                      </a:r>
                      <a:endParaRPr lang="en-US" sz="1600" b="0" spc="120">
                        <a:solidFill>
                          <a:srgbClr val="64646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36195" marB="36195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附件信息，如Using index表示使用了索引覆盖</a:t>
                      </a:r>
                      <a:endParaRPr lang="en-US" sz="1600" b="0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36195" marB="36195" anchor="ctr">
                    <a:lnL w="12700">
                      <a:solidFill>
                        <a:schemeClr val="bg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6.1.3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索引的查看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2566670" y="2205355"/>
            <a:ext cx="7416800" cy="2931051"/>
            <a:chOff x="4042" y="3473"/>
            <a:chExt cx="11680" cy="5317"/>
          </a:xfrm>
        </p:grpSpPr>
        <p:sp>
          <p:nvSpPr>
            <p:cNvPr id="2" name="折角形 1"/>
            <p:cNvSpPr/>
            <p:nvPr/>
          </p:nvSpPr>
          <p:spPr>
            <a:xfrm>
              <a:off x="4042" y="3473"/>
              <a:ext cx="11680" cy="5317"/>
            </a:xfrm>
            <a:prstGeom prst="foldedCorner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4827" y="3832"/>
              <a:ext cx="10084" cy="35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由于索引会占用一定的磁盘空间，所以为了避免影响数据库性能，应该及时删除不再使用的索引。在MySQL中，可以使用</a:t>
              </a: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ALTER TABLE语句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或</a:t>
              </a: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DROP INDEX语句删除索引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。下面分别讲解这两种索引删除方式。</a:t>
              </a:r>
              <a:endPara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6.1.4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索引的删除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6.1.4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索引的删除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323465" y="1136650"/>
            <a:ext cx="7068185" cy="1127613"/>
            <a:chOff x="6083" y="3247"/>
            <a:chExt cx="11131" cy="1362"/>
          </a:xfrm>
        </p:grpSpPr>
        <p:sp>
          <p:nvSpPr>
            <p:cNvPr id="14" name="TextBox 35"/>
            <p:cNvSpPr txBox="1"/>
            <p:nvPr/>
          </p:nvSpPr>
          <p:spPr>
            <a:xfrm>
              <a:off x="6128" y="3941"/>
              <a:ext cx="11086" cy="6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使用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ALTER TABLE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删除索引的基本语法格式如下所示。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6083" y="3247"/>
              <a:ext cx="6333" cy="5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defTabSz="913765">
                <a:defRPr b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olidFill>
                    <a:srgbClr val="595959"/>
                  </a:solidFill>
                  <a:sym typeface="+mn-ea"/>
                </a:rPr>
                <a:t>使用ALTER TABLE删除索引</a:t>
              </a:r>
              <a:endParaRPr lang="zh-CN" altLang="en-US" dirty="0">
                <a:solidFill>
                  <a:srgbClr val="595959"/>
                </a:solidFill>
                <a:sym typeface="+mn-ea"/>
              </a:endParaRPr>
            </a:p>
          </p:txBody>
        </p:sp>
      </p:grpSp>
      <p:sp>
        <p:nvSpPr>
          <p:cNvPr id="18" name="矩形 17"/>
          <p:cNvSpPr/>
          <p:nvPr/>
        </p:nvSpPr>
        <p:spPr>
          <a:xfrm>
            <a:off x="2352040" y="2519045"/>
            <a:ext cx="6403975" cy="4851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ALTER TABLE 表名 DROP INDEX 索引名;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2" name="流程图: 过程 1"/>
          <p:cNvSpPr/>
          <p:nvPr/>
        </p:nvSpPr>
        <p:spPr>
          <a:xfrm>
            <a:off x="1903095" y="3712845"/>
            <a:ext cx="7767955" cy="228409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352040" y="3712845"/>
            <a:ext cx="750824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通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过ALTER TABLE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语句删除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删除数据表dept_index中名称为introduction的全文索引，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具体SQL如下所示。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352040" y="5228590"/>
            <a:ext cx="6644005" cy="387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ALTER TABLE dept_index DROP INDEX introduction;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6.1.4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索引的删除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025650" y="1177687"/>
            <a:ext cx="7039610" cy="1153278"/>
            <a:chOff x="6128" y="5810"/>
            <a:chExt cx="11086" cy="1393"/>
          </a:xfrm>
        </p:grpSpPr>
        <p:sp>
          <p:nvSpPr>
            <p:cNvPr id="16" name="文本框 15"/>
            <p:cNvSpPr txBox="1"/>
            <p:nvPr/>
          </p:nvSpPr>
          <p:spPr>
            <a:xfrm>
              <a:off x="6309" y="5810"/>
              <a:ext cx="6311" cy="5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defTabSz="913765">
                <a:defRPr b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olidFill>
                    <a:srgbClr val="595959"/>
                  </a:solidFill>
                  <a:sym typeface="+mn-ea"/>
                </a:rPr>
                <a:t>使用DROP INDEX删除索引</a:t>
              </a:r>
              <a:endParaRPr lang="zh-CN" altLang="en-US" dirty="0">
                <a:solidFill>
                  <a:srgbClr val="595959"/>
                </a:solidFill>
                <a:sym typeface="+mn-ea"/>
              </a:endParaRPr>
            </a:p>
          </p:txBody>
        </p:sp>
        <p:sp>
          <p:nvSpPr>
            <p:cNvPr id="17" name="TextBox 35"/>
            <p:cNvSpPr txBox="1"/>
            <p:nvPr/>
          </p:nvSpPr>
          <p:spPr>
            <a:xfrm>
              <a:off x="6128" y="6535"/>
              <a:ext cx="11086" cy="6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使用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DROP INDEX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语句删除索引的基本语法格式如下所示。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endParaRPr>
            </a:p>
          </p:txBody>
        </p:sp>
      </p:grpSp>
      <p:sp>
        <p:nvSpPr>
          <p:cNvPr id="19" name="矩形 18"/>
          <p:cNvSpPr/>
          <p:nvPr/>
        </p:nvSpPr>
        <p:spPr>
          <a:xfrm>
            <a:off x="2212975" y="2503805"/>
            <a:ext cx="6403975" cy="4851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DROP INDEX 索引名 ON 数据表名;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5" name="流程图: 过程 4"/>
          <p:cNvSpPr/>
          <p:nvPr/>
        </p:nvSpPr>
        <p:spPr>
          <a:xfrm>
            <a:off x="1704340" y="3376930"/>
            <a:ext cx="8348345" cy="220218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136140" y="3569335"/>
            <a:ext cx="750824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例如，删除数据表dept_index中名称为dname的索引，具体SQL语句如下所示。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280285" y="4723130"/>
            <a:ext cx="6644005" cy="5765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DROP INDEX dname ON dept_index;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2994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GB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视图</a:t>
            </a:r>
            <a:endParaRPr lang="zh-CN" altLang="en-GB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6.2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226185" y="1130935"/>
            <a:ext cx="98888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视图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是一种虚拟存在的表，并不在数据库中实际存在，它的数据依赖于真实存在的数据表。通过视图不仅可以看到其依赖数据表中的数据，还可以像操作数据表一样，对数据表中的数据进行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。与直接操作数据表相比，视图具有以下优点。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6.2.1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视图概述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225550" y="2593340"/>
            <a:ext cx="9968865" cy="3855085"/>
            <a:chOff x="1905" y="3061"/>
            <a:chExt cx="15600" cy="5573"/>
          </a:xfrm>
        </p:grpSpPr>
        <p:sp>
          <p:nvSpPr>
            <p:cNvPr id="36" name="矩形: 剪去单角 444"/>
            <p:cNvSpPr/>
            <p:nvPr/>
          </p:nvSpPr>
          <p:spPr bwMode="auto">
            <a:xfrm>
              <a:off x="7357" y="3061"/>
              <a:ext cx="4696" cy="5573"/>
            </a:xfrm>
            <a:prstGeom prst="snip1Rect">
              <a:avLst>
                <a:gd name="adj" fmla="val 29383"/>
              </a:avLst>
            </a:prstGeom>
            <a:solidFill>
              <a:srgbClr val="F6F6F6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endParaRPr>
            </a:p>
          </p:txBody>
        </p:sp>
        <p:sp>
          <p:nvSpPr>
            <p:cNvPr id="37" name="矩形 45"/>
            <p:cNvSpPr>
              <a:spLocks noChangeArrowheads="1"/>
            </p:cNvSpPr>
            <p:nvPr/>
          </p:nvSpPr>
          <p:spPr bwMode="auto">
            <a:xfrm>
              <a:off x="7357" y="8417"/>
              <a:ext cx="4697" cy="217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anchor="ctr"/>
            <a:p>
              <a:pPr algn="ctr"/>
              <a:endParaRPr lang="zh-CN" altLang="zh-CN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8" name="任意多边形: 形状 445"/>
            <p:cNvSpPr/>
            <p:nvPr/>
          </p:nvSpPr>
          <p:spPr bwMode="auto">
            <a:xfrm>
              <a:off x="10869" y="3061"/>
              <a:ext cx="1185" cy="1269"/>
            </a:xfrm>
            <a:custGeom>
              <a:avLst/>
              <a:gdLst>
                <a:gd name="T0" fmla="*/ 719975 w 608"/>
                <a:gd name="T1" fmla="*/ 0 h 608"/>
                <a:gd name="T2" fmla="*/ 0 w 608"/>
                <a:gd name="T3" fmla="*/ 0 h 608"/>
                <a:gd name="T4" fmla="*/ 719975 w 608"/>
                <a:gd name="T5" fmla="*/ 719975 h 608"/>
                <a:gd name="T6" fmla="*/ 719975 w 608"/>
                <a:gd name="T7" fmla="*/ 0 h 6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08"/>
                <a:gd name="T13" fmla="*/ 0 h 608"/>
                <a:gd name="T14" fmla="*/ 608 w 608"/>
                <a:gd name="T15" fmla="*/ 608 h 6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08" h="608">
                  <a:moveTo>
                    <a:pt x="608" y="0"/>
                  </a:moveTo>
                  <a:lnTo>
                    <a:pt x="0" y="0"/>
                  </a:lnTo>
                  <a:lnTo>
                    <a:pt x="608" y="608"/>
                  </a:lnTo>
                  <a:lnTo>
                    <a:pt x="608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lIns="121920" tIns="60960" rIns="121920" bIns="60960"/>
            <a:p>
              <a:pPr algn="r"/>
              <a:r>
                <a:rPr lang="en-US" altLang="zh-CN" sz="16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2</a:t>
              </a:r>
              <a:endParaRPr lang="en-US" altLang="zh-CN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9" name="矩形: 剪去单角 437"/>
            <p:cNvSpPr/>
            <p:nvPr/>
          </p:nvSpPr>
          <p:spPr bwMode="auto">
            <a:xfrm>
              <a:off x="1905" y="3061"/>
              <a:ext cx="4696" cy="5573"/>
            </a:xfrm>
            <a:prstGeom prst="snip1Rect">
              <a:avLst>
                <a:gd name="adj" fmla="val 29383"/>
              </a:avLst>
            </a:prstGeom>
            <a:solidFill>
              <a:srgbClr val="F6F6F6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endParaRPr>
            </a:p>
          </p:txBody>
        </p:sp>
        <p:sp>
          <p:nvSpPr>
            <p:cNvPr id="40" name="矩形 42"/>
            <p:cNvSpPr>
              <a:spLocks noChangeArrowheads="1"/>
            </p:cNvSpPr>
            <p:nvPr/>
          </p:nvSpPr>
          <p:spPr bwMode="auto">
            <a:xfrm>
              <a:off x="1905" y="8417"/>
              <a:ext cx="4697" cy="217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anchor="ctr"/>
            <a:p>
              <a:pPr algn="ctr"/>
              <a:endParaRPr lang="zh-CN" altLang="zh-CN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1" name="任意多边形: 形状 438"/>
            <p:cNvSpPr/>
            <p:nvPr/>
          </p:nvSpPr>
          <p:spPr bwMode="auto">
            <a:xfrm>
              <a:off x="5417" y="3061"/>
              <a:ext cx="1185" cy="1269"/>
            </a:xfrm>
            <a:custGeom>
              <a:avLst/>
              <a:gdLst>
                <a:gd name="T0" fmla="*/ 631242 w 608"/>
                <a:gd name="T1" fmla="*/ 0 h 608"/>
                <a:gd name="T2" fmla="*/ 0 w 608"/>
                <a:gd name="T3" fmla="*/ 0 h 608"/>
                <a:gd name="T4" fmla="*/ 631242 w 608"/>
                <a:gd name="T5" fmla="*/ 631242 h 608"/>
                <a:gd name="T6" fmla="*/ 631242 w 608"/>
                <a:gd name="T7" fmla="*/ 0 h 6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08"/>
                <a:gd name="T13" fmla="*/ 0 h 608"/>
                <a:gd name="T14" fmla="*/ 608 w 608"/>
                <a:gd name="T15" fmla="*/ 608 h 6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08" h="608">
                  <a:moveTo>
                    <a:pt x="608" y="0"/>
                  </a:moveTo>
                  <a:lnTo>
                    <a:pt x="0" y="0"/>
                  </a:lnTo>
                  <a:lnTo>
                    <a:pt x="608" y="608"/>
                  </a:lnTo>
                  <a:lnTo>
                    <a:pt x="608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lIns="121920" tIns="60960" rIns="121920" bIns="60960"/>
            <a:p>
              <a:pPr algn="r"/>
              <a:r>
                <a:rPr lang="en-US" altLang="ko-KR" sz="16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1</a:t>
              </a:r>
              <a:endParaRPr lang="en-US" altLang="ko-KR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2" name="矩形: 剪去单角 455"/>
            <p:cNvSpPr/>
            <p:nvPr/>
          </p:nvSpPr>
          <p:spPr bwMode="auto">
            <a:xfrm>
              <a:off x="12809" y="3061"/>
              <a:ext cx="4696" cy="5573"/>
            </a:xfrm>
            <a:prstGeom prst="snip1Rect">
              <a:avLst>
                <a:gd name="adj" fmla="val 29383"/>
              </a:avLst>
            </a:prstGeom>
            <a:solidFill>
              <a:srgbClr val="F6F6F6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endParaRPr>
            </a:p>
          </p:txBody>
        </p:sp>
        <p:sp>
          <p:nvSpPr>
            <p:cNvPr id="43" name="矩形 42"/>
            <p:cNvSpPr/>
            <p:nvPr/>
          </p:nvSpPr>
          <p:spPr bwMode="auto">
            <a:xfrm>
              <a:off x="12809" y="8418"/>
              <a:ext cx="4696" cy="215"/>
            </a:xfrm>
            <a:prstGeom prst="rect">
              <a:avLst/>
            </a:prstGeom>
            <a:solidFill>
              <a:srgbClr val="0070C0"/>
            </a:solidFill>
            <a:ln w="12700">
              <a:noFill/>
              <a:prstDash val="solid"/>
              <a:round/>
            </a:ln>
            <a:effectLst/>
          </p:spPr>
          <p:txBody>
            <a:bodyPr anchor="ctr"/>
            <a:p>
              <a:pPr algn="ctr">
                <a:defRPr/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endParaRPr>
            </a:p>
          </p:txBody>
        </p:sp>
        <p:sp>
          <p:nvSpPr>
            <p:cNvPr id="44" name="任意多边形: 形状 456"/>
            <p:cNvSpPr/>
            <p:nvPr/>
          </p:nvSpPr>
          <p:spPr bwMode="auto">
            <a:xfrm>
              <a:off x="16322" y="3061"/>
              <a:ext cx="1183" cy="1267"/>
            </a:xfrm>
            <a:custGeom>
              <a:avLst/>
              <a:gdLst>
                <a:gd name="T0" fmla="*/ 608 w 608"/>
                <a:gd name="T1" fmla="*/ 0 h 608"/>
                <a:gd name="T2" fmla="*/ 0 w 608"/>
                <a:gd name="T3" fmla="*/ 0 h 608"/>
                <a:gd name="T4" fmla="*/ 608 w 608"/>
                <a:gd name="T5" fmla="*/ 608 h 608"/>
                <a:gd name="T6" fmla="*/ 608 w 608"/>
                <a:gd name="T7" fmla="*/ 0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08" h="608">
                  <a:moveTo>
                    <a:pt x="608" y="0"/>
                  </a:moveTo>
                  <a:lnTo>
                    <a:pt x="0" y="0"/>
                  </a:lnTo>
                  <a:lnTo>
                    <a:pt x="608" y="608"/>
                  </a:lnTo>
                  <a:lnTo>
                    <a:pt x="608" y="0"/>
                  </a:lnTo>
                  <a:close/>
                </a:path>
              </a:pathLst>
            </a:custGeom>
            <a:solidFill>
              <a:srgbClr val="0070C0"/>
            </a:solidFill>
            <a:ln w="12700">
              <a:noFill/>
              <a:prstDash val="solid"/>
              <a:round/>
            </a:ln>
            <a:effectLst/>
          </p:spPr>
          <p:txBody>
            <a:bodyPr lIns="121920" tIns="60960" rIns="121920" bIns="60960">
              <a:normAutofit/>
            </a:bodyPr>
            <a:p>
              <a:pPr algn="r">
                <a:defRPr/>
              </a:pPr>
              <a:r>
                <a:rPr lang="en-US" altLang="ko-KR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3</a:t>
              </a:r>
              <a:endParaRPr lang="en-US" altLang="ko-KR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endParaRPr>
            </a:p>
          </p:txBody>
        </p:sp>
        <p:sp>
          <p:nvSpPr>
            <p:cNvPr id="45" name="矩形 44"/>
            <p:cNvSpPr/>
            <p:nvPr/>
          </p:nvSpPr>
          <p:spPr bwMode="auto">
            <a:xfrm>
              <a:off x="2246" y="5716"/>
              <a:ext cx="4162" cy="1733"/>
            </a:xfrm>
            <a:prstGeom prst="rect">
              <a:avLst/>
            </a:prstGeom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p>
              <a:pPr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视图不仅可以简化用户对数据的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理解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，也可以简化对数据的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操作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endParaRPr>
            </a:p>
          </p:txBody>
        </p:sp>
        <p:sp>
          <p:nvSpPr>
            <p:cNvPr id="46" name="矩形 45"/>
            <p:cNvSpPr/>
            <p:nvPr/>
          </p:nvSpPr>
          <p:spPr bwMode="auto">
            <a:xfrm>
              <a:off x="2246" y="4930"/>
              <a:ext cx="3452" cy="933"/>
            </a:xfrm>
            <a:prstGeom prst="rect">
              <a:avLst/>
            </a:prstGeom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p>
              <a:pPr lvl="0" algn="l">
                <a:lnSpc>
                  <a:spcPct val="150000"/>
                </a:lnSpc>
                <a:defRPr/>
              </a:pPr>
              <a:r>
                <a:rPr lang="zh-CN" altLang="en-US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简化查询语句</a:t>
              </a:r>
              <a:endPara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endParaRPr>
            </a:p>
          </p:txBody>
        </p:sp>
        <p:sp>
          <p:nvSpPr>
            <p:cNvPr id="47" name="矩形 46"/>
            <p:cNvSpPr/>
            <p:nvPr/>
          </p:nvSpPr>
          <p:spPr bwMode="auto">
            <a:xfrm>
              <a:off x="7431" y="5716"/>
              <a:ext cx="4548" cy="2802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p>
              <a:pPr lvl="0" algn="l"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通过视图，可以更加方便的进行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权限控制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，使特定用户只能查询和修改指定的数据，而无法查看修改数据库中的其他数据。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endParaRPr>
            </a:p>
          </p:txBody>
        </p:sp>
        <p:sp>
          <p:nvSpPr>
            <p:cNvPr id="48" name="矩形 47"/>
            <p:cNvSpPr/>
            <p:nvPr/>
          </p:nvSpPr>
          <p:spPr bwMode="auto">
            <a:xfrm>
              <a:off x="7444" y="4930"/>
              <a:ext cx="3452" cy="933"/>
            </a:xfrm>
            <a:prstGeom prst="rect">
              <a:avLst/>
            </a:prstGeom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p>
              <a:pPr lvl="0" algn="l">
                <a:lnSpc>
                  <a:spcPct val="150000"/>
                </a:lnSpc>
                <a:defRPr/>
              </a:pPr>
              <a:r>
                <a:rPr lang="zh-CN" altLang="en-US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安全性</a:t>
              </a:r>
              <a:endPara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endParaRPr>
            </a:p>
          </p:txBody>
        </p:sp>
        <p:sp>
          <p:nvSpPr>
            <p:cNvPr id="49" name="矩形 48"/>
            <p:cNvSpPr/>
            <p:nvPr/>
          </p:nvSpPr>
          <p:spPr bwMode="auto">
            <a:xfrm>
              <a:off x="13154" y="5716"/>
              <a:ext cx="4162" cy="1200"/>
            </a:xfrm>
            <a:prstGeom prst="rect">
              <a:avLst/>
            </a:prstGeom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p>
              <a:pPr lvl="0" algn="l"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视图可以帮助用户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屏蔽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数据表结构变化带来的影响。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endParaRPr>
            </a:p>
          </p:txBody>
        </p:sp>
        <p:sp>
          <p:nvSpPr>
            <p:cNvPr id="50" name="矩形 49"/>
            <p:cNvSpPr/>
            <p:nvPr/>
          </p:nvSpPr>
          <p:spPr bwMode="auto">
            <a:xfrm>
              <a:off x="13154" y="4930"/>
              <a:ext cx="3793" cy="93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p>
              <a:pPr lvl="0" algn="l">
                <a:lnSpc>
                  <a:spcPct val="150000"/>
                </a:lnSpc>
                <a:defRPr/>
              </a:pPr>
              <a:r>
                <a:rPr lang="zh-CN" altLang="en-US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逻辑数据独立性</a:t>
              </a:r>
              <a:endPara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endParaRPr>
            </a:p>
          </p:txBody>
        </p:sp>
        <p:sp>
          <p:nvSpPr>
            <p:cNvPr id="51" name="任意多边形: 形状 43"/>
            <p:cNvSpPr/>
            <p:nvPr/>
          </p:nvSpPr>
          <p:spPr bwMode="auto">
            <a:xfrm>
              <a:off x="8969" y="3608"/>
              <a:ext cx="674" cy="722"/>
            </a:xfrm>
            <a:custGeom>
              <a:avLst/>
              <a:gdLst>
                <a:gd name="T0" fmla="*/ 218845 w 21551"/>
                <a:gd name="T1" fmla="*/ 218844 h 21600"/>
                <a:gd name="T2" fmla="*/ 218845 w 21551"/>
                <a:gd name="T3" fmla="*/ 218844 h 21600"/>
                <a:gd name="T4" fmla="*/ 218845 w 21551"/>
                <a:gd name="T5" fmla="*/ 218844 h 21600"/>
                <a:gd name="T6" fmla="*/ 218845 w 21551"/>
                <a:gd name="T7" fmla="*/ 218844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551" h="21600" extrusionOk="0">
                  <a:moveTo>
                    <a:pt x="19313" y="4353"/>
                  </a:moveTo>
                  <a:lnTo>
                    <a:pt x="16178" y="7496"/>
                  </a:lnTo>
                  <a:cubicBezTo>
                    <a:pt x="16034" y="7640"/>
                    <a:pt x="15980" y="7851"/>
                    <a:pt x="16036" y="8047"/>
                  </a:cubicBezTo>
                  <a:lnTo>
                    <a:pt x="18732" y="17470"/>
                  </a:lnTo>
                  <a:cubicBezTo>
                    <a:pt x="18788" y="17666"/>
                    <a:pt x="18734" y="17878"/>
                    <a:pt x="18590" y="18022"/>
                  </a:cubicBezTo>
                  <a:lnTo>
                    <a:pt x="17170" y="19445"/>
                  </a:lnTo>
                  <a:cubicBezTo>
                    <a:pt x="17059" y="19556"/>
                    <a:pt x="16916" y="19609"/>
                    <a:pt x="16775" y="19609"/>
                  </a:cubicBezTo>
                  <a:cubicBezTo>
                    <a:pt x="16581" y="19609"/>
                    <a:pt x="16390" y="19510"/>
                    <a:pt x="16285" y="19322"/>
                  </a:cubicBezTo>
                  <a:lnTo>
                    <a:pt x="12375" y="12317"/>
                  </a:lnTo>
                  <a:cubicBezTo>
                    <a:pt x="12271" y="12129"/>
                    <a:pt x="12079" y="12029"/>
                    <a:pt x="11886" y="12029"/>
                  </a:cubicBezTo>
                  <a:cubicBezTo>
                    <a:pt x="11744" y="12029"/>
                    <a:pt x="11602" y="12083"/>
                    <a:pt x="11491" y="12194"/>
                  </a:cubicBezTo>
                  <a:lnTo>
                    <a:pt x="8519" y="15172"/>
                  </a:lnTo>
                  <a:cubicBezTo>
                    <a:pt x="8388" y="15304"/>
                    <a:pt x="8330" y="15492"/>
                    <a:pt x="8365" y="15674"/>
                  </a:cubicBezTo>
                  <a:lnTo>
                    <a:pt x="8996" y="18989"/>
                  </a:lnTo>
                  <a:cubicBezTo>
                    <a:pt x="9031" y="19171"/>
                    <a:pt x="8973" y="19359"/>
                    <a:pt x="8842" y="19491"/>
                  </a:cubicBezTo>
                  <a:lnTo>
                    <a:pt x="8441" y="19893"/>
                  </a:lnTo>
                  <a:cubicBezTo>
                    <a:pt x="8330" y="20004"/>
                    <a:pt x="8187" y="20058"/>
                    <a:pt x="8046" y="20058"/>
                  </a:cubicBezTo>
                  <a:cubicBezTo>
                    <a:pt x="7852" y="20058"/>
                    <a:pt x="7661" y="19958"/>
                    <a:pt x="7556" y="19770"/>
                  </a:cubicBezTo>
                  <a:lnTo>
                    <a:pt x="5577" y="16226"/>
                  </a:lnTo>
                  <a:cubicBezTo>
                    <a:pt x="5526" y="16136"/>
                    <a:pt x="5452" y="16061"/>
                    <a:pt x="5362" y="16010"/>
                  </a:cubicBezTo>
                  <a:lnTo>
                    <a:pt x="1826" y="14027"/>
                  </a:lnTo>
                  <a:cubicBezTo>
                    <a:pt x="1502" y="13845"/>
                    <a:pt x="1441" y="13403"/>
                    <a:pt x="1703" y="13141"/>
                  </a:cubicBezTo>
                  <a:lnTo>
                    <a:pt x="2105" y="12738"/>
                  </a:lnTo>
                  <a:cubicBezTo>
                    <a:pt x="2211" y="12632"/>
                    <a:pt x="2354" y="12574"/>
                    <a:pt x="2501" y="12574"/>
                  </a:cubicBezTo>
                  <a:cubicBezTo>
                    <a:pt x="2536" y="12574"/>
                    <a:pt x="2571" y="12577"/>
                    <a:pt x="2606" y="12584"/>
                  </a:cubicBezTo>
                  <a:lnTo>
                    <a:pt x="5913" y="13216"/>
                  </a:lnTo>
                  <a:cubicBezTo>
                    <a:pt x="5948" y="13223"/>
                    <a:pt x="5983" y="13226"/>
                    <a:pt x="6018" y="13226"/>
                  </a:cubicBezTo>
                  <a:cubicBezTo>
                    <a:pt x="6165" y="13226"/>
                    <a:pt x="6308" y="13168"/>
                    <a:pt x="6414" y="13062"/>
                  </a:cubicBezTo>
                  <a:lnTo>
                    <a:pt x="9385" y="10083"/>
                  </a:lnTo>
                  <a:cubicBezTo>
                    <a:pt x="9648" y="9820"/>
                    <a:pt x="9587" y="9379"/>
                    <a:pt x="9263" y="9197"/>
                  </a:cubicBezTo>
                  <a:lnTo>
                    <a:pt x="2273" y="5278"/>
                  </a:lnTo>
                  <a:cubicBezTo>
                    <a:pt x="1949" y="5097"/>
                    <a:pt x="1888" y="4655"/>
                    <a:pt x="2150" y="4392"/>
                  </a:cubicBezTo>
                  <a:lnTo>
                    <a:pt x="3571" y="2968"/>
                  </a:lnTo>
                  <a:cubicBezTo>
                    <a:pt x="3677" y="2862"/>
                    <a:pt x="3820" y="2804"/>
                    <a:pt x="3966" y="2804"/>
                  </a:cubicBezTo>
                  <a:cubicBezTo>
                    <a:pt x="4018" y="2804"/>
                    <a:pt x="4070" y="2811"/>
                    <a:pt x="4121" y="2826"/>
                  </a:cubicBezTo>
                  <a:lnTo>
                    <a:pt x="13523" y="5528"/>
                  </a:lnTo>
                  <a:cubicBezTo>
                    <a:pt x="13574" y="5543"/>
                    <a:pt x="13625" y="5550"/>
                    <a:pt x="13677" y="5550"/>
                  </a:cubicBezTo>
                  <a:cubicBezTo>
                    <a:pt x="13823" y="5550"/>
                    <a:pt x="13966" y="5493"/>
                    <a:pt x="14073" y="5386"/>
                  </a:cubicBezTo>
                  <a:lnTo>
                    <a:pt x="17208" y="2243"/>
                  </a:lnTo>
                  <a:cubicBezTo>
                    <a:pt x="17593" y="1857"/>
                    <a:pt x="18321" y="1542"/>
                    <a:pt x="18937" y="1542"/>
                  </a:cubicBezTo>
                  <a:cubicBezTo>
                    <a:pt x="19252" y="1542"/>
                    <a:pt x="19538" y="1624"/>
                    <a:pt x="19734" y="1821"/>
                  </a:cubicBezTo>
                  <a:cubicBezTo>
                    <a:pt x="20316" y="2404"/>
                    <a:pt x="19895" y="3770"/>
                    <a:pt x="19313" y="4353"/>
                  </a:cubicBezTo>
                  <a:cubicBezTo>
                    <a:pt x="19313" y="4353"/>
                    <a:pt x="19313" y="4353"/>
                    <a:pt x="19313" y="4353"/>
                  </a:cubicBezTo>
                  <a:close/>
                  <a:moveTo>
                    <a:pt x="20822" y="731"/>
                  </a:moveTo>
                  <a:cubicBezTo>
                    <a:pt x="20557" y="465"/>
                    <a:pt x="20235" y="268"/>
                    <a:pt x="19866" y="145"/>
                  </a:cubicBezTo>
                  <a:cubicBezTo>
                    <a:pt x="19578" y="49"/>
                    <a:pt x="19266" y="0"/>
                    <a:pt x="18937" y="0"/>
                  </a:cubicBezTo>
                  <a:cubicBezTo>
                    <a:pt x="18441" y="0"/>
                    <a:pt x="17909" y="111"/>
                    <a:pt x="17399" y="322"/>
                  </a:cubicBezTo>
                  <a:cubicBezTo>
                    <a:pt x="16897" y="530"/>
                    <a:pt x="16455" y="817"/>
                    <a:pt x="16120" y="1153"/>
                  </a:cubicBezTo>
                  <a:lnTo>
                    <a:pt x="13392" y="3887"/>
                  </a:lnTo>
                  <a:lnTo>
                    <a:pt x="4545" y="1343"/>
                  </a:lnTo>
                  <a:cubicBezTo>
                    <a:pt x="4357" y="1289"/>
                    <a:pt x="4162" y="1262"/>
                    <a:pt x="3966" y="1262"/>
                  </a:cubicBezTo>
                  <a:cubicBezTo>
                    <a:pt x="3691" y="1262"/>
                    <a:pt x="3423" y="1315"/>
                    <a:pt x="3169" y="1420"/>
                  </a:cubicBezTo>
                  <a:cubicBezTo>
                    <a:pt x="2911" y="1526"/>
                    <a:pt x="2680" y="1680"/>
                    <a:pt x="2482" y="1878"/>
                  </a:cubicBezTo>
                  <a:lnTo>
                    <a:pt x="1062" y="3301"/>
                  </a:lnTo>
                  <a:cubicBezTo>
                    <a:pt x="828" y="3536"/>
                    <a:pt x="650" y="3827"/>
                    <a:pt x="549" y="4142"/>
                  </a:cubicBezTo>
                  <a:cubicBezTo>
                    <a:pt x="452" y="4442"/>
                    <a:pt x="424" y="4765"/>
                    <a:pt x="467" y="5077"/>
                  </a:cubicBezTo>
                  <a:cubicBezTo>
                    <a:pt x="511" y="5389"/>
                    <a:pt x="625" y="5693"/>
                    <a:pt x="799" y="5955"/>
                  </a:cubicBezTo>
                  <a:cubicBezTo>
                    <a:pt x="982" y="6230"/>
                    <a:pt x="1232" y="6462"/>
                    <a:pt x="1522" y="6624"/>
                  </a:cubicBezTo>
                  <a:lnTo>
                    <a:pt x="7382" y="9910"/>
                  </a:lnTo>
                  <a:lnTo>
                    <a:pt x="5692" y="11604"/>
                  </a:lnTo>
                  <a:lnTo>
                    <a:pt x="2894" y="11069"/>
                  </a:lnTo>
                  <a:cubicBezTo>
                    <a:pt x="2765" y="11044"/>
                    <a:pt x="2632" y="11031"/>
                    <a:pt x="2501" y="11031"/>
                  </a:cubicBezTo>
                  <a:cubicBezTo>
                    <a:pt x="2225" y="11031"/>
                    <a:pt x="1956" y="11085"/>
                    <a:pt x="1701" y="11190"/>
                  </a:cubicBezTo>
                  <a:cubicBezTo>
                    <a:pt x="1444" y="11296"/>
                    <a:pt x="1213" y="11450"/>
                    <a:pt x="1017" y="11647"/>
                  </a:cubicBezTo>
                  <a:lnTo>
                    <a:pt x="615" y="12050"/>
                  </a:lnTo>
                  <a:cubicBezTo>
                    <a:pt x="380" y="12285"/>
                    <a:pt x="203" y="12576"/>
                    <a:pt x="101" y="12891"/>
                  </a:cubicBezTo>
                  <a:cubicBezTo>
                    <a:pt x="5" y="13191"/>
                    <a:pt x="-23" y="13513"/>
                    <a:pt x="20" y="13826"/>
                  </a:cubicBezTo>
                  <a:cubicBezTo>
                    <a:pt x="63" y="14138"/>
                    <a:pt x="178" y="14441"/>
                    <a:pt x="352" y="14703"/>
                  </a:cubicBezTo>
                  <a:cubicBezTo>
                    <a:pt x="535" y="14979"/>
                    <a:pt x="785" y="15210"/>
                    <a:pt x="1074" y="15373"/>
                  </a:cubicBezTo>
                  <a:lnTo>
                    <a:pt x="4369" y="17221"/>
                  </a:lnTo>
                  <a:lnTo>
                    <a:pt x="6213" y="20524"/>
                  </a:lnTo>
                  <a:cubicBezTo>
                    <a:pt x="6584" y="21188"/>
                    <a:pt x="7286" y="21600"/>
                    <a:pt x="8046" y="21600"/>
                  </a:cubicBezTo>
                  <a:cubicBezTo>
                    <a:pt x="8606" y="21600"/>
                    <a:pt x="9132" y="21381"/>
                    <a:pt x="9529" y="20984"/>
                  </a:cubicBezTo>
                  <a:lnTo>
                    <a:pt x="9930" y="20581"/>
                  </a:lnTo>
                  <a:cubicBezTo>
                    <a:pt x="10422" y="20088"/>
                    <a:pt x="10638" y="19385"/>
                    <a:pt x="10508" y="18700"/>
                  </a:cubicBezTo>
                  <a:lnTo>
                    <a:pt x="9974" y="15896"/>
                  </a:lnTo>
                  <a:lnTo>
                    <a:pt x="11664" y="14201"/>
                  </a:lnTo>
                  <a:lnTo>
                    <a:pt x="14942" y="20075"/>
                  </a:lnTo>
                  <a:cubicBezTo>
                    <a:pt x="15313" y="20739"/>
                    <a:pt x="16015" y="21152"/>
                    <a:pt x="16775" y="21152"/>
                  </a:cubicBezTo>
                  <a:cubicBezTo>
                    <a:pt x="17335" y="21152"/>
                    <a:pt x="17861" y="20933"/>
                    <a:pt x="18258" y="20536"/>
                  </a:cubicBezTo>
                  <a:lnTo>
                    <a:pt x="19678" y="19113"/>
                  </a:lnTo>
                  <a:cubicBezTo>
                    <a:pt x="20217" y="18572"/>
                    <a:pt x="20422" y="17780"/>
                    <a:pt x="20211" y="17045"/>
                  </a:cubicBezTo>
                  <a:lnTo>
                    <a:pt x="17674" y="8178"/>
                  </a:lnTo>
                  <a:lnTo>
                    <a:pt x="20402" y="5443"/>
                  </a:lnTo>
                  <a:cubicBezTo>
                    <a:pt x="20900" y="4943"/>
                    <a:pt x="21298" y="4185"/>
                    <a:pt x="21464" y="3413"/>
                  </a:cubicBezTo>
                  <a:cubicBezTo>
                    <a:pt x="21559" y="2971"/>
                    <a:pt x="21577" y="2546"/>
                    <a:pt x="21517" y="2149"/>
                  </a:cubicBezTo>
                  <a:cubicBezTo>
                    <a:pt x="21432" y="1592"/>
                    <a:pt x="21192" y="1102"/>
                    <a:pt x="20822" y="731"/>
                  </a:cubicBezTo>
                  <a:cubicBezTo>
                    <a:pt x="20822" y="731"/>
                    <a:pt x="20822" y="731"/>
                    <a:pt x="20822" y="731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="ctr"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任意多边形: 形状 41"/>
            <p:cNvSpPr/>
            <p:nvPr/>
          </p:nvSpPr>
          <p:spPr bwMode="auto">
            <a:xfrm>
              <a:off x="3439" y="3645"/>
              <a:ext cx="727" cy="632"/>
            </a:xfrm>
            <a:custGeom>
              <a:avLst/>
              <a:gdLst>
                <a:gd name="T0" fmla="*/ 235926 w 21600"/>
                <a:gd name="T1" fmla="*/ 191703 h 21600"/>
                <a:gd name="T2" fmla="*/ 235926 w 21600"/>
                <a:gd name="T3" fmla="*/ 191703 h 21600"/>
                <a:gd name="T4" fmla="*/ 235926 w 21600"/>
                <a:gd name="T5" fmla="*/ 191703 h 21600"/>
                <a:gd name="T6" fmla="*/ 235926 w 21600"/>
                <a:gd name="T7" fmla="*/ 191703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2024" y="0"/>
                  </a:moveTo>
                  <a:cubicBezTo>
                    <a:pt x="912" y="0"/>
                    <a:pt x="0" y="1122"/>
                    <a:pt x="0" y="2491"/>
                  </a:cubicBezTo>
                  <a:lnTo>
                    <a:pt x="0" y="11634"/>
                  </a:lnTo>
                  <a:cubicBezTo>
                    <a:pt x="0" y="13008"/>
                    <a:pt x="912" y="14134"/>
                    <a:pt x="2024" y="14134"/>
                  </a:cubicBezTo>
                  <a:lnTo>
                    <a:pt x="2024" y="16617"/>
                  </a:lnTo>
                  <a:cubicBezTo>
                    <a:pt x="2024" y="17994"/>
                    <a:pt x="2935" y="19109"/>
                    <a:pt x="4049" y="19109"/>
                  </a:cubicBezTo>
                  <a:lnTo>
                    <a:pt x="4822" y="19109"/>
                  </a:lnTo>
                  <a:cubicBezTo>
                    <a:pt x="5125" y="20540"/>
                    <a:pt x="6166" y="21600"/>
                    <a:pt x="7423" y="21600"/>
                  </a:cubicBezTo>
                  <a:cubicBezTo>
                    <a:pt x="8673" y="21600"/>
                    <a:pt x="9726" y="20540"/>
                    <a:pt x="10030" y="19109"/>
                  </a:cubicBezTo>
                  <a:lnTo>
                    <a:pt x="13594" y="19109"/>
                  </a:lnTo>
                  <a:cubicBezTo>
                    <a:pt x="13897" y="20540"/>
                    <a:pt x="14942" y="21600"/>
                    <a:pt x="16202" y="21600"/>
                  </a:cubicBezTo>
                  <a:cubicBezTo>
                    <a:pt x="17449" y="21600"/>
                    <a:pt x="18498" y="20540"/>
                    <a:pt x="18803" y="19109"/>
                  </a:cubicBezTo>
                  <a:lnTo>
                    <a:pt x="19576" y="19109"/>
                  </a:lnTo>
                  <a:cubicBezTo>
                    <a:pt x="20692" y="19109"/>
                    <a:pt x="21600" y="17994"/>
                    <a:pt x="21600" y="16617"/>
                  </a:cubicBezTo>
                  <a:lnTo>
                    <a:pt x="21600" y="11634"/>
                  </a:lnTo>
                  <a:cubicBezTo>
                    <a:pt x="21600" y="11142"/>
                    <a:pt x="21482" y="10663"/>
                    <a:pt x="21259" y="10248"/>
                  </a:cubicBezTo>
                  <a:lnTo>
                    <a:pt x="18554" y="5265"/>
                  </a:lnTo>
                  <a:cubicBezTo>
                    <a:pt x="18182" y="4566"/>
                    <a:pt x="17557" y="4160"/>
                    <a:pt x="16876" y="4160"/>
                  </a:cubicBezTo>
                  <a:lnTo>
                    <a:pt x="14177" y="4160"/>
                  </a:lnTo>
                  <a:lnTo>
                    <a:pt x="14177" y="2491"/>
                  </a:lnTo>
                  <a:cubicBezTo>
                    <a:pt x="14177" y="1122"/>
                    <a:pt x="13265" y="0"/>
                    <a:pt x="12146" y="0"/>
                  </a:cubicBezTo>
                  <a:lnTo>
                    <a:pt x="2024" y="0"/>
                  </a:lnTo>
                  <a:close/>
                  <a:moveTo>
                    <a:pt x="2024" y="1669"/>
                  </a:moveTo>
                  <a:lnTo>
                    <a:pt x="12146" y="1669"/>
                  </a:lnTo>
                  <a:cubicBezTo>
                    <a:pt x="12524" y="1669"/>
                    <a:pt x="12821" y="2034"/>
                    <a:pt x="12821" y="2491"/>
                  </a:cubicBezTo>
                  <a:lnTo>
                    <a:pt x="12821" y="11634"/>
                  </a:lnTo>
                  <a:cubicBezTo>
                    <a:pt x="12821" y="12090"/>
                    <a:pt x="12524" y="12465"/>
                    <a:pt x="12146" y="12465"/>
                  </a:cubicBezTo>
                  <a:cubicBezTo>
                    <a:pt x="12146" y="12465"/>
                    <a:pt x="2024" y="12465"/>
                    <a:pt x="2024" y="12465"/>
                  </a:cubicBezTo>
                  <a:cubicBezTo>
                    <a:pt x="1649" y="12465"/>
                    <a:pt x="1350" y="12090"/>
                    <a:pt x="1350" y="11634"/>
                  </a:cubicBezTo>
                  <a:lnTo>
                    <a:pt x="1350" y="2491"/>
                  </a:lnTo>
                  <a:cubicBezTo>
                    <a:pt x="1350" y="2034"/>
                    <a:pt x="1649" y="1669"/>
                    <a:pt x="2024" y="1669"/>
                  </a:cubicBezTo>
                  <a:close/>
                  <a:moveTo>
                    <a:pt x="14177" y="5821"/>
                  </a:moveTo>
                  <a:lnTo>
                    <a:pt x="16876" y="5821"/>
                  </a:lnTo>
                  <a:cubicBezTo>
                    <a:pt x="17102" y="5821"/>
                    <a:pt x="17311" y="5958"/>
                    <a:pt x="17440" y="6184"/>
                  </a:cubicBezTo>
                  <a:lnTo>
                    <a:pt x="20132" y="11175"/>
                  </a:lnTo>
                  <a:cubicBezTo>
                    <a:pt x="20206" y="11307"/>
                    <a:pt x="20250" y="11475"/>
                    <a:pt x="20250" y="11634"/>
                  </a:cubicBezTo>
                  <a:cubicBezTo>
                    <a:pt x="20250" y="11634"/>
                    <a:pt x="20250" y="16617"/>
                    <a:pt x="20250" y="16617"/>
                  </a:cubicBezTo>
                  <a:cubicBezTo>
                    <a:pt x="20250" y="17074"/>
                    <a:pt x="19946" y="17448"/>
                    <a:pt x="19576" y="17448"/>
                  </a:cubicBezTo>
                  <a:lnTo>
                    <a:pt x="18803" y="17448"/>
                  </a:lnTo>
                  <a:cubicBezTo>
                    <a:pt x="18498" y="16016"/>
                    <a:pt x="17455" y="14956"/>
                    <a:pt x="16202" y="14956"/>
                  </a:cubicBezTo>
                  <a:cubicBezTo>
                    <a:pt x="14942" y="14956"/>
                    <a:pt x="13897" y="16016"/>
                    <a:pt x="13594" y="17448"/>
                  </a:cubicBezTo>
                  <a:lnTo>
                    <a:pt x="10030" y="17448"/>
                  </a:lnTo>
                  <a:cubicBezTo>
                    <a:pt x="9729" y="16016"/>
                    <a:pt x="8678" y="14956"/>
                    <a:pt x="7423" y="14956"/>
                  </a:cubicBezTo>
                  <a:cubicBezTo>
                    <a:pt x="6166" y="14956"/>
                    <a:pt x="5125" y="16016"/>
                    <a:pt x="4822" y="17448"/>
                  </a:cubicBezTo>
                  <a:lnTo>
                    <a:pt x="4049" y="17448"/>
                  </a:lnTo>
                  <a:cubicBezTo>
                    <a:pt x="3676" y="17448"/>
                    <a:pt x="3374" y="17074"/>
                    <a:pt x="3374" y="16617"/>
                  </a:cubicBezTo>
                  <a:lnTo>
                    <a:pt x="3374" y="14134"/>
                  </a:lnTo>
                  <a:lnTo>
                    <a:pt x="12146" y="14134"/>
                  </a:lnTo>
                  <a:cubicBezTo>
                    <a:pt x="13265" y="14134"/>
                    <a:pt x="14177" y="13008"/>
                    <a:pt x="14177" y="11634"/>
                  </a:cubicBezTo>
                  <a:lnTo>
                    <a:pt x="14177" y="5821"/>
                  </a:lnTo>
                  <a:close/>
                  <a:moveTo>
                    <a:pt x="15553" y="6450"/>
                  </a:moveTo>
                  <a:cubicBezTo>
                    <a:pt x="15182" y="6450"/>
                    <a:pt x="14885" y="6824"/>
                    <a:pt x="14885" y="7281"/>
                  </a:cubicBezTo>
                  <a:lnTo>
                    <a:pt x="14885" y="12263"/>
                  </a:lnTo>
                  <a:cubicBezTo>
                    <a:pt x="14885" y="12721"/>
                    <a:pt x="15182" y="13102"/>
                    <a:pt x="15553" y="13102"/>
                  </a:cubicBezTo>
                  <a:lnTo>
                    <a:pt x="18259" y="13102"/>
                  </a:lnTo>
                  <a:cubicBezTo>
                    <a:pt x="18629" y="13102"/>
                    <a:pt x="18934" y="12721"/>
                    <a:pt x="18934" y="12263"/>
                  </a:cubicBezTo>
                  <a:lnTo>
                    <a:pt x="18934" y="11022"/>
                  </a:lnTo>
                  <a:cubicBezTo>
                    <a:pt x="18934" y="10857"/>
                    <a:pt x="18888" y="10694"/>
                    <a:pt x="18816" y="10554"/>
                  </a:cubicBezTo>
                  <a:cubicBezTo>
                    <a:pt x="18816" y="10554"/>
                    <a:pt x="16798" y="6829"/>
                    <a:pt x="16798" y="6829"/>
                  </a:cubicBezTo>
                  <a:cubicBezTo>
                    <a:pt x="16673" y="6592"/>
                    <a:pt x="16460" y="6450"/>
                    <a:pt x="16234" y="6450"/>
                  </a:cubicBezTo>
                  <a:lnTo>
                    <a:pt x="15553" y="6450"/>
                  </a:lnTo>
                  <a:close/>
                  <a:moveTo>
                    <a:pt x="15553" y="7281"/>
                  </a:moveTo>
                  <a:lnTo>
                    <a:pt x="16234" y="7281"/>
                  </a:lnTo>
                  <a:lnTo>
                    <a:pt x="18259" y="11022"/>
                  </a:lnTo>
                  <a:cubicBezTo>
                    <a:pt x="18259" y="11022"/>
                    <a:pt x="18259" y="12263"/>
                    <a:pt x="18259" y="12263"/>
                  </a:cubicBezTo>
                  <a:lnTo>
                    <a:pt x="15553" y="12263"/>
                  </a:lnTo>
                  <a:lnTo>
                    <a:pt x="15553" y="7281"/>
                  </a:lnTo>
                  <a:close/>
                  <a:moveTo>
                    <a:pt x="7423" y="16617"/>
                  </a:moveTo>
                  <a:cubicBezTo>
                    <a:pt x="8167" y="16617"/>
                    <a:pt x="8772" y="17365"/>
                    <a:pt x="8772" y="18278"/>
                  </a:cubicBezTo>
                  <a:cubicBezTo>
                    <a:pt x="8772" y="19191"/>
                    <a:pt x="8167" y="19939"/>
                    <a:pt x="7423" y="19939"/>
                  </a:cubicBezTo>
                  <a:cubicBezTo>
                    <a:pt x="6677" y="19939"/>
                    <a:pt x="6073" y="19191"/>
                    <a:pt x="6073" y="18278"/>
                  </a:cubicBezTo>
                  <a:cubicBezTo>
                    <a:pt x="6073" y="17365"/>
                    <a:pt x="6677" y="16617"/>
                    <a:pt x="7423" y="16617"/>
                  </a:cubicBezTo>
                  <a:close/>
                  <a:moveTo>
                    <a:pt x="16202" y="16617"/>
                  </a:moveTo>
                  <a:cubicBezTo>
                    <a:pt x="16943" y="16617"/>
                    <a:pt x="17551" y="17365"/>
                    <a:pt x="17551" y="18278"/>
                  </a:cubicBezTo>
                  <a:cubicBezTo>
                    <a:pt x="17551" y="19191"/>
                    <a:pt x="16943" y="19939"/>
                    <a:pt x="16202" y="19939"/>
                  </a:cubicBezTo>
                  <a:cubicBezTo>
                    <a:pt x="15454" y="19939"/>
                    <a:pt x="14852" y="19191"/>
                    <a:pt x="14852" y="18278"/>
                  </a:cubicBezTo>
                  <a:cubicBezTo>
                    <a:pt x="14852" y="17365"/>
                    <a:pt x="15454" y="16617"/>
                    <a:pt x="16202" y="16617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="ctr"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任意多边形: 形状 39"/>
            <p:cNvSpPr/>
            <p:nvPr/>
          </p:nvSpPr>
          <p:spPr bwMode="auto">
            <a:xfrm>
              <a:off x="14423" y="3554"/>
              <a:ext cx="629" cy="854"/>
            </a:xfrm>
            <a:custGeom>
              <a:avLst/>
              <a:gdLst>
                <a:gd name="T0" fmla="*/ 204156 w 21600"/>
                <a:gd name="T1" fmla="*/ 258980 h 21600"/>
                <a:gd name="T2" fmla="*/ 204156 w 21600"/>
                <a:gd name="T3" fmla="*/ 258980 h 21600"/>
                <a:gd name="T4" fmla="*/ 204156 w 21600"/>
                <a:gd name="T5" fmla="*/ 258980 h 21600"/>
                <a:gd name="T6" fmla="*/ 204156 w 21600"/>
                <a:gd name="T7" fmla="*/ 258980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18003" y="6729"/>
                  </a:moveTo>
                  <a:cubicBezTo>
                    <a:pt x="17891" y="6790"/>
                    <a:pt x="17842" y="6883"/>
                    <a:pt x="17842" y="6994"/>
                  </a:cubicBezTo>
                  <a:cubicBezTo>
                    <a:pt x="17842" y="7080"/>
                    <a:pt x="17901" y="7139"/>
                    <a:pt x="18015" y="7191"/>
                  </a:cubicBezTo>
                  <a:cubicBezTo>
                    <a:pt x="18122" y="7230"/>
                    <a:pt x="18344" y="7284"/>
                    <a:pt x="18697" y="7352"/>
                  </a:cubicBezTo>
                  <a:cubicBezTo>
                    <a:pt x="19207" y="7434"/>
                    <a:pt x="19552" y="7540"/>
                    <a:pt x="19715" y="7661"/>
                  </a:cubicBezTo>
                  <a:cubicBezTo>
                    <a:pt x="19899" y="7775"/>
                    <a:pt x="19976" y="7963"/>
                    <a:pt x="19976" y="8220"/>
                  </a:cubicBezTo>
                  <a:cubicBezTo>
                    <a:pt x="19976" y="8479"/>
                    <a:pt x="19851" y="8684"/>
                    <a:pt x="19591" y="8842"/>
                  </a:cubicBezTo>
                  <a:cubicBezTo>
                    <a:pt x="19332" y="8993"/>
                    <a:pt x="18985" y="9069"/>
                    <a:pt x="18546" y="9069"/>
                  </a:cubicBezTo>
                  <a:cubicBezTo>
                    <a:pt x="18091" y="9069"/>
                    <a:pt x="17748" y="8987"/>
                    <a:pt x="17505" y="8826"/>
                  </a:cubicBezTo>
                  <a:cubicBezTo>
                    <a:pt x="17256" y="8660"/>
                    <a:pt x="17122" y="8433"/>
                    <a:pt x="17105" y="8130"/>
                  </a:cubicBezTo>
                  <a:lnTo>
                    <a:pt x="17814" y="8130"/>
                  </a:lnTo>
                  <a:cubicBezTo>
                    <a:pt x="17814" y="8283"/>
                    <a:pt x="17879" y="8395"/>
                    <a:pt x="18015" y="8471"/>
                  </a:cubicBezTo>
                  <a:cubicBezTo>
                    <a:pt x="18132" y="8553"/>
                    <a:pt x="18312" y="8592"/>
                    <a:pt x="18546" y="8592"/>
                  </a:cubicBezTo>
                  <a:cubicBezTo>
                    <a:pt x="18773" y="8592"/>
                    <a:pt x="18957" y="8562"/>
                    <a:pt x="19091" y="8501"/>
                  </a:cubicBezTo>
                  <a:cubicBezTo>
                    <a:pt x="19217" y="8442"/>
                    <a:pt x="19283" y="8356"/>
                    <a:pt x="19283" y="8253"/>
                  </a:cubicBezTo>
                  <a:cubicBezTo>
                    <a:pt x="19283" y="8152"/>
                    <a:pt x="19234" y="8078"/>
                    <a:pt x="19148" y="8024"/>
                  </a:cubicBezTo>
                  <a:cubicBezTo>
                    <a:pt x="19054" y="7973"/>
                    <a:pt x="18860" y="7926"/>
                    <a:pt x="18555" y="7874"/>
                  </a:cubicBezTo>
                  <a:cubicBezTo>
                    <a:pt x="18003" y="7775"/>
                    <a:pt x="17623" y="7669"/>
                    <a:pt x="17440" y="7554"/>
                  </a:cubicBezTo>
                  <a:cubicBezTo>
                    <a:pt x="17256" y="7442"/>
                    <a:pt x="17161" y="7268"/>
                    <a:pt x="17161" y="7024"/>
                  </a:cubicBezTo>
                  <a:cubicBezTo>
                    <a:pt x="17161" y="6759"/>
                    <a:pt x="17278" y="6550"/>
                    <a:pt x="17527" y="6388"/>
                  </a:cubicBezTo>
                  <a:cubicBezTo>
                    <a:pt x="17776" y="6230"/>
                    <a:pt x="18103" y="6154"/>
                    <a:pt x="18524" y="6154"/>
                  </a:cubicBezTo>
                  <a:cubicBezTo>
                    <a:pt x="18919" y="6154"/>
                    <a:pt x="19234" y="6230"/>
                    <a:pt x="19487" y="6397"/>
                  </a:cubicBezTo>
                  <a:cubicBezTo>
                    <a:pt x="19737" y="6563"/>
                    <a:pt x="19868" y="6785"/>
                    <a:pt x="19899" y="7063"/>
                  </a:cubicBezTo>
                  <a:lnTo>
                    <a:pt x="19179" y="7063"/>
                  </a:lnTo>
                  <a:cubicBezTo>
                    <a:pt x="19169" y="6926"/>
                    <a:pt x="19091" y="6820"/>
                    <a:pt x="18967" y="6747"/>
                  </a:cubicBezTo>
                  <a:cubicBezTo>
                    <a:pt x="18832" y="6670"/>
                    <a:pt x="18648" y="6631"/>
                    <a:pt x="18437" y="6631"/>
                  </a:cubicBezTo>
                  <a:cubicBezTo>
                    <a:pt x="18257" y="6631"/>
                    <a:pt x="18103" y="6661"/>
                    <a:pt x="18003" y="6729"/>
                  </a:cubicBezTo>
                  <a:cubicBezTo>
                    <a:pt x="18003" y="6729"/>
                    <a:pt x="18003" y="6729"/>
                    <a:pt x="18003" y="6729"/>
                  </a:cubicBezTo>
                  <a:close/>
                  <a:moveTo>
                    <a:pt x="15761" y="7344"/>
                  </a:moveTo>
                  <a:cubicBezTo>
                    <a:pt x="15665" y="7405"/>
                    <a:pt x="15528" y="7434"/>
                    <a:pt x="15338" y="7434"/>
                  </a:cubicBezTo>
                  <a:lnTo>
                    <a:pt x="14490" y="7434"/>
                  </a:lnTo>
                  <a:lnTo>
                    <a:pt x="14490" y="6707"/>
                  </a:lnTo>
                  <a:lnTo>
                    <a:pt x="15366" y="6707"/>
                  </a:lnTo>
                  <a:cubicBezTo>
                    <a:pt x="15549" y="6707"/>
                    <a:pt x="15675" y="6738"/>
                    <a:pt x="15768" y="6798"/>
                  </a:cubicBezTo>
                  <a:cubicBezTo>
                    <a:pt x="15865" y="6857"/>
                    <a:pt x="15902" y="6950"/>
                    <a:pt x="15902" y="7070"/>
                  </a:cubicBezTo>
                  <a:cubicBezTo>
                    <a:pt x="15902" y="7191"/>
                    <a:pt x="15855" y="7284"/>
                    <a:pt x="15761" y="7344"/>
                  </a:cubicBezTo>
                  <a:cubicBezTo>
                    <a:pt x="15761" y="7344"/>
                    <a:pt x="15761" y="7344"/>
                    <a:pt x="15761" y="7344"/>
                  </a:cubicBezTo>
                  <a:close/>
                  <a:moveTo>
                    <a:pt x="16633" y="6994"/>
                  </a:moveTo>
                  <a:cubicBezTo>
                    <a:pt x="16633" y="6769"/>
                    <a:pt x="16526" y="6579"/>
                    <a:pt x="16326" y="6435"/>
                  </a:cubicBezTo>
                  <a:cubicBezTo>
                    <a:pt x="16124" y="6299"/>
                    <a:pt x="15855" y="6230"/>
                    <a:pt x="15518" y="6230"/>
                  </a:cubicBezTo>
                  <a:lnTo>
                    <a:pt x="13751" y="6230"/>
                  </a:lnTo>
                  <a:lnTo>
                    <a:pt x="13751" y="8993"/>
                  </a:lnTo>
                  <a:lnTo>
                    <a:pt x="14490" y="8993"/>
                  </a:lnTo>
                  <a:lnTo>
                    <a:pt x="14490" y="7904"/>
                  </a:lnTo>
                  <a:lnTo>
                    <a:pt x="15210" y="7904"/>
                  </a:lnTo>
                  <a:cubicBezTo>
                    <a:pt x="15432" y="7904"/>
                    <a:pt x="15577" y="7926"/>
                    <a:pt x="15665" y="7980"/>
                  </a:cubicBezTo>
                  <a:cubicBezTo>
                    <a:pt x="15761" y="8032"/>
                    <a:pt x="15800" y="8122"/>
                    <a:pt x="15800" y="8245"/>
                  </a:cubicBezTo>
                  <a:lnTo>
                    <a:pt x="15806" y="8494"/>
                  </a:lnTo>
                  <a:cubicBezTo>
                    <a:pt x="15806" y="8609"/>
                    <a:pt x="15815" y="8706"/>
                    <a:pt x="15837" y="8805"/>
                  </a:cubicBezTo>
                  <a:cubicBezTo>
                    <a:pt x="15855" y="8895"/>
                    <a:pt x="15865" y="8963"/>
                    <a:pt x="15886" y="8987"/>
                  </a:cubicBezTo>
                  <a:lnTo>
                    <a:pt x="16692" y="8987"/>
                  </a:lnTo>
                  <a:lnTo>
                    <a:pt x="16692" y="8919"/>
                  </a:lnTo>
                  <a:cubicBezTo>
                    <a:pt x="16633" y="8895"/>
                    <a:pt x="16585" y="8864"/>
                    <a:pt x="16575" y="8826"/>
                  </a:cubicBezTo>
                  <a:cubicBezTo>
                    <a:pt x="16547" y="8788"/>
                    <a:pt x="16538" y="8720"/>
                    <a:pt x="16526" y="8638"/>
                  </a:cubicBezTo>
                  <a:lnTo>
                    <a:pt x="16519" y="8184"/>
                  </a:lnTo>
                  <a:cubicBezTo>
                    <a:pt x="16508" y="7963"/>
                    <a:pt x="16401" y="7805"/>
                    <a:pt x="16202" y="7707"/>
                  </a:cubicBezTo>
                  <a:cubicBezTo>
                    <a:pt x="16174" y="7691"/>
                    <a:pt x="16135" y="7685"/>
                    <a:pt x="16086" y="7661"/>
                  </a:cubicBezTo>
                  <a:cubicBezTo>
                    <a:pt x="16163" y="7639"/>
                    <a:pt x="16230" y="7609"/>
                    <a:pt x="16298" y="7579"/>
                  </a:cubicBezTo>
                  <a:cubicBezTo>
                    <a:pt x="16519" y="7456"/>
                    <a:pt x="16633" y="7260"/>
                    <a:pt x="16633" y="6994"/>
                  </a:cubicBezTo>
                  <a:cubicBezTo>
                    <a:pt x="16633" y="6994"/>
                    <a:pt x="16633" y="6994"/>
                    <a:pt x="16633" y="6994"/>
                  </a:cubicBezTo>
                  <a:close/>
                  <a:moveTo>
                    <a:pt x="12311" y="8993"/>
                  </a:moveTo>
                  <a:lnTo>
                    <a:pt x="12311" y="7737"/>
                  </a:lnTo>
                  <a:lnTo>
                    <a:pt x="10936" y="7737"/>
                  </a:lnTo>
                  <a:lnTo>
                    <a:pt x="10936" y="8993"/>
                  </a:lnTo>
                  <a:lnTo>
                    <a:pt x="10200" y="8993"/>
                  </a:lnTo>
                  <a:lnTo>
                    <a:pt x="10200" y="6230"/>
                  </a:lnTo>
                  <a:lnTo>
                    <a:pt x="10936" y="6230"/>
                  </a:lnTo>
                  <a:lnTo>
                    <a:pt x="10936" y="7268"/>
                  </a:lnTo>
                  <a:lnTo>
                    <a:pt x="12311" y="7268"/>
                  </a:lnTo>
                  <a:lnTo>
                    <a:pt x="12311" y="6230"/>
                  </a:lnTo>
                  <a:lnTo>
                    <a:pt x="13033" y="6230"/>
                  </a:lnTo>
                  <a:lnTo>
                    <a:pt x="13033" y="8993"/>
                  </a:lnTo>
                  <a:cubicBezTo>
                    <a:pt x="13033" y="8993"/>
                    <a:pt x="12311" y="8993"/>
                    <a:pt x="12311" y="8993"/>
                  </a:cubicBezTo>
                  <a:close/>
                  <a:moveTo>
                    <a:pt x="16086" y="3348"/>
                  </a:moveTo>
                  <a:lnTo>
                    <a:pt x="16135" y="3271"/>
                  </a:lnTo>
                  <a:lnTo>
                    <a:pt x="17787" y="1111"/>
                  </a:lnTo>
                  <a:lnTo>
                    <a:pt x="17787" y="3348"/>
                  </a:lnTo>
                  <a:cubicBezTo>
                    <a:pt x="17787" y="3348"/>
                    <a:pt x="16086" y="3348"/>
                    <a:pt x="16086" y="3348"/>
                  </a:cubicBezTo>
                  <a:close/>
                  <a:moveTo>
                    <a:pt x="17787" y="5367"/>
                  </a:moveTo>
                  <a:lnTo>
                    <a:pt x="19104" y="5367"/>
                  </a:lnTo>
                  <a:lnTo>
                    <a:pt x="19104" y="4180"/>
                  </a:lnTo>
                  <a:lnTo>
                    <a:pt x="19868" y="4180"/>
                  </a:lnTo>
                  <a:lnTo>
                    <a:pt x="19868" y="3348"/>
                  </a:lnTo>
                  <a:lnTo>
                    <a:pt x="19104" y="3348"/>
                  </a:lnTo>
                  <a:lnTo>
                    <a:pt x="19104" y="0"/>
                  </a:lnTo>
                  <a:lnTo>
                    <a:pt x="17613" y="0"/>
                  </a:lnTo>
                  <a:lnTo>
                    <a:pt x="15106" y="3271"/>
                  </a:lnTo>
                  <a:lnTo>
                    <a:pt x="15106" y="4180"/>
                  </a:lnTo>
                  <a:lnTo>
                    <a:pt x="17787" y="4180"/>
                  </a:lnTo>
                  <a:cubicBezTo>
                    <a:pt x="17787" y="4180"/>
                    <a:pt x="17787" y="5367"/>
                    <a:pt x="17787" y="5367"/>
                  </a:cubicBezTo>
                  <a:close/>
                  <a:moveTo>
                    <a:pt x="14415" y="5367"/>
                  </a:moveTo>
                  <a:lnTo>
                    <a:pt x="9776" y="5367"/>
                  </a:lnTo>
                  <a:lnTo>
                    <a:pt x="9776" y="5360"/>
                  </a:lnTo>
                  <a:cubicBezTo>
                    <a:pt x="9776" y="4876"/>
                    <a:pt x="9929" y="4451"/>
                    <a:pt x="10247" y="4095"/>
                  </a:cubicBezTo>
                  <a:cubicBezTo>
                    <a:pt x="10563" y="3746"/>
                    <a:pt x="11159" y="3340"/>
                    <a:pt x="12024" y="2853"/>
                  </a:cubicBezTo>
                  <a:cubicBezTo>
                    <a:pt x="12410" y="2643"/>
                    <a:pt x="12676" y="2443"/>
                    <a:pt x="12841" y="2271"/>
                  </a:cubicBezTo>
                  <a:cubicBezTo>
                    <a:pt x="13003" y="2089"/>
                    <a:pt x="13081" y="1892"/>
                    <a:pt x="13081" y="1674"/>
                  </a:cubicBezTo>
                  <a:cubicBezTo>
                    <a:pt x="13081" y="1440"/>
                    <a:pt x="12995" y="1243"/>
                    <a:pt x="12820" y="1106"/>
                  </a:cubicBezTo>
                  <a:cubicBezTo>
                    <a:pt x="12648" y="954"/>
                    <a:pt x="12416" y="885"/>
                    <a:pt x="12121" y="885"/>
                  </a:cubicBezTo>
                  <a:cubicBezTo>
                    <a:pt x="11824" y="885"/>
                    <a:pt x="11581" y="976"/>
                    <a:pt x="11419" y="1158"/>
                  </a:cubicBezTo>
                  <a:cubicBezTo>
                    <a:pt x="11235" y="1342"/>
                    <a:pt x="11159" y="1590"/>
                    <a:pt x="11169" y="1892"/>
                  </a:cubicBezTo>
                  <a:lnTo>
                    <a:pt x="9863" y="1892"/>
                  </a:lnTo>
                  <a:cubicBezTo>
                    <a:pt x="9842" y="1317"/>
                    <a:pt x="10038" y="855"/>
                    <a:pt x="10449" y="514"/>
                  </a:cubicBezTo>
                  <a:cubicBezTo>
                    <a:pt x="10851" y="175"/>
                    <a:pt x="11419" y="0"/>
                    <a:pt x="12139" y="0"/>
                  </a:cubicBezTo>
                  <a:cubicBezTo>
                    <a:pt x="12801" y="0"/>
                    <a:pt x="13348" y="159"/>
                    <a:pt x="13779" y="470"/>
                  </a:cubicBezTo>
                  <a:cubicBezTo>
                    <a:pt x="14194" y="786"/>
                    <a:pt x="14415" y="1188"/>
                    <a:pt x="14415" y="1679"/>
                  </a:cubicBezTo>
                  <a:cubicBezTo>
                    <a:pt x="14415" y="2089"/>
                    <a:pt x="14290" y="2430"/>
                    <a:pt x="14051" y="2695"/>
                  </a:cubicBezTo>
                  <a:cubicBezTo>
                    <a:pt x="13810" y="2960"/>
                    <a:pt x="13358" y="3263"/>
                    <a:pt x="12697" y="3595"/>
                  </a:cubicBezTo>
                  <a:cubicBezTo>
                    <a:pt x="12080" y="3907"/>
                    <a:pt x="11668" y="4180"/>
                    <a:pt x="11438" y="4429"/>
                  </a:cubicBezTo>
                  <a:lnTo>
                    <a:pt x="11438" y="4437"/>
                  </a:lnTo>
                  <a:lnTo>
                    <a:pt x="14415" y="4437"/>
                  </a:lnTo>
                  <a:cubicBezTo>
                    <a:pt x="14415" y="4437"/>
                    <a:pt x="14415" y="5367"/>
                    <a:pt x="14415" y="5367"/>
                  </a:cubicBezTo>
                  <a:close/>
                  <a:moveTo>
                    <a:pt x="11045" y="20298"/>
                  </a:moveTo>
                  <a:cubicBezTo>
                    <a:pt x="11045" y="21008"/>
                    <a:pt x="10314" y="21600"/>
                    <a:pt x="9403" y="21600"/>
                  </a:cubicBezTo>
                  <a:cubicBezTo>
                    <a:pt x="8489" y="21600"/>
                    <a:pt x="7750" y="21008"/>
                    <a:pt x="7750" y="20298"/>
                  </a:cubicBezTo>
                  <a:cubicBezTo>
                    <a:pt x="7750" y="19577"/>
                    <a:pt x="8489" y="18995"/>
                    <a:pt x="9403" y="18995"/>
                  </a:cubicBezTo>
                  <a:cubicBezTo>
                    <a:pt x="10314" y="18995"/>
                    <a:pt x="11045" y="19577"/>
                    <a:pt x="11045" y="20298"/>
                  </a:cubicBezTo>
                  <a:cubicBezTo>
                    <a:pt x="11045" y="20298"/>
                    <a:pt x="11045" y="20298"/>
                    <a:pt x="11045" y="20298"/>
                  </a:cubicBezTo>
                  <a:close/>
                  <a:moveTo>
                    <a:pt x="5175" y="20298"/>
                  </a:moveTo>
                  <a:cubicBezTo>
                    <a:pt x="5175" y="21008"/>
                    <a:pt x="4448" y="21600"/>
                    <a:pt x="3541" y="21600"/>
                  </a:cubicBezTo>
                  <a:cubicBezTo>
                    <a:pt x="2625" y="21600"/>
                    <a:pt x="1882" y="21008"/>
                    <a:pt x="1882" y="20298"/>
                  </a:cubicBezTo>
                  <a:cubicBezTo>
                    <a:pt x="1882" y="19577"/>
                    <a:pt x="2625" y="18995"/>
                    <a:pt x="3541" y="18995"/>
                  </a:cubicBezTo>
                  <a:cubicBezTo>
                    <a:pt x="4448" y="18995"/>
                    <a:pt x="5175" y="19577"/>
                    <a:pt x="5175" y="20298"/>
                  </a:cubicBezTo>
                  <a:cubicBezTo>
                    <a:pt x="5175" y="20298"/>
                    <a:pt x="5175" y="20298"/>
                    <a:pt x="5175" y="20298"/>
                  </a:cubicBezTo>
                  <a:close/>
                  <a:moveTo>
                    <a:pt x="21600" y="12006"/>
                  </a:moveTo>
                  <a:cubicBezTo>
                    <a:pt x="21600" y="12259"/>
                    <a:pt x="21339" y="12460"/>
                    <a:pt x="21021" y="12460"/>
                  </a:cubicBezTo>
                  <a:lnTo>
                    <a:pt x="16990" y="12460"/>
                  </a:lnTo>
                  <a:lnTo>
                    <a:pt x="13714" y="18359"/>
                  </a:lnTo>
                  <a:cubicBezTo>
                    <a:pt x="13627" y="18526"/>
                    <a:pt x="13417" y="18624"/>
                    <a:pt x="13184" y="18624"/>
                  </a:cubicBezTo>
                  <a:lnTo>
                    <a:pt x="847" y="18624"/>
                  </a:lnTo>
                  <a:cubicBezTo>
                    <a:pt x="523" y="18624"/>
                    <a:pt x="264" y="18428"/>
                    <a:pt x="264" y="18177"/>
                  </a:cubicBezTo>
                  <a:cubicBezTo>
                    <a:pt x="264" y="17928"/>
                    <a:pt x="523" y="17723"/>
                    <a:pt x="847" y="17723"/>
                  </a:cubicBezTo>
                  <a:lnTo>
                    <a:pt x="12810" y="17723"/>
                  </a:lnTo>
                  <a:lnTo>
                    <a:pt x="16086" y="11824"/>
                  </a:lnTo>
                  <a:cubicBezTo>
                    <a:pt x="16174" y="11657"/>
                    <a:pt x="16384" y="11554"/>
                    <a:pt x="16613" y="11554"/>
                  </a:cubicBezTo>
                  <a:lnTo>
                    <a:pt x="21021" y="11554"/>
                  </a:lnTo>
                  <a:cubicBezTo>
                    <a:pt x="21339" y="11554"/>
                    <a:pt x="21600" y="11758"/>
                    <a:pt x="21600" y="12006"/>
                  </a:cubicBezTo>
                  <a:cubicBezTo>
                    <a:pt x="21600" y="12006"/>
                    <a:pt x="21600" y="12006"/>
                    <a:pt x="21600" y="12006"/>
                  </a:cubicBezTo>
                  <a:close/>
                  <a:moveTo>
                    <a:pt x="3650" y="4466"/>
                  </a:moveTo>
                  <a:cubicBezTo>
                    <a:pt x="5034" y="4466"/>
                    <a:pt x="6147" y="5345"/>
                    <a:pt x="6147" y="6435"/>
                  </a:cubicBezTo>
                  <a:lnTo>
                    <a:pt x="6147" y="9675"/>
                  </a:lnTo>
                  <a:lnTo>
                    <a:pt x="1158" y="9675"/>
                  </a:lnTo>
                  <a:lnTo>
                    <a:pt x="1158" y="6435"/>
                  </a:lnTo>
                  <a:cubicBezTo>
                    <a:pt x="1158" y="5345"/>
                    <a:pt x="2273" y="4466"/>
                    <a:pt x="3650" y="4466"/>
                  </a:cubicBezTo>
                  <a:cubicBezTo>
                    <a:pt x="3650" y="4466"/>
                    <a:pt x="3650" y="4466"/>
                    <a:pt x="3650" y="4466"/>
                  </a:cubicBezTo>
                  <a:close/>
                  <a:moveTo>
                    <a:pt x="10936" y="11113"/>
                  </a:moveTo>
                  <a:lnTo>
                    <a:pt x="5982" y="15080"/>
                  </a:lnTo>
                  <a:cubicBezTo>
                    <a:pt x="4963" y="13984"/>
                    <a:pt x="5059" y="12430"/>
                    <a:pt x="6310" y="11431"/>
                  </a:cubicBezTo>
                  <a:cubicBezTo>
                    <a:pt x="6992" y="10888"/>
                    <a:pt x="7903" y="10585"/>
                    <a:pt x="8872" y="10585"/>
                  </a:cubicBezTo>
                  <a:cubicBezTo>
                    <a:pt x="9620" y="10590"/>
                    <a:pt x="10341" y="10772"/>
                    <a:pt x="10936" y="11113"/>
                  </a:cubicBezTo>
                  <a:cubicBezTo>
                    <a:pt x="10936" y="11113"/>
                    <a:pt x="10936" y="11113"/>
                    <a:pt x="10936" y="11113"/>
                  </a:cubicBezTo>
                  <a:close/>
                  <a:moveTo>
                    <a:pt x="11438" y="15405"/>
                  </a:moveTo>
                  <a:cubicBezTo>
                    <a:pt x="10228" y="16366"/>
                    <a:pt x="8201" y="16481"/>
                    <a:pt x="6809" y="15716"/>
                  </a:cubicBezTo>
                  <a:lnTo>
                    <a:pt x="11765" y="11750"/>
                  </a:lnTo>
                  <a:cubicBezTo>
                    <a:pt x="12784" y="12856"/>
                    <a:pt x="12685" y="14398"/>
                    <a:pt x="11438" y="15405"/>
                  </a:cubicBezTo>
                  <a:cubicBezTo>
                    <a:pt x="11438" y="15405"/>
                    <a:pt x="11438" y="15405"/>
                    <a:pt x="11438" y="15405"/>
                  </a:cubicBezTo>
                  <a:close/>
                  <a:moveTo>
                    <a:pt x="1158" y="14082"/>
                  </a:moveTo>
                  <a:lnTo>
                    <a:pt x="1158" y="10585"/>
                  </a:lnTo>
                  <a:lnTo>
                    <a:pt x="5811" y="10585"/>
                  </a:lnTo>
                  <a:cubicBezTo>
                    <a:pt x="5704" y="10652"/>
                    <a:pt x="5590" y="10720"/>
                    <a:pt x="5493" y="10794"/>
                  </a:cubicBezTo>
                  <a:cubicBezTo>
                    <a:pt x="3821" y="12135"/>
                    <a:pt x="3713" y="14218"/>
                    <a:pt x="5109" y="15670"/>
                  </a:cubicBezTo>
                  <a:cubicBezTo>
                    <a:pt x="4686" y="15913"/>
                    <a:pt x="4187" y="16050"/>
                    <a:pt x="3650" y="16050"/>
                  </a:cubicBezTo>
                  <a:cubicBezTo>
                    <a:pt x="2273" y="16050"/>
                    <a:pt x="1158" y="15170"/>
                    <a:pt x="1158" y="14082"/>
                  </a:cubicBezTo>
                  <a:cubicBezTo>
                    <a:pt x="1158" y="14082"/>
                    <a:pt x="1158" y="14082"/>
                    <a:pt x="1158" y="14082"/>
                  </a:cubicBezTo>
                  <a:close/>
                  <a:moveTo>
                    <a:pt x="3650" y="16958"/>
                  </a:moveTo>
                  <a:cubicBezTo>
                    <a:pt x="4485" y="16958"/>
                    <a:pt x="5271" y="16732"/>
                    <a:pt x="5916" y="16323"/>
                  </a:cubicBezTo>
                  <a:cubicBezTo>
                    <a:pt x="6761" y="16852"/>
                    <a:pt x="7778" y="17155"/>
                    <a:pt x="8872" y="17155"/>
                  </a:cubicBezTo>
                  <a:cubicBezTo>
                    <a:pt x="10151" y="17155"/>
                    <a:pt x="11360" y="16761"/>
                    <a:pt x="12252" y="16041"/>
                  </a:cubicBezTo>
                  <a:cubicBezTo>
                    <a:pt x="14088" y="14573"/>
                    <a:pt x="14067" y="12195"/>
                    <a:pt x="12204" y="10750"/>
                  </a:cubicBezTo>
                  <a:cubicBezTo>
                    <a:pt x="11304" y="10059"/>
                    <a:pt x="10123" y="9675"/>
                    <a:pt x="8872" y="9675"/>
                  </a:cubicBezTo>
                  <a:cubicBezTo>
                    <a:pt x="8326" y="9675"/>
                    <a:pt x="7799" y="9764"/>
                    <a:pt x="7297" y="9902"/>
                  </a:cubicBezTo>
                  <a:lnTo>
                    <a:pt x="7297" y="6435"/>
                  </a:lnTo>
                  <a:cubicBezTo>
                    <a:pt x="7297" y="4846"/>
                    <a:pt x="5667" y="3557"/>
                    <a:pt x="3650" y="3557"/>
                  </a:cubicBezTo>
                  <a:cubicBezTo>
                    <a:pt x="1639" y="3557"/>
                    <a:pt x="0" y="4846"/>
                    <a:pt x="0" y="6435"/>
                  </a:cubicBezTo>
                  <a:lnTo>
                    <a:pt x="0" y="14082"/>
                  </a:lnTo>
                  <a:cubicBezTo>
                    <a:pt x="0" y="15670"/>
                    <a:pt x="1639" y="16958"/>
                    <a:pt x="3650" y="16958"/>
                  </a:cubicBezTo>
                  <a:cubicBezTo>
                    <a:pt x="3650" y="16958"/>
                    <a:pt x="3650" y="16958"/>
                    <a:pt x="3650" y="16958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="ctr"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2566670" y="2205355"/>
            <a:ext cx="7416800" cy="2120900"/>
            <a:chOff x="4042" y="3473"/>
            <a:chExt cx="11680" cy="4019"/>
          </a:xfrm>
        </p:grpSpPr>
        <p:sp>
          <p:nvSpPr>
            <p:cNvPr id="2" name="折角形 1"/>
            <p:cNvSpPr/>
            <p:nvPr/>
          </p:nvSpPr>
          <p:spPr>
            <a:xfrm>
              <a:off x="4042" y="3473"/>
              <a:ext cx="11680" cy="4019"/>
            </a:xfrm>
            <a:prstGeom prst="foldedCorner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5446" y="4291"/>
              <a:ext cx="8993" cy="19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视图管理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包括</a:t>
              </a: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创建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查看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修改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删除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视图。下面分别对视图的这几种视图管理进行讲解。</a:t>
              </a:r>
              <a:endPara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6.2.2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视图管理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流程图: 过程 2"/>
          <p:cNvSpPr/>
          <p:nvPr/>
        </p:nvSpPr>
        <p:spPr>
          <a:xfrm>
            <a:off x="1774190" y="2277110"/>
            <a:ext cx="8979535" cy="2402840"/>
          </a:xfrm>
          <a:prstGeom prst="flowChart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309495" y="2565400"/>
            <a:ext cx="79089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在MySQL中，可以使用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CREATE VIEW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语句创建视图。创建视图的基本语法格式如下所示。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6.2.2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视图管理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982345" y="909320"/>
            <a:ext cx="1967865" cy="676275"/>
            <a:chOff x="1547" y="1432"/>
            <a:chExt cx="4780" cy="1065"/>
          </a:xfrm>
        </p:grpSpPr>
        <p:sp>
          <p:nvSpPr>
            <p:cNvPr id="5" name="五边形 4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1"/>
            <p:cNvSpPr txBox="1"/>
            <p:nvPr>
              <p:custDataLst>
                <p:tags r:id="rId1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创建视图</a:t>
              </a:r>
              <a:endParaRPr lang="zh-CN" altLang="en-US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2422525" y="3789680"/>
            <a:ext cx="7195820" cy="4851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CREATE [OR REPLACE] VIEW 视图名 [(字段列表)] AS select_statement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235" y="2008505"/>
            <a:ext cx="8348345" cy="362839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651125" y="2322830"/>
            <a:ext cx="7314565" cy="2999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关于上述语法格式的具体介绍如下。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[OR REPLACE]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：可选参数，表示若数据库中已经存在这个名称的视图就替换原有的视图，若不存在则创建视图；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视图名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：表示要创建的视图名称，该名称在数据库中必须是唯一的，不能与其他数据表或视图同名；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select_statement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：指一个完整的SELECT语句，表示从某个数据表或视图中查出满足条件的记录，将这些记录导入视图中。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82345" y="909320"/>
            <a:ext cx="1967865" cy="676275"/>
            <a:chOff x="1547" y="1432"/>
            <a:chExt cx="4780" cy="1065"/>
          </a:xfrm>
        </p:grpSpPr>
        <p:sp>
          <p:nvSpPr>
            <p:cNvPr id="3" name="五边形 2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1"/>
            <p:cNvSpPr txBox="1"/>
            <p:nvPr>
              <p:custDataLst>
                <p:tags r:id="rId1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创建视图</a:t>
              </a:r>
              <a:endParaRPr lang="zh-CN" altLang="en-US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4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6.2.2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视图管理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流程图: 过程 2"/>
          <p:cNvSpPr/>
          <p:nvPr/>
        </p:nvSpPr>
        <p:spPr>
          <a:xfrm>
            <a:off x="1774190" y="2421255"/>
            <a:ext cx="8979535" cy="2355850"/>
          </a:xfrm>
          <a:prstGeom prst="flowChart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309495" y="2709545"/>
            <a:ext cx="790892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视图的基本表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可以是一张数据表，也可以是多张数据表，下面分别以视图的基本表为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单表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多表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这两种情况，通过案例演示如何创建视图，具体如下。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6.2.2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视图管理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982345" y="909320"/>
            <a:ext cx="1967865" cy="676275"/>
            <a:chOff x="1547" y="1432"/>
            <a:chExt cx="4780" cy="1065"/>
          </a:xfrm>
        </p:grpSpPr>
        <p:sp>
          <p:nvSpPr>
            <p:cNvPr id="5" name="五边形 4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1"/>
            <p:cNvSpPr txBox="1"/>
            <p:nvPr>
              <p:custDataLst>
                <p:tags r:id="rId1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创建视图</a:t>
              </a:r>
              <a:endParaRPr lang="zh-CN" altLang="en-US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1726565" y="1845945"/>
            <a:ext cx="8972550" cy="193548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956435" y="1992630"/>
            <a:ext cx="845947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例如，将员工工号empno、员工姓名ename、职位job和部门编号deptno查询出来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创建视图view_emp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，具体SQL语句如下所示。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982345" y="909320"/>
            <a:ext cx="3031490" cy="676275"/>
            <a:chOff x="1547" y="1432"/>
            <a:chExt cx="4780" cy="1065"/>
          </a:xfrm>
        </p:grpSpPr>
        <p:sp>
          <p:nvSpPr>
            <p:cNvPr id="9" name="五边形 8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1"/>
            <p:cNvSpPr txBox="1"/>
            <p:nvPr>
              <p:custDataLst>
                <p:tags r:id="rId1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基于单表创建视图</a:t>
              </a:r>
              <a:endParaRPr lang="zh-CN" altLang="en-US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19" name="矩形 18"/>
          <p:cNvSpPr/>
          <p:nvPr/>
        </p:nvSpPr>
        <p:spPr>
          <a:xfrm>
            <a:off x="1990725" y="3002280"/>
            <a:ext cx="8311515" cy="533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CREATE VIEW view_emp AS SELECT empno,ename,job,deptno FROM emp;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2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6.2.2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视图管理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流程图: 过程 6"/>
          <p:cNvSpPr/>
          <p:nvPr/>
        </p:nvSpPr>
        <p:spPr>
          <a:xfrm>
            <a:off x="1699895" y="4427220"/>
            <a:ext cx="8972550" cy="109156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956435" y="4572635"/>
            <a:ext cx="84594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下面使用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SELECT语句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查看view_emp视图，查询语句如下所示。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030095" y="5113020"/>
            <a:ext cx="8311515" cy="3149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SELECT * FROM view_emp;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1734185" y="1849755"/>
            <a:ext cx="8972550" cy="232854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982345" y="909320"/>
            <a:ext cx="3031490" cy="676275"/>
            <a:chOff x="1547" y="1432"/>
            <a:chExt cx="4780" cy="1065"/>
          </a:xfrm>
        </p:grpSpPr>
        <p:sp>
          <p:nvSpPr>
            <p:cNvPr id="9" name="五边形 8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1"/>
            <p:cNvSpPr txBox="1"/>
            <p:nvPr>
              <p:custDataLst>
                <p:tags r:id="rId1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基于单表创建视图</a:t>
              </a:r>
              <a:endParaRPr lang="zh-CN" altLang="en-US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6.2.2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视图管理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990725" y="2023745"/>
            <a:ext cx="845947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例如，创建一个新的视图view_emp2，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视图view_emp2中包含的字段和视图view_emp相同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，但视图view_emp2中字段名称和员工表中字段名称不一致，具体创建语句如下所示。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030095" y="3001645"/>
            <a:ext cx="8311515" cy="9620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CREATE VIEW view_emp2 (e_no,e_name,e_job,e_deptno)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AS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SELECT empno,ename,job,deptno FROM emp;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14" name="流程图: 过程 13"/>
          <p:cNvSpPr/>
          <p:nvPr/>
        </p:nvSpPr>
        <p:spPr>
          <a:xfrm>
            <a:off x="1699895" y="4929505"/>
            <a:ext cx="8972550" cy="109156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990725" y="4942840"/>
            <a:ext cx="84594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下面使用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SELECT语句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查看view_emp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视图，查询语句如下所示。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065020" y="5518785"/>
            <a:ext cx="8311515" cy="3149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SELECT * FROM view_emp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2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1633220" y="1918335"/>
            <a:ext cx="9402445" cy="280606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974850" y="1937385"/>
            <a:ext cx="85553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例如，视图中需要使用ems数据库中员工编号empno、员工姓名ename、职位job、部门编号deptno和部门名称dname的信息。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下面根据需求创建视图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view_emp_dept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，具体创建语句及执行结果如下所示。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982345" y="909320"/>
            <a:ext cx="3031490" cy="676275"/>
            <a:chOff x="1547" y="1432"/>
            <a:chExt cx="4780" cy="1065"/>
          </a:xfrm>
        </p:grpSpPr>
        <p:sp>
          <p:nvSpPr>
            <p:cNvPr id="9" name="五边形 8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1"/>
            <p:cNvSpPr txBox="1"/>
            <p:nvPr>
              <p:custDataLst>
                <p:tags r:id="rId1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基于多表创建视图</a:t>
              </a:r>
              <a:endParaRPr lang="zh-CN" altLang="en-US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19" name="矩形 18"/>
          <p:cNvSpPr/>
          <p:nvPr/>
        </p:nvSpPr>
        <p:spPr>
          <a:xfrm>
            <a:off x="1974850" y="3289300"/>
            <a:ext cx="8367395" cy="11969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CREATE VIEW view_emp_dept(e_no,e_name,e_job,e_deptno,e_deptname)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AS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SELECT e.empno,e.ename,e.job,e.deptno,d.dname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FROM emp e LEFT JOIN dept d ON e.deptno=d.deptno;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2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6.2.2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视图管理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106545" y="909320"/>
            <a:ext cx="85553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在MySQL中，除了可以在单表上创建视图，还可以在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两个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或者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两个以上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数据表上创建视图。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流程图: 过程 13"/>
          <p:cNvSpPr/>
          <p:nvPr/>
        </p:nvSpPr>
        <p:spPr>
          <a:xfrm>
            <a:off x="1628140" y="5144770"/>
            <a:ext cx="9408160" cy="109156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918970" y="5158105"/>
            <a:ext cx="84594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下面使用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SELECT语句</a:t>
            </a:r>
            <a:r>
              <a:rPr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view_emp_dept视图，查询语句如下所示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993265" y="5734050"/>
            <a:ext cx="8311515" cy="3149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SELECT * FROM view_emp_dept;</a:t>
            </a:r>
            <a:endParaRPr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流程图: 过程 2"/>
          <p:cNvSpPr/>
          <p:nvPr/>
        </p:nvSpPr>
        <p:spPr>
          <a:xfrm>
            <a:off x="1744345" y="2317750"/>
            <a:ext cx="8979535" cy="1696085"/>
          </a:xfrm>
          <a:prstGeom prst="flowChart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279650" y="2637155"/>
            <a:ext cx="79089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创建好视图后，可以通过语句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查看视图的字段信息、视图的状态信息、视图的创建语句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6.2.2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视图管理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982345" y="909320"/>
            <a:ext cx="1967865" cy="676275"/>
            <a:chOff x="1547" y="1432"/>
            <a:chExt cx="4780" cy="1065"/>
          </a:xfrm>
        </p:grpSpPr>
        <p:sp>
          <p:nvSpPr>
            <p:cNvPr id="5" name="五边形 4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1"/>
            <p:cNvSpPr txBox="1"/>
            <p:nvPr>
              <p:custDataLst>
                <p:tags r:id="rId1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查看视图</a:t>
              </a:r>
              <a:endParaRPr lang="zh-CN" altLang="en-US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6.2.2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视图管理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982345" y="909320"/>
            <a:ext cx="1967865" cy="676275"/>
            <a:chOff x="1547" y="1432"/>
            <a:chExt cx="4780" cy="1065"/>
          </a:xfrm>
        </p:grpSpPr>
        <p:sp>
          <p:nvSpPr>
            <p:cNvPr id="5" name="五边形 4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1"/>
            <p:cNvSpPr txBox="1"/>
            <p:nvPr>
              <p:custDataLst>
                <p:tags r:id="rId1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查看视图</a:t>
              </a:r>
              <a:endParaRPr lang="zh-CN" altLang="en-US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3139440" y="1057275"/>
            <a:ext cx="7200265" cy="3082150"/>
            <a:chOff x="5622" y="3586"/>
            <a:chExt cx="11339" cy="4636"/>
          </a:xfrm>
        </p:grpSpPr>
        <p:sp>
          <p:nvSpPr>
            <p:cNvPr id="14" name="TextBox 35"/>
            <p:cNvSpPr txBox="1"/>
            <p:nvPr/>
          </p:nvSpPr>
          <p:spPr>
            <a:xfrm>
              <a:off x="5622" y="4386"/>
              <a:ext cx="11339" cy="13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在MySQL中，使用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DESCRIBE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语句可以查看视图的字段名、字段类型等字段信息。DESCRIBE语句的基本语法格式如下所示。</a:t>
              </a:r>
              <a:endPara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5629" y="3586"/>
              <a:ext cx="6333" cy="6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defTabSz="913765">
                <a:defRPr b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olidFill>
                    <a:srgbClr val="595959"/>
                  </a:solidFill>
                  <a:sym typeface="+mn-ea"/>
                </a:rPr>
                <a:t>（</a:t>
              </a:r>
              <a:r>
                <a:rPr lang="en-US" altLang="zh-CN" dirty="0">
                  <a:solidFill>
                    <a:srgbClr val="595959"/>
                  </a:solidFill>
                  <a:sym typeface="+mn-ea"/>
                </a:rPr>
                <a:t>1</a:t>
              </a:r>
              <a:r>
                <a:rPr lang="zh-CN" altLang="en-US" dirty="0">
                  <a:solidFill>
                    <a:srgbClr val="595959"/>
                  </a:solidFill>
                  <a:sym typeface="+mn-ea"/>
                </a:rPr>
                <a:t>）查看视图的字段信息</a:t>
              </a:r>
              <a:endParaRPr lang="zh-CN" altLang="en-US" dirty="0">
                <a:solidFill>
                  <a:srgbClr val="595959"/>
                </a:solidFill>
                <a:sym typeface="+mn-ea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5629" y="5948"/>
              <a:ext cx="11332" cy="76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zh-CN" altLang="en-US" sz="16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DESCRIBE 视图名;</a:t>
              </a:r>
              <a:endPara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5629" y="6772"/>
              <a:ext cx="2688" cy="6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或者简写为：</a:t>
              </a:r>
              <a:endPara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" name="矩形 1"/>
            <p:cNvSpPr/>
            <p:nvPr/>
          </p:nvSpPr>
          <p:spPr>
            <a:xfrm>
              <a:off x="5629" y="7458"/>
              <a:ext cx="11332" cy="76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zh-CN" altLang="en-US" sz="16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DESC 视图名;</a:t>
              </a:r>
              <a:endPara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  <p:sp>
        <p:nvSpPr>
          <p:cNvPr id="9" name="流程图: 过程 8"/>
          <p:cNvSpPr/>
          <p:nvPr/>
        </p:nvSpPr>
        <p:spPr>
          <a:xfrm>
            <a:off x="3143885" y="4554220"/>
            <a:ext cx="7484110" cy="177927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140710" y="4573905"/>
            <a:ext cx="750824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例如，使用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DESCRIBE语句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查看视图view_emp_dept的字段信息，具体语句如下所示。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213100" y="5654040"/>
            <a:ext cx="6644005" cy="387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DESCRIBE view_emp_dept;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6.2.2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视图管理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982345" y="909320"/>
            <a:ext cx="1967865" cy="676275"/>
            <a:chOff x="1547" y="1432"/>
            <a:chExt cx="4780" cy="1065"/>
          </a:xfrm>
        </p:grpSpPr>
        <p:sp>
          <p:nvSpPr>
            <p:cNvPr id="5" name="五边形 4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1"/>
            <p:cNvSpPr txBox="1"/>
            <p:nvPr>
              <p:custDataLst>
                <p:tags r:id="rId1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查看视图</a:t>
              </a:r>
              <a:endParaRPr lang="zh-CN" altLang="en-US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3376579" y="985520"/>
            <a:ext cx="7462801" cy="3020843"/>
            <a:chOff x="5501" y="3586"/>
            <a:chExt cx="11571" cy="3901"/>
          </a:xfrm>
        </p:grpSpPr>
        <p:sp>
          <p:nvSpPr>
            <p:cNvPr id="14" name="TextBox 35"/>
            <p:cNvSpPr txBox="1"/>
            <p:nvPr/>
          </p:nvSpPr>
          <p:spPr>
            <a:xfrm>
              <a:off x="5501" y="4304"/>
              <a:ext cx="11501" cy="11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在MySQL中，可以使用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SHOW TABLE STATUS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语句可以查看视图和数据表的状态信息。SHOW TABLE STATUS语句的基本语法格式如下所示。</a:t>
              </a:r>
              <a:endPara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5629" y="3586"/>
              <a:ext cx="6333" cy="5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defTabSz="913765">
                <a:defRPr b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olidFill>
                    <a:srgbClr val="595959"/>
                  </a:solidFill>
                  <a:sym typeface="+mn-ea"/>
                </a:rPr>
                <a:t>（</a:t>
              </a:r>
              <a:r>
                <a:rPr lang="en-US" altLang="zh-CN" dirty="0">
                  <a:solidFill>
                    <a:srgbClr val="595959"/>
                  </a:solidFill>
                  <a:sym typeface="+mn-ea"/>
                </a:rPr>
                <a:t>2</a:t>
              </a:r>
              <a:r>
                <a:rPr lang="zh-CN" altLang="en-US" dirty="0">
                  <a:solidFill>
                    <a:srgbClr val="595959"/>
                  </a:solidFill>
                  <a:sym typeface="+mn-ea"/>
                </a:rPr>
                <a:t>）查看视图的状态信息</a:t>
              </a:r>
              <a:endParaRPr lang="zh-CN" altLang="en-US" dirty="0">
                <a:solidFill>
                  <a:srgbClr val="595959"/>
                </a:solidFill>
                <a:sym typeface="+mn-ea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5682" y="5650"/>
              <a:ext cx="11332" cy="76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zh-CN" altLang="en-US" sz="16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SHOW TABLE STATUS LIKE '视图名';</a:t>
              </a:r>
              <a:endPara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5622" y="6654"/>
              <a:ext cx="11450" cy="8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18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在上述格式中，LIKE表示后面匹配的是字符串，'</a:t>
              </a:r>
              <a:r>
                <a:rPr lang="zh-CN" altLang="en-US" sz="18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视图名</a:t>
              </a:r>
              <a:r>
                <a:rPr lang="zh-CN" altLang="en-US" sz="18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'表示要查看的视图的名称，视图名称需要使用单引号包裹起来。</a:t>
              </a:r>
              <a:endPara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" name="流程图: 过程 8"/>
          <p:cNvSpPr/>
          <p:nvPr/>
        </p:nvSpPr>
        <p:spPr>
          <a:xfrm>
            <a:off x="3359150" y="4482465"/>
            <a:ext cx="7576820" cy="177927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428365" y="4507865"/>
            <a:ext cx="750824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例如，使用SHOW TABLE STATUS语句查看视图view_emp_dept的信息，具体语句如下所示。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500120" y="5587365"/>
            <a:ext cx="6644005" cy="387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SHOW TABLE STATUS LIKE 'view_emp_dept' \G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6.2.2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视图管理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982345" y="909320"/>
            <a:ext cx="1967865" cy="676275"/>
            <a:chOff x="1547" y="1432"/>
            <a:chExt cx="4780" cy="1065"/>
          </a:xfrm>
        </p:grpSpPr>
        <p:sp>
          <p:nvSpPr>
            <p:cNvPr id="5" name="五边形 4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1"/>
            <p:cNvSpPr txBox="1"/>
            <p:nvPr>
              <p:custDataLst>
                <p:tags r:id="rId1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查看视图</a:t>
              </a:r>
              <a:endParaRPr lang="zh-CN" altLang="en-US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3430731" y="985520"/>
            <a:ext cx="7408732" cy="2253132"/>
            <a:chOff x="5535" y="3586"/>
            <a:chExt cx="11443" cy="2650"/>
          </a:xfrm>
        </p:grpSpPr>
        <p:sp>
          <p:nvSpPr>
            <p:cNvPr id="14" name="TextBox 35"/>
            <p:cNvSpPr txBox="1"/>
            <p:nvPr/>
          </p:nvSpPr>
          <p:spPr>
            <a:xfrm>
              <a:off x="5535" y="4264"/>
              <a:ext cx="11086" cy="10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在MySQL中，使用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SHOW CREATE VIEW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语句可以查看创建视图时的定义语句。SHOW CREATE VIEW语句的基本语法格式如下所示。</a:t>
              </a:r>
              <a:endPara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5629" y="3586"/>
              <a:ext cx="6333" cy="5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defTabSz="913765">
                <a:defRPr b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olidFill>
                    <a:srgbClr val="595959"/>
                  </a:solidFill>
                  <a:sym typeface="+mn-ea"/>
                </a:rPr>
                <a:t>（</a:t>
              </a:r>
              <a:r>
                <a:rPr lang="en-US" altLang="zh-CN" dirty="0">
                  <a:solidFill>
                    <a:srgbClr val="595959"/>
                  </a:solidFill>
                  <a:sym typeface="+mn-ea"/>
                </a:rPr>
                <a:t>3</a:t>
              </a:r>
              <a:r>
                <a:rPr lang="zh-CN" altLang="en-US" dirty="0">
                  <a:solidFill>
                    <a:srgbClr val="595959"/>
                  </a:solidFill>
                  <a:sym typeface="+mn-ea"/>
                </a:rPr>
                <a:t>）查看视图的创建语句</a:t>
              </a:r>
              <a:endParaRPr lang="zh-CN" altLang="en-US" dirty="0">
                <a:solidFill>
                  <a:srgbClr val="595959"/>
                </a:solidFill>
                <a:sym typeface="+mn-ea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5646" y="5472"/>
              <a:ext cx="11332" cy="76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zh-CN" altLang="en-US" sz="16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SHOW CREATE VIEW 视图名;</a:t>
              </a:r>
              <a:endPara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  <p:sp>
        <p:nvSpPr>
          <p:cNvPr id="9" name="流程图: 过程 8"/>
          <p:cNvSpPr/>
          <p:nvPr/>
        </p:nvSpPr>
        <p:spPr>
          <a:xfrm>
            <a:off x="3359150" y="3980180"/>
            <a:ext cx="7576820" cy="196342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428365" y="4077335"/>
            <a:ext cx="750824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例如，使用SHOW CREATE VIEW语句查看视图view_emp_dept的信息，具体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语句如下所示。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502660" y="5215255"/>
            <a:ext cx="6644005" cy="387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SHOW CREATE VIEW view_emp_dept\G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流程图: 过程 2"/>
          <p:cNvSpPr/>
          <p:nvPr/>
        </p:nvSpPr>
        <p:spPr>
          <a:xfrm>
            <a:off x="1744345" y="1848485"/>
            <a:ext cx="8979535" cy="3094990"/>
          </a:xfrm>
          <a:prstGeom prst="flowChart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350770" y="2294255"/>
            <a:ext cx="790892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视图的修改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指的是修改数据库中存在的视图的定义，当视图的基本表中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字段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发生变化时，需要对视图进行修改以保证查询的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正确性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。例如，view_emp视图的基本表emp中员工姓名字段修改了名称，此时再使用视图就会出错。在MySQL中，修改视图的方式有两种，具体如下。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6.2.2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视图管理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982345" y="909320"/>
            <a:ext cx="1967865" cy="676275"/>
            <a:chOff x="1547" y="1432"/>
            <a:chExt cx="4780" cy="1065"/>
          </a:xfrm>
        </p:grpSpPr>
        <p:sp>
          <p:nvSpPr>
            <p:cNvPr id="5" name="五边形 4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1"/>
            <p:cNvSpPr txBox="1"/>
            <p:nvPr>
              <p:custDataLst>
                <p:tags r:id="rId1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修改视图</a:t>
              </a:r>
              <a:endParaRPr lang="zh-CN" altLang="en-US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6.2.2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视图管理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982345" y="909320"/>
            <a:ext cx="1967865" cy="676275"/>
            <a:chOff x="1547" y="1432"/>
            <a:chExt cx="4780" cy="1065"/>
          </a:xfrm>
        </p:grpSpPr>
        <p:sp>
          <p:nvSpPr>
            <p:cNvPr id="5" name="五边形 4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1"/>
            <p:cNvSpPr txBox="1"/>
            <p:nvPr>
              <p:custDataLst>
                <p:tags r:id="rId1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修改视图</a:t>
              </a:r>
              <a:endParaRPr lang="zh-CN" altLang="en-US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2949575" y="985520"/>
            <a:ext cx="7820660" cy="2872336"/>
            <a:chOff x="5483" y="3586"/>
            <a:chExt cx="11478" cy="4000"/>
          </a:xfrm>
        </p:grpSpPr>
        <p:sp>
          <p:nvSpPr>
            <p:cNvPr id="14" name="TextBox 35"/>
            <p:cNvSpPr txBox="1"/>
            <p:nvPr/>
          </p:nvSpPr>
          <p:spPr>
            <a:xfrm>
              <a:off x="5483" y="4288"/>
              <a:ext cx="11086" cy="12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在MySQL中，可以使用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CREATE OR REPLACE VIEW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语句修改视图，其基本语法格式如下所示。</a:t>
              </a:r>
              <a:endPara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5629" y="3586"/>
              <a:ext cx="10793" cy="6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defTabSz="913765">
                <a:defRPr b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dirty="0">
                  <a:solidFill>
                    <a:srgbClr val="595959"/>
                  </a:solidFill>
                  <a:sym typeface="+mn-ea"/>
                </a:rPr>
                <a:t>(1)</a:t>
              </a:r>
              <a:r>
                <a:rPr lang="zh-CN" altLang="en-US" dirty="0">
                  <a:solidFill>
                    <a:srgbClr val="595959"/>
                  </a:solidFill>
                  <a:sym typeface="+mn-ea"/>
                </a:rPr>
                <a:t>使用CREATE OR REPLACE VIEW语句修改视图</a:t>
              </a:r>
              <a:endParaRPr lang="zh-CN" altLang="en-US" dirty="0">
                <a:solidFill>
                  <a:srgbClr val="595959"/>
                </a:solidFill>
                <a:sym typeface="+mn-ea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5629" y="5748"/>
              <a:ext cx="11332" cy="76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zh-CN" altLang="en-US" sz="16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CREATE OR REPLACE VIEW 视图名 AS SELECT语句</a:t>
              </a:r>
              <a:endPara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5629" y="6688"/>
              <a:ext cx="11332" cy="8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18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使用CREATE OR REPLACE VIEW语句修改视图时，要求被修改的视图在数据库中已经存在，如果视图不存在，那么将创建一个新的视图。</a:t>
              </a:r>
              <a:endPara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流程图: 过程 1"/>
          <p:cNvSpPr/>
          <p:nvPr/>
        </p:nvSpPr>
        <p:spPr>
          <a:xfrm>
            <a:off x="2780665" y="4094480"/>
            <a:ext cx="8348345" cy="257492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212465" y="4143375"/>
            <a:ext cx="750824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例如，在视图view_emp_dept原有的基础上新增员工上级工号的字段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具体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语句如下所示。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212465" y="5136515"/>
            <a:ext cx="7289800" cy="13868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CREATE OR REPLACE VIEW view_emp_dept(e_no,e_name,e_job,e_mgr,e_deptno,e_deptname)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AS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SELECT e.empno,e.ename,e.job,e.mgr,e.deptno,d.dname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 FROM emp e LEFT JOIN dept d ON e.deptno=d.deptno;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6.2.2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视图管理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982345" y="909320"/>
            <a:ext cx="1967865" cy="676275"/>
            <a:chOff x="1547" y="1432"/>
            <a:chExt cx="4780" cy="1065"/>
          </a:xfrm>
        </p:grpSpPr>
        <p:sp>
          <p:nvSpPr>
            <p:cNvPr id="5" name="五边形 4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1"/>
            <p:cNvSpPr txBox="1"/>
            <p:nvPr>
              <p:custDataLst>
                <p:tags r:id="rId1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修改视图</a:t>
              </a:r>
              <a:endParaRPr lang="zh-CN" altLang="en-US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3502660" y="1057275"/>
            <a:ext cx="7267575" cy="2089956"/>
            <a:chOff x="5516" y="3586"/>
            <a:chExt cx="11445" cy="2855"/>
          </a:xfrm>
        </p:grpSpPr>
        <p:sp>
          <p:nvSpPr>
            <p:cNvPr id="14" name="TextBox 35"/>
            <p:cNvSpPr txBox="1"/>
            <p:nvPr/>
          </p:nvSpPr>
          <p:spPr>
            <a:xfrm>
              <a:off x="5516" y="4373"/>
              <a:ext cx="11086" cy="12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ALTER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语句是MySQL提供的另外一种修改视图的方法，使用ALTER语句修改视图的基本语法格式如下所示。</a:t>
              </a:r>
              <a:endPara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5629" y="3586"/>
              <a:ext cx="10793" cy="6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defTabSz="913765">
                <a:defRPr b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dirty="0">
                  <a:solidFill>
                    <a:srgbClr val="595959"/>
                  </a:solidFill>
                  <a:sym typeface="+mn-ea"/>
                </a:rPr>
                <a:t>(2)</a:t>
              </a:r>
              <a:r>
                <a:rPr lang="zh-CN" altLang="en-US" dirty="0">
                  <a:solidFill>
                    <a:srgbClr val="595959"/>
                  </a:solidFill>
                  <a:sym typeface="+mn-ea"/>
                </a:rPr>
                <a:t>使用ALTER语句修改视图</a:t>
              </a:r>
              <a:endParaRPr lang="zh-CN" altLang="en-US" dirty="0">
                <a:solidFill>
                  <a:srgbClr val="595959"/>
                </a:solidFill>
                <a:sym typeface="+mn-ea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5629" y="5677"/>
              <a:ext cx="11332" cy="76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zh-CN" altLang="en-US" sz="16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ALTER VIEW &lt;视图名&gt; AS &lt;SELECT语句&gt;</a:t>
              </a:r>
              <a:endPara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  <p:sp>
        <p:nvSpPr>
          <p:cNvPr id="2" name="流程图: 过程 1"/>
          <p:cNvSpPr/>
          <p:nvPr/>
        </p:nvSpPr>
        <p:spPr>
          <a:xfrm>
            <a:off x="2780665" y="3592195"/>
            <a:ext cx="8348345" cy="268097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284220" y="3569335"/>
            <a:ext cx="750824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ALTER语句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将视图view_emp_dept中的部门编号字段进行删除，具体语句如下所示。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356610" y="4602480"/>
            <a:ext cx="7237095" cy="14446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ALTER VIEW view_emp_dept (e_no,e_name,e_job,e_mgr,e_deptname)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AS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SELECT e.empno,e.ename,e.job,e.mgr,d.dname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 FROM emp e LEFT JOIN dept d ON e.deptno=d.deptno;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619375" y="1585595"/>
            <a:ext cx="8299450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当视图不再使用时，可以将其删除。删除视图时，只会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所创建的视图，不会删除基本表中的数据。删除一个或多个视图可以使用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DROP VIEW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语句，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删除视图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的基本语法格式如下所示。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6.2.2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视图管理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982345" y="909320"/>
            <a:ext cx="1967865" cy="676275"/>
            <a:chOff x="1547" y="1432"/>
            <a:chExt cx="4780" cy="1065"/>
          </a:xfrm>
        </p:grpSpPr>
        <p:sp>
          <p:nvSpPr>
            <p:cNvPr id="5" name="五边形 4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1"/>
            <p:cNvSpPr txBox="1"/>
            <p:nvPr>
              <p:custDataLst>
                <p:tags r:id="rId1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删除视图</a:t>
              </a:r>
              <a:endParaRPr lang="zh-CN" altLang="en-US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19" name="矩形 18"/>
          <p:cNvSpPr/>
          <p:nvPr/>
        </p:nvSpPr>
        <p:spPr>
          <a:xfrm>
            <a:off x="2619375" y="3050540"/>
            <a:ext cx="7195820" cy="4851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DROP VIEW  view_name [,view_name1,…];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6" name="流程图: 过程 5"/>
          <p:cNvSpPr/>
          <p:nvPr/>
        </p:nvSpPr>
        <p:spPr>
          <a:xfrm>
            <a:off x="2134870" y="4359275"/>
            <a:ext cx="8585835" cy="138112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566670" y="4430395"/>
            <a:ext cx="774573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DROP VIEW语句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删除视图view_emp，具体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语句如下所示。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639060" y="5153025"/>
            <a:ext cx="6644005" cy="4349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DROP VIEW view_emp;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2414270" y="2205355"/>
            <a:ext cx="7569200" cy="3002062"/>
            <a:chOff x="4042" y="3473"/>
            <a:chExt cx="11680" cy="4019"/>
          </a:xfrm>
        </p:grpSpPr>
        <p:sp>
          <p:nvSpPr>
            <p:cNvPr id="2" name="折角形 1"/>
            <p:cNvSpPr/>
            <p:nvPr/>
          </p:nvSpPr>
          <p:spPr>
            <a:xfrm>
              <a:off x="4042" y="3473"/>
              <a:ext cx="11680" cy="4019"/>
            </a:xfrm>
            <a:prstGeom prst="foldedCorner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4722" y="3762"/>
              <a:ext cx="10577" cy="25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视图数据操作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，就是通过视图来查询、添加、修改和删除基本表中的数据。因为视图是一个虚拟表，不真实保存数据，所以通过视图来操作数据时，实际操作的是基本表中的数据。本节将对</a:t>
              </a: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视图数据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</a:t>
              </a: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修改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删除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进行讲解。</a:t>
              </a:r>
              <a:endPara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6.2.3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视图数据操作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流程图: 过程 2"/>
          <p:cNvSpPr/>
          <p:nvPr/>
        </p:nvSpPr>
        <p:spPr>
          <a:xfrm>
            <a:off x="1774825" y="1989455"/>
            <a:ext cx="8979535" cy="3879215"/>
          </a:xfrm>
          <a:prstGeom prst="flowChart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350770" y="1989455"/>
            <a:ext cx="7998460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通过视图向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基本表添加数据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可以使用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INSERT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语句。例如，通过视图在部门表中添加一个部门信息。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由于此时数据库中还没有部门表对应的视图，所以需要数据库管理员先创建部门表dept对应的视图，具体SQL语句及创建结果如下所示。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6.2.3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视图数据操作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982345" y="909320"/>
            <a:ext cx="1967865" cy="676275"/>
            <a:chOff x="1547" y="1432"/>
            <a:chExt cx="4780" cy="1065"/>
          </a:xfrm>
        </p:grpSpPr>
        <p:sp>
          <p:nvSpPr>
            <p:cNvPr id="5" name="五边形 4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1"/>
            <p:cNvSpPr txBox="1"/>
            <p:nvPr>
              <p:custDataLst>
                <p:tags r:id="rId1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添加数据</a:t>
              </a:r>
              <a:endParaRPr lang="zh-CN" altLang="en-US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19" name="矩形 18"/>
          <p:cNvSpPr/>
          <p:nvPr/>
        </p:nvSpPr>
        <p:spPr>
          <a:xfrm>
            <a:off x="2494915" y="4581525"/>
            <a:ext cx="7195820" cy="6737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CREATE VIEW view_dept(d_no,d_name) AS SELECT * FROM dept;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流程图: 过程 2"/>
          <p:cNvSpPr/>
          <p:nvPr/>
        </p:nvSpPr>
        <p:spPr>
          <a:xfrm>
            <a:off x="1744345" y="2160270"/>
            <a:ext cx="8979535" cy="2791460"/>
          </a:xfrm>
          <a:prstGeom prst="flowChart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350770" y="2349500"/>
            <a:ext cx="79089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通过视图向数据表中添加数据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的方式与直接向数据表中添加数据的格式一样，具体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语句如下所示。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6.2.3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视图数据操作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982345" y="909320"/>
            <a:ext cx="1967865" cy="676275"/>
            <a:chOff x="1547" y="1432"/>
            <a:chExt cx="4780" cy="1065"/>
          </a:xfrm>
        </p:grpSpPr>
        <p:sp>
          <p:nvSpPr>
            <p:cNvPr id="5" name="五边形 4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1"/>
            <p:cNvSpPr txBox="1"/>
            <p:nvPr>
              <p:custDataLst>
                <p:tags r:id="rId1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添加数据</a:t>
              </a:r>
              <a:endParaRPr lang="zh-CN" altLang="en-US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19" name="矩形 18"/>
          <p:cNvSpPr/>
          <p:nvPr/>
        </p:nvSpPr>
        <p:spPr>
          <a:xfrm>
            <a:off x="2497455" y="3655060"/>
            <a:ext cx="7195820" cy="62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INSERT INTO view_dept VALUES(50, '人力资源部');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流程图: 过程 2"/>
          <p:cNvSpPr/>
          <p:nvPr/>
        </p:nvSpPr>
        <p:spPr>
          <a:xfrm>
            <a:off x="1744345" y="2207260"/>
            <a:ext cx="8979535" cy="2587625"/>
          </a:xfrm>
          <a:prstGeom prst="flowChart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350770" y="2348230"/>
            <a:ext cx="7908925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通过视图修改基本表的数据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，可以使用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UPDATE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使用UPDATE语句，通过视图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将研究院的部门名称修改为研究中心，具体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语句如下所示。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6.2.3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视图数据操作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982345" y="909320"/>
            <a:ext cx="1967865" cy="676275"/>
            <a:chOff x="1547" y="1432"/>
            <a:chExt cx="4780" cy="1065"/>
          </a:xfrm>
        </p:grpSpPr>
        <p:sp>
          <p:nvSpPr>
            <p:cNvPr id="5" name="五边形 4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1"/>
            <p:cNvSpPr txBox="1"/>
            <p:nvPr>
              <p:custDataLst>
                <p:tags r:id="rId1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修改数据</a:t>
              </a:r>
              <a:endParaRPr lang="zh-CN" altLang="en-US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19" name="矩形 18"/>
          <p:cNvSpPr/>
          <p:nvPr/>
        </p:nvSpPr>
        <p:spPr>
          <a:xfrm>
            <a:off x="2350770" y="3772535"/>
            <a:ext cx="7696835" cy="6419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UPDATE view_dept SET d_name='研究中心' WHERE d_name='研究院';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流程图: 过程 2"/>
          <p:cNvSpPr/>
          <p:nvPr/>
        </p:nvSpPr>
        <p:spPr>
          <a:xfrm>
            <a:off x="1744345" y="1991995"/>
            <a:ext cx="8979535" cy="3282950"/>
          </a:xfrm>
          <a:prstGeom prst="flowChart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350770" y="2132965"/>
            <a:ext cx="7908925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通过视图删除基本表的数据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，可以使用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DELETE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例如，通过视图view_dept删除部门表dept中部门名称为人力资源部的记录，具体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语句如下所示。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6.2.3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视图数据操作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982345" y="909320"/>
            <a:ext cx="1967865" cy="676275"/>
            <a:chOff x="1547" y="1432"/>
            <a:chExt cx="4780" cy="1065"/>
          </a:xfrm>
        </p:grpSpPr>
        <p:sp>
          <p:nvSpPr>
            <p:cNvPr id="5" name="五边形 4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1"/>
            <p:cNvSpPr txBox="1"/>
            <p:nvPr>
              <p:custDataLst>
                <p:tags r:id="rId1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删除数据</a:t>
              </a:r>
              <a:endParaRPr lang="zh-CN" altLang="en-US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19" name="矩形 18"/>
          <p:cNvSpPr/>
          <p:nvPr/>
        </p:nvSpPr>
        <p:spPr>
          <a:xfrm>
            <a:off x="2422525" y="4005580"/>
            <a:ext cx="7195820" cy="6330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DELETE FROM view_dept WHERE d_name='人力资源部';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531235" y="3014345"/>
            <a:ext cx="8401050" cy="58356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32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上机实践：图书管理系统中</a:t>
            </a:r>
            <a:r>
              <a:rPr lang="zh-CN" altLang="en-US" sz="32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索引</a:t>
            </a:r>
            <a:r>
              <a:rPr lang="zh-CN" altLang="en-US" sz="32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和</a:t>
            </a:r>
            <a:r>
              <a:rPr lang="zh-CN" altLang="en-US" sz="32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视图</a:t>
            </a:r>
            <a:r>
              <a:rPr lang="zh-CN" altLang="en-US" sz="32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的应用</a:t>
            </a:r>
            <a:endParaRPr lang="zh-CN" altLang="en-US" sz="32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Source Han Sans K Bold" panose="020B0800000000000000" pitchFamily="34" charset="-128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6.3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 txBox="1"/>
          <p:nvPr/>
        </p:nvSpPr>
        <p:spPr>
          <a:xfrm>
            <a:off x="1145452" y="268062"/>
            <a:ext cx="3894025" cy="505890"/>
          </a:xfrm>
          <a:prstGeom prst="rect">
            <a:avLst/>
          </a:prstGeom>
        </p:spPr>
        <p:txBody>
          <a:bodyPr lIns="0" tIns="60934" rIns="0" bIns="6093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上机实践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635760" y="959485"/>
            <a:ext cx="935736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7970">
              <a:lnSpc>
                <a:spcPct val="150000"/>
              </a:lnSpc>
            </a:pP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实践需求</a:t>
            </a:r>
            <a:r>
              <a:rPr lang="en-US" alt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为了提高查询效率，在图书名称上创建一个索引。</a:t>
            </a:r>
            <a:endParaRPr lang="zh-CN" alt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906270" y="3597910"/>
            <a:ext cx="935736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实践需求</a:t>
            </a:r>
            <a:r>
              <a:rPr lang="en-US" alt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为图书名称和图书状态创建复合索引。</a:t>
            </a:r>
            <a:endParaRPr lang="en-US" altLang="zh-CN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流程图: 过程 7"/>
          <p:cNvSpPr/>
          <p:nvPr/>
        </p:nvSpPr>
        <p:spPr>
          <a:xfrm>
            <a:off x="1823720" y="1618615"/>
            <a:ext cx="8716645" cy="162496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indent="0" algn="ctr" fontAlgn="auto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901190" y="1636395"/>
            <a:ext cx="8522970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动手实践</a:t>
            </a:r>
            <a:r>
              <a:rPr lang="en-US" altLang="zh-CN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在图书表book的图书名称name上创建一个索引index_bookname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，具体的SQL语句如下所示。</a:t>
            </a:r>
            <a:endParaRPr lang="zh-CN" alt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991995" y="2567940"/>
            <a:ext cx="7482205" cy="4483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ALTER TABLE book ADD INDEX index_bookname(name);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6" name="流程图: 过程 5"/>
          <p:cNvSpPr/>
          <p:nvPr/>
        </p:nvSpPr>
        <p:spPr>
          <a:xfrm>
            <a:off x="1807210" y="4185285"/>
            <a:ext cx="8716645" cy="162496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indent="0" algn="ctr" fontAlgn="auto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884680" y="4203065"/>
            <a:ext cx="8522970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动手实践</a:t>
            </a:r>
            <a:r>
              <a:rPr lang="en-US" altLang="zh-CN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</a:t>
            </a:r>
            <a:r>
              <a:rPr 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图书表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book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</a:t>
            </a:r>
            <a:r>
              <a:rPr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name和state</a:t>
            </a:r>
            <a:r>
              <a:rPr 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字段</a:t>
            </a:r>
            <a:r>
              <a:rPr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上建立一个索引index_bookname_state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，具体的SQL语句如下所示。</a:t>
            </a:r>
            <a:endParaRPr lang="zh-CN" alt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930400" y="5119370"/>
            <a:ext cx="7498715" cy="4356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ALTER TABLE book ADD INDEX index_bookname_state(name(20),state(1));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 txBox="1"/>
          <p:nvPr/>
        </p:nvSpPr>
        <p:spPr>
          <a:xfrm>
            <a:off x="1145452" y="268062"/>
            <a:ext cx="3894025" cy="505890"/>
          </a:xfrm>
          <a:prstGeom prst="rect">
            <a:avLst/>
          </a:prstGeom>
        </p:spPr>
        <p:txBody>
          <a:bodyPr lIns="0" tIns="60934" rIns="0" bIns="6093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上机实践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619250" y="1158240"/>
            <a:ext cx="935736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7970">
              <a:lnSpc>
                <a:spcPct val="150000"/>
              </a:lnSpc>
            </a:pP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实践需求</a:t>
            </a:r>
            <a:r>
              <a:rPr lang="en-US" alt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图书名称和图书状态同时查询不太多，删除基于这两个字段的索引。</a:t>
            </a:r>
            <a:endParaRPr lang="zh-CN" alt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834515" y="3813175"/>
            <a:ext cx="935736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</a:pP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实践需求</a:t>
            </a:r>
            <a:r>
              <a:rPr lang="en-US" alt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创建一个只包含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图书名称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图书上架时间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图书状态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字段数据的视图。</a:t>
            </a:r>
            <a:endParaRPr lang="zh-CN" alt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流程图: 过程 7"/>
          <p:cNvSpPr/>
          <p:nvPr/>
        </p:nvSpPr>
        <p:spPr>
          <a:xfrm>
            <a:off x="1823720" y="1762125"/>
            <a:ext cx="8716645" cy="162496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indent="0" algn="ctr" fontAlgn="auto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901190" y="1779905"/>
            <a:ext cx="8522970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动手实践</a:t>
            </a:r>
            <a:r>
              <a:rPr lang="en-US" altLang="zh-CN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删除</a:t>
            </a:r>
            <a:r>
              <a:rPr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图书表book</a:t>
            </a:r>
            <a:r>
              <a:rPr 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中名称为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index_bookname_state的索引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，具体的SQL语句如下所示。</a:t>
            </a:r>
            <a:endParaRPr lang="zh-CN" alt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流程图: 过程 6"/>
          <p:cNvSpPr/>
          <p:nvPr/>
        </p:nvSpPr>
        <p:spPr>
          <a:xfrm>
            <a:off x="1807210" y="4400550"/>
            <a:ext cx="8716645" cy="162496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indent="0" algn="ctr" fontAlgn="auto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884680" y="4418330"/>
            <a:ext cx="8522970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动手实践</a:t>
            </a:r>
            <a:r>
              <a:rPr lang="en-US" altLang="zh-CN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</a:t>
            </a: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创建一个只包含图书表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book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name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upload_time、state字段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的视图view_book_state，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具体的SQL语句如下所示。</a:t>
            </a:r>
            <a:endParaRPr lang="zh-CN" alt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943735" y="2662555"/>
            <a:ext cx="7195820" cy="4483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ALTER TABLE book DROP INDEX index_bookname_state;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012950" y="5269865"/>
            <a:ext cx="7195820" cy="6330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CREATE VIEW view_book_state (图书名称,上架时间,状态) AS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SELECT name,upload_time,state FROM book;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 txBox="1"/>
          <p:nvPr/>
        </p:nvSpPr>
        <p:spPr>
          <a:xfrm>
            <a:off x="1145452" y="268062"/>
            <a:ext cx="3894025" cy="505890"/>
          </a:xfrm>
          <a:prstGeom prst="rect">
            <a:avLst/>
          </a:prstGeom>
        </p:spPr>
        <p:txBody>
          <a:bodyPr lIns="0" tIns="60934" rIns="0" bIns="6093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上机实践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564005" y="1102995"/>
            <a:ext cx="1010729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7970">
              <a:lnSpc>
                <a:spcPct val="150000"/>
              </a:lnSpc>
            </a:pP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实践需求</a:t>
            </a:r>
            <a:r>
              <a:rPr lang="en-US" alt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</a:t>
            </a: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创建基于多表的视图，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创建一个包含图书名称、借阅者名称和借阅时间的视图。</a:t>
            </a:r>
            <a:endParaRPr lang="zh-CN" alt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564005" y="4243705"/>
            <a:ext cx="9357360" cy="7067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7970">
              <a:lnSpc>
                <a:spcPct val="150000"/>
              </a:lnSpc>
            </a:pP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实践需求</a:t>
            </a:r>
            <a:r>
              <a:rPr lang="en-US" alt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</a:t>
            </a: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删除视图view_book_borrower。</a:t>
            </a:r>
            <a:endParaRPr lang="zh-CN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267970"/>
            <a:endParaRPr lang="zh-CN" alt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流程图: 过程 7"/>
          <p:cNvSpPr/>
          <p:nvPr/>
        </p:nvSpPr>
        <p:spPr>
          <a:xfrm>
            <a:off x="1823720" y="1762125"/>
            <a:ext cx="8966200" cy="228282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indent="0" algn="ctr" fontAlgn="auto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901190" y="1779905"/>
            <a:ext cx="8522970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动手实践</a:t>
            </a:r>
            <a:r>
              <a:rPr lang="en-US" altLang="zh-CN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</a:t>
            </a: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创建包含图书表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book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name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borrow_time字段，以及用户表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user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中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name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字段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的视图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view_book_borrower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具体的SQL语句如下所示。</a:t>
            </a:r>
            <a:endParaRPr lang="zh-CN" alt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流程图: 过程 3"/>
          <p:cNvSpPr/>
          <p:nvPr/>
        </p:nvSpPr>
        <p:spPr>
          <a:xfrm>
            <a:off x="1807210" y="4831080"/>
            <a:ext cx="8983345" cy="162496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indent="0" algn="ctr" fontAlgn="auto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884680" y="4848860"/>
            <a:ext cx="8522970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动手实践</a:t>
            </a:r>
            <a:r>
              <a:rPr lang="en-US" altLang="zh-CN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</a:t>
            </a: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删除</a:t>
            </a:r>
            <a:r>
              <a:rPr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图书表book</a:t>
            </a:r>
            <a:r>
              <a:rPr 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中名称为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view_book_borrower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的索引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，具体的SQL语句如下所示。</a:t>
            </a:r>
            <a:endParaRPr lang="zh-CN" alt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978025" y="2614295"/>
            <a:ext cx="8546465" cy="12198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CREATE VIEW view_book_borrower (图书名称,借阅者,借阅时间)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AS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SELECT b.name,u.name,borrow_time FROM book b,user u WHERE b.borrower_id=u.id;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016760" y="5795645"/>
            <a:ext cx="8507730" cy="528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DROP VIEW view_book_borrower;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None/>
            </a:pP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本章小结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925955" y="1125220"/>
            <a:ext cx="8229600" cy="5059363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本章主要对</a:t>
            </a:r>
            <a:r>
              <a:rPr kumimoji="0" lang="zh-CN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索引</a:t>
            </a:r>
            <a:r>
              <a:rPr kumimoji="0" lang="zh-CN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kumimoji="0" lang="zh-CN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视图</a:t>
            </a:r>
            <a:r>
              <a:rPr kumimoji="0" lang="zh-CN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进行了详细讲解。首先对索引的</a:t>
            </a:r>
            <a:r>
              <a:rPr kumimoji="0" lang="zh-CN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概述</a:t>
            </a:r>
            <a:r>
              <a:rPr kumimoji="0" lang="zh-CN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kumimoji="0" lang="zh-CN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创建</a:t>
            </a:r>
            <a:r>
              <a:rPr kumimoji="0" lang="zh-CN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kumimoji="0" lang="zh-CN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查看</a:t>
            </a:r>
            <a:r>
              <a:rPr kumimoji="0" lang="zh-CN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kumimoji="0" lang="zh-CN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删除</a:t>
            </a:r>
            <a:r>
              <a:rPr kumimoji="0" lang="zh-CN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进行了讲解，然后讲解了视图</a:t>
            </a:r>
            <a:r>
              <a:rPr kumimoji="0" lang="zh-CN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概述</a:t>
            </a:r>
            <a:r>
              <a:rPr kumimoji="0" lang="zh-CN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、视图</a:t>
            </a:r>
            <a:r>
              <a:rPr kumimoji="0" lang="zh-CN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管理</a:t>
            </a:r>
            <a:r>
              <a:rPr kumimoji="0" lang="zh-CN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、视图</a:t>
            </a:r>
            <a:r>
              <a:rPr kumimoji="0" lang="zh-CN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数据的操作</a:t>
            </a:r>
            <a:r>
              <a:rPr kumimoji="0" lang="zh-CN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；最后通过上机实践，提升读者对索引和视图的操作熟练度。通过本章的学习，希望读者能够掌握索引和视图的基本使用，为后续的学习打下坚实的基础。</a:t>
            </a:r>
            <a:endParaRPr kumimoji="0" lang="zh-CN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1143635" y="1485265"/>
            <a:ext cx="9794240" cy="462343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2" grpId="1" build="p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PA" val="v5.2.7"/>
  <p:tag name="RESOURCELIBID_ANIM" val="450"/>
</p:tagLst>
</file>

<file path=ppt/tags/tag2.xml><?xml version="1.0" encoding="utf-8"?>
<p:tagLst xmlns:p="http://schemas.openxmlformats.org/presentationml/2006/main">
  <p:tag name="PA" val="v5.2.7"/>
  <p:tag name="RESOURCELIBID_ANIM" val="450"/>
</p:tagLst>
</file>

<file path=ppt/tags/tag3.xml><?xml version="1.0" encoding="utf-8"?>
<p:tagLst xmlns:p="http://schemas.openxmlformats.org/presentationml/2006/main">
  <p:tag name="PA" val="v5.2.7"/>
  <p:tag name="RESOURCELIBID_ANIM" val="450"/>
</p:tagLst>
</file>

<file path=ppt/tags/tag4.xml><?xml version="1.0" encoding="utf-8"?>
<p:tagLst xmlns:p="http://schemas.openxmlformats.org/presentationml/2006/main">
  <p:tag name="PA" val="v5.2.7"/>
  <p:tag name="RESOURCELIBID_ANIM" val="450"/>
</p:tagLst>
</file>

<file path=ppt/tags/tag5.xml><?xml version="1.0" encoding="utf-8"?>
<p:tagLst xmlns:p="http://schemas.openxmlformats.org/presentationml/2006/main">
  <p:tag name="PA" val="v5.2.7"/>
  <p:tag name="RESOURCELIBID_ANIM" val="450"/>
</p:tagLst>
</file>

<file path=ppt/tags/tag6.xml><?xml version="1.0" encoding="utf-8"?>
<p:tagLst xmlns:p="http://schemas.openxmlformats.org/presentationml/2006/main">
  <p:tag name="PA" val="v5.2.7"/>
  <p:tag name="RESOURCELIBID_ANIM" val="450"/>
</p:tagLst>
</file>

<file path=ppt/tags/tag7.xml><?xml version="1.0" encoding="utf-8"?>
<p:tagLst xmlns:p="http://schemas.openxmlformats.org/presentationml/2006/main">
  <p:tag name="PA" val="v5.2.7"/>
  <p:tag name="RESOURCELIBID_ANIM" val="450"/>
</p:tagLst>
</file>

<file path=ppt/tags/tag8.xml><?xml version="1.0" encoding="utf-8"?>
<p:tagLst xmlns:p="http://schemas.openxmlformats.org/presentationml/2006/main">
  <p:tag name="KSO_WM_UNIT_TABLE_BEAUTIFY" val="smartTable{c026dcb5-283e-4683-84fc-c8c44fc10928}"/>
</p:tagLst>
</file>

<file path=ppt/tags/tag9.xml><?xml version="1.0" encoding="utf-8"?>
<p:tagLst xmlns:p="http://schemas.openxmlformats.org/presentationml/2006/main">
  <p:tag name="KSO_WM_UNIT_TABLE_BEAUTIFY" val="smartTable{c026dcb5-283e-4683-84fc-c8c44fc10928}"/>
</p:tagLst>
</file>

<file path=ppt/tags/tag10.xml><?xml version="1.0" encoding="utf-8"?>
<p:tagLst xmlns:p="http://schemas.openxmlformats.org/presentationml/2006/main">
  <p:tag name="KSO_WM_UNIT_TABLE_BEAUTIFY" val="smartTable{ba1cf932-7835-4700-ab08-e9bccad59bef}"/>
</p:tagLst>
</file>

<file path=ppt/tags/tag11.xml><?xml version="1.0" encoding="utf-8"?>
<p:tagLst xmlns:p="http://schemas.openxmlformats.org/presentationml/2006/main">
  <p:tag name="PA" val="v5.2.7"/>
  <p:tag name="RESOURCELIBID_ANIM" val="450"/>
</p:tagLst>
</file>

<file path=ppt/tags/tag12.xml><?xml version="1.0" encoding="utf-8"?>
<p:tagLst xmlns:p="http://schemas.openxmlformats.org/presentationml/2006/main">
  <p:tag name="PA" val="v5.2.7"/>
  <p:tag name="RESOURCELIBID_ANIM" val="450"/>
</p:tagLst>
</file>

<file path=ppt/tags/tag13.xml><?xml version="1.0" encoding="utf-8"?>
<p:tagLst xmlns:p="http://schemas.openxmlformats.org/presentationml/2006/main">
  <p:tag name="PA" val="v5.2.7"/>
  <p:tag name="RESOURCELIBID_ANIM" val="450"/>
</p:tagLst>
</file>

<file path=ppt/tags/tag14.xml><?xml version="1.0" encoding="utf-8"?>
<p:tagLst xmlns:p="http://schemas.openxmlformats.org/presentationml/2006/main">
  <p:tag name="PA" val="v5.2.7"/>
  <p:tag name="RESOURCELIBID_ANIM" val="450"/>
</p:tagLst>
</file>

<file path=ppt/tags/tag15.xml><?xml version="1.0" encoding="utf-8"?>
<p:tagLst xmlns:p="http://schemas.openxmlformats.org/presentationml/2006/main">
  <p:tag name="PA" val="v5.2.7"/>
  <p:tag name="RESOURCELIBID_ANIM" val="450"/>
</p:tagLst>
</file>

<file path=ppt/tags/tag16.xml><?xml version="1.0" encoding="utf-8"?>
<p:tagLst xmlns:p="http://schemas.openxmlformats.org/presentationml/2006/main">
  <p:tag name="PA" val="v5.2.7"/>
  <p:tag name="RESOURCELIBID_ANIM" val="450"/>
</p:tagLst>
</file>

<file path=ppt/tags/tag17.xml><?xml version="1.0" encoding="utf-8"?>
<p:tagLst xmlns:p="http://schemas.openxmlformats.org/presentationml/2006/main">
  <p:tag name="PA" val="v5.2.7"/>
  <p:tag name="RESOURCELIBID_ANIM" val="450"/>
</p:tagLst>
</file>

<file path=ppt/tags/tag18.xml><?xml version="1.0" encoding="utf-8"?>
<p:tagLst xmlns:p="http://schemas.openxmlformats.org/presentationml/2006/main">
  <p:tag name="PA" val="v5.2.7"/>
  <p:tag name="RESOURCELIBID_ANIM" val="450"/>
</p:tagLst>
</file>

<file path=ppt/tags/tag19.xml><?xml version="1.0" encoding="utf-8"?>
<p:tagLst xmlns:p="http://schemas.openxmlformats.org/presentationml/2006/main">
  <p:tag name="PA" val="v5.2.7"/>
  <p:tag name="RESOURCELIBID_ANIM" val="450"/>
</p:tagLst>
</file>

<file path=ppt/tags/tag20.xml><?xml version="1.0" encoding="utf-8"?>
<p:tagLst xmlns:p="http://schemas.openxmlformats.org/presentationml/2006/main">
  <p:tag name="PA" val="v5.2.7"/>
  <p:tag name="RESOURCELIBID_ANIM" val="450"/>
</p:tagLst>
</file>

<file path=ppt/tags/tag21.xml><?xml version="1.0" encoding="utf-8"?>
<p:tagLst xmlns:p="http://schemas.openxmlformats.org/presentationml/2006/main">
  <p:tag name="PA" val="v5.2.7"/>
  <p:tag name="RESOURCELIBID_ANIM" val="450"/>
</p:tagLst>
</file>

<file path=ppt/tags/tag22.xml><?xml version="1.0" encoding="utf-8"?>
<p:tagLst xmlns:p="http://schemas.openxmlformats.org/presentationml/2006/main">
  <p:tag name="PA" val="v5.2.7"/>
  <p:tag name="RESOURCELIBID_ANIM" val="450"/>
</p:tagLst>
</file>

<file path=ppt/tags/tag23.xml><?xml version="1.0" encoding="utf-8"?>
<p:tagLst xmlns:p="http://schemas.openxmlformats.org/presentationml/2006/main">
  <p:tag name="PA" val="v5.2.7"/>
  <p:tag name="RESOURCELIBID_ANIM" val="450"/>
</p:tagLst>
</file>

<file path=ppt/tags/tag24.xml><?xml version="1.0" encoding="utf-8"?>
<p:tagLst xmlns:p="http://schemas.openxmlformats.org/presentationml/2006/main">
  <p:tag name="PA" val="v5.2.7"/>
  <p:tag name="RESOURCELIBID_ANIM" val="450"/>
</p:tagLst>
</file>

<file path=ppt/tags/tag25.xml><?xml version="1.0" encoding="utf-8"?>
<p:tagLst xmlns:p="http://schemas.openxmlformats.org/presentationml/2006/main">
  <p:tag name="PA" val="v5.2.7"/>
  <p:tag name="RESOURCELIBID_ANIM" val="450"/>
</p:tagLst>
</file>

<file path=ppt/tags/tag26.xml><?xml version="1.0" encoding="utf-8"?>
<p:tagLst xmlns:p="http://schemas.openxmlformats.org/presentationml/2006/main">
  <p:tag name="PA" val="v5.2.7"/>
  <p:tag name="RESOURCELIBID_ANIM" val="450"/>
</p:tagLst>
</file>

<file path=ppt/tags/tag27.xml><?xml version="1.0" encoding="utf-8"?>
<p:tagLst xmlns:p="http://schemas.openxmlformats.org/presentationml/2006/main">
  <p:tag name="PA" val="v5.2.7"/>
  <p:tag name="RESOURCELIBID_ANIM" val="450"/>
</p:tagLst>
</file>

<file path=ppt/tags/tag28.xml><?xml version="1.0" encoding="utf-8"?>
<p:tagLst xmlns:p="http://schemas.openxmlformats.org/presentationml/2006/main">
  <p:tag name="PA" val="v5.2.7"/>
  <p:tag name="RESOURCELIBID_ANIM" val="450"/>
</p:tagLst>
</file>

<file path=ppt/tags/tag29.xml><?xml version="1.0" encoding="utf-8"?>
<p:tagLst xmlns:p="http://schemas.openxmlformats.org/presentationml/2006/main">
  <p:tag name="ISPRING_RESOURCE_PATHS_HASH_PRESENTER" val="3f15e6573a385e41c33bb97e7105a62faa5c484"/>
</p:tagLst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字魂105号-简雅黑"/>
        <a:ea typeface="字魂105号-简雅黑"/>
        <a:cs typeface=""/>
      </a:majorFont>
      <a:minorFont>
        <a:latin typeface="字魂105号-简雅黑"/>
        <a:ea typeface="字魂105号-简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16629</Words>
  <Application>WPS 演示</Application>
  <PresentationFormat>自定义</PresentationFormat>
  <Paragraphs>888</Paragraphs>
  <Slides>72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72</vt:i4>
      </vt:variant>
    </vt:vector>
  </HeadingPairs>
  <TitlesOfParts>
    <vt:vector size="94" baseType="lpstr">
      <vt:lpstr>Arial</vt:lpstr>
      <vt:lpstr>宋体</vt:lpstr>
      <vt:lpstr>Wingdings</vt:lpstr>
      <vt:lpstr>微软雅黑</vt:lpstr>
      <vt:lpstr>思源黑体 CN Medium</vt:lpstr>
      <vt:lpstr>黑体</vt:lpstr>
      <vt:lpstr>字魂58号-创中黑</vt:lpstr>
      <vt:lpstr>Source Han Sans K Bold</vt:lpstr>
      <vt:lpstr>Calibri</vt:lpstr>
      <vt:lpstr>MS UI Gothic</vt:lpstr>
      <vt:lpstr>U.S. 101</vt:lpstr>
      <vt:lpstr>Roboto</vt:lpstr>
      <vt:lpstr>Open Sans Light</vt:lpstr>
      <vt:lpstr>思源黑体 CN Normal</vt:lpstr>
      <vt:lpstr>字魂105号-简雅黑</vt:lpstr>
      <vt:lpstr>Arial Unicode MS</vt:lpstr>
      <vt:lpstr>Courier New</vt:lpstr>
      <vt:lpstr>Arial</vt:lpstr>
      <vt:lpstr>Segoe Print</vt:lpstr>
      <vt:lpstr>Open Sans</vt:lpstr>
      <vt:lpstr>webwppDefTheme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蓝白商务述职报告工作总结ppt模板</dc:title>
  <dc:creator>常董</dc:creator>
  <cp:lastModifiedBy>tk</cp:lastModifiedBy>
  <cp:revision>91</cp:revision>
  <dcterms:created xsi:type="dcterms:W3CDTF">2020-11-11T09:29:00Z</dcterms:created>
  <dcterms:modified xsi:type="dcterms:W3CDTF">2022-06-17T08:03:05Z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2052-11.1.0.8976</vt:lpwstr>
  </property>
  <property fmtid="{D5CDD505-2E9C-101B-9397-08002B2CF9AE}" pid="3" name="ICV">
    <vt:lpwstr>FF1DE0491A214842AF3CCED9A00433D3</vt:lpwstr>
  </property>
</Properties>
</file>