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70"/>
  </p:notesMasterIdLst>
  <p:handoutMasterIdLst>
    <p:handoutMasterId r:id="rId71"/>
  </p:handoutMasterIdLst>
  <p:sldIdLst>
    <p:sldId id="325" r:id="rId3"/>
    <p:sldId id="353" r:id="rId4"/>
    <p:sldId id="354" r:id="rId5"/>
    <p:sldId id="355" r:id="rId6"/>
    <p:sldId id="356" r:id="rId7"/>
    <p:sldId id="357" r:id="rId8"/>
    <p:sldId id="358" r:id="rId9"/>
    <p:sldId id="450" r:id="rId10"/>
    <p:sldId id="359" r:id="rId11"/>
    <p:sldId id="360" r:id="rId12"/>
    <p:sldId id="451" r:id="rId13"/>
    <p:sldId id="361" r:id="rId14"/>
    <p:sldId id="452" r:id="rId15"/>
    <p:sldId id="362" r:id="rId16"/>
    <p:sldId id="455" r:id="rId17"/>
    <p:sldId id="363" r:id="rId18"/>
    <p:sldId id="456" r:id="rId19"/>
    <p:sldId id="364" r:id="rId20"/>
    <p:sldId id="365" r:id="rId21"/>
    <p:sldId id="457" r:id="rId22"/>
    <p:sldId id="366" r:id="rId23"/>
    <p:sldId id="367" r:id="rId24"/>
    <p:sldId id="458" r:id="rId25"/>
    <p:sldId id="368" r:id="rId26"/>
    <p:sldId id="459" r:id="rId27"/>
    <p:sldId id="369" r:id="rId28"/>
    <p:sldId id="370" r:id="rId29"/>
    <p:sldId id="460" r:id="rId30"/>
    <p:sldId id="371" r:id="rId31"/>
    <p:sldId id="461" r:id="rId32"/>
    <p:sldId id="462" r:id="rId33"/>
    <p:sldId id="372" r:id="rId34"/>
    <p:sldId id="463" r:id="rId35"/>
    <p:sldId id="464" r:id="rId36"/>
    <p:sldId id="373" r:id="rId37"/>
    <p:sldId id="374" r:id="rId38"/>
    <p:sldId id="465" r:id="rId39"/>
    <p:sldId id="466" r:id="rId40"/>
    <p:sldId id="375" r:id="rId41"/>
    <p:sldId id="376" r:id="rId42"/>
    <p:sldId id="377" r:id="rId43"/>
    <p:sldId id="378" r:id="rId44"/>
    <p:sldId id="467" r:id="rId45"/>
    <p:sldId id="379" r:id="rId46"/>
    <p:sldId id="380" r:id="rId47"/>
    <p:sldId id="381" r:id="rId48"/>
    <p:sldId id="468" r:id="rId49"/>
    <p:sldId id="382" r:id="rId50"/>
    <p:sldId id="383" r:id="rId51"/>
    <p:sldId id="384" r:id="rId52"/>
    <p:sldId id="469" r:id="rId53"/>
    <p:sldId id="385" r:id="rId54"/>
    <p:sldId id="386" r:id="rId55"/>
    <p:sldId id="387" r:id="rId56"/>
    <p:sldId id="388" r:id="rId57"/>
    <p:sldId id="470" r:id="rId58"/>
    <p:sldId id="471" r:id="rId59"/>
    <p:sldId id="389" r:id="rId60"/>
    <p:sldId id="390" r:id="rId61"/>
    <p:sldId id="472" r:id="rId62"/>
    <p:sldId id="391" r:id="rId63"/>
    <p:sldId id="392" r:id="rId64"/>
    <p:sldId id="393" r:id="rId65"/>
    <p:sldId id="526" r:id="rId66"/>
    <p:sldId id="530" r:id="rId67"/>
    <p:sldId id="395" r:id="rId68"/>
    <p:sldId id="326" r:id="rId69"/>
  </p:sldIdLst>
  <p:sldSz cx="12190413" cy="6859588"/>
  <p:notesSz cx="6858000" cy="9144000"/>
  <p:custDataLst>
    <p:tags r:id="rId72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>
          <p15:clr>
            <a:srgbClr val="A4A3A4"/>
          </p15:clr>
        </p15:guide>
        <p15:guide id="2" pos="256">
          <p15:clr>
            <a:srgbClr val="A4A3A4"/>
          </p15:clr>
        </p15:guide>
        <p15:guide id="3" pos="66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23">
          <p15:clr>
            <a:srgbClr val="A4A3A4"/>
          </p15:clr>
        </p15:guide>
        <p15:guide id="2" pos="215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369B2"/>
    <a:srgbClr val="FAFAFA"/>
    <a:srgbClr val="F2F2F2"/>
    <a:srgbClr val="006BBC"/>
    <a:srgbClr val="0075CC"/>
    <a:srgbClr val="008DF6"/>
    <a:srgbClr val="005DA2"/>
    <a:srgbClr val="F5F5F5"/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15" autoAdjust="0"/>
    <p:restoredTop sz="94660" autoAdjust="0"/>
  </p:normalViewPr>
  <p:slideViewPr>
    <p:cSldViewPr>
      <p:cViewPr varScale="1">
        <p:scale>
          <a:sx n="162" d="100"/>
          <a:sy n="162" d="100"/>
        </p:scale>
        <p:origin x="366" y="138"/>
      </p:cViewPr>
      <p:guideLst>
        <p:guide orient="horz" pos="2118"/>
        <p:guide pos="256"/>
        <p:guide pos="66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23"/>
        <p:guide pos="215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gs" Target="tags/tag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slideLayout" Target="../slideLayouts/slideLayout10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18" Type="http://schemas.openxmlformats.org/officeDocument/2006/relationships/image" Target="../media/image10.png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slideLayout" Target="../slideLayouts/slideLayout10.xml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10" Type="http://schemas.openxmlformats.org/officeDocument/2006/relationships/tags" Target="../tags/tag33.xml"/><Relationship Id="rId19" Type="http://schemas.openxmlformats.org/officeDocument/2006/relationships/image" Target="../media/image11.svg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350790" y="2534497"/>
            <a:ext cx="770610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1</a:t>
            </a:r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数据库入门</a:t>
            </a: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5361305" y="3861435"/>
            <a:ext cx="4695825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《MySQL数据库入门（第2版）》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9160" y="2205355"/>
            <a:ext cx="10377170" cy="3568700"/>
            <a:chOff x="1887" y="3473"/>
            <a:chExt cx="15049" cy="5620"/>
          </a:xfrm>
        </p:grpSpPr>
        <p:grpSp>
          <p:nvGrpSpPr>
            <p:cNvPr id="80" name="组合 79"/>
            <p:cNvGrpSpPr/>
            <p:nvPr/>
          </p:nvGrpSpPr>
          <p:grpSpPr>
            <a:xfrm>
              <a:off x="1917" y="3473"/>
              <a:ext cx="15002" cy="1084"/>
              <a:chOff x="978872" y="1800500"/>
              <a:chExt cx="5471124" cy="515937"/>
            </a:xfrm>
          </p:grpSpPr>
          <p:sp>
            <p:nvSpPr>
              <p:cNvPr id="81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了解数据管理技术的发展，能够说出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数据管理技术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每个阶段的特点</a:t>
                </a:r>
              </a:p>
            </p:txBody>
          </p:sp>
          <p:sp>
            <p:nvSpPr>
              <p:cNvPr id="82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16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1934" y="4902"/>
              <a:ext cx="15002" cy="1243"/>
              <a:chOff x="978872" y="1800500"/>
              <a:chExt cx="5471124" cy="558297"/>
            </a:xfrm>
          </p:grpSpPr>
          <p:sp>
            <p:nvSpPr>
              <p:cNvPr id="3" name="Pentagon 3"/>
              <p:cNvSpPr/>
              <p:nvPr/>
            </p:nvSpPr>
            <p:spPr bwMode="auto">
              <a:xfrm>
                <a:off x="978872" y="1800500"/>
                <a:ext cx="5471124" cy="55829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了解数据库技术的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基本术语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，能够说出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数据库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数据库管理系统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和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数据库系统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的概念</a:t>
                </a:r>
              </a:p>
            </p:txBody>
          </p:sp>
          <p:sp>
            <p:nvSpPr>
              <p:cNvPr id="4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16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887" y="6423"/>
              <a:ext cx="15002" cy="1243"/>
              <a:chOff x="960637" y="1800500"/>
              <a:chExt cx="5471124" cy="591614"/>
            </a:xfrm>
          </p:grpSpPr>
          <p:sp>
            <p:nvSpPr>
              <p:cNvPr id="6" name="Pentagon 3"/>
              <p:cNvSpPr/>
              <p:nvPr/>
            </p:nvSpPr>
            <p:spPr bwMode="auto">
              <a:xfrm>
                <a:off x="960637" y="1800500"/>
                <a:ext cx="5471124" cy="591614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了解数据模型，能够说出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数据模型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分类和常见术语、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E-R图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表示方式、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关系模型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概念和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完整性约束</a:t>
                </a:r>
              </a:p>
            </p:txBody>
          </p:sp>
          <p:sp>
            <p:nvSpPr>
              <p:cNvPr id="7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16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934" y="8009"/>
              <a:ext cx="15002" cy="1084"/>
              <a:chOff x="978872" y="1800500"/>
              <a:chExt cx="5471124" cy="515937"/>
            </a:xfrm>
          </p:grpSpPr>
          <p:sp>
            <p:nvSpPr>
              <p:cNvPr id="9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了解常见的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数据库产品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，能够说出3种以上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关系型数据库</a:t>
                </a:r>
              </a:p>
            </p:txBody>
          </p:sp>
          <p:sp>
            <p:nvSpPr>
              <p:cNvPr id="10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16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069340" y="2205355"/>
            <a:ext cx="10182225" cy="2992755"/>
            <a:chOff x="1917" y="3473"/>
            <a:chExt cx="15002" cy="4713"/>
          </a:xfrm>
        </p:grpSpPr>
        <p:grpSp>
          <p:nvGrpSpPr>
            <p:cNvPr id="2" name="组合 1"/>
            <p:cNvGrpSpPr/>
            <p:nvPr/>
          </p:nvGrpSpPr>
          <p:grpSpPr>
            <a:xfrm>
              <a:off x="1917" y="3473"/>
              <a:ext cx="15002" cy="1084"/>
              <a:chOff x="978872" y="1800500"/>
              <a:chExt cx="5471124" cy="515937"/>
            </a:xfrm>
          </p:grpSpPr>
          <p:sp>
            <p:nvSpPr>
              <p:cNvPr id="3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熟悉SQL的作用，能够根据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SQL的功能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说出SQL的4个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类别</a:t>
                </a:r>
              </a:p>
            </p:txBody>
          </p:sp>
          <p:sp>
            <p:nvSpPr>
              <p:cNvPr id="4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16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917" y="5287"/>
              <a:ext cx="15002" cy="1084"/>
              <a:chOff x="978872" y="1800500"/>
              <a:chExt cx="5471124" cy="515937"/>
            </a:xfrm>
          </p:grpSpPr>
          <p:sp>
            <p:nvSpPr>
              <p:cNvPr id="6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掌握MySQL的安装与配置，能够独立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安装MySQL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，并使用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账号登录MySQL</a:t>
                </a:r>
              </a:p>
            </p:txBody>
          </p:sp>
          <p:sp>
            <p:nvSpPr>
              <p:cNvPr id="7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16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917" y="7102"/>
              <a:ext cx="15002" cy="1084"/>
              <a:chOff x="978872" y="1800500"/>
              <a:chExt cx="5471124" cy="515937"/>
            </a:xfrm>
          </p:grpSpPr>
          <p:sp>
            <p:nvSpPr>
              <p:cNvPr id="9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了解MySQL常见的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图形化管理工具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，能够使用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SQLyog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和</a:t>
                </a:r>
                <a:r>
                  <a:rPr lang="zh-CN" altLang="en-US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Navicat</a:t>
                </a:r>
                <a:r>
                  <a:rPr lang="zh-CN" alt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连接MySQL</a:t>
                </a:r>
              </a:p>
            </p:txBody>
          </p:sp>
          <p:sp>
            <p:nvSpPr>
              <p:cNvPr id="10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16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20095" y="2853864"/>
            <a:ext cx="10151132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数据库技术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是一种计算机辅助管理数据的方法，是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计算机数据处理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信息管理系统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的核心技术。数据库技术产生于20世纪60年代末，用于解决数据的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，以及如何高效地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数据。本章将围绕数据库的相关知识进行详细讲解。</a:t>
            </a: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193319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285359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3784175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119265" y="4710448"/>
            <a:ext cx="1192190" cy="613061"/>
            <a:chOff x="2215144" y="4135856"/>
            <a:chExt cx="1244730" cy="842781"/>
          </a:xfrm>
        </p:grpSpPr>
        <p:sp>
          <p:nvSpPr>
            <p:cNvPr id="55" name="平行四边形 54"/>
            <p:cNvSpPr/>
            <p:nvPr/>
          </p:nvSpPr>
          <p:spPr>
            <a:xfrm>
              <a:off x="2215144" y="4135856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6" name="文本框 12"/>
            <p:cNvSpPr txBox="1"/>
            <p:nvPr/>
          </p:nvSpPr>
          <p:spPr>
            <a:xfrm>
              <a:off x="2393075" y="4169272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1911020"/>
            <a:ext cx="5142331" cy="777734"/>
            <a:chOff x="4315150" y="953426"/>
            <a:chExt cx="3857250" cy="685119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602455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GB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</a:t>
              </a:r>
              <a:r>
                <a: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管理</a:t>
              </a:r>
              <a:r>
                <a:rPr lang="en-GB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技术的发展</a:t>
              </a:r>
            </a:p>
            <a:p>
              <a:endParaRPr lang="en-GB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283677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GB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数据库技术的</a:t>
              </a:r>
              <a:r>
                <a: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基本术语</a:t>
              </a: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376252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GB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数据模型</a:t>
              </a: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024817" y="4688273"/>
            <a:ext cx="5142331" cy="613062"/>
            <a:chOff x="4315150" y="3035884"/>
            <a:chExt cx="3857250" cy="540057"/>
          </a:xfrm>
        </p:grpSpPr>
        <p:sp>
          <p:nvSpPr>
            <p:cNvPr id="70" name="矩形 69"/>
            <p:cNvSpPr/>
            <p:nvPr/>
          </p:nvSpPr>
          <p:spPr>
            <a:xfrm>
              <a:off x="4841196" y="3118548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GB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常见的数据库产品</a:t>
              </a:r>
            </a:p>
          </p:txBody>
        </p:sp>
        <p:sp>
          <p:nvSpPr>
            <p:cNvPr id="71" name="平行四边形 70"/>
            <p:cNvSpPr/>
            <p:nvPr/>
          </p:nvSpPr>
          <p:spPr>
            <a:xfrm>
              <a:off x="4315150" y="3035884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1933199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2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2853597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2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3784175"/>
            <a:ext cx="1192190" cy="613315"/>
            <a:chOff x="2215144" y="3084852"/>
            <a:chExt cx="1244730" cy="843130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2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119265" y="4710448"/>
            <a:ext cx="1192190" cy="613061"/>
            <a:chOff x="2215144" y="4135856"/>
            <a:chExt cx="1244730" cy="842781"/>
          </a:xfrm>
        </p:grpSpPr>
        <p:sp>
          <p:nvSpPr>
            <p:cNvPr id="55" name="平行四边形 54"/>
            <p:cNvSpPr/>
            <p:nvPr/>
          </p:nvSpPr>
          <p:spPr>
            <a:xfrm>
              <a:off x="2215144" y="4135856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6" name="文本框 12"/>
            <p:cNvSpPr txBox="1"/>
            <p:nvPr/>
          </p:nvSpPr>
          <p:spPr>
            <a:xfrm>
              <a:off x="2393075" y="4169272"/>
              <a:ext cx="1066799" cy="802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08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1911020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GB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SQL简介</a:t>
              </a: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2836771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GB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MySQL安装与配置</a:t>
              </a: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3762522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GB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常用图形化管理工具</a:t>
              </a: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024817" y="4688273"/>
            <a:ext cx="5142331" cy="613062"/>
            <a:chOff x="4315150" y="3035884"/>
            <a:chExt cx="3857250" cy="540057"/>
          </a:xfrm>
        </p:grpSpPr>
        <p:sp>
          <p:nvSpPr>
            <p:cNvPr id="70" name="矩形 69"/>
            <p:cNvSpPr/>
            <p:nvPr/>
          </p:nvSpPr>
          <p:spPr>
            <a:xfrm>
              <a:off x="4594745" y="3118673"/>
              <a:ext cx="338181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GB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上机实践：图书管理系统的E-R图设计</a:t>
              </a:r>
            </a:p>
          </p:txBody>
        </p:sp>
        <p:sp>
          <p:nvSpPr>
            <p:cNvPr id="71" name="平行四边形 70"/>
            <p:cNvSpPr/>
            <p:nvPr/>
          </p:nvSpPr>
          <p:spPr>
            <a:xfrm>
              <a:off x="4315150" y="3035884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15684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GB" altLang="zh-CN" sz="4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</a:t>
            </a:r>
            <a:r>
              <a:rPr lang="zh-CN" altLang="en-GB" sz="4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管理</a:t>
            </a:r>
            <a:r>
              <a:rPr lang="en-GB" altLang="zh-CN" sz="4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</a:t>
            </a:r>
            <a:r>
              <a:rPr lang="en-GB" altLang="zh-CN" sz="4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的发展</a:t>
            </a:r>
          </a:p>
          <a:p>
            <a:endParaRPr lang="en-GB" altLang="zh-CN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176" y="3813"/>
              <a:ext cx="8993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任何技术都不是凭空产生的，而是有着对应的发展需求，数据的管理技术也不例外。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数据管理技术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发展至今，主要经历了3个阶段，分别是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人工管理阶段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文件系统阶段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数据库系统阶段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。关于这3个阶段介绍具体如下。</a:t>
              </a:r>
            </a:p>
          </p:txBody>
        </p:sp>
      </p:grpSp>
      <p:sp>
        <p:nvSpPr>
          <p:cNvPr id="35" name="Title 1"/>
          <p:cNvSpPr txBox="1"/>
          <p:nvPr/>
        </p:nvSpPr>
        <p:spPr>
          <a:xfrm>
            <a:off x="1143635" y="267970"/>
            <a:ext cx="3583940" cy="50609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GB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1.1数据库管理技术的发展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198245" y="1701165"/>
            <a:ext cx="9906000" cy="3538855"/>
            <a:chOff x="1905" y="3061"/>
            <a:chExt cx="15600" cy="5573"/>
          </a:xfrm>
        </p:grpSpPr>
        <p:sp>
          <p:nvSpPr>
            <p:cNvPr id="36" name="矩形: 剪去单角 444"/>
            <p:cNvSpPr/>
            <p:nvPr/>
          </p:nvSpPr>
          <p:spPr bwMode="auto">
            <a:xfrm>
              <a:off x="7357" y="3061"/>
              <a:ext cx="4696" cy="557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37" name="矩形 45"/>
            <p:cNvSpPr>
              <a:spLocks noChangeArrowheads="1"/>
            </p:cNvSpPr>
            <p:nvPr/>
          </p:nvSpPr>
          <p:spPr bwMode="auto">
            <a:xfrm>
              <a:off x="7357" y="8417"/>
              <a:ext cx="4697" cy="21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任意多边形: 形状 445"/>
            <p:cNvSpPr/>
            <p:nvPr/>
          </p:nvSpPr>
          <p:spPr bwMode="auto">
            <a:xfrm>
              <a:off x="10869" y="3061"/>
              <a:ext cx="1185" cy="1269"/>
            </a:xfrm>
            <a:custGeom>
              <a:avLst/>
              <a:gdLst>
                <a:gd name="T0" fmla="*/ 719975 w 608"/>
                <a:gd name="T1" fmla="*/ 0 h 608"/>
                <a:gd name="T2" fmla="*/ 0 w 608"/>
                <a:gd name="T3" fmla="*/ 0 h 608"/>
                <a:gd name="T4" fmla="*/ 719975 w 608"/>
                <a:gd name="T5" fmla="*/ 719975 h 608"/>
                <a:gd name="T6" fmla="*/ 719975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</a:p>
          </p:txBody>
        </p:sp>
        <p:sp>
          <p:nvSpPr>
            <p:cNvPr id="39" name="矩形: 剪去单角 437"/>
            <p:cNvSpPr/>
            <p:nvPr/>
          </p:nvSpPr>
          <p:spPr bwMode="auto">
            <a:xfrm>
              <a:off x="1905" y="3061"/>
              <a:ext cx="4696" cy="557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0" name="矩形 42"/>
            <p:cNvSpPr>
              <a:spLocks noChangeArrowheads="1"/>
            </p:cNvSpPr>
            <p:nvPr/>
          </p:nvSpPr>
          <p:spPr bwMode="auto">
            <a:xfrm>
              <a:off x="1905" y="8417"/>
              <a:ext cx="4697" cy="21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任意多边形: 形状 438"/>
            <p:cNvSpPr/>
            <p:nvPr/>
          </p:nvSpPr>
          <p:spPr bwMode="auto">
            <a:xfrm>
              <a:off x="5417" y="3061"/>
              <a:ext cx="1185" cy="1269"/>
            </a:xfrm>
            <a:custGeom>
              <a:avLst/>
              <a:gdLst>
                <a:gd name="T0" fmla="*/ 631242 w 608"/>
                <a:gd name="T1" fmla="*/ 0 h 608"/>
                <a:gd name="T2" fmla="*/ 0 w 608"/>
                <a:gd name="T3" fmla="*/ 0 h 608"/>
                <a:gd name="T4" fmla="*/ 631242 w 608"/>
                <a:gd name="T5" fmla="*/ 631242 h 608"/>
                <a:gd name="T6" fmla="*/ 631242 w 608"/>
                <a:gd name="T7" fmla="*/ 0 h 6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8"/>
                <a:gd name="T13" fmla="*/ 0 h 608"/>
                <a:gd name="T14" fmla="*/ 608 w 608"/>
                <a:gd name="T15" fmla="*/ 608 h 6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lIns="121920" tIns="60960" rIns="121920" bIns="60960"/>
            <a:lstStyle/>
            <a:p>
              <a:pPr algn="r"/>
              <a:r>
                <a:rPr lang="en-US" altLang="ko-KR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</a:p>
          </p:txBody>
        </p:sp>
        <p:sp>
          <p:nvSpPr>
            <p:cNvPr id="42" name="矩形: 剪去单角 455"/>
            <p:cNvSpPr/>
            <p:nvPr/>
          </p:nvSpPr>
          <p:spPr bwMode="auto">
            <a:xfrm>
              <a:off x="12809" y="3061"/>
              <a:ext cx="4696" cy="5573"/>
            </a:xfrm>
            <a:prstGeom prst="snip1Rect">
              <a:avLst>
                <a:gd name="adj" fmla="val 29383"/>
              </a:avLst>
            </a:prstGeom>
            <a:solidFill>
              <a:srgbClr val="F6F6F6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12809" y="8418"/>
              <a:ext cx="4696" cy="215"/>
            </a:xfrm>
            <a:prstGeom prst="rect">
              <a:avLst/>
            </a:prstGeom>
            <a:solidFill>
              <a:srgbClr val="0070C0"/>
            </a:solidFill>
            <a:ln w="12700">
              <a:noFill/>
              <a:prstDash val="solid"/>
              <a:rou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44" name="任意多边形: 形状 456"/>
            <p:cNvSpPr/>
            <p:nvPr/>
          </p:nvSpPr>
          <p:spPr bwMode="auto">
            <a:xfrm>
              <a:off x="16322" y="3061"/>
              <a:ext cx="1183" cy="1267"/>
            </a:xfrm>
            <a:custGeom>
              <a:avLst/>
              <a:gdLst>
                <a:gd name="T0" fmla="*/ 608 w 608"/>
                <a:gd name="T1" fmla="*/ 0 h 608"/>
                <a:gd name="T2" fmla="*/ 0 w 608"/>
                <a:gd name="T3" fmla="*/ 0 h 608"/>
                <a:gd name="T4" fmla="*/ 608 w 608"/>
                <a:gd name="T5" fmla="*/ 608 h 608"/>
                <a:gd name="T6" fmla="*/ 608 w 608"/>
                <a:gd name="T7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8" h="608">
                  <a:moveTo>
                    <a:pt x="608" y="0"/>
                  </a:moveTo>
                  <a:lnTo>
                    <a:pt x="0" y="0"/>
                  </a:lnTo>
                  <a:lnTo>
                    <a:pt x="608" y="608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0070C0"/>
            </a:solidFill>
            <a:ln w="12700">
              <a:noFill/>
              <a:prstDash val="solid"/>
              <a:round/>
            </a:ln>
            <a:effectLst/>
          </p:spPr>
          <p:txBody>
            <a:bodyPr lIns="121920" tIns="60960" rIns="121920" bIns="60960">
              <a:normAutofit/>
            </a:bodyPr>
            <a:lstStyle/>
            <a:p>
              <a:pPr algn="r">
                <a:defRPr/>
              </a:pPr>
              <a:r>
                <a:rPr lang="en-US" altLang="ko-KR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3</a:t>
              </a: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2246" y="5716"/>
              <a:ext cx="4162" cy="2470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20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世纪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50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年代中期以前，计算机主要用于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科学计算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硬件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方面没有磁盘等直接存取设备。</a:t>
              </a: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2246" y="4930"/>
              <a:ext cx="3452" cy="101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人工管理阶段</a:t>
              </a: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7698" y="5716"/>
              <a:ext cx="4162" cy="2470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从20世纪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50年代后期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到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60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年代，数据以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文件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为单位保存在外存储器上，由操作系统管理。</a:t>
              </a: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7698" y="4930"/>
              <a:ext cx="3452" cy="101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文件系统阶段</a:t>
              </a: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13154" y="5716"/>
              <a:ext cx="4162" cy="2470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20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世纪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60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年代后期开始，为了提高数据管理的效率，数据库技术应运而生，由此进入了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数据库系统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阶段。</a:t>
              </a: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3154" y="4930"/>
              <a:ext cx="3746" cy="101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ct val="150000"/>
                </a:lnSpc>
                <a:defRPr/>
              </a:pPr>
              <a:r>
                <a:rPr lang="zh-CN" altLang="en-US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/>
                </a:rPr>
                <a:t>数据库系统阶段</a:t>
              </a:r>
            </a:p>
          </p:txBody>
        </p:sp>
        <p:sp>
          <p:nvSpPr>
            <p:cNvPr id="51" name="任意多边形: 形状 43"/>
            <p:cNvSpPr/>
            <p:nvPr/>
          </p:nvSpPr>
          <p:spPr bwMode="auto">
            <a:xfrm>
              <a:off x="8969" y="3608"/>
              <a:ext cx="674" cy="722"/>
            </a:xfrm>
            <a:custGeom>
              <a:avLst/>
              <a:gdLst>
                <a:gd name="T0" fmla="*/ 218845 w 21551"/>
                <a:gd name="T1" fmla="*/ 218844 h 21600"/>
                <a:gd name="T2" fmla="*/ 218845 w 21551"/>
                <a:gd name="T3" fmla="*/ 218844 h 21600"/>
                <a:gd name="T4" fmla="*/ 218845 w 21551"/>
                <a:gd name="T5" fmla="*/ 218844 h 21600"/>
                <a:gd name="T6" fmla="*/ 218845 w 21551"/>
                <a:gd name="T7" fmla="*/ 218844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51" h="21600" extrusionOk="0">
                  <a:moveTo>
                    <a:pt x="19313" y="4353"/>
                  </a:moveTo>
                  <a:lnTo>
                    <a:pt x="16178" y="7496"/>
                  </a:lnTo>
                  <a:cubicBezTo>
                    <a:pt x="16034" y="7640"/>
                    <a:pt x="15980" y="7851"/>
                    <a:pt x="16036" y="8047"/>
                  </a:cubicBezTo>
                  <a:lnTo>
                    <a:pt x="18732" y="17470"/>
                  </a:lnTo>
                  <a:cubicBezTo>
                    <a:pt x="18788" y="17666"/>
                    <a:pt x="18734" y="17878"/>
                    <a:pt x="18590" y="18022"/>
                  </a:cubicBezTo>
                  <a:lnTo>
                    <a:pt x="17170" y="19445"/>
                  </a:lnTo>
                  <a:cubicBezTo>
                    <a:pt x="17059" y="19556"/>
                    <a:pt x="16916" y="19609"/>
                    <a:pt x="16775" y="19609"/>
                  </a:cubicBezTo>
                  <a:cubicBezTo>
                    <a:pt x="16581" y="19609"/>
                    <a:pt x="16390" y="19510"/>
                    <a:pt x="16285" y="19322"/>
                  </a:cubicBezTo>
                  <a:lnTo>
                    <a:pt x="12375" y="12317"/>
                  </a:lnTo>
                  <a:cubicBezTo>
                    <a:pt x="12271" y="12129"/>
                    <a:pt x="12079" y="12029"/>
                    <a:pt x="11886" y="12029"/>
                  </a:cubicBezTo>
                  <a:cubicBezTo>
                    <a:pt x="11744" y="12029"/>
                    <a:pt x="11602" y="12083"/>
                    <a:pt x="11491" y="12194"/>
                  </a:cubicBezTo>
                  <a:lnTo>
                    <a:pt x="8519" y="15172"/>
                  </a:lnTo>
                  <a:cubicBezTo>
                    <a:pt x="8388" y="15304"/>
                    <a:pt x="8330" y="15492"/>
                    <a:pt x="8365" y="15674"/>
                  </a:cubicBezTo>
                  <a:lnTo>
                    <a:pt x="8996" y="18989"/>
                  </a:lnTo>
                  <a:cubicBezTo>
                    <a:pt x="9031" y="19171"/>
                    <a:pt x="8973" y="19359"/>
                    <a:pt x="8842" y="19491"/>
                  </a:cubicBezTo>
                  <a:lnTo>
                    <a:pt x="8441" y="19893"/>
                  </a:lnTo>
                  <a:cubicBezTo>
                    <a:pt x="8330" y="20004"/>
                    <a:pt x="8187" y="20058"/>
                    <a:pt x="8046" y="20058"/>
                  </a:cubicBezTo>
                  <a:cubicBezTo>
                    <a:pt x="7852" y="20058"/>
                    <a:pt x="7661" y="19958"/>
                    <a:pt x="7556" y="19770"/>
                  </a:cubicBezTo>
                  <a:lnTo>
                    <a:pt x="5577" y="16226"/>
                  </a:lnTo>
                  <a:cubicBezTo>
                    <a:pt x="5526" y="16136"/>
                    <a:pt x="5452" y="16061"/>
                    <a:pt x="5362" y="16010"/>
                  </a:cubicBezTo>
                  <a:lnTo>
                    <a:pt x="1826" y="14027"/>
                  </a:lnTo>
                  <a:cubicBezTo>
                    <a:pt x="1502" y="13845"/>
                    <a:pt x="1441" y="13403"/>
                    <a:pt x="1703" y="13141"/>
                  </a:cubicBezTo>
                  <a:lnTo>
                    <a:pt x="2105" y="12738"/>
                  </a:lnTo>
                  <a:cubicBezTo>
                    <a:pt x="2211" y="12632"/>
                    <a:pt x="2354" y="12574"/>
                    <a:pt x="2501" y="12574"/>
                  </a:cubicBezTo>
                  <a:cubicBezTo>
                    <a:pt x="2536" y="12574"/>
                    <a:pt x="2571" y="12577"/>
                    <a:pt x="2606" y="12584"/>
                  </a:cubicBezTo>
                  <a:lnTo>
                    <a:pt x="5913" y="13216"/>
                  </a:lnTo>
                  <a:cubicBezTo>
                    <a:pt x="5948" y="13223"/>
                    <a:pt x="5983" y="13226"/>
                    <a:pt x="6018" y="13226"/>
                  </a:cubicBezTo>
                  <a:cubicBezTo>
                    <a:pt x="6165" y="13226"/>
                    <a:pt x="6308" y="13168"/>
                    <a:pt x="6414" y="13062"/>
                  </a:cubicBezTo>
                  <a:lnTo>
                    <a:pt x="9385" y="10083"/>
                  </a:lnTo>
                  <a:cubicBezTo>
                    <a:pt x="9648" y="9820"/>
                    <a:pt x="9587" y="9379"/>
                    <a:pt x="9263" y="9197"/>
                  </a:cubicBezTo>
                  <a:lnTo>
                    <a:pt x="2273" y="5278"/>
                  </a:lnTo>
                  <a:cubicBezTo>
                    <a:pt x="1949" y="5097"/>
                    <a:pt x="1888" y="4655"/>
                    <a:pt x="2150" y="4392"/>
                  </a:cubicBezTo>
                  <a:lnTo>
                    <a:pt x="3571" y="2968"/>
                  </a:lnTo>
                  <a:cubicBezTo>
                    <a:pt x="3677" y="2862"/>
                    <a:pt x="3820" y="2804"/>
                    <a:pt x="3966" y="2804"/>
                  </a:cubicBezTo>
                  <a:cubicBezTo>
                    <a:pt x="4018" y="2804"/>
                    <a:pt x="4070" y="2811"/>
                    <a:pt x="4121" y="2826"/>
                  </a:cubicBezTo>
                  <a:lnTo>
                    <a:pt x="13523" y="5528"/>
                  </a:lnTo>
                  <a:cubicBezTo>
                    <a:pt x="13574" y="5543"/>
                    <a:pt x="13625" y="5550"/>
                    <a:pt x="13677" y="5550"/>
                  </a:cubicBezTo>
                  <a:cubicBezTo>
                    <a:pt x="13823" y="5550"/>
                    <a:pt x="13966" y="5493"/>
                    <a:pt x="14073" y="5386"/>
                  </a:cubicBezTo>
                  <a:lnTo>
                    <a:pt x="17208" y="2243"/>
                  </a:lnTo>
                  <a:cubicBezTo>
                    <a:pt x="17593" y="1857"/>
                    <a:pt x="18321" y="1542"/>
                    <a:pt x="18937" y="1542"/>
                  </a:cubicBezTo>
                  <a:cubicBezTo>
                    <a:pt x="19252" y="1542"/>
                    <a:pt x="19538" y="1624"/>
                    <a:pt x="19734" y="1821"/>
                  </a:cubicBezTo>
                  <a:cubicBezTo>
                    <a:pt x="20316" y="2404"/>
                    <a:pt x="19895" y="3770"/>
                    <a:pt x="19313" y="4353"/>
                  </a:cubicBezTo>
                  <a:cubicBezTo>
                    <a:pt x="19313" y="4353"/>
                    <a:pt x="19313" y="4353"/>
                    <a:pt x="19313" y="4353"/>
                  </a:cubicBezTo>
                  <a:close/>
                  <a:moveTo>
                    <a:pt x="20822" y="731"/>
                  </a:moveTo>
                  <a:cubicBezTo>
                    <a:pt x="20557" y="465"/>
                    <a:pt x="20235" y="268"/>
                    <a:pt x="19866" y="145"/>
                  </a:cubicBezTo>
                  <a:cubicBezTo>
                    <a:pt x="19578" y="49"/>
                    <a:pt x="19266" y="0"/>
                    <a:pt x="18937" y="0"/>
                  </a:cubicBezTo>
                  <a:cubicBezTo>
                    <a:pt x="18441" y="0"/>
                    <a:pt x="17909" y="111"/>
                    <a:pt x="17399" y="322"/>
                  </a:cubicBezTo>
                  <a:cubicBezTo>
                    <a:pt x="16897" y="530"/>
                    <a:pt x="16455" y="817"/>
                    <a:pt x="16120" y="1153"/>
                  </a:cubicBezTo>
                  <a:lnTo>
                    <a:pt x="13392" y="3887"/>
                  </a:lnTo>
                  <a:lnTo>
                    <a:pt x="4545" y="1343"/>
                  </a:lnTo>
                  <a:cubicBezTo>
                    <a:pt x="4357" y="1289"/>
                    <a:pt x="4162" y="1262"/>
                    <a:pt x="3966" y="1262"/>
                  </a:cubicBezTo>
                  <a:cubicBezTo>
                    <a:pt x="3691" y="1262"/>
                    <a:pt x="3423" y="1315"/>
                    <a:pt x="3169" y="1420"/>
                  </a:cubicBezTo>
                  <a:cubicBezTo>
                    <a:pt x="2911" y="1526"/>
                    <a:pt x="2680" y="1680"/>
                    <a:pt x="2482" y="1878"/>
                  </a:cubicBezTo>
                  <a:lnTo>
                    <a:pt x="1062" y="3301"/>
                  </a:lnTo>
                  <a:cubicBezTo>
                    <a:pt x="828" y="3536"/>
                    <a:pt x="650" y="3827"/>
                    <a:pt x="549" y="4142"/>
                  </a:cubicBezTo>
                  <a:cubicBezTo>
                    <a:pt x="452" y="4442"/>
                    <a:pt x="424" y="4765"/>
                    <a:pt x="467" y="5077"/>
                  </a:cubicBezTo>
                  <a:cubicBezTo>
                    <a:pt x="511" y="5389"/>
                    <a:pt x="625" y="5693"/>
                    <a:pt x="799" y="5955"/>
                  </a:cubicBezTo>
                  <a:cubicBezTo>
                    <a:pt x="982" y="6230"/>
                    <a:pt x="1232" y="6462"/>
                    <a:pt x="1522" y="6624"/>
                  </a:cubicBezTo>
                  <a:lnTo>
                    <a:pt x="7382" y="9910"/>
                  </a:lnTo>
                  <a:lnTo>
                    <a:pt x="5692" y="11604"/>
                  </a:lnTo>
                  <a:lnTo>
                    <a:pt x="2894" y="11069"/>
                  </a:lnTo>
                  <a:cubicBezTo>
                    <a:pt x="2765" y="11044"/>
                    <a:pt x="2632" y="11031"/>
                    <a:pt x="2501" y="11031"/>
                  </a:cubicBezTo>
                  <a:cubicBezTo>
                    <a:pt x="2225" y="11031"/>
                    <a:pt x="1956" y="11085"/>
                    <a:pt x="1701" y="11190"/>
                  </a:cubicBezTo>
                  <a:cubicBezTo>
                    <a:pt x="1444" y="11296"/>
                    <a:pt x="1213" y="11450"/>
                    <a:pt x="1017" y="11647"/>
                  </a:cubicBezTo>
                  <a:lnTo>
                    <a:pt x="615" y="12050"/>
                  </a:lnTo>
                  <a:cubicBezTo>
                    <a:pt x="380" y="12285"/>
                    <a:pt x="203" y="12576"/>
                    <a:pt x="101" y="12891"/>
                  </a:cubicBezTo>
                  <a:cubicBezTo>
                    <a:pt x="5" y="13191"/>
                    <a:pt x="-23" y="13513"/>
                    <a:pt x="20" y="13826"/>
                  </a:cubicBezTo>
                  <a:cubicBezTo>
                    <a:pt x="63" y="14138"/>
                    <a:pt x="178" y="14441"/>
                    <a:pt x="352" y="14703"/>
                  </a:cubicBezTo>
                  <a:cubicBezTo>
                    <a:pt x="535" y="14979"/>
                    <a:pt x="785" y="15210"/>
                    <a:pt x="1074" y="15373"/>
                  </a:cubicBezTo>
                  <a:lnTo>
                    <a:pt x="4369" y="17221"/>
                  </a:lnTo>
                  <a:lnTo>
                    <a:pt x="6213" y="20524"/>
                  </a:lnTo>
                  <a:cubicBezTo>
                    <a:pt x="6584" y="21188"/>
                    <a:pt x="7286" y="21600"/>
                    <a:pt x="8046" y="21600"/>
                  </a:cubicBezTo>
                  <a:cubicBezTo>
                    <a:pt x="8606" y="21600"/>
                    <a:pt x="9132" y="21381"/>
                    <a:pt x="9529" y="20984"/>
                  </a:cubicBezTo>
                  <a:lnTo>
                    <a:pt x="9930" y="20581"/>
                  </a:lnTo>
                  <a:cubicBezTo>
                    <a:pt x="10422" y="20088"/>
                    <a:pt x="10638" y="19385"/>
                    <a:pt x="10508" y="18700"/>
                  </a:cubicBezTo>
                  <a:lnTo>
                    <a:pt x="9974" y="15896"/>
                  </a:lnTo>
                  <a:lnTo>
                    <a:pt x="11664" y="14201"/>
                  </a:lnTo>
                  <a:lnTo>
                    <a:pt x="14942" y="20075"/>
                  </a:lnTo>
                  <a:cubicBezTo>
                    <a:pt x="15313" y="20739"/>
                    <a:pt x="16015" y="21152"/>
                    <a:pt x="16775" y="21152"/>
                  </a:cubicBezTo>
                  <a:cubicBezTo>
                    <a:pt x="17335" y="21152"/>
                    <a:pt x="17861" y="20933"/>
                    <a:pt x="18258" y="20536"/>
                  </a:cubicBezTo>
                  <a:lnTo>
                    <a:pt x="19678" y="19113"/>
                  </a:lnTo>
                  <a:cubicBezTo>
                    <a:pt x="20217" y="18572"/>
                    <a:pt x="20422" y="17780"/>
                    <a:pt x="20211" y="17045"/>
                  </a:cubicBezTo>
                  <a:lnTo>
                    <a:pt x="17674" y="8178"/>
                  </a:lnTo>
                  <a:lnTo>
                    <a:pt x="20402" y="5443"/>
                  </a:lnTo>
                  <a:cubicBezTo>
                    <a:pt x="20900" y="4943"/>
                    <a:pt x="21298" y="4185"/>
                    <a:pt x="21464" y="3413"/>
                  </a:cubicBezTo>
                  <a:cubicBezTo>
                    <a:pt x="21559" y="2971"/>
                    <a:pt x="21577" y="2546"/>
                    <a:pt x="21517" y="2149"/>
                  </a:cubicBezTo>
                  <a:cubicBezTo>
                    <a:pt x="21432" y="1592"/>
                    <a:pt x="21192" y="1102"/>
                    <a:pt x="20822" y="731"/>
                  </a:cubicBezTo>
                  <a:cubicBezTo>
                    <a:pt x="20822" y="731"/>
                    <a:pt x="20822" y="731"/>
                    <a:pt x="20822" y="73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41"/>
            <p:cNvSpPr/>
            <p:nvPr/>
          </p:nvSpPr>
          <p:spPr bwMode="auto">
            <a:xfrm>
              <a:off x="3439" y="3645"/>
              <a:ext cx="727" cy="632"/>
            </a:xfrm>
            <a:custGeom>
              <a:avLst/>
              <a:gdLst>
                <a:gd name="T0" fmla="*/ 235926 w 21600"/>
                <a:gd name="T1" fmla="*/ 191703 h 21600"/>
                <a:gd name="T2" fmla="*/ 235926 w 21600"/>
                <a:gd name="T3" fmla="*/ 191703 h 21600"/>
                <a:gd name="T4" fmla="*/ 235926 w 21600"/>
                <a:gd name="T5" fmla="*/ 191703 h 21600"/>
                <a:gd name="T6" fmla="*/ 235926 w 21600"/>
                <a:gd name="T7" fmla="*/ 191703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2024" y="0"/>
                  </a:moveTo>
                  <a:cubicBezTo>
                    <a:pt x="912" y="0"/>
                    <a:pt x="0" y="1122"/>
                    <a:pt x="0" y="2491"/>
                  </a:cubicBezTo>
                  <a:lnTo>
                    <a:pt x="0" y="11634"/>
                  </a:lnTo>
                  <a:cubicBezTo>
                    <a:pt x="0" y="13008"/>
                    <a:pt x="912" y="14134"/>
                    <a:pt x="2024" y="14134"/>
                  </a:cubicBezTo>
                  <a:lnTo>
                    <a:pt x="2024" y="16617"/>
                  </a:lnTo>
                  <a:cubicBezTo>
                    <a:pt x="2024" y="17994"/>
                    <a:pt x="2935" y="19109"/>
                    <a:pt x="4049" y="19109"/>
                  </a:cubicBezTo>
                  <a:lnTo>
                    <a:pt x="4822" y="19109"/>
                  </a:lnTo>
                  <a:cubicBezTo>
                    <a:pt x="5125" y="20540"/>
                    <a:pt x="6166" y="21600"/>
                    <a:pt x="7423" y="21600"/>
                  </a:cubicBezTo>
                  <a:cubicBezTo>
                    <a:pt x="8673" y="21600"/>
                    <a:pt x="9726" y="20540"/>
                    <a:pt x="10030" y="19109"/>
                  </a:cubicBezTo>
                  <a:lnTo>
                    <a:pt x="13594" y="19109"/>
                  </a:lnTo>
                  <a:cubicBezTo>
                    <a:pt x="13897" y="20540"/>
                    <a:pt x="14942" y="21600"/>
                    <a:pt x="16202" y="21600"/>
                  </a:cubicBezTo>
                  <a:cubicBezTo>
                    <a:pt x="17449" y="21600"/>
                    <a:pt x="18498" y="20540"/>
                    <a:pt x="18803" y="19109"/>
                  </a:cubicBezTo>
                  <a:lnTo>
                    <a:pt x="19576" y="19109"/>
                  </a:lnTo>
                  <a:cubicBezTo>
                    <a:pt x="20692" y="19109"/>
                    <a:pt x="21600" y="17994"/>
                    <a:pt x="21600" y="16617"/>
                  </a:cubicBezTo>
                  <a:lnTo>
                    <a:pt x="21600" y="11634"/>
                  </a:lnTo>
                  <a:cubicBezTo>
                    <a:pt x="21600" y="11142"/>
                    <a:pt x="21482" y="10663"/>
                    <a:pt x="21259" y="10248"/>
                  </a:cubicBezTo>
                  <a:lnTo>
                    <a:pt x="18554" y="5265"/>
                  </a:lnTo>
                  <a:cubicBezTo>
                    <a:pt x="18182" y="4566"/>
                    <a:pt x="17557" y="4160"/>
                    <a:pt x="16876" y="4160"/>
                  </a:cubicBezTo>
                  <a:lnTo>
                    <a:pt x="14177" y="4160"/>
                  </a:lnTo>
                  <a:lnTo>
                    <a:pt x="14177" y="2491"/>
                  </a:lnTo>
                  <a:cubicBezTo>
                    <a:pt x="14177" y="1122"/>
                    <a:pt x="13265" y="0"/>
                    <a:pt x="12146" y="0"/>
                  </a:cubicBezTo>
                  <a:lnTo>
                    <a:pt x="2024" y="0"/>
                  </a:lnTo>
                  <a:close/>
                  <a:moveTo>
                    <a:pt x="2024" y="1669"/>
                  </a:moveTo>
                  <a:lnTo>
                    <a:pt x="12146" y="1669"/>
                  </a:lnTo>
                  <a:cubicBezTo>
                    <a:pt x="12524" y="1669"/>
                    <a:pt x="12821" y="2034"/>
                    <a:pt x="12821" y="2491"/>
                  </a:cubicBezTo>
                  <a:lnTo>
                    <a:pt x="12821" y="11634"/>
                  </a:lnTo>
                  <a:cubicBezTo>
                    <a:pt x="12821" y="12090"/>
                    <a:pt x="12524" y="12465"/>
                    <a:pt x="12146" y="12465"/>
                  </a:cubicBezTo>
                  <a:cubicBezTo>
                    <a:pt x="12146" y="12465"/>
                    <a:pt x="2024" y="12465"/>
                    <a:pt x="2024" y="12465"/>
                  </a:cubicBezTo>
                  <a:cubicBezTo>
                    <a:pt x="1649" y="12465"/>
                    <a:pt x="1350" y="12090"/>
                    <a:pt x="1350" y="11634"/>
                  </a:cubicBezTo>
                  <a:lnTo>
                    <a:pt x="1350" y="2491"/>
                  </a:lnTo>
                  <a:cubicBezTo>
                    <a:pt x="1350" y="2034"/>
                    <a:pt x="1649" y="1669"/>
                    <a:pt x="2024" y="1669"/>
                  </a:cubicBezTo>
                  <a:close/>
                  <a:moveTo>
                    <a:pt x="14177" y="5821"/>
                  </a:moveTo>
                  <a:lnTo>
                    <a:pt x="16876" y="5821"/>
                  </a:lnTo>
                  <a:cubicBezTo>
                    <a:pt x="17102" y="5821"/>
                    <a:pt x="17311" y="5958"/>
                    <a:pt x="17440" y="6184"/>
                  </a:cubicBezTo>
                  <a:lnTo>
                    <a:pt x="20132" y="11175"/>
                  </a:lnTo>
                  <a:cubicBezTo>
                    <a:pt x="20206" y="11307"/>
                    <a:pt x="20250" y="11475"/>
                    <a:pt x="20250" y="11634"/>
                  </a:cubicBezTo>
                  <a:cubicBezTo>
                    <a:pt x="20250" y="11634"/>
                    <a:pt x="20250" y="16617"/>
                    <a:pt x="20250" y="16617"/>
                  </a:cubicBezTo>
                  <a:cubicBezTo>
                    <a:pt x="20250" y="17074"/>
                    <a:pt x="19946" y="17448"/>
                    <a:pt x="19576" y="17448"/>
                  </a:cubicBezTo>
                  <a:lnTo>
                    <a:pt x="18803" y="17448"/>
                  </a:lnTo>
                  <a:cubicBezTo>
                    <a:pt x="18498" y="16016"/>
                    <a:pt x="17455" y="14956"/>
                    <a:pt x="16202" y="14956"/>
                  </a:cubicBezTo>
                  <a:cubicBezTo>
                    <a:pt x="14942" y="14956"/>
                    <a:pt x="13897" y="16016"/>
                    <a:pt x="13594" y="17448"/>
                  </a:cubicBezTo>
                  <a:lnTo>
                    <a:pt x="10030" y="17448"/>
                  </a:lnTo>
                  <a:cubicBezTo>
                    <a:pt x="9729" y="16016"/>
                    <a:pt x="8678" y="14956"/>
                    <a:pt x="7423" y="14956"/>
                  </a:cubicBezTo>
                  <a:cubicBezTo>
                    <a:pt x="6166" y="14956"/>
                    <a:pt x="5125" y="16016"/>
                    <a:pt x="4822" y="17448"/>
                  </a:cubicBezTo>
                  <a:lnTo>
                    <a:pt x="4049" y="17448"/>
                  </a:lnTo>
                  <a:cubicBezTo>
                    <a:pt x="3676" y="17448"/>
                    <a:pt x="3374" y="17074"/>
                    <a:pt x="3374" y="16617"/>
                  </a:cubicBezTo>
                  <a:lnTo>
                    <a:pt x="3374" y="14134"/>
                  </a:lnTo>
                  <a:lnTo>
                    <a:pt x="12146" y="14134"/>
                  </a:lnTo>
                  <a:cubicBezTo>
                    <a:pt x="13265" y="14134"/>
                    <a:pt x="14177" y="13008"/>
                    <a:pt x="14177" y="11634"/>
                  </a:cubicBezTo>
                  <a:lnTo>
                    <a:pt x="14177" y="5821"/>
                  </a:lnTo>
                  <a:close/>
                  <a:moveTo>
                    <a:pt x="15553" y="6450"/>
                  </a:moveTo>
                  <a:cubicBezTo>
                    <a:pt x="15182" y="6450"/>
                    <a:pt x="14885" y="6824"/>
                    <a:pt x="14885" y="7281"/>
                  </a:cubicBezTo>
                  <a:lnTo>
                    <a:pt x="14885" y="12263"/>
                  </a:lnTo>
                  <a:cubicBezTo>
                    <a:pt x="14885" y="12721"/>
                    <a:pt x="15182" y="13102"/>
                    <a:pt x="15553" y="13102"/>
                  </a:cubicBezTo>
                  <a:lnTo>
                    <a:pt x="18259" y="13102"/>
                  </a:lnTo>
                  <a:cubicBezTo>
                    <a:pt x="18629" y="13102"/>
                    <a:pt x="18934" y="12721"/>
                    <a:pt x="18934" y="12263"/>
                  </a:cubicBezTo>
                  <a:lnTo>
                    <a:pt x="18934" y="11022"/>
                  </a:lnTo>
                  <a:cubicBezTo>
                    <a:pt x="18934" y="10857"/>
                    <a:pt x="18888" y="10694"/>
                    <a:pt x="18816" y="10554"/>
                  </a:cubicBezTo>
                  <a:cubicBezTo>
                    <a:pt x="18816" y="10554"/>
                    <a:pt x="16798" y="6829"/>
                    <a:pt x="16798" y="6829"/>
                  </a:cubicBezTo>
                  <a:cubicBezTo>
                    <a:pt x="16673" y="6592"/>
                    <a:pt x="16460" y="6450"/>
                    <a:pt x="16234" y="6450"/>
                  </a:cubicBezTo>
                  <a:lnTo>
                    <a:pt x="15553" y="6450"/>
                  </a:lnTo>
                  <a:close/>
                  <a:moveTo>
                    <a:pt x="15553" y="7281"/>
                  </a:moveTo>
                  <a:lnTo>
                    <a:pt x="16234" y="7281"/>
                  </a:lnTo>
                  <a:lnTo>
                    <a:pt x="18259" y="11022"/>
                  </a:lnTo>
                  <a:cubicBezTo>
                    <a:pt x="18259" y="11022"/>
                    <a:pt x="18259" y="12263"/>
                    <a:pt x="18259" y="12263"/>
                  </a:cubicBezTo>
                  <a:lnTo>
                    <a:pt x="15553" y="12263"/>
                  </a:lnTo>
                  <a:lnTo>
                    <a:pt x="15553" y="7281"/>
                  </a:lnTo>
                  <a:close/>
                  <a:moveTo>
                    <a:pt x="7423" y="16617"/>
                  </a:moveTo>
                  <a:cubicBezTo>
                    <a:pt x="8167" y="16617"/>
                    <a:pt x="8772" y="17365"/>
                    <a:pt x="8772" y="18278"/>
                  </a:cubicBezTo>
                  <a:cubicBezTo>
                    <a:pt x="8772" y="19191"/>
                    <a:pt x="8167" y="19939"/>
                    <a:pt x="7423" y="19939"/>
                  </a:cubicBezTo>
                  <a:cubicBezTo>
                    <a:pt x="6677" y="19939"/>
                    <a:pt x="6073" y="19191"/>
                    <a:pt x="6073" y="18278"/>
                  </a:cubicBezTo>
                  <a:cubicBezTo>
                    <a:pt x="6073" y="17365"/>
                    <a:pt x="6677" y="16617"/>
                    <a:pt x="7423" y="16617"/>
                  </a:cubicBezTo>
                  <a:close/>
                  <a:moveTo>
                    <a:pt x="16202" y="16617"/>
                  </a:moveTo>
                  <a:cubicBezTo>
                    <a:pt x="16943" y="16617"/>
                    <a:pt x="17551" y="17365"/>
                    <a:pt x="17551" y="18278"/>
                  </a:cubicBezTo>
                  <a:cubicBezTo>
                    <a:pt x="17551" y="19191"/>
                    <a:pt x="16943" y="19939"/>
                    <a:pt x="16202" y="19939"/>
                  </a:cubicBezTo>
                  <a:cubicBezTo>
                    <a:pt x="15454" y="19939"/>
                    <a:pt x="14852" y="19191"/>
                    <a:pt x="14852" y="18278"/>
                  </a:cubicBezTo>
                  <a:cubicBezTo>
                    <a:pt x="14852" y="17365"/>
                    <a:pt x="15454" y="16617"/>
                    <a:pt x="16202" y="16617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任意多边形: 形状 39"/>
            <p:cNvSpPr/>
            <p:nvPr/>
          </p:nvSpPr>
          <p:spPr bwMode="auto">
            <a:xfrm>
              <a:off x="14423" y="3554"/>
              <a:ext cx="629" cy="854"/>
            </a:xfrm>
            <a:custGeom>
              <a:avLst/>
              <a:gdLst>
                <a:gd name="T0" fmla="*/ 204156 w 21600"/>
                <a:gd name="T1" fmla="*/ 258980 h 21600"/>
                <a:gd name="T2" fmla="*/ 204156 w 21600"/>
                <a:gd name="T3" fmla="*/ 258980 h 21600"/>
                <a:gd name="T4" fmla="*/ 204156 w 21600"/>
                <a:gd name="T5" fmla="*/ 258980 h 21600"/>
                <a:gd name="T6" fmla="*/ 204156 w 21600"/>
                <a:gd name="T7" fmla="*/ 25898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18003" y="6729"/>
                  </a:moveTo>
                  <a:cubicBezTo>
                    <a:pt x="17891" y="6790"/>
                    <a:pt x="17842" y="6883"/>
                    <a:pt x="17842" y="6994"/>
                  </a:cubicBezTo>
                  <a:cubicBezTo>
                    <a:pt x="17842" y="7080"/>
                    <a:pt x="17901" y="7139"/>
                    <a:pt x="18015" y="7191"/>
                  </a:cubicBezTo>
                  <a:cubicBezTo>
                    <a:pt x="18122" y="7230"/>
                    <a:pt x="18344" y="7284"/>
                    <a:pt x="18697" y="7352"/>
                  </a:cubicBezTo>
                  <a:cubicBezTo>
                    <a:pt x="19207" y="7434"/>
                    <a:pt x="19552" y="7540"/>
                    <a:pt x="19715" y="7661"/>
                  </a:cubicBezTo>
                  <a:cubicBezTo>
                    <a:pt x="19899" y="7775"/>
                    <a:pt x="19976" y="7963"/>
                    <a:pt x="19976" y="8220"/>
                  </a:cubicBezTo>
                  <a:cubicBezTo>
                    <a:pt x="19976" y="8479"/>
                    <a:pt x="19851" y="8684"/>
                    <a:pt x="19591" y="8842"/>
                  </a:cubicBezTo>
                  <a:cubicBezTo>
                    <a:pt x="19332" y="8993"/>
                    <a:pt x="18985" y="9069"/>
                    <a:pt x="18546" y="9069"/>
                  </a:cubicBezTo>
                  <a:cubicBezTo>
                    <a:pt x="18091" y="9069"/>
                    <a:pt x="17748" y="8987"/>
                    <a:pt x="17505" y="8826"/>
                  </a:cubicBezTo>
                  <a:cubicBezTo>
                    <a:pt x="17256" y="8660"/>
                    <a:pt x="17122" y="8433"/>
                    <a:pt x="17105" y="8130"/>
                  </a:cubicBezTo>
                  <a:lnTo>
                    <a:pt x="17814" y="8130"/>
                  </a:lnTo>
                  <a:cubicBezTo>
                    <a:pt x="17814" y="8283"/>
                    <a:pt x="17879" y="8395"/>
                    <a:pt x="18015" y="8471"/>
                  </a:cubicBezTo>
                  <a:cubicBezTo>
                    <a:pt x="18132" y="8553"/>
                    <a:pt x="18312" y="8592"/>
                    <a:pt x="18546" y="8592"/>
                  </a:cubicBezTo>
                  <a:cubicBezTo>
                    <a:pt x="18773" y="8592"/>
                    <a:pt x="18957" y="8562"/>
                    <a:pt x="19091" y="8501"/>
                  </a:cubicBezTo>
                  <a:cubicBezTo>
                    <a:pt x="19217" y="8442"/>
                    <a:pt x="19283" y="8356"/>
                    <a:pt x="19283" y="8253"/>
                  </a:cubicBezTo>
                  <a:cubicBezTo>
                    <a:pt x="19283" y="8152"/>
                    <a:pt x="19234" y="8078"/>
                    <a:pt x="19148" y="8024"/>
                  </a:cubicBezTo>
                  <a:cubicBezTo>
                    <a:pt x="19054" y="7973"/>
                    <a:pt x="18860" y="7926"/>
                    <a:pt x="18555" y="7874"/>
                  </a:cubicBezTo>
                  <a:cubicBezTo>
                    <a:pt x="18003" y="7775"/>
                    <a:pt x="17623" y="7669"/>
                    <a:pt x="17440" y="7554"/>
                  </a:cubicBezTo>
                  <a:cubicBezTo>
                    <a:pt x="17256" y="7442"/>
                    <a:pt x="17161" y="7268"/>
                    <a:pt x="17161" y="7024"/>
                  </a:cubicBezTo>
                  <a:cubicBezTo>
                    <a:pt x="17161" y="6759"/>
                    <a:pt x="17278" y="6550"/>
                    <a:pt x="17527" y="6388"/>
                  </a:cubicBezTo>
                  <a:cubicBezTo>
                    <a:pt x="17776" y="6230"/>
                    <a:pt x="18103" y="6154"/>
                    <a:pt x="18524" y="6154"/>
                  </a:cubicBezTo>
                  <a:cubicBezTo>
                    <a:pt x="18919" y="6154"/>
                    <a:pt x="19234" y="6230"/>
                    <a:pt x="19487" y="6397"/>
                  </a:cubicBezTo>
                  <a:cubicBezTo>
                    <a:pt x="19737" y="6563"/>
                    <a:pt x="19868" y="6785"/>
                    <a:pt x="19899" y="7063"/>
                  </a:cubicBezTo>
                  <a:lnTo>
                    <a:pt x="19179" y="7063"/>
                  </a:lnTo>
                  <a:cubicBezTo>
                    <a:pt x="19169" y="6926"/>
                    <a:pt x="19091" y="6820"/>
                    <a:pt x="18967" y="6747"/>
                  </a:cubicBezTo>
                  <a:cubicBezTo>
                    <a:pt x="18832" y="6670"/>
                    <a:pt x="18648" y="6631"/>
                    <a:pt x="18437" y="6631"/>
                  </a:cubicBezTo>
                  <a:cubicBezTo>
                    <a:pt x="18257" y="6631"/>
                    <a:pt x="18103" y="6661"/>
                    <a:pt x="18003" y="6729"/>
                  </a:cubicBezTo>
                  <a:cubicBezTo>
                    <a:pt x="18003" y="6729"/>
                    <a:pt x="18003" y="6729"/>
                    <a:pt x="18003" y="6729"/>
                  </a:cubicBezTo>
                  <a:close/>
                  <a:moveTo>
                    <a:pt x="15761" y="7344"/>
                  </a:moveTo>
                  <a:cubicBezTo>
                    <a:pt x="15665" y="7405"/>
                    <a:pt x="15528" y="7434"/>
                    <a:pt x="15338" y="7434"/>
                  </a:cubicBezTo>
                  <a:lnTo>
                    <a:pt x="14490" y="7434"/>
                  </a:lnTo>
                  <a:lnTo>
                    <a:pt x="14490" y="6707"/>
                  </a:lnTo>
                  <a:lnTo>
                    <a:pt x="15366" y="6707"/>
                  </a:lnTo>
                  <a:cubicBezTo>
                    <a:pt x="15549" y="6707"/>
                    <a:pt x="15675" y="6738"/>
                    <a:pt x="15768" y="6798"/>
                  </a:cubicBezTo>
                  <a:cubicBezTo>
                    <a:pt x="15865" y="6857"/>
                    <a:pt x="15902" y="6950"/>
                    <a:pt x="15902" y="7070"/>
                  </a:cubicBezTo>
                  <a:cubicBezTo>
                    <a:pt x="15902" y="7191"/>
                    <a:pt x="15855" y="7284"/>
                    <a:pt x="15761" y="7344"/>
                  </a:cubicBezTo>
                  <a:cubicBezTo>
                    <a:pt x="15761" y="7344"/>
                    <a:pt x="15761" y="7344"/>
                    <a:pt x="15761" y="7344"/>
                  </a:cubicBezTo>
                  <a:close/>
                  <a:moveTo>
                    <a:pt x="16633" y="6994"/>
                  </a:moveTo>
                  <a:cubicBezTo>
                    <a:pt x="16633" y="6769"/>
                    <a:pt x="16526" y="6579"/>
                    <a:pt x="16326" y="6435"/>
                  </a:cubicBezTo>
                  <a:cubicBezTo>
                    <a:pt x="16124" y="6299"/>
                    <a:pt x="15855" y="6230"/>
                    <a:pt x="15518" y="6230"/>
                  </a:cubicBezTo>
                  <a:lnTo>
                    <a:pt x="13751" y="6230"/>
                  </a:lnTo>
                  <a:lnTo>
                    <a:pt x="13751" y="8993"/>
                  </a:lnTo>
                  <a:lnTo>
                    <a:pt x="14490" y="8993"/>
                  </a:lnTo>
                  <a:lnTo>
                    <a:pt x="14490" y="7904"/>
                  </a:lnTo>
                  <a:lnTo>
                    <a:pt x="15210" y="7904"/>
                  </a:lnTo>
                  <a:cubicBezTo>
                    <a:pt x="15432" y="7904"/>
                    <a:pt x="15577" y="7926"/>
                    <a:pt x="15665" y="7980"/>
                  </a:cubicBezTo>
                  <a:cubicBezTo>
                    <a:pt x="15761" y="8032"/>
                    <a:pt x="15800" y="8122"/>
                    <a:pt x="15800" y="8245"/>
                  </a:cubicBezTo>
                  <a:lnTo>
                    <a:pt x="15806" y="8494"/>
                  </a:lnTo>
                  <a:cubicBezTo>
                    <a:pt x="15806" y="8609"/>
                    <a:pt x="15815" y="8706"/>
                    <a:pt x="15837" y="8805"/>
                  </a:cubicBezTo>
                  <a:cubicBezTo>
                    <a:pt x="15855" y="8895"/>
                    <a:pt x="15865" y="8963"/>
                    <a:pt x="15886" y="8987"/>
                  </a:cubicBezTo>
                  <a:lnTo>
                    <a:pt x="16692" y="8987"/>
                  </a:lnTo>
                  <a:lnTo>
                    <a:pt x="16692" y="8919"/>
                  </a:lnTo>
                  <a:cubicBezTo>
                    <a:pt x="16633" y="8895"/>
                    <a:pt x="16585" y="8864"/>
                    <a:pt x="16575" y="8826"/>
                  </a:cubicBezTo>
                  <a:cubicBezTo>
                    <a:pt x="16547" y="8788"/>
                    <a:pt x="16538" y="8720"/>
                    <a:pt x="16526" y="8638"/>
                  </a:cubicBezTo>
                  <a:lnTo>
                    <a:pt x="16519" y="8184"/>
                  </a:lnTo>
                  <a:cubicBezTo>
                    <a:pt x="16508" y="7963"/>
                    <a:pt x="16401" y="7805"/>
                    <a:pt x="16202" y="7707"/>
                  </a:cubicBezTo>
                  <a:cubicBezTo>
                    <a:pt x="16174" y="7691"/>
                    <a:pt x="16135" y="7685"/>
                    <a:pt x="16086" y="7661"/>
                  </a:cubicBezTo>
                  <a:cubicBezTo>
                    <a:pt x="16163" y="7639"/>
                    <a:pt x="16230" y="7609"/>
                    <a:pt x="16298" y="7579"/>
                  </a:cubicBezTo>
                  <a:cubicBezTo>
                    <a:pt x="16519" y="7456"/>
                    <a:pt x="16633" y="7260"/>
                    <a:pt x="16633" y="6994"/>
                  </a:cubicBezTo>
                  <a:cubicBezTo>
                    <a:pt x="16633" y="6994"/>
                    <a:pt x="16633" y="6994"/>
                    <a:pt x="16633" y="6994"/>
                  </a:cubicBezTo>
                  <a:close/>
                  <a:moveTo>
                    <a:pt x="12311" y="8993"/>
                  </a:moveTo>
                  <a:lnTo>
                    <a:pt x="12311" y="7737"/>
                  </a:lnTo>
                  <a:lnTo>
                    <a:pt x="10936" y="7737"/>
                  </a:lnTo>
                  <a:lnTo>
                    <a:pt x="10936" y="8993"/>
                  </a:lnTo>
                  <a:lnTo>
                    <a:pt x="10200" y="8993"/>
                  </a:lnTo>
                  <a:lnTo>
                    <a:pt x="10200" y="6230"/>
                  </a:lnTo>
                  <a:lnTo>
                    <a:pt x="10936" y="6230"/>
                  </a:lnTo>
                  <a:lnTo>
                    <a:pt x="10936" y="7268"/>
                  </a:lnTo>
                  <a:lnTo>
                    <a:pt x="12311" y="7268"/>
                  </a:lnTo>
                  <a:lnTo>
                    <a:pt x="12311" y="6230"/>
                  </a:lnTo>
                  <a:lnTo>
                    <a:pt x="13033" y="6230"/>
                  </a:lnTo>
                  <a:lnTo>
                    <a:pt x="13033" y="8993"/>
                  </a:lnTo>
                  <a:cubicBezTo>
                    <a:pt x="13033" y="8993"/>
                    <a:pt x="12311" y="8993"/>
                    <a:pt x="12311" y="8993"/>
                  </a:cubicBezTo>
                  <a:close/>
                  <a:moveTo>
                    <a:pt x="16086" y="3348"/>
                  </a:moveTo>
                  <a:lnTo>
                    <a:pt x="16135" y="3271"/>
                  </a:lnTo>
                  <a:lnTo>
                    <a:pt x="17787" y="1111"/>
                  </a:lnTo>
                  <a:lnTo>
                    <a:pt x="17787" y="3348"/>
                  </a:lnTo>
                  <a:cubicBezTo>
                    <a:pt x="17787" y="3348"/>
                    <a:pt x="16086" y="3348"/>
                    <a:pt x="16086" y="3348"/>
                  </a:cubicBezTo>
                  <a:close/>
                  <a:moveTo>
                    <a:pt x="17787" y="5367"/>
                  </a:moveTo>
                  <a:lnTo>
                    <a:pt x="19104" y="5367"/>
                  </a:lnTo>
                  <a:lnTo>
                    <a:pt x="19104" y="4180"/>
                  </a:lnTo>
                  <a:lnTo>
                    <a:pt x="19868" y="4180"/>
                  </a:lnTo>
                  <a:lnTo>
                    <a:pt x="19868" y="3348"/>
                  </a:lnTo>
                  <a:lnTo>
                    <a:pt x="19104" y="3348"/>
                  </a:lnTo>
                  <a:lnTo>
                    <a:pt x="19104" y="0"/>
                  </a:lnTo>
                  <a:lnTo>
                    <a:pt x="17613" y="0"/>
                  </a:lnTo>
                  <a:lnTo>
                    <a:pt x="15106" y="3271"/>
                  </a:lnTo>
                  <a:lnTo>
                    <a:pt x="15106" y="4180"/>
                  </a:lnTo>
                  <a:lnTo>
                    <a:pt x="17787" y="4180"/>
                  </a:lnTo>
                  <a:cubicBezTo>
                    <a:pt x="17787" y="4180"/>
                    <a:pt x="17787" y="5367"/>
                    <a:pt x="17787" y="5367"/>
                  </a:cubicBezTo>
                  <a:close/>
                  <a:moveTo>
                    <a:pt x="14415" y="5367"/>
                  </a:moveTo>
                  <a:lnTo>
                    <a:pt x="9776" y="5367"/>
                  </a:lnTo>
                  <a:lnTo>
                    <a:pt x="9776" y="5360"/>
                  </a:lnTo>
                  <a:cubicBezTo>
                    <a:pt x="9776" y="4876"/>
                    <a:pt x="9929" y="4451"/>
                    <a:pt x="10247" y="4095"/>
                  </a:cubicBezTo>
                  <a:cubicBezTo>
                    <a:pt x="10563" y="3746"/>
                    <a:pt x="11159" y="3340"/>
                    <a:pt x="12024" y="2853"/>
                  </a:cubicBezTo>
                  <a:cubicBezTo>
                    <a:pt x="12410" y="2643"/>
                    <a:pt x="12676" y="2443"/>
                    <a:pt x="12841" y="2271"/>
                  </a:cubicBezTo>
                  <a:cubicBezTo>
                    <a:pt x="13003" y="2089"/>
                    <a:pt x="13081" y="1892"/>
                    <a:pt x="13081" y="1674"/>
                  </a:cubicBezTo>
                  <a:cubicBezTo>
                    <a:pt x="13081" y="1440"/>
                    <a:pt x="12995" y="1243"/>
                    <a:pt x="12820" y="1106"/>
                  </a:cubicBezTo>
                  <a:cubicBezTo>
                    <a:pt x="12648" y="954"/>
                    <a:pt x="12416" y="885"/>
                    <a:pt x="12121" y="885"/>
                  </a:cubicBezTo>
                  <a:cubicBezTo>
                    <a:pt x="11824" y="885"/>
                    <a:pt x="11581" y="976"/>
                    <a:pt x="11419" y="1158"/>
                  </a:cubicBezTo>
                  <a:cubicBezTo>
                    <a:pt x="11235" y="1342"/>
                    <a:pt x="11159" y="1590"/>
                    <a:pt x="11169" y="1892"/>
                  </a:cubicBezTo>
                  <a:lnTo>
                    <a:pt x="9863" y="1892"/>
                  </a:lnTo>
                  <a:cubicBezTo>
                    <a:pt x="9842" y="1317"/>
                    <a:pt x="10038" y="855"/>
                    <a:pt x="10449" y="514"/>
                  </a:cubicBezTo>
                  <a:cubicBezTo>
                    <a:pt x="10851" y="175"/>
                    <a:pt x="11419" y="0"/>
                    <a:pt x="12139" y="0"/>
                  </a:cubicBezTo>
                  <a:cubicBezTo>
                    <a:pt x="12801" y="0"/>
                    <a:pt x="13348" y="159"/>
                    <a:pt x="13779" y="470"/>
                  </a:cubicBezTo>
                  <a:cubicBezTo>
                    <a:pt x="14194" y="786"/>
                    <a:pt x="14415" y="1188"/>
                    <a:pt x="14415" y="1679"/>
                  </a:cubicBezTo>
                  <a:cubicBezTo>
                    <a:pt x="14415" y="2089"/>
                    <a:pt x="14290" y="2430"/>
                    <a:pt x="14051" y="2695"/>
                  </a:cubicBezTo>
                  <a:cubicBezTo>
                    <a:pt x="13810" y="2960"/>
                    <a:pt x="13358" y="3263"/>
                    <a:pt x="12697" y="3595"/>
                  </a:cubicBezTo>
                  <a:cubicBezTo>
                    <a:pt x="12080" y="3907"/>
                    <a:pt x="11668" y="4180"/>
                    <a:pt x="11438" y="4429"/>
                  </a:cubicBezTo>
                  <a:lnTo>
                    <a:pt x="11438" y="4437"/>
                  </a:lnTo>
                  <a:lnTo>
                    <a:pt x="14415" y="4437"/>
                  </a:lnTo>
                  <a:cubicBezTo>
                    <a:pt x="14415" y="4437"/>
                    <a:pt x="14415" y="5367"/>
                    <a:pt x="14415" y="5367"/>
                  </a:cubicBezTo>
                  <a:close/>
                  <a:moveTo>
                    <a:pt x="11045" y="20298"/>
                  </a:moveTo>
                  <a:cubicBezTo>
                    <a:pt x="11045" y="21008"/>
                    <a:pt x="10314" y="21600"/>
                    <a:pt x="9403" y="21600"/>
                  </a:cubicBezTo>
                  <a:cubicBezTo>
                    <a:pt x="8489" y="21600"/>
                    <a:pt x="7750" y="21008"/>
                    <a:pt x="7750" y="20298"/>
                  </a:cubicBezTo>
                  <a:cubicBezTo>
                    <a:pt x="7750" y="19577"/>
                    <a:pt x="8489" y="18995"/>
                    <a:pt x="9403" y="18995"/>
                  </a:cubicBezTo>
                  <a:cubicBezTo>
                    <a:pt x="10314" y="18995"/>
                    <a:pt x="11045" y="19577"/>
                    <a:pt x="11045" y="20298"/>
                  </a:cubicBezTo>
                  <a:cubicBezTo>
                    <a:pt x="11045" y="20298"/>
                    <a:pt x="11045" y="20298"/>
                    <a:pt x="11045" y="20298"/>
                  </a:cubicBezTo>
                  <a:close/>
                  <a:moveTo>
                    <a:pt x="5175" y="20298"/>
                  </a:moveTo>
                  <a:cubicBezTo>
                    <a:pt x="5175" y="21008"/>
                    <a:pt x="4448" y="21600"/>
                    <a:pt x="3541" y="21600"/>
                  </a:cubicBezTo>
                  <a:cubicBezTo>
                    <a:pt x="2625" y="21600"/>
                    <a:pt x="1882" y="21008"/>
                    <a:pt x="1882" y="20298"/>
                  </a:cubicBezTo>
                  <a:cubicBezTo>
                    <a:pt x="1882" y="19577"/>
                    <a:pt x="2625" y="18995"/>
                    <a:pt x="3541" y="18995"/>
                  </a:cubicBezTo>
                  <a:cubicBezTo>
                    <a:pt x="4448" y="18995"/>
                    <a:pt x="5175" y="19577"/>
                    <a:pt x="5175" y="20298"/>
                  </a:cubicBezTo>
                  <a:cubicBezTo>
                    <a:pt x="5175" y="20298"/>
                    <a:pt x="5175" y="20298"/>
                    <a:pt x="5175" y="20298"/>
                  </a:cubicBezTo>
                  <a:close/>
                  <a:moveTo>
                    <a:pt x="21600" y="12006"/>
                  </a:moveTo>
                  <a:cubicBezTo>
                    <a:pt x="21600" y="12259"/>
                    <a:pt x="21339" y="12460"/>
                    <a:pt x="21021" y="12460"/>
                  </a:cubicBezTo>
                  <a:lnTo>
                    <a:pt x="16990" y="12460"/>
                  </a:lnTo>
                  <a:lnTo>
                    <a:pt x="13714" y="18359"/>
                  </a:lnTo>
                  <a:cubicBezTo>
                    <a:pt x="13627" y="18526"/>
                    <a:pt x="13417" y="18624"/>
                    <a:pt x="13184" y="18624"/>
                  </a:cubicBezTo>
                  <a:lnTo>
                    <a:pt x="847" y="18624"/>
                  </a:lnTo>
                  <a:cubicBezTo>
                    <a:pt x="523" y="18624"/>
                    <a:pt x="264" y="18428"/>
                    <a:pt x="264" y="18177"/>
                  </a:cubicBezTo>
                  <a:cubicBezTo>
                    <a:pt x="264" y="17928"/>
                    <a:pt x="523" y="17723"/>
                    <a:pt x="847" y="17723"/>
                  </a:cubicBezTo>
                  <a:lnTo>
                    <a:pt x="12810" y="17723"/>
                  </a:lnTo>
                  <a:lnTo>
                    <a:pt x="16086" y="11824"/>
                  </a:lnTo>
                  <a:cubicBezTo>
                    <a:pt x="16174" y="11657"/>
                    <a:pt x="16384" y="11554"/>
                    <a:pt x="16613" y="11554"/>
                  </a:cubicBezTo>
                  <a:lnTo>
                    <a:pt x="21021" y="11554"/>
                  </a:lnTo>
                  <a:cubicBezTo>
                    <a:pt x="21339" y="11554"/>
                    <a:pt x="21600" y="11758"/>
                    <a:pt x="21600" y="12006"/>
                  </a:cubicBezTo>
                  <a:cubicBezTo>
                    <a:pt x="21600" y="12006"/>
                    <a:pt x="21600" y="12006"/>
                    <a:pt x="21600" y="12006"/>
                  </a:cubicBezTo>
                  <a:close/>
                  <a:moveTo>
                    <a:pt x="3650" y="4466"/>
                  </a:moveTo>
                  <a:cubicBezTo>
                    <a:pt x="5034" y="4466"/>
                    <a:pt x="6147" y="5345"/>
                    <a:pt x="6147" y="6435"/>
                  </a:cubicBezTo>
                  <a:lnTo>
                    <a:pt x="6147" y="9675"/>
                  </a:lnTo>
                  <a:lnTo>
                    <a:pt x="1158" y="9675"/>
                  </a:lnTo>
                  <a:lnTo>
                    <a:pt x="1158" y="6435"/>
                  </a:lnTo>
                  <a:cubicBezTo>
                    <a:pt x="1158" y="5345"/>
                    <a:pt x="2273" y="4466"/>
                    <a:pt x="3650" y="4466"/>
                  </a:cubicBezTo>
                  <a:cubicBezTo>
                    <a:pt x="3650" y="4466"/>
                    <a:pt x="3650" y="4466"/>
                    <a:pt x="3650" y="4466"/>
                  </a:cubicBezTo>
                  <a:close/>
                  <a:moveTo>
                    <a:pt x="10936" y="11113"/>
                  </a:moveTo>
                  <a:lnTo>
                    <a:pt x="5982" y="15080"/>
                  </a:lnTo>
                  <a:cubicBezTo>
                    <a:pt x="4963" y="13984"/>
                    <a:pt x="5059" y="12430"/>
                    <a:pt x="6310" y="11431"/>
                  </a:cubicBezTo>
                  <a:cubicBezTo>
                    <a:pt x="6992" y="10888"/>
                    <a:pt x="7903" y="10585"/>
                    <a:pt x="8872" y="10585"/>
                  </a:cubicBezTo>
                  <a:cubicBezTo>
                    <a:pt x="9620" y="10590"/>
                    <a:pt x="10341" y="10772"/>
                    <a:pt x="10936" y="11113"/>
                  </a:cubicBezTo>
                  <a:cubicBezTo>
                    <a:pt x="10936" y="11113"/>
                    <a:pt x="10936" y="11113"/>
                    <a:pt x="10936" y="11113"/>
                  </a:cubicBezTo>
                  <a:close/>
                  <a:moveTo>
                    <a:pt x="11438" y="15405"/>
                  </a:moveTo>
                  <a:cubicBezTo>
                    <a:pt x="10228" y="16366"/>
                    <a:pt x="8201" y="16481"/>
                    <a:pt x="6809" y="15716"/>
                  </a:cubicBezTo>
                  <a:lnTo>
                    <a:pt x="11765" y="11750"/>
                  </a:lnTo>
                  <a:cubicBezTo>
                    <a:pt x="12784" y="12856"/>
                    <a:pt x="12685" y="14398"/>
                    <a:pt x="11438" y="15405"/>
                  </a:cubicBezTo>
                  <a:cubicBezTo>
                    <a:pt x="11438" y="15405"/>
                    <a:pt x="11438" y="15405"/>
                    <a:pt x="11438" y="15405"/>
                  </a:cubicBezTo>
                  <a:close/>
                  <a:moveTo>
                    <a:pt x="1158" y="14082"/>
                  </a:moveTo>
                  <a:lnTo>
                    <a:pt x="1158" y="10585"/>
                  </a:lnTo>
                  <a:lnTo>
                    <a:pt x="5811" y="10585"/>
                  </a:lnTo>
                  <a:cubicBezTo>
                    <a:pt x="5704" y="10652"/>
                    <a:pt x="5590" y="10720"/>
                    <a:pt x="5493" y="10794"/>
                  </a:cubicBezTo>
                  <a:cubicBezTo>
                    <a:pt x="3821" y="12135"/>
                    <a:pt x="3713" y="14218"/>
                    <a:pt x="5109" y="15670"/>
                  </a:cubicBezTo>
                  <a:cubicBezTo>
                    <a:pt x="4686" y="15913"/>
                    <a:pt x="4187" y="16050"/>
                    <a:pt x="3650" y="16050"/>
                  </a:cubicBezTo>
                  <a:cubicBezTo>
                    <a:pt x="2273" y="16050"/>
                    <a:pt x="1158" y="15170"/>
                    <a:pt x="1158" y="14082"/>
                  </a:cubicBezTo>
                  <a:cubicBezTo>
                    <a:pt x="1158" y="14082"/>
                    <a:pt x="1158" y="14082"/>
                    <a:pt x="1158" y="14082"/>
                  </a:cubicBezTo>
                  <a:close/>
                  <a:moveTo>
                    <a:pt x="3650" y="16958"/>
                  </a:moveTo>
                  <a:cubicBezTo>
                    <a:pt x="4485" y="16958"/>
                    <a:pt x="5271" y="16732"/>
                    <a:pt x="5916" y="16323"/>
                  </a:cubicBezTo>
                  <a:cubicBezTo>
                    <a:pt x="6761" y="16852"/>
                    <a:pt x="7778" y="17155"/>
                    <a:pt x="8872" y="17155"/>
                  </a:cubicBezTo>
                  <a:cubicBezTo>
                    <a:pt x="10151" y="17155"/>
                    <a:pt x="11360" y="16761"/>
                    <a:pt x="12252" y="16041"/>
                  </a:cubicBezTo>
                  <a:cubicBezTo>
                    <a:pt x="14088" y="14573"/>
                    <a:pt x="14067" y="12195"/>
                    <a:pt x="12204" y="10750"/>
                  </a:cubicBezTo>
                  <a:cubicBezTo>
                    <a:pt x="11304" y="10059"/>
                    <a:pt x="10123" y="9675"/>
                    <a:pt x="8872" y="9675"/>
                  </a:cubicBezTo>
                  <a:cubicBezTo>
                    <a:pt x="8326" y="9675"/>
                    <a:pt x="7799" y="9764"/>
                    <a:pt x="7297" y="9902"/>
                  </a:cubicBezTo>
                  <a:lnTo>
                    <a:pt x="7297" y="6435"/>
                  </a:lnTo>
                  <a:cubicBezTo>
                    <a:pt x="7297" y="4846"/>
                    <a:pt x="5667" y="3557"/>
                    <a:pt x="3650" y="3557"/>
                  </a:cubicBezTo>
                  <a:cubicBezTo>
                    <a:pt x="1639" y="3557"/>
                    <a:pt x="0" y="4846"/>
                    <a:pt x="0" y="6435"/>
                  </a:cubicBezTo>
                  <a:lnTo>
                    <a:pt x="0" y="14082"/>
                  </a:lnTo>
                  <a:cubicBezTo>
                    <a:pt x="0" y="15670"/>
                    <a:pt x="1639" y="16958"/>
                    <a:pt x="3650" y="16958"/>
                  </a:cubicBezTo>
                  <a:cubicBezTo>
                    <a:pt x="3650" y="16958"/>
                    <a:pt x="3650" y="16958"/>
                    <a:pt x="3650" y="16958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Title 1"/>
          <p:cNvSpPr txBox="1"/>
          <p:nvPr/>
        </p:nvSpPr>
        <p:spPr>
          <a:xfrm>
            <a:off x="1143635" y="267970"/>
            <a:ext cx="3583940" cy="50609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GB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1.1数据库管理技术的发展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15684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GB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数据库技术</a:t>
            </a:r>
            <a:r>
              <a:rPr lang="en-GB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</a:t>
            </a:r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术语</a:t>
            </a:r>
          </a:p>
          <a:p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836" y="3813"/>
              <a:ext cx="10175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学习数据库技术之前，我们先来认识与数据库技术密切相关的基本术语，分别是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（Database，DB）、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数据库管理系统(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Database Management System，DBMS)和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数据库系统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(Database System，DBS)，具体介绍如下。</a:t>
              </a:r>
            </a:p>
          </p:txBody>
        </p:sp>
      </p:grpSp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GB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GB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数据库技术的基本术语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838622" y="1415579"/>
            <a:ext cx="10441160" cy="3444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是一个存在于计算机存储设备上的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数据（Data）集合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，该集合中的数据按照一定的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数据模型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进行组织、描述和存储。可以把数据库看作是按照一定的格式存储数据的仓库，也可看作是电子化的文件柜，用户可以对文件中的数据进行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增加、删除、修改、查找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等操作。</a:t>
            </a:r>
          </a:p>
          <a:p>
            <a:pPr algn="just">
              <a:lnSpc>
                <a:spcPct val="150000"/>
              </a:lnSpc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数据库管理系统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是一种介于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用户和操作系统之间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的数据库管理软件，它可以对数据库的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建立、维护、运行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进行管理，还可以对数据库中的数据进行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定义、组织、存取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数据库系统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是指由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数据库及其管理软件组成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的系统，它是为适应数据处理的需要而发展起来的一种较为理想的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数据处理系统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GB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GB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数据库技术的基本术语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2510" y="1110615"/>
            <a:ext cx="551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通过一张图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描述数据库系统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，具体如下图所示。</a:t>
            </a:r>
          </a:p>
        </p:txBody>
      </p:sp>
      <p:graphicFrame>
        <p:nvGraphicFramePr>
          <p:cNvPr id="3" name="对象 -2147482624"/>
          <p:cNvGraphicFramePr>
            <a:graphicFrameLocks noChangeAspect="1"/>
          </p:cNvGraphicFramePr>
          <p:nvPr/>
        </p:nvGraphicFramePr>
        <p:xfrm>
          <a:off x="1558290" y="1989455"/>
          <a:ext cx="3597275" cy="395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r:id="rId3" imgW="3597275" imgH="4240530" progId="Visio.Drawing.11">
                  <p:embed/>
                </p:oleObj>
              </mc:Choice>
              <mc:Fallback>
                <p:oleObj r:id="rId3" imgW="3597275" imgH="424053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8290" y="1989455"/>
                        <a:ext cx="3597275" cy="3956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流程图: 过程 4"/>
          <p:cNvSpPr/>
          <p:nvPr/>
        </p:nvSpPr>
        <p:spPr>
          <a:xfrm>
            <a:off x="5829300" y="2637155"/>
            <a:ext cx="4678045" cy="31083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4730" y="3037840"/>
            <a:ext cx="42906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图片描述了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数据库系统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的组成部分，其中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是使用数据库的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，用户通过数据库应用程序与DBMS进行通信，进而管理 DBMS中的数据。在数据管理过程中，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DBMS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提供了对数据的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存取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维护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等功能，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提供了对数据的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功能。</a:t>
            </a:r>
          </a:p>
        </p:txBody>
      </p:sp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GB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</a:t>
            </a:r>
            <a:r>
              <a:rPr lang="en-US" altLang="zh-CN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GB" sz="24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数据库技术的基本术语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数据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模型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495" y="3813"/>
              <a:ext cx="10918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(Data Model)是数据库系统的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，它是对现实世界数据特征的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抽象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，为数据库系统的信息表示与操作提供一个抽象的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框架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。想要更好地理解数据模型，首先应该掌握一些数据模型的理论知识，下面对数据模型的理论知识进行详细讲解。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初识数据模型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初识数据模型</a:t>
            </a: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982132" y="1989619"/>
            <a:ext cx="10441160" cy="2705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数据模型所描述的内容包括3个部分，分别是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数据结构、数据操作、数据约束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。这3个部分的具体介绍如下所示。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：数据结构用于描述数据库系统的静态特征，主要研究数据本身的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类型、内容、性质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之间的联系等。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数据操作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：数据操作用于描述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数据库系统的动态行为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，是对数据库中对象实例允许执行的操作集合，数据操作主要包含检索和更新（插入、删除和修改）两类 。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数据约束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：数据约束是指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数据与数据之间所具有的制约和存储规则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，这些规则用以限定符合数据模型的数据库状态及其状态的改变，以保证数据的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相容性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82345" y="909320"/>
            <a:ext cx="3035300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数据模型组成要素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43691" y="1197546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915" y="4267"/>
              <a:ext cx="10337" cy="20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数据结构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主要分为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层次模型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(Hierarchical Model)、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网状模型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(Network Model)、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(Relational Model)和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面向对象模型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(Object Oriented Model)。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初识数据模型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3FA506-9088-4BA6-8C40-20262B15B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843" y="3490078"/>
            <a:ext cx="6887295" cy="28828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GB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</a:t>
            </a:r>
            <a:r>
              <a:rPr lang="en-US" altLang="en-GB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GB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初识数据模型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062425" y="1793875"/>
            <a:ext cx="8895099" cy="4754245"/>
            <a:chOff x="2491" y="3007"/>
            <a:chExt cx="14382" cy="5694"/>
          </a:xfrm>
        </p:grpSpPr>
        <p:sp>
          <p:nvSpPr>
            <p:cNvPr id="2" name="Shape 2012"/>
            <p:cNvSpPr/>
            <p:nvPr/>
          </p:nvSpPr>
          <p:spPr>
            <a:xfrm>
              <a:off x="11109" y="3007"/>
              <a:ext cx="5608" cy="2656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48" tIns="19048" rIns="19048" bIns="19048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" name="Shape 2013"/>
            <p:cNvSpPr/>
            <p:nvPr/>
          </p:nvSpPr>
          <p:spPr>
            <a:xfrm>
              <a:off x="11109" y="6046"/>
              <a:ext cx="5764" cy="2653"/>
            </a:xfrm>
            <a:prstGeom prst="roundRect">
              <a:avLst>
                <a:gd name="adj" fmla="val 6925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48" tIns="19048" rIns="19048" bIns="19048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Shape 2014"/>
            <p:cNvSpPr/>
            <p:nvPr/>
          </p:nvSpPr>
          <p:spPr>
            <a:xfrm>
              <a:off x="2491" y="6045"/>
              <a:ext cx="5608" cy="2656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48" tIns="19048" rIns="19048" bIns="19048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Shape 2015"/>
            <p:cNvSpPr/>
            <p:nvPr/>
          </p:nvSpPr>
          <p:spPr>
            <a:xfrm>
              <a:off x="2491" y="3007"/>
              <a:ext cx="5608" cy="2656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48" tIns="19048" rIns="19048" bIns="19048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Shape 2016"/>
            <p:cNvSpPr/>
            <p:nvPr/>
          </p:nvSpPr>
          <p:spPr>
            <a:xfrm>
              <a:off x="7667" y="4396"/>
              <a:ext cx="3984" cy="3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>
              <a:miter lim="400000"/>
            </a:ln>
          </p:spPr>
          <p:txBody>
            <a:bodyPr lIns="25396" tIns="25396" rIns="25396" bIns="25396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Shape 2021"/>
            <p:cNvSpPr/>
            <p:nvPr/>
          </p:nvSpPr>
          <p:spPr>
            <a:xfrm>
              <a:off x="2996" y="3783"/>
              <a:ext cx="4324" cy="18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树形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结构来表示数据之间的联系，它的数据结构类似一棵置的树，有且仅有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一个根节点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其余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的节点都是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非根节点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。</a:t>
              </a:r>
            </a:p>
          </p:txBody>
        </p:sp>
        <p:sp>
          <p:nvSpPr>
            <p:cNvPr id="8" name="Shape 2022"/>
            <p:cNvSpPr/>
            <p:nvPr/>
          </p:nvSpPr>
          <p:spPr>
            <a:xfrm>
              <a:off x="3200" y="3126"/>
              <a:ext cx="2943" cy="6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/>
            <a:lstStyle>
              <a:lvl1pPr algn="l">
                <a:lnSpc>
                  <a:spcPct val="120000"/>
                </a:lnSpc>
                <a:defRPr sz="3500">
                  <a:solidFill>
                    <a:srgbClr val="53585F"/>
                  </a:solidFill>
                </a:defRPr>
              </a:lvl1pPr>
            </a:lstStyle>
            <a:p>
              <a:r>
                <a:rPr lang="zh-CN" altLang="en-US" sz="1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层次模型</a:t>
              </a:r>
            </a:p>
          </p:txBody>
        </p:sp>
        <p:sp>
          <p:nvSpPr>
            <p:cNvPr id="9" name="Shape 2023"/>
            <p:cNvSpPr/>
            <p:nvPr/>
          </p:nvSpPr>
          <p:spPr>
            <a:xfrm>
              <a:off x="2949" y="6802"/>
              <a:ext cx="4418" cy="177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网状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结构来表示数据之间的关系，网状模型的数据结构允许有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一个以上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的节点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无双亲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和至少有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一个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节点可以有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多于一个的双亲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。</a:t>
              </a:r>
            </a:p>
          </p:txBody>
        </p:sp>
        <p:sp>
          <p:nvSpPr>
            <p:cNvPr id="10" name="Shape 2024"/>
            <p:cNvSpPr/>
            <p:nvPr/>
          </p:nvSpPr>
          <p:spPr>
            <a:xfrm>
              <a:off x="3177" y="6141"/>
              <a:ext cx="2943" cy="6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/>
            <a:lstStyle>
              <a:lvl1pPr algn="l">
                <a:lnSpc>
                  <a:spcPct val="120000"/>
                </a:lnSpc>
                <a:defRPr sz="3500">
                  <a:solidFill>
                    <a:srgbClr val="53585F"/>
                  </a:solidFill>
                </a:defRPr>
              </a:lvl1pPr>
            </a:lstStyle>
            <a:p>
              <a:r>
                <a:rPr lang="zh-CN" altLang="en-US" sz="1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网状模型</a:t>
              </a:r>
            </a:p>
          </p:txBody>
        </p:sp>
        <p:sp>
          <p:nvSpPr>
            <p:cNvPr id="11" name="Shape 2025"/>
            <p:cNvSpPr/>
            <p:nvPr/>
          </p:nvSpPr>
          <p:spPr>
            <a:xfrm>
              <a:off x="11960" y="3783"/>
              <a:ext cx="4440" cy="1759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数据表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的形式组织数据，实体之间的关系通过数据表的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公共属性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表示，结构简单明了，有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逻辑计算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数学计算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等坚实的数学理论做基础。</a:t>
              </a:r>
            </a:p>
          </p:txBody>
        </p:sp>
        <p:sp>
          <p:nvSpPr>
            <p:cNvPr id="12" name="Shape 2026"/>
            <p:cNvSpPr/>
            <p:nvPr/>
          </p:nvSpPr>
          <p:spPr>
            <a:xfrm>
              <a:off x="13054" y="3189"/>
              <a:ext cx="2943" cy="6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/>
            <a:lstStyle>
              <a:lvl1pPr algn="r">
                <a:defRPr sz="3500">
                  <a:solidFill>
                    <a:srgbClr val="53585F"/>
                  </a:solidFill>
                </a:defRPr>
              </a:lvl1pPr>
            </a:lstStyle>
            <a:p>
              <a:r>
                <a:rPr lang="zh-CN" altLang="en-US" sz="1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关系模型</a:t>
              </a:r>
            </a:p>
          </p:txBody>
        </p:sp>
        <p:sp>
          <p:nvSpPr>
            <p:cNvPr id="13" name="Shape 2027"/>
            <p:cNvSpPr/>
            <p:nvPr/>
          </p:nvSpPr>
          <p:spPr>
            <a:xfrm>
              <a:off x="11494" y="6629"/>
              <a:ext cx="5048" cy="204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面向对象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的思维方式与方法来描述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客观实体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，它继承了关系数据库系统已有的优势，并且支持面向对象建模，支持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对象存取与持久化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，支持代码级面向对象数据操作。</a:t>
              </a:r>
            </a:p>
          </p:txBody>
        </p:sp>
        <p:sp>
          <p:nvSpPr>
            <p:cNvPr id="14" name="Shape 2028"/>
            <p:cNvSpPr/>
            <p:nvPr/>
          </p:nvSpPr>
          <p:spPr>
            <a:xfrm>
              <a:off x="13337" y="6140"/>
              <a:ext cx="2943" cy="6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/>
            <a:lstStyle>
              <a:lvl1pPr algn="r">
                <a:defRPr sz="3500">
                  <a:solidFill>
                    <a:srgbClr val="53585F"/>
                  </a:solidFill>
                </a:defRPr>
              </a:lvl1pPr>
            </a:lstStyle>
            <a:p>
              <a:r>
                <a:rPr lang="zh-CN" altLang="en-US" sz="1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面向对象模型</a:t>
              </a:r>
            </a:p>
          </p:txBody>
        </p:sp>
        <p:sp>
          <p:nvSpPr>
            <p:cNvPr id="26" name="Text Placeholder 5"/>
            <p:cNvSpPr txBox="1"/>
            <p:nvPr/>
          </p:nvSpPr>
          <p:spPr>
            <a:xfrm>
              <a:off x="8520" y="5507"/>
              <a:ext cx="2418" cy="998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750" kern="1200">
                  <a:solidFill>
                    <a:schemeClr val="tx1"/>
                  </a:solidFill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" panose="020B0606030504020204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" panose="020B0606030504020204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 panose="020B0606030504020204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 panose="020B0606030504020204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数据模型</a:t>
              </a:r>
              <a:endParaRPr lang="en-GB" altLang="zh-CN" sz="26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82345" y="909320"/>
            <a:ext cx="414718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常见的数据模型分类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982345" y="837565"/>
            <a:ext cx="1050798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使用计算机管理现实世界的</a:t>
            </a:r>
            <a:r>
              <a:rPr lang="zh-CN" altLang="en-US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，需要将客观存在的对象转换为计算机存储的数据。整个转换过程经历了</a:t>
            </a:r>
            <a:r>
              <a:rPr lang="zh-CN" altLang="en-US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现实世界、信息世界和机器世界3个层次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，相邻层次之间的转换都依赖不同的数据模型。下面通过一张图描述</a:t>
            </a:r>
            <a:r>
              <a:rPr lang="zh-CN" altLang="en-US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客观对象转换为计算机存储数据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的过程。</a:t>
            </a: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GB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</a:t>
            </a:r>
            <a:r>
              <a:rPr lang="en-US" altLang="en-GB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GB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初识数据模型</a:t>
            </a:r>
          </a:p>
        </p:txBody>
      </p:sp>
      <p:pic>
        <p:nvPicPr>
          <p:cNvPr id="2" name="图片 3" descr="未命名文件 (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525" y="2277745"/>
            <a:ext cx="7638415" cy="39503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350" y="4250"/>
              <a:ext cx="8993" cy="2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概念数据模型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是对信息世界的建模，它能够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全面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准确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的描述信息世界，概念数据模型有很多常用术语，具体如下所示。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横卷形 3"/>
          <p:cNvSpPr/>
          <p:nvPr/>
        </p:nvSpPr>
        <p:spPr>
          <a:xfrm>
            <a:off x="910617" y="1269404"/>
            <a:ext cx="10728000" cy="4536101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endParaRPr lang="zh-CN" altLang="it-IT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（1）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实体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(Entity) ：实体是指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客观存在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并可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相互区分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的事物。</a:t>
            </a:r>
            <a:endParaRPr lang="zh-CN" altLang="it-IT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（2）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属性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(Attribute) ：属性是指实体所具有的某一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特性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，一个实体可以由若干个属性来描述。</a:t>
            </a:r>
            <a:endParaRPr lang="zh-CN" altLang="it-IT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（3）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联系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(Relationship) ：这里所说的联系是指实体与实体之间的联系，有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一对一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、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一对多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、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多对多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三种情况。</a:t>
            </a:r>
            <a:endParaRPr lang="zh-CN" altLang="it-IT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（4）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实体型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(Entity Type) ：实体型即实体类型，通过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实体名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(如学生)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及其属性名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集合(如“学号、学生姓名、学生性别”)来抽象描述同类实体。</a:t>
            </a:r>
            <a:endParaRPr lang="zh-CN" altLang="it-IT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 algn="l">
              <a:lnSpc>
                <a:spcPct val="150000"/>
              </a:lnSpc>
              <a:buClrTx/>
              <a:buSzTx/>
              <a:buFontTx/>
            </a:pP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（5）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实体集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(Entity Set) ：实体集是指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同一类型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的实体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集合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，如全校学生就是一个实体集。</a:t>
            </a:r>
            <a:endParaRPr lang="zh-CN" altLang="it-IT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indent="539750">
              <a:lnSpc>
                <a:spcPct val="150000"/>
              </a:lnSpc>
            </a:pPr>
            <a:endParaRPr lang="zh-CN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GB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</a:t>
            </a:r>
            <a:r>
              <a:rPr lang="en-US" altLang="en-GB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GB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初识数据模型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982345" y="909320"/>
            <a:ext cx="3709035" cy="676275"/>
            <a:chOff x="1547" y="1432"/>
            <a:chExt cx="4780" cy="1065"/>
          </a:xfrm>
        </p:grpSpPr>
        <p:sp>
          <p:nvSpPr>
            <p:cNvPr id="58" name="五边形 57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概念数据模型常用术语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20470" y="1643380"/>
            <a:ext cx="9895205" cy="3420110"/>
            <a:chOff x="1809" y="2527"/>
            <a:chExt cx="15583" cy="5386"/>
          </a:xfrm>
        </p:grpSpPr>
        <p:sp>
          <p:nvSpPr>
            <p:cNvPr id="27" name="圆角矩形 26"/>
            <p:cNvSpPr/>
            <p:nvPr/>
          </p:nvSpPr>
          <p:spPr>
            <a:xfrm>
              <a:off x="1888" y="2621"/>
              <a:ext cx="15424" cy="5211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513" y="3132"/>
              <a:ext cx="14175" cy="45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1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E-R图也称为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实体-联系图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(Entity Relationship Diagram) ，是一种用图形表示的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实体联系模型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，由Peter Chen于1976年提出。E-R图提供了表示实体、属性和联系的方法，用来描述现实世界的概念模型。E-R图通用的表示方式如下。</a:t>
              </a:r>
              <a:endPara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lvl="1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实体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：用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矩形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表示，将实体名写在矩形框内。</a:t>
              </a:r>
              <a:endPara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lvl="1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属性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：用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椭圆框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表示，将属性名写在椭圆框内。实体与属性之间用实线连接。</a:t>
              </a:r>
              <a:endPara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lvl="1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联系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：用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菱形框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表示，将联系名写在菱形框内，用连线将相关的实体连接，并在连线旁标注联系的类型，联系的类型分为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一对一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（1∶1）、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一对多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（1∶n）、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多对多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（m∶n）。</a:t>
              </a:r>
              <a:endPara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algn="just">
                <a:lnSpc>
                  <a:spcPct val="120000"/>
                </a:lnSpc>
              </a:pP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0" name="矩形 93"/>
            <p:cNvSpPr/>
            <p:nvPr/>
          </p:nvSpPr>
          <p:spPr>
            <a:xfrm>
              <a:off x="1809" y="2527"/>
              <a:ext cx="605" cy="605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1" name="矩形 93"/>
            <p:cNvSpPr/>
            <p:nvPr/>
          </p:nvSpPr>
          <p:spPr>
            <a:xfrm rot="10800000">
              <a:off x="16787" y="7308"/>
              <a:ext cx="605" cy="605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E-R图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89" y="3813"/>
              <a:ext cx="8993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由IBM公司研究员Edgar Frank Codd于1970年发表的论文中提出，经过多年的发展，关系模型已经成为目前广泛使用的数据模型之一。下面对关系模型的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基本概念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和关系模型的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完整性约束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进行讲解，具体如下。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关系模型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双波形 3"/>
          <p:cNvSpPr/>
          <p:nvPr/>
        </p:nvSpPr>
        <p:spPr>
          <a:xfrm>
            <a:off x="1198245" y="2061210"/>
            <a:ext cx="10159365" cy="4288790"/>
          </a:xfrm>
          <a:prstGeom prst="doubleWave">
            <a:avLst/>
          </a:prstGeom>
          <a:noFill/>
          <a:ln>
            <a:solidFill>
              <a:srgbClr val="1369B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702435" y="2637155"/>
            <a:ext cx="9354820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(Relation) ，关系一词与数学领域有关，它是基于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的一个重要概念，用于反映元素之间的联系和性质。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属性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(Attribute) 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二维表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列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称为属性，每个属性都有一个属性名。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元组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(Tuple) 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二维表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中的每一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数据称为一个元组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(Domain) ，域是指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属性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的取值范围。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关系模式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(Relation Schema) ，关系模式是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的描述， 通常可以简记为关系名(属性1，属性2，…，属性n)。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键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(Key)，在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二维表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中，若要唯一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标识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某一条记录，需要用到键(又称为关键字、码)。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284220" cy="676275"/>
            <a:chOff x="1547" y="1432"/>
            <a:chExt cx="4780" cy="1065"/>
          </a:xfrm>
        </p:grpSpPr>
        <p:sp>
          <p:nvSpPr>
            <p:cNvPr id="5" name="五边形 4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关系模型的基本概念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关系模型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385" y="3927"/>
              <a:ext cx="8993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为了保证数据库中数据的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正确性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相容性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，需要对关系模型进行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完整性约束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，所约束的完整性通常包括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域完整性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实体完整性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参照完整性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用户自定义完整性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，具体介绍如下。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关系模型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关系模型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143635" y="2173605"/>
            <a:ext cx="10053320" cy="3759200"/>
            <a:chOff x="1804" y="3139"/>
            <a:chExt cx="15592" cy="5574"/>
          </a:xfrm>
        </p:grpSpPr>
        <p:sp>
          <p:nvSpPr>
            <p:cNvPr id="2" name="MH_SubTitle_1"/>
            <p:cNvSpPr txBox="1"/>
            <p:nvPr>
              <p:custDataLst>
                <p:tags r:id="rId2"/>
              </p:custDataLst>
            </p:nvPr>
          </p:nvSpPr>
          <p:spPr>
            <a:xfrm>
              <a:off x="3562" y="4161"/>
              <a:ext cx="3233" cy="648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8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域完整性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" name="MH_Text_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804" y="4930"/>
              <a:ext cx="5002" cy="1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508000" rtl="0" eaLnBrk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域完整性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是保证数据库字段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取值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的合理性。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cxnSp>
          <p:nvCxnSpPr>
            <p:cNvPr id="4" name="MH_Other_1"/>
            <p:cNvCxnSpPr>
              <a:cxnSpLocks noChangeShapeType="1"/>
            </p:cNvCxnSpPr>
            <p:nvPr>
              <p:custDataLst>
                <p:tags r:id="rId4"/>
              </p:custDataLst>
            </p:nvPr>
          </p:nvCxnSpPr>
          <p:spPr bwMode="auto">
            <a:xfrm rot="10800000">
              <a:off x="4385" y="7261"/>
              <a:ext cx="3942" cy="468"/>
            </a:xfrm>
            <a:prstGeom prst="bentConnector3">
              <a:avLst>
                <a:gd name="adj1" fmla="val 33894"/>
              </a:avLst>
            </a:prstGeom>
            <a:noFill/>
            <a:ln w="3175" algn="ctr">
              <a:solidFill>
                <a:srgbClr val="014076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" name="MH_Other_2"/>
            <p:cNvSpPr>
              <a:spLocks noEditPoints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417" y="3139"/>
              <a:ext cx="2108" cy="2585"/>
            </a:xfrm>
            <a:custGeom>
              <a:avLst/>
              <a:gdLst>
                <a:gd name="T0" fmla="*/ 10391 w 21600"/>
                <a:gd name="T1" fmla="*/ 15806 h 21600"/>
                <a:gd name="T2" fmla="*/ 20551 w 21600"/>
                <a:gd name="T3" fmla="*/ 21088 h 21600"/>
                <a:gd name="T4" fmla="*/ 13180 w 21600"/>
                <a:gd name="T5" fmla="*/ 13801 h 21600"/>
                <a:gd name="T6" fmla="*/ 20551 w 21600"/>
                <a:gd name="T7" fmla="*/ 7025 h 21600"/>
                <a:gd name="T8" fmla="*/ 10500 w 21600"/>
                <a:gd name="T9" fmla="*/ 52 h 21600"/>
                <a:gd name="T10" fmla="*/ 692 w 21600"/>
                <a:gd name="T11" fmla="*/ 6802 h 21600"/>
                <a:gd name="T12" fmla="*/ 8064 w 21600"/>
                <a:gd name="T13" fmla="*/ 13526 h 21600"/>
                <a:gd name="T14" fmla="*/ 692 w 21600"/>
                <a:gd name="T15" fmla="*/ 21088 h 21600"/>
                <a:gd name="T16" fmla="*/ 2273 w 21600"/>
                <a:gd name="T17" fmla="*/ 7719 h 21600"/>
                <a:gd name="T18" fmla="*/ 19149 w 21600"/>
                <a:gd name="T19" fmla="*/ 202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6" name="MH_Other_3"/>
            <p:cNvSpPr>
              <a:spLocks noEditPoints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805" y="5021"/>
              <a:ext cx="3362" cy="2355"/>
            </a:xfrm>
            <a:custGeom>
              <a:avLst/>
              <a:gdLst>
                <a:gd name="T0" fmla="*/ 11 w 21600"/>
                <a:gd name="T1" fmla="*/ 13386 h 21600"/>
                <a:gd name="T2" fmla="*/ 4202 w 21600"/>
                <a:gd name="T3" fmla="*/ 21161 h 21600"/>
                <a:gd name="T4" fmla="*/ 10400 w 21600"/>
                <a:gd name="T5" fmla="*/ 13909 h 21600"/>
                <a:gd name="T6" fmla="*/ 16821 w 21600"/>
                <a:gd name="T7" fmla="*/ 21190 h 21600"/>
                <a:gd name="T8" fmla="*/ 21600 w 21600"/>
                <a:gd name="T9" fmla="*/ 15083 h 21600"/>
                <a:gd name="T10" fmla="*/ 16889 w 21600"/>
                <a:gd name="T11" fmla="*/ 5739 h 21600"/>
                <a:gd name="T12" fmla="*/ 10800 w 21600"/>
                <a:gd name="T13" fmla="*/ 28 h 21600"/>
                <a:gd name="T14" fmla="*/ 4202 w 21600"/>
                <a:gd name="T15" fmla="*/ 5894 h 21600"/>
                <a:gd name="T16" fmla="*/ 5388 w 21600"/>
                <a:gd name="T17" fmla="*/ 6742 h 21600"/>
                <a:gd name="T18" fmla="*/ 16177 w 21600"/>
                <a:gd name="T19" fmla="*/ 20441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7" name="MH_Other_4"/>
            <p:cNvSpPr>
              <a:spLocks noEditPoints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502" y="4994"/>
              <a:ext cx="2028" cy="3007"/>
            </a:xfrm>
            <a:custGeom>
              <a:avLst/>
              <a:gdLst>
                <a:gd name="T0" fmla="*/ 8307 w 21600"/>
                <a:gd name="T1" fmla="*/ 11593 h 21600"/>
                <a:gd name="T2" fmla="*/ 453 w 21600"/>
                <a:gd name="T3" fmla="*/ 16938 h 21600"/>
                <a:gd name="T4" fmla="*/ 11500 w 21600"/>
                <a:gd name="T5" fmla="*/ 21600 h 21600"/>
                <a:gd name="T6" fmla="*/ 20920 w 21600"/>
                <a:gd name="T7" fmla="*/ 16751 h 21600"/>
                <a:gd name="T8" fmla="*/ 13972 w 21600"/>
                <a:gd name="T9" fmla="*/ 10888 h 21600"/>
                <a:gd name="T10" fmla="*/ 21033 w 21600"/>
                <a:gd name="T11" fmla="*/ 4716 h 21600"/>
                <a:gd name="T12" fmla="*/ 11102 w 21600"/>
                <a:gd name="T13" fmla="*/ 11 h 21600"/>
                <a:gd name="T14" fmla="*/ 453 w 21600"/>
                <a:gd name="T15" fmla="*/ 4716 h 21600"/>
                <a:gd name="T16" fmla="*/ 2076 w 21600"/>
                <a:gd name="T17" fmla="*/ 5664 h 21600"/>
                <a:gd name="T18" fmla="*/ 20203 w 21600"/>
                <a:gd name="T19" fmla="*/ 1598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8" name="MH_Other_5"/>
            <p:cNvSpPr>
              <a:spLocks noEditPoints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807" y="3921"/>
              <a:ext cx="3403" cy="1793"/>
            </a:xfrm>
            <a:custGeom>
              <a:avLst/>
              <a:gdLst>
                <a:gd name="T0" fmla="*/ 16740 w 21600"/>
                <a:gd name="T1" fmla="*/ 21078 h 21600"/>
                <a:gd name="T2" fmla="*/ 16976 w 21600"/>
                <a:gd name="T3" fmla="*/ 521 h 21600"/>
                <a:gd name="T4" fmla="*/ 4725 w 21600"/>
                <a:gd name="T5" fmla="*/ 856 h 21600"/>
                <a:gd name="T6" fmla="*/ 5040 w 21600"/>
                <a:gd name="T7" fmla="*/ 21004 h 21600"/>
                <a:gd name="T8" fmla="*/ 10811 w 21600"/>
                <a:gd name="T9" fmla="*/ 12885 h 21600"/>
                <a:gd name="T10" fmla="*/ 10845 w 21600"/>
                <a:gd name="T11" fmla="*/ 8714 h 21600"/>
                <a:gd name="T12" fmla="*/ 21600 w 21600"/>
                <a:gd name="T13" fmla="*/ 10000 h 21600"/>
                <a:gd name="T14" fmla="*/ 56 w 21600"/>
                <a:gd name="T15" fmla="*/ 10000 h 21600"/>
                <a:gd name="T16" fmla="*/ 6086 w 21600"/>
                <a:gd name="T17" fmla="*/ 2569 h 21600"/>
                <a:gd name="T18" fmla="*/ 16132 w 21600"/>
                <a:gd name="T19" fmla="*/ 1955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cxnSp>
          <p:nvCxnSpPr>
            <p:cNvPr id="9" name="MH_Other_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10697" y="3474"/>
              <a:ext cx="4048" cy="447"/>
            </a:xfrm>
            <a:prstGeom prst="bentConnector3">
              <a:avLst>
                <a:gd name="adj1" fmla="val 34458"/>
              </a:avLst>
            </a:prstGeom>
            <a:noFill/>
            <a:ln w="3175" algn="ctr">
              <a:solidFill>
                <a:srgbClr val="014076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MH_SubTitle_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1652" y="3264"/>
              <a:ext cx="354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508000" rtl="0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参照完整性</a:t>
              </a:r>
            </a:p>
          </p:txBody>
        </p:sp>
        <p:sp>
          <p:nvSpPr>
            <p:cNvPr id="11" name="MH_Text_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668" y="4053"/>
              <a:ext cx="5728" cy="1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lvl="0" algn="l" defTabSz="508000" ea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参照完整性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定义了外键和主键之间的引用规则，要求关系中的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外键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要么取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空值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要么取参照关系中的某个元组的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主键值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。</a:t>
              </a:r>
            </a:p>
          </p:txBody>
        </p:sp>
        <p:sp>
          <p:nvSpPr>
            <p:cNvPr id="12" name="MH_SubTitle_4"/>
            <p:cNvSpPr txBox="1"/>
            <p:nvPr>
              <p:custDataLst>
                <p:tags r:id="rId12"/>
              </p:custDataLst>
            </p:nvPr>
          </p:nvSpPr>
          <p:spPr>
            <a:xfrm>
              <a:off x="3742" y="6611"/>
              <a:ext cx="3233" cy="650"/>
            </a:xfrm>
            <a:prstGeom prst="rect">
              <a:avLst/>
            </a:prstGeom>
            <a:noFill/>
          </p:spPr>
          <p:txBody>
            <a:bodyPr wrap="none" anchor="ctr"/>
            <a:lstStyle>
              <a:defPPr>
                <a:defRPr lang="zh-CN"/>
              </a:defPPr>
              <a:lvl1pPr>
                <a:defRPr sz="2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defRPr>
              </a:lvl1pPr>
            </a:lstStyle>
            <a:p>
              <a:pPr marL="0" marR="0" lvl="0" indent="0" algn="ctr" defTabSz="508000" rtl="0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8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实体完整性</a:t>
              </a:r>
            </a:p>
          </p:txBody>
        </p:sp>
        <p:sp>
          <p:nvSpPr>
            <p:cNvPr id="13" name="MH_Text_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147" y="7385"/>
              <a:ext cx="4828" cy="1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lvl="0" algn="l" defTabSz="508000" ea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实体完整性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要求关系中的主键不能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重复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，且不能取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空值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。</a:t>
              </a:r>
            </a:p>
          </p:txBody>
        </p:sp>
        <p:sp>
          <p:nvSpPr>
            <p:cNvPr id="14" name="MH_SubTitle_3"/>
            <p:cNvSpPr txBox="1"/>
            <p:nvPr>
              <p:custDataLst>
                <p:tags r:id="rId14"/>
              </p:custDataLst>
            </p:nvPr>
          </p:nvSpPr>
          <p:spPr>
            <a:xfrm>
              <a:off x="11716" y="5963"/>
              <a:ext cx="3543" cy="648"/>
            </a:xfrm>
            <a:prstGeom prst="rect">
              <a:avLst/>
            </a:prstGeom>
            <a:noFill/>
          </p:spPr>
          <p:txBody>
            <a:bodyPr wrap="none" anchor="ctr"/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defRPr>
              </a:lvl1pPr>
            </a:lstStyle>
            <a:p>
              <a:pPr marL="0" marR="0" lvl="0" indent="0" algn="ctr" defTabSz="508000" rtl="0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自定义完整性</a:t>
              </a:r>
            </a:p>
          </p:txBody>
        </p:sp>
        <p:sp>
          <p:nvSpPr>
            <p:cNvPr id="15" name="MH_Text_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851" y="6884"/>
              <a:ext cx="5459" cy="1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lvl="0" algn="l" defTabSz="508000" ea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用户自定义完整性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是用户针对具体的应用环境定义的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完整性约束条件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，由DBMS检查用户自定义的完整性。</a:t>
              </a:r>
            </a:p>
          </p:txBody>
        </p:sp>
        <p:cxnSp>
          <p:nvCxnSpPr>
            <p:cNvPr id="16" name="MH_Other_7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12167" y="6679"/>
              <a:ext cx="2238" cy="0"/>
            </a:xfrm>
            <a:prstGeom prst="line">
              <a:avLst/>
            </a:prstGeom>
            <a:noFill/>
            <a:ln w="3175" algn="ctr">
              <a:solidFill>
                <a:srgbClr val="014076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MH_Other_8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>
              <a:off x="4197" y="4819"/>
              <a:ext cx="2635" cy="0"/>
            </a:xfrm>
            <a:prstGeom prst="line">
              <a:avLst/>
            </a:prstGeom>
            <a:noFill/>
            <a:ln w="3175" algn="ctr">
              <a:solidFill>
                <a:srgbClr val="014076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组合 17"/>
          <p:cNvGrpSpPr/>
          <p:nvPr/>
        </p:nvGrpSpPr>
        <p:grpSpPr>
          <a:xfrm>
            <a:off x="982345" y="909320"/>
            <a:ext cx="3644900" cy="676275"/>
            <a:chOff x="1547" y="1432"/>
            <a:chExt cx="4780" cy="1065"/>
          </a:xfrm>
        </p:grpSpPr>
        <p:sp>
          <p:nvSpPr>
            <p:cNvPr id="20" name="五边形 19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关系模型的完整性约束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GB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</a:t>
            </a:r>
            <a:r>
              <a:rPr lang="en-GB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数据库产品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385" y="3813"/>
              <a:ext cx="8993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关系模型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几乎是数十年来整个数据模型领域的重要支撑，基于关系数据模型组织数据的数据库管理系统，一般称为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关系型数据库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。随着数据库技术的发展，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关系型数据库产品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越来越多，常见的产品如下所示。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常见的数据库产品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951220" y="2375535"/>
            <a:ext cx="5306060" cy="2551430"/>
            <a:chOff x="2923" y="3748"/>
            <a:chExt cx="8652" cy="4110"/>
          </a:xfrm>
        </p:grpSpPr>
        <p:pic>
          <p:nvPicPr>
            <p:cNvPr id="78850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3" y="3748"/>
              <a:ext cx="2625" cy="1590"/>
            </a:xfrm>
            <a:prstGeom prst="rect">
              <a:avLst/>
            </a:prstGeom>
            <a:noFill/>
            <a:ln w="28575">
              <a:noFill/>
            </a:ln>
          </p:spPr>
        </p:pic>
        <p:pic>
          <p:nvPicPr>
            <p:cNvPr id="78851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0" y="3748"/>
              <a:ext cx="5235" cy="1680"/>
            </a:xfrm>
            <a:prstGeom prst="rect">
              <a:avLst/>
            </a:prstGeom>
            <a:noFill/>
            <a:ln w="28575">
              <a:noFill/>
            </a:ln>
          </p:spPr>
        </p:pic>
        <p:pic>
          <p:nvPicPr>
            <p:cNvPr id="78853" name="Picture 5" descr="http://images.cnblogs.com/cnblogs_com/JOSHUATSUEI/155044/r_ibmdb2.gi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09" y="6243"/>
              <a:ext cx="2745" cy="148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8857" name="Picture 9" descr="http://images.51cto.com/files/uploadimg/20120428/0937510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58" y="5676"/>
              <a:ext cx="2993" cy="218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常见的数据库产品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982345" y="909320"/>
            <a:ext cx="3250565" cy="676275"/>
            <a:chOff x="1547" y="1432"/>
            <a:chExt cx="4780" cy="1065"/>
          </a:xfrm>
        </p:grpSpPr>
        <p:sp>
          <p:nvSpPr>
            <p:cNvPr id="20" name="五边形 19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常见的数据库产品</a:t>
              </a:r>
            </a:p>
          </p:txBody>
        </p:sp>
      </p:grpSp>
      <p:sp>
        <p:nvSpPr>
          <p:cNvPr id="5" name="同侧圆角矩形 4"/>
          <p:cNvSpPr/>
          <p:nvPr/>
        </p:nvSpPr>
        <p:spPr>
          <a:xfrm>
            <a:off x="1107440" y="2137410"/>
            <a:ext cx="4284980" cy="3820795"/>
          </a:xfrm>
          <a:prstGeom prst="round2Same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77290" y="2421890"/>
            <a:ext cx="4215130" cy="337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是由甲骨文(Oracle)公司开发的一款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关系型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数据库管理系统，在数据库领域一直处于领先地位。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Microsoft SQL Server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广泛应用于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电子商务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、银行、保险、电力等行业。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IBM Db2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是由IBM公司研制的一款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关系型数据库管理系统。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客户端/服务器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模式实现的，支持多用户、多线程。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1482090" y="2087880"/>
            <a:ext cx="9577705" cy="23164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69415" y="2251075"/>
            <a:ext cx="92024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随着互联网Web 2.0的兴起，关系数据库在处理超大规模和高并发的Web 2.0网站的数据时，存在一些不足，需要采用更适合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解决大规模数据集合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多重数据种类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的数据库，通常将这种类型的数据库统称为非关系型数据库(Not Only SQL，No SQL)。非关系型数据库的特点在于数据模型比较简单，灵活性强，性能高。常见的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非关系数据库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有以下4种。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22469" y="1983901"/>
            <a:ext cx="10965450" cy="4570819"/>
            <a:chOff x="374007" y="2435096"/>
            <a:chExt cx="11009855" cy="3471772"/>
          </a:xfrm>
        </p:grpSpPr>
        <p:sp>
          <p:nvSpPr>
            <p:cNvPr id="6" name="MH_Other_1"/>
            <p:cNvSpPr/>
            <p:nvPr>
              <p:custDataLst>
                <p:tags r:id="rId1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7" name="MH_SubTitle_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500631" y="243509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面向文档数据库</a:t>
              </a:r>
            </a:p>
          </p:txBody>
        </p:sp>
        <p:sp>
          <p:nvSpPr>
            <p:cNvPr id="8" name="MH_Text_4"/>
            <p:cNvSpPr txBox="1"/>
            <p:nvPr>
              <p:custDataLst>
                <p:tags r:id="rId3"/>
              </p:custDataLst>
            </p:nvPr>
          </p:nvSpPr>
          <p:spPr>
            <a:xfrm>
              <a:off x="8500631" y="3180500"/>
              <a:ext cx="2883231" cy="1005120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面向文档数据库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将数据以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文档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形式存储,每个文档是一系列数据项的集合。</a:t>
              </a:r>
            </a:p>
          </p:txBody>
        </p:sp>
        <p:sp>
          <p:nvSpPr>
            <p:cNvPr id="9" name="MH_Other_2"/>
            <p:cNvSpPr/>
            <p:nvPr>
              <p:custDataLst>
                <p:tags r:id="rId4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0" name="MH_SubTitle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374007" y="2435096"/>
              <a:ext cx="3352351" cy="642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键值存储数据库</a:t>
              </a:r>
            </a:p>
          </p:txBody>
        </p:sp>
        <p:sp>
          <p:nvSpPr>
            <p:cNvPr id="11" name="MH_Text_1"/>
            <p:cNvSpPr txBox="1"/>
            <p:nvPr>
              <p:custDataLst>
                <p:tags r:id="rId6"/>
              </p:custDataLst>
            </p:nvPr>
          </p:nvSpPr>
          <p:spPr>
            <a:xfrm flipH="1">
              <a:off x="627126" y="3180500"/>
              <a:ext cx="3093356" cy="1005120"/>
            </a:xfrm>
            <a:prstGeom prst="rect">
              <a:avLst/>
            </a:prstGeom>
            <a:noFill/>
          </p:spPr>
          <p:txBody>
            <a:bodyPr lIns="0" tIns="0" rIns="0" bIns="0"/>
            <a:lstStyle/>
            <a:p>
              <a:pPr marL="0" marR="0" lvl="0" indent="0" algn="r" defTabSz="914400" rtl="0" fontAlgn="auto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键值数据库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类似传统语言中使用的哈希表。可以通过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Key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来添加、查询或者删除数据。</a:t>
              </a:r>
            </a:p>
          </p:txBody>
        </p:sp>
        <p:sp>
          <p:nvSpPr>
            <p:cNvPr id="12" name="MH_Other_3"/>
            <p:cNvSpPr/>
            <p:nvPr>
              <p:custDataLst>
                <p:tags r:id="rId7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3" name="MH_Other_4"/>
            <p:cNvSpPr/>
            <p:nvPr>
              <p:custDataLst>
                <p:tags r:id="rId8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4" name="MH_Other_5"/>
            <p:cNvSpPr/>
            <p:nvPr>
              <p:custDataLst>
                <p:tags r:id="rId9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5" name="MH_Other_6"/>
            <p:cNvSpPr/>
            <p:nvPr>
              <p:custDataLst>
                <p:tags r:id="rId10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6" name="MH_Other_7"/>
            <p:cNvSpPr/>
            <p:nvPr>
              <p:custDataLst>
                <p:tags r:id="rId11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7" name="MH_Other_8"/>
            <p:cNvSpPr/>
            <p:nvPr>
              <p:custDataLst>
                <p:tags r:id="rId12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8" name="MH_SubTitle_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500631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图形数据库</a:t>
              </a:r>
            </a:p>
          </p:txBody>
        </p:sp>
        <p:sp>
          <p:nvSpPr>
            <p:cNvPr id="19" name="MH_Text_3"/>
            <p:cNvSpPr txBox="1"/>
            <p:nvPr>
              <p:custDataLst>
                <p:tags r:id="rId14"/>
              </p:custDataLst>
            </p:nvPr>
          </p:nvSpPr>
          <p:spPr>
            <a:xfrm>
              <a:off x="8500631" y="4900160"/>
              <a:ext cx="2883231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图形数据库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允许将数据以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图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的方式存储。以图的方式存储数据时，实体会被作为顶点，而实体之间的关系则会被作为边。</a:t>
              </a:r>
            </a:p>
          </p:txBody>
        </p:sp>
        <p:sp>
          <p:nvSpPr>
            <p:cNvPr id="20" name="MH_SubTitle_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415449" y="4156479"/>
              <a:ext cx="3310909" cy="642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列存储数据库</a:t>
              </a:r>
            </a:p>
          </p:txBody>
        </p:sp>
        <p:sp>
          <p:nvSpPr>
            <p:cNvPr id="21" name="MH_Text_2"/>
            <p:cNvSpPr txBox="1"/>
            <p:nvPr>
              <p:custDataLst>
                <p:tags r:id="rId16"/>
              </p:custDataLst>
            </p:nvPr>
          </p:nvSpPr>
          <p:spPr>
            <a:xfrm flipH="1">
              <a:off x="627123" y="4900160"/>
              <a:ext cx="3093357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r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列存储数据库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列簇式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存储，将同一列数据存在一起。列存储数据库查找速度快，可扩展性强。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GB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SQL简介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386" y="3760"/>
              <a:ext cx="8993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通过前面的讲解可知，关系型数据库有很多种，当需要和这些数据库进行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，以完成用户要进行的操作时，就需要用到SQL。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（Structured Query Lanaguage，结构化查询语言）是应用于关系数据库的程序设计语言，主要用于管理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关系型数据库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中的数据，如存取数据、查询数据、更新数据等。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SQL简介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296481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566035"/>
            <a:ext cx="790892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是IBM公司于20世纪70年代开发出来的，并在20世纪80年代被美国国家标准学会（American National Standards Institute，简称ANSI）和国际标准化组织（International Organization for Standardization，简称ISO）定义为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关系型数据库语言的标准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SQL简介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1941195" y="1831340"/>
            <a:ext cx="8536305" cy="4552950"/>
            <a:chOff x="2491" y="3007"/>
            <a:chExt cx="14226" cy="5694"/>
          </a:xfrm>
        </p:grpSpPr>
        <p:sp>
          <p:nvSpPr>
            <p:cNvPr id="2" name="Shape 2012"/>
            <p:cNvSpPr/>
            <p:nvPr/>
          </p:nvSpPr>
          <p:spPr>
            <a:xfrm>
              <a:off x="11109" y="3007"/>
              <a:ext cx="5608" cy="2656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48" tIns="19048" rIns="19048" bIns="19048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" name="Shape 2013"/>
            <p:cNvSpPr/>
            <p:nvPr/>
          </p:nvSpPr>
          <p:spPr>
            <a:xfrm>
              <a:off x="11109" y="6046"/>
              <a:ext cx="5608" cy="2653"/>
            </a:xfrm>
            <a:prstGeom prst="roundRect">
              <a:avLst>
                <a:gd name="adj" fmla="val 6925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48" tIns="19048" rIns="19048" bIns="19048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Shape 2014"/>
            <p:cNvSpPr/>
            <p:nvPr/>
          </p:nvSpPr>
          <p:spPr>
            <a:xfrm>
              <a:off x="2491" y="6045"/>
              <a:ext cx="5608" cy="2656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48" tIns="19048" rIns="19048" bIns="19048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Shape 2015"/>
            <p:cNvSpPr/>
            <p:nvPr/>
          </p:nvSpPr>
          <p:spPr>
            <a:xfrm>
              <a:off x="2491" y="3007"/>
              <a:ext cx="5608" cy="2656"/>
            </a:xfrm>
            <a:prstGeom prst="roundRect">
              <a:avLst>
                <a:gd name="adj" fmla="val 6918"/>
              </a:avLst>
            </a:prstGeom>
            <a:noFill/>
            <a:ln w="12700">
              <a:solidFill>
                <a:srgbClr val="A6AAA9"/>
              </a:solidFill>
              <a:miter lim="400000"/>
            </a:ln>
          </p:spPr>
          <p:txBody>
            <a:bodyPr lIns="19048" tIns="19048" rIns="19048" bIns="19048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Shape 2016"/>
            <p:cNvSpPr/>
            <p:nvPr/>
          </p:nvSpPr>
          <p:spPr>
            <a:xfrm>
              <a:off x="7452" y="4396"/>
              <a:ext cx="4568" cy="30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0070C0"/>
            </a:solidFill>
            <a:ln w="12700">
              <a:miter lim="400000"/>
            </a:ln>
          </p:spPr>
          <p:txBody>
            <a:bodyPr lIns="25396" tIns="25396" rIns="25396" bIns="25396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Shape 2021"/>
            <p:cNvSpPr/>
            <p:nvPr/>
          </p:nvSpPr>
          <p:spPr>
            <a:xfrm>
              <a:off x="3133" y="3822"/>
              <a:ext cx="4324" cy="18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/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数据库定义语言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主要用于定义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数据库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表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等数据库对象，其中包括CREATE语句、ALTER语句和DROP语句。</a:t>
              </a:r>
            </a:p>
          </p:txBody>
        </p:sp>
        <p:sp>
          <p:nvSpPr>
            <p:cNvPr id="8" name="Shape 2022"/>
            <p:cNvSpPr/>
            <p:nvPr/>
          </p:nvSpPr>
          <p:spPr>
            <a:xfrm>
              <a:off x="3200" y="3126"/>
              <a:ext cx="2943" cy="6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/>
            <a:lstStyle>
              <a:lvl1pPr algn="l">
                <a:lnSpc>
                  <a:spcPct val="120000"/>
                </a:lnSpc>
                <a:defRPr sz="3500">
                  <a:solidFill>
                    <a:srgbClr val="53585F"/>
                  </a:solidFill>
                </a:defRPr>
              </a:lvl1pPr>
            </a:lstStyle>
            <a:p>
              <a:r>
                <a:rPr lang="zh-CN" altLang="en-US" sz="1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数据定义语言</a:t>
              </a:r>
            </a:p>
          </p:txBody>
        </p:sp>
        <p:sp>
          <p:nvSpPr>
            <p:cNvPr id="9" name="Shape 2023"/>
            <p:cNvSpPr/>
            <p:nvPr/>
          </p:nvSpPr>
          <p:spPr>
            <a:xfrm>
              <a:off x="3034" y="6850"/>
              <a:ext cx="4418" cy="177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l">
                <a:lnSpc>
                  <a:spcPct val="120000"/>
                </a:lnSpc>
                <a:spcBef>
                  <a:spcPts val="2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/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数据操作语言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主要用于对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数据库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的数据进行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删除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操作，其中包括INSERT语句、UPDATE语句和DELETE语句。</a:t>
              </a:r>
            </a:p>
          </p:txBody>
        </p:sp>
        <p:sp>
          <p:nvSpPr>
            <p:cNvPr id="10" name="Shape 2024"/>
            <p:cNvSpPr/>
            <p:nvPr/>
          </p:nvSpPr>
          <p:spPr>
            <a:xfrm>
              <a:off x="3177" y="6141"/>
              <a:ext cx="2943" cy="6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/>
            <a:lstStyle>
              <a:lvl1pPr algn="l">
                <a:lnSpc>
                  <a:spcPct val="120000"/>
                </a:lnSpc>
                <a:defRPr sz="3500">
                  <a:solidFill>
                    <a:srgbClr val="53585F"/>
                  </a:solidFill>
                </a:defRPr>
              </a:lvl1pPr>
            </a:lstStyle>
            <a:p>
              <a:r>
                <a:rPr lang="zh-CN" altLang="en-US" sz="1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数据操作语言</a:t>
              </a:r>
            </a:p>
          </p:txBody>
        </p:sp>
        <p:sp>
          <p:nvSpPr>
            <p:cNvPr id="11" name="Shape 2025"/>
            <p:cNvSpPr/>
            <p:nvPr/>
          </p:nvSpPr>
          <p:spPr>
            <a:xfrm>
              <a:off x="11844" y="3822"/>
              <a:ext cx="4257" cy="1759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/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数据查询语言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主要用于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查询数据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，也就是指SELECT语句，使用SELECT语句可以查询数据库中一条数据或多条数据。</a:t>
              </a:r>
            </a:p>
          </p:txBody>
        </p:sp>
        <p:sp>
          <p:nvSpPr>
            <p:cNvPr id="12" name="Shape 2026"/>
            <p:cNvSpPr/>
            <p:nvPr/>
          </p:nvSpPr>
          <p:spPr>
            <a:xfrm>
              <a:off x="13124" y="3190"/>
              <a:ext cx="2943" cy="6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/>
            <a:lstStyle>
              <a:lvl1pPr algn="r">
                <a:defRPr sz="3500">
                  <a:solidFill>
                    <a:srgbClr val="53585F"/>
                  </a:solidFill>
                </a:defRPr>
              </a:lvl1pPr>
            </a:lstStyle>
            <a:p>
              <a:r>
                <a:rPr lang="zh-CN" altLang="en-US" sz="1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数据查询语言</a:t>
              </a:r>
            </a:p>
          </p:txBody>
        </p:sp>
        <p:sp>
          <p:nvSpPr>
            <p:cNvPr id="13" name="Shape 2027"/>
            <p:cNvSpPr/>
            <p:nvPr/>
          </p:nvSpPr>
          <p:spPr>
            <a:xfrm>
              <a:off x="12020" y="6773"/>
              <a:ext cx="4372" cy="1909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/>
            <a:lstStyle>
              <a:lvl1pPr algn="r"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53585F"/>
                  </a:solidFill>
                </a:defRPr>
              </a:lvl1pPr>
            </a:lstStyle>
            <a:p>
              <a:pPr algn="just"/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数据控制语言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主要用于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控制用户的访问权限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，其中包括GRANT语句、REVOKE语句、COMMIT语句和ROLLBACK语句。</a:t>
              </a:r>
            </a:p>
          </p:txBody>
        </p:sp>
        <p:sp>
          <p:nvSpPr>
            <p:cNvPr id="14" name="Shape 2028"/>
            <p:cNvSpPr/>
            <p:nvPr/>
          </p:nvSpPr>
          <p:spPr>
            <a:xfrm>
              <a:off x="13337" y="6140"/>
              <a:ext cx="2943" cy="6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/>
            <a:lstStyle>
              <a:lvl1pPr algn="r">
                <a:defRPr sz="3500">
                  <a:solidFill>
                    <a:srgbClr val="53585F"/>
                  </a:solidFill>
                </a:defRPr>
              </a:lvl1pPr>
            </a:lstStyle>
            <a:p>
              <a:r>
                <a:rPr lang="zh-CN" altLang="en-US" sz="1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数据控制语言</a:t>
              </a:r>
            </a:p>
          </p:txBody>
        </p:sp>
        <p:sp>
          <p:nvSpPr>
            <p:cNvPr id="26" name="Text Placeholder 5"/>
            <p:cNvSpPr txBox="1"/>
            <p:nvPr/>
          </p:nvSpPr>
          <p:spPr>
            <a:xfrm>
              <a:off x="8520" y="5507"/>
              <a:ext cx="2418" cy="998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750" kern="1200">
                  <a:solidFill>
                    <a:schemeClr val="tx1"/>
                  </a:solidFill>
                  <a:latin typeface="Open Sans" panose="020B0606030504020204" charset="0"/>
                  <a:ea typeface="Open Sans" panose="020B0606030504020204" charset="0"/>
                  <a:cs typeface="Open Sans" panose="020B060603050402020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Open Sans" panose="020B0606030504020204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Open Sans" panose="020B0606030504020204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 panose="020B0606030504020204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Open Sans" panose="020B0606030504020204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altLang="en-GB" sz="26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SQL</a:t>
              </a:r>
              <a:r>
                <a:rPr lang="zh-CN" altLang="en-US" sz="26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类别</a:t>
              </a: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SQL简介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941195" y="1117600"/>
            <a:ext cx="575056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SQL的功能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，可以将SQL划分为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4个类别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，具体如下所示。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GB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MySQL</a:t>
            </a:r>
            <a:r>
              <a:rPr lang="en-GB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安装</a:t>
            </a:r>
            <a:r>
              <a:rPr lang="en-GB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</a:t>
            </a:r>
            <a:r>
              <a:rPr lang="en-GB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46350" y="2205355"/>
            <a:ext cx="7437120" cy="326582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385" y="3813"/>
              <a:ext cx="8993" cy="29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几乎支持所有的操作系统，对于不同的操作系统平台，MySQL都提供了相应的版本。MySQL在不同操作系统平台下安装和配置的过程也不相同，本节将讲解如何在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平台下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安装和配置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MySQL。</a:t>
              </a: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1.6.1获取MySQL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247142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566035"/>
            <a:ext cx="79089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搭建MySQL环境之前，需要先获取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MySQL的安装包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。互联网上有很多途径获取MySQL的安装包，本教材选择在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MySQL官方网站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获取MySQL的安装包。</a:t>
            </a:r>
          </a:p>
        </p:txBody>
      </p:sp>
      <p:sp>
        <p:nvSpPr>
          <p:cNvPr id="8" name="1"/>
          <p:cNvSpPr txBox="1"/>
          <p:nvPr>
            <p:custDataLst>
              <p:tags r:id="rId1"/>
            </p:custDataLst>
          </p:nvPr>
        </p:nvSpPr>
        <p:spPr>
          <a:xfrm>
            <a:off x="1082040" y="909320"/>
            <a:ext cx="237744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创建单列索引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1.6.1获取MySQL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57263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-1905" y="2142490"/>
            <a:ext cx="1697355" cy="515620"/>
            <a:chOff x="-2086" y="2141478"/>
            <a:chExt cx="1697534" cy="515997"/>
          </a:xfrm>
        </p:grpSpPr>
        <p:sp>
          <p:nvSpPr>
            <p:cNvPr id="28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0" y="3101340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2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-1905" y="400621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3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-10795" y="491045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4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265" y="513270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701665" y="1125220"/>
            <a:ext cx="2159000" cy="535940"/>
            <a:chOff x="8979" y="1772"/>
            <a:chExt cx="3400" cy="844"/>
          </a:xfrm>
        </p:grpSpPr>
        <p:sp>
          <p:nvSpPr>
            <p:cNvPr id="67" name="1"/>
            <p:cNvSpPr txBox="1"/>
            <p:nvPr>
              <p:custDataLst>
                <p:tags r:id="rId1"/>
              </p:custDataLst>
            </p:nvPr>
          </p:nvSpPr>
          <p:spPr>
            <a:xfrm>
              <a:off x="8979" y="1772"/>
              <a:ext cx="3400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获取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MySQL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283" y="2544"/>
              <a:ext cx="2792" cy="72"/>
              <a:chOff x="5367867" y="3100583"/>
              <a:chExt cx="1773297" cy="45722"/>
            </a:xfrm>
          </p:grpSpPr>
          <p:cxnSp>
            <p:nvCxnSpPr>
              <p:cNvPr id="9" name="直线连接符 8"/>
              <p:cNvCxnSpPr>
                <a:stCxn id="10" idx="2"/>
              </p:cNvCxnSpPr>
              <p:nvPr/>
            </p:nvCxnSpPr>
            <p:spPr>
              <a:xfrm flipV="1">
                <a:off x="5367867" y="3114554"/>
                <a:ext cx="1773297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椭圆 9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7095295" y="3100586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1.6.1获取MySQL</a:t>
            </a:r>
          </a:p>
        </p:txBody>
      </p:sp>
      <p:pic>
        <p:nvPicPr>
          <p:cNvPr id="1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455" y="1917065"/>
            <a:ext cx="4547235" cy="32664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标注 3"/>
          <p:cNvSpPr/>
          <p:nvPr/>
        </p:nvSpPr>
        <p:spPr>
          <a:xfrm>
            <a:off x="2712085" y="2205355"/>
            <a:ext cx="2880360" cy="2520315"/>
          </a:xfrm>
          <a:prstGeom prst="wedge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99105" y="2741295"/>
            <a:ext cx="23520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中访问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MySQL的官方网站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，网站的首页面显示如图所示。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57263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-1905" y="400621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3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-10795" y="491045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4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265" y="513270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1.6.1获取MySQL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2170081"/>
            <a:ext cx="1626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881" y="3105248"/>
            <a:ext cx="1697269" cy="515916"/>
            <a:chOff x="-2086" y="2141478"/>
            <a:chExt cx="1697534" cy="515997"/>
          </a:xfrm>
        </p:grpSpPr>
        <p:sp>
          <p:nvSpPr>
            <p:cNvPr id="6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701665" y="1125220"/>
            <a:ext cx="2159000" cy="535940"/>
            <a:chOff x="8979" y="1772"/>
            <a:chExt cx="3400" cy="844"/>
          </a:xfrm>
        </p:grpSpPr>
        <p:sp>
          <p:nvSpPr>
            <p:cNvPr id="13" name="1"/>
            <p:cNvSpPr txBox="1"/>
            <p:nvPr>
              <p:custDataLst>
                <p:tags r:id="rId1"/>
              </p:custDataLst>
            </p:nvPr>
          </p:nvSpPr>
          <p:spPr>
            <a:xfrm>
              <a:off x="8979" y="1772"/>
              <a:ext cx="3400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获取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MySQL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9283" y="2544"/>
              <a:ext cx="2792" cy="72"/>
              <a:chOff x="5367867" y="3100583"/>
              <a:chExt cx="1773297" cy="45722"/>
            </a:xfrm>
          </p:grpSpPr>
          <p:cxnSp>
            <p:nvCxnSpPr>
              <p:cNvPr id="15" name="直线连接符 8"/>
              <p:cNvCxnSpPr>
                <a:stCxn id="16" idx="2"/>
              </p:cNvCxnSpPr>
              <p:nvPr/>
            </p:nvCxnSpPr>
            <p:spPr>
              <a:xfrm flipV="1">
                <a:off x="5367867" y="3114554"/>
                <a:ext cx="1773297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椭圆 15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7095295" y="3100586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2712085" y="2205355"/>
            <a:ext cx="2880360" cy="2520315"/>
            <a:chOff x="4271" y="3473"/>
            <a:chExt cx="4536" cy="3969"/>
          </a:xfrm>
        </p:grpSpPr>
        <p:sp>
          <p:nvSpPr>
            <p:cNvPr id="18" name="矩形标注 17"/>
            <p:cNvSpPr/>
            <p:nvPr/>
          </p:nvSpPr>
          <p:spPr>
            <a:xfrm>
              <a:off x="4271" y="3473"/>
              <a:ext cx="4536" cy="3969"/>
            </a:xfrm>
            <a:prstGeom prst="wedgeRectCallou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723" y="4317"/>
              <a:ext cx="3704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单击步骤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DOWNLOADS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超链接，进入MySQL的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下载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页面。</a:t>
              </a:r>
            </a:p>
          </p:txBody>
        </p:sp>
      </p:grpSp>
      <p:pic>
        <p:nvPicPr>
          <p:cNvPr id="21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220" y="1989455"/>
            <a:ext cx="4458335" cy="33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57263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3101340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2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-10795" y="491045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4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265" y="513270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1.6.1获取MySQL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2170081"/>
            <a:ext cx="1626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5275" y="4017264"/>
            <a:ext cx="1697269" cy="515916"/>
            <a:chOff x="-2086" y="2141478"/>
            <a:chExt cx="1697534" cy="515997"/>
          </a:xfrm>
        </p:grpSpPr>
        <p:sp>
          <p:nvSpPr>
            <p:cNvPr id="6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701665" y="1125220"/>
            <a:ext cx="2159000" cy="535940"/>
            <a:chOff x="8979" y="1772"/>
            <a:chExt cx="3400" cy="844"/>
          </a:xfrm>
        </p:grpSpPr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8979" y="1772"/>
              <a:ext cx="3400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获取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MySQL</a:t>
              </a: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9283" y="2544"/>
              <a:ext cx="2792" cy="72"/>
              <a:chOff x="5367867" y="3100583"/>
              <a:chExt cx="1773297" cy="45722"/>
            </a:xfrm>
          </p:grpSpPr>
          <p:cxnSp>
            <p:nvCxnSpPr>
              <p:cNvPr id="14" name="直线连接符 8"/>
              <p:cNvCxnSpPr>
                <a:stCxn id="15" idx="2"/>
              </p:cNvCxnSpPr>
              <p:nvPr/>
            </p:nvCxnSpPr>
            <p:spPr>
              <a:xfrm flipV="1">
                <a:off x="5367867" y="3114554"/>
                <a:ext cx="1773297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椭圆 14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7095295" y="3100586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2712085" y="2205355"/>
            <a:ext cx="2880360" cy="2520315"/>
            <a:chOff x="4271" y="3473"/>
            <a:chExt cx="4536" cy="3969"/>
          </a:xfrm>
        </p:grpSpPr>
        <p:sp>
          <p:nvSpPr>
            <p:cNvPr id="18" name="矩形标注 17"/>
            <p:cNvSpPr/>
            <p:nvPr/>
          </p:nvSpPr>
          <p:spPr>
            <a:xfrm>
              <a:off x="4271" y="3473"/>
              <a:ext cx="4536" cy="3969"/>
            </a:xfrm>
            <a:prstGeom prst="wedgeRectCallou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79" y="3931"/>
              <a:ext cx="3704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单击步骤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页面中的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 Community (GPL) Downloads 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链接，进入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MySQL社区版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的下载页面。</a:t>
              </a:r>
            </a:p>
          </p:txBody>
        </p:sp>
      </p:grpSp>
      <p:pic>
        <p:nvPicPr>
          <p:cNvPr id="1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165" y="1989455"/>
            <a:ext cx="4827905" cy="3630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57263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3101340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2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-1905" y="400621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3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265" y="513270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1.6.1获取MySQL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2170081"/>
            <a:ext cx="1626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881" y="4934258"/>
            <a:ext cx="1697269" cy="515916"/>
            <a:chOff x="-2086" y="2141478"/>
            <a:chExt cx="1697534" cy="515997"/>
          </a:xfrm>
        </p:grpSpPr>
        <p:sp>
          <p:nvSpPr>
            <p:cNvPr id="6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4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701665" y="1125220"/>
            <a:ext cx="2159000" cy="535940"/>
            <a:chOff x="8979" y="1772"/>
            <a:chExt cx="3400" cy="844"/>
          </a:xfrm>
        </p:grpSpPr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8979" y="1772"/>
              <a:ext cx="3400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获取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MySQL</a:t>
              </a: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9283" y="2544"/>
              <a:ext cx="2792" cy="72"/>
              <a:chOff x="5367867" y="3100583"/>
              <a:chExt cx="1773297" cy="45722"/>
            </a:xfrm>
          </p:grpSpPr>
          <p:cxnSp>
            <p:nvCxnSpPr>
              <p:cNvPr id="14" name="直线连接符 8"/>
              <p:cNvCxnSpPr>
                <a:stCxn id="15" idx="2"/>
              </p:cNvCxnSpPr>
              <p:nvPr/>
            </p:nvCxnSpPr>
            <p:spPr>
              <a:xfrm flipV="1">
                <a:off x="5367867" y="3114554"/>
                <a:ext cx="1773297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椭圆 14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7095295" y="3100586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2712085" y="2205355"/>
            <a:ext cx="2880360" cy="2520315"/>
            <a:chOff x="4271" y="3473"/>
            <a:chExt cx="4536" cy="3969"/>
          </a:xfrm>
        </p:grpSpPr>
        <p:sp>
          <p:nvSpPr>
            <p:cNvPr id="18" name="矩形标注 17"/>
            <p:cNvSpPr/>
            <p:nvPr/>
          </p:nvSpPr>
          <p:spPr>
            <a:xfrm>
              <a:off x="4271" y="3473"/>
              <a:ext cx="4536" cy="3969"/>
            </a:xfrm>
            <a:prstGeom prst="wedgeRectCallou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86" y="3982"/>
              <a:ext cx="3704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在步骤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页面中单击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 Community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链接，进入MySQL Community Server的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下载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页面。</a:t>
              </a:r>
            </a:p>
          </p:txBody>
        </p:sp>
      </p:grpSp>
      <p:pic>
        <p:nvPicPr>
          <p:cNvPr id="2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775" y="1948180"/>
            <a:ext cx="4978400" cy="31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247142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566035"/>
            <a:ext cx="79089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获取MySQL的安装包后，就可以对MySQL进行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。不同的MySQL安装文件安装过程也不同，本节将基于上一节获取到的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mysql-8.0.23-winx64.zip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文件进行MySQL的安装。</a:t>
            </a:r>
          </a:p>
        </p:txBody>
      </p:sp>
      <p:sp>
        <p:nvSpPr>
          <p:cNvPr id="8" name="1"/>
          <p:cNvSpPr txBox="1"/>
          <p:nvPr>
            <p:custDataLst>
              <p:tags r:id="rId1"/>
            </p:custDataLst>
          </p:nvPr>
        </p:nvSpPr>
        <p:spPr>
          <a:xfrm>
            <a:off x="1082040" y="909320"/>
            <a:ext cx="237744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创建单列索引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1.6.2安装MySQL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11797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-1905" y="2142490"/>
            <a:ext cx="1697355" cy="515620"/>
            <a:chOff x="-2086" y="2141478"/>
            <a:chExt cx="1697534" cy="515997"/>
          </a:xfrm>
        </p:grpSpPr>
        <p:sp>
          <p:nvSpPr>
            <p:cNvPr id="28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0" y="3101340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2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-1905" y="400621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3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701665" y="1125220"/>
            <a:ext cx="2159000" cy="535940"/>
            <a:chOff x="8979" y="1772"/>
            <a:chExt cx="3400" cy="844"/>
          </a:xfrm>
        </p:grpSpPr>
        <p:sp>
          <p:nvSpPr>
            <p:cNvPr id="67" name="1"/>
            <p:cNvSpPr txBox="1"/>
            <p:nvPr>
              <p:custDataLst>
                <p:tags r:id="rId1"/>
              </p:custDataLst>
            </p:nvPr>
          </p:nvSpPr>
          <p:spPr>
            <a:xfrm>
              <a:off x="8979" y="1772"/>
              <a:ext cx="3400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安装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MySQL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283" y="2544"/>
              <a:ext cx="2792" cy="72"/>
              <a:chOff x="5367867" y="3100583"/>
              <a:chExt cx="1773297" cy="45722"/>
            </a:xfrm>
          </p:grpSpPr>
          <p:cxnSp>
            <p:nvCxnSpPr>
              <p:cNvPr id="9" name="直线连接符 8"/>
              <p:cNvCxnSpPr>
                <a:stCxn id="10" idx="2"/>
              </p:cNvCxnSpPr>
              <p:nvPr/>
            </p:nvCxnSpPr>
            <p:spPr>
              <a:xfrm flipV="1">
                <a:off x="5367867" y="3114554"/>
                <a:ext cx="1773297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椭圆 9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7095295" y="3100586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3396615" y="2169795"/>
            <a:ext cx="6767830" cy="3026410"/>
            <a:chOff x="5349" y="3417"/>
            <a:chExt cx="10658" cy="4766"/>
          </a:xfrm>
        </p:grpSpPr>
        <p:sp>
          <p:nvSpPr>
            <p:cNvPr id="7" name="图文框 6"/>
            <p:cNvSpPr/>
            <p:nvPr/>
          </p:nvSpPr>
          <p:spPr>
            <a:xfrm>
              <a:off x="5349" y="3417"/>
              <a:ext cx="10659" cy="4766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37" y="4494"/>
              <a:ext cx="8448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algn="l">
                <a:lnSpc>
                  <a:spcPct val="150000"/>
                </a:lnSpc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(1)进入“开始”菜单，在搜索框中输入</a:t>
              </a:r>
              <a:r>
                <a:rPr lang="it-IT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cmd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，搜索出</a:t>
              </a:r>
              <a:r>
                <a:rPr lang="it-IT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Windows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命令处理程序cmd.exe，鼠标右击搜索到的Windows命令处理程序，选择以</a:t>
              </a:r>
              <a:r>
                <a:rPr lang="it-IT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管理员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身份运行。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1.6.2安装MySQL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10527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-1905" y="400621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3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170081"/>
            <a:ext cx="1626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881" y="3105248"/>
            <a:ext cx="1697269" cy="515916"/>
            <a:chOff x="-2086" y="2141478"/>
            <a:chExt cx="1697534" cy="515997"/>
          </a:xfrm>
        </p:grpSpPr>
        <p:sp>
          <p:nvSpPr>
            <p:cNvPr id="6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701665" y="1125220"/>
            <a:ext cx="2159000" cy="535940"/>
            <a:chOff x="8979" y="1772"/>
            <a:chExt cx="3400" cy="844"/>
          </a:xfrm>
        </p:grpSpPr>
        <p:sp>
          <p:nvSpPr>
            <p:cNvPr id="13" name="1"/>
            <p:cNvSpPr txBox="1"/>
            <p:nvPr>
              <p:custDataLst>
                <p:tags r:id="rId1"/>
              </p:custDataLst>
            </p:nvPr>
          </p:nvSpPr>
          <p:spPr>
            <a:xfrm>
              <a:off x="8979" y="1772"/>
              <a:ext cx="3400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安装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MySQL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9283" y="2544"/>
              <a:ext cx="2792" cy="72"/>
              <a:chOff x="5367867" y="3100583"/>
              <a:chExt cx="1773297" cy="45722"/>
            </a:xfrm>
          </p:grpSpPr>
          <p:cxnSp>
            <p:nvCxnSpPr>
              <p:cNvPr id="15" name="直线连接符 8"/>
              <p:cNvCxnSpPr>
                <a:stCxn id="16" idx="2"/>
              </p:cNvCxnSpPr>
              <p:nvPr/>
            </p:nvCxnSpPr>
            <p:spPr>
              <a:xfrm flipV="1">
                <a:off x="5367867" y="3114554"/>
                <a:ext cx="1773297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椭圆 15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7095295" y="3100586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3396615" y="2169795"/>
            <a:ext cx="6768465" cy="3026410"/>
            <a:chOff x="5349" y="3417"/>
            <a:chExt cx="10659" cy="4766"/>
          </a:xfrm>
        </p:grpSpPr>
        <p:sp>
          <p:nvSpPr>
            <p:cNvPr id="8" name="图文框 7"/>
            <p:cNvSpPr/>
            <p:nvPr/>
          </p:nvSpPr>
          <p:spPr>
            <a:xfrm>
              <a:off x="5349" y="3417"/>
              <a:ext cx="10659" cy="4766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197" y="3597"/>
              <a:ext cx="8448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algn="l">
                <a:lnSpc>
                  <a:spcPct val="150000"/>
                </a:lnSpc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marL="0" lvl="1" algn="l">
                <a:lnSpc>
                  <a:spcPct val="150000"/>
                </a:lnSpc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(2)在Windows命令处理程序窗口中，使用命令切换到MySQL安装目录下的</a:t>
              </a:r>
              <a:r>
                <a:rPr lang="it-IT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bin目录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。</a:t>
              </a:r>
            </a:p>
            <a:p>
              <a:pPr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1.6.2安装MySQL</a:t>
            </a:r>
          </a:p>
        </p:txBody>
      </p:sp>
      <p:sp>
        <p:nvSpPr>
          <p:cNvPr id="11" name="矩形 10"/>
          <p:cNvSpPr/>
          <p:nvPr/>
        </p:nvSpPr>
        <p:spPr>
          <a:xfrm>
            <a:off x="4006850" y="3933825"/>
            <a:ext cx="5038725" cy="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5900" anchor="ctr"/>
          <a:lstStyle/>
          <a:p>
            <a:pPr lvl="1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C:\Users\tk&gt;E: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E:\&gt;cd E:\mysql-8.0.23-winx64\bin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defRPr/>
            </a:pP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091940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3101340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2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170081"/>
            <a:ext cx="1626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5275" y="4017264"/>
            <a:ext cx="1697269" cy="515916"/>
            <a:chOff x="-2086" y="2141478"/>
            <a:chExt cx="1697534" cy="515997"/>
          </a:xfrm>
        </p:grpSpPr>
        <p:sp>
          <p:nvSpPr>
            <p:cNvPr id="6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701665" y="1125220"/>
            <a:ext cx="2159000" cy="535940"/>
            <a:chOff x="8979" y="1772"/>
            <a:chExt cx="3400" cy="844"/>
          </a:xfrm>
        </p:grpSpPr>
        <p:sp>
          <p:nvSpPr>
            <p:cNvPr id="12" name="1"/>
            <p:cNvSpPr txBox="1"/>
            <p:nvPr>
              <p:custDataLst>
                <p:tags r:id="rId1"/>
              </p:custDataLst>
            </p:nvPr>
          </p:nvSpPr>
          <p:spPr>
            <a:xfrm>
              <a:off x="8979" y="1772"/>
              <a:ext cx="3400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安装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MySQL</a:t>
              </a: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9283" y="2544"/>
              <a:ext cx="2792" cy="72"/>
              <a:chOff x="5367867" y="3100583"/>
              <a:chExt cx="1773297" cy="45722"/>
            </a:xfrm>
          </p:grpSpPr>
          <p:cxnSp>
            <p:nvCxnSpPr>
              <p:cNvPr id="14" name="直线连接符 8"/>
              <p:cNvCxnSpPr>
                <a:stCxn id="15" idx="2"/>
              </p:cNvCxnSpPr>
              <p:nvPr/>
            </p:nvCxnSpPr>
            <p:spPr>
              <a:xfrm flipV="1">
                <a:off x="5367867" y="3114554"/>
                <a:ext cx="1773297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椭圆 14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7095295" y="3100586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3396615" y="2014855"/>
            <a:ext cx="6768465" cy="4117340"/>
            <a:chOff x="5349" y="3417"/>
            <a:chExt cx="10659" cy="4766"/>
          </a:xfrm>
        </p:grpSpPr>
        <p:sp>
          <p:nvSpPr>
            <p:cNvPr id="9" name="图文框 8"/>
            <p:cNvSpPr/>
            <p:nvPr/>
          </p:nvSpPr>
          <p:spPr>
            <a:xfrm>
              <a:off x="5349" y="3417"/>
              <a:ext cx="10659" cy="4766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197" y="3597"/>
              <a:ext cx="8448" cy="1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algn="l">
                <a:lnSpc>
                  <a:spcPct val="150000"/>
                </a:lnSpc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 marL="0" lvl="1">
                <a:lnSpc>
                  <a:spcPct val="150000"/>
                </a:lnSpc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(3)切换到MySQL安装目录下的</a:t>
              </a:r>
              <a:r>
                <a:rPr lang="it-IT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bin目录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之后，使用命令安装MySQL服务，具体安装命令如下所示。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1.6.2安装MySQL</a:t>
            </a:r>
          </a:p>
        </p:txBody>
      </p:sp>
      <p:sp>
        <p:nvSpPr>
          <p:cNvPr id="21" name="矩形 20"/>
          <p:cNvSpPr/>
          <p:nvPr/>
        </p:nvSpPr>
        <p:spPr>
          <a:xfrm>
            <a:off x="4006850" y="3357245"/>
            <a:ext cx="5038725" cy="3816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23850" anchor="ctr"/>
          <a:lstStyle/>
          <a:p>
            <a:pPr marL="0" lvl="1"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mysqld -install MySQL80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defRPr/>
            </a:pP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43350" y="3645535"/>
            <a:ext cx="56756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l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上述命令中，MySQL80为</a:t>
            </a:r>
            <a:r>
              <a:rPr lang="it-IT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自定义</a:t>
            </a: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的MySQL服务的名称，执行上述命令，结果如图所示。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572" y="4504373"/>
            <a:ext cx="4328160" cy="1033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247142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566035"/>
            <a:ext cx="79089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在Windows命令处理程序窗口中，使用命令安装完MySQL服务之后，还需要对MySQL服务进行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。MySQL的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初始化过程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具体如下。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1.6.3配置MySQL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339280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-1905" y="2142490"/>
            <a:ext cx="1697355" cy="515620"/>
            <a:chOff x="-2086" y="2141478"/>
            <a:chExt cx="1697534" cy="515997"/>
          </a:xfrm>
        </p:grpSpPr>
        <p:sp>
          <p:nvSpPr>
            <p:cNvPr id="28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0" y="3101340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2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701665" y="1125220"/>
            <a:ext cx="2159000" cy="535940"/>
            <a:chOff x="8979" y="1772"/>
            <a:chExt cx="3400" cy="844"/>
          </a:xfrm>
        </p:grpSpPr>
        <p:sp>
          <p:nvSpPr>
            <p:cNvPr id="67" name="1"/>
            <p:cNvSpPr txBox="1"/>
            <p:nvPr>
              <p:custDataLst>
                <p:tags r:id="rId1"/>
              </p:custDataLst>
            </p:nvPr>
          </p:nvSpPr>
          <p:spPr>
            <a:xfrm>
              <a:off x="8979" y="1772"/>
              <a:ext cx="3400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配置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MySQL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283" y="2544"/>
              <a:ext cx="2792" cy="72"/>
              <a:chOff x="5367867" y="3100583"/>
              <a:chExt cx="1773297" cy="45722"/>
            </a:xfrm>
          </p:grpSpPr>
          <p:cxnSp>
            <p:nvCxnSpPr>
              <p:cNvPr id="9" name="直线连接符 8"/>
              <p:cNvCxnSpPr>
                <a:stCxn id="10" idx="2"/>
              </p:cNvCxnSpPr>
              <p:nvPr/>
            </p:nvCxnSpPr>
            <p:spPr>
              <a:xfrm flipV="1">
                <a:off x="5367867" y="3114554"/>
                <a:ext cx="1773297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椭圆 9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7095295" y="3100586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1.6.3配置MySQL</a:t>
            </a:r>
          </a:p>
        </p:txBody>
      </p:sp>
      <p:sp>
        <p:nvSpPr>
          <p:cNvPr id="20" name="流程图: 可选过程 19"/>
          <p:cNvSpPr/>
          <p:nvPr/>
        </p:nvSpPr>
        <p:spPr>
          <a:xfrm>
            <a:off x="3500120" y="1917065"/>
            <a:ext cx="6771640" cy="1374140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lnSpc>
                <a:spcPct val="150000"/>
              </a:lnSpc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90950" y="1989455"/>
            <a:ext cx="629285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l">
              <a:lnSpc>
                <a:spcPct val="150000"/>
              </a:lnSpc>
            </a:pP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(1)在MySQL的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安装目录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E:\mysql-8.0.23-winx64下，使用文本编辑器（如记事本、Notepad++）创建配置文件，一般情况定义MySQL配置文件的名称为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my.ini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，my.ini中配置的内容如下所示。</a:t>
            </a:r>
            <a:endParaRPr lang="zh-CN" altLang="it-IT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17695" y="3501390"/>
            <a:ext cx="5038725" cy="2470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5900" anchor="ctr"/>
          <a:lstStyle/>
          <a:p>
            <a:pPr lvl="1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[mysqld]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# 设置mysql的安装目录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basedir=E:\mysql-8.0.23-winx64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# 设置MySQL数据库文件的存放目录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datadir=E:\mysql-8.0.23-winx64\data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# 设置端口号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port=3306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defRPr/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3379470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170081"/>
            <a:ext cx="1626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881" y="3105248"/>
            <a:ext cx="1697269" cy="515916"/>
            <a:chOff x="-2086" y="2141478"/>
            <a:chExt cx="1697534" cy="515997"/>
          </a:xfrm>
        </p:grpSpPr>
        <p:sp>
          <p:nvSpPr>
            <p:cNvPr id="6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701665" y="1125220"/>
            <a:ext cx="2159000" cy="535940"/>
            <a:chOff x="8979" y="1772"/>
            <a:chExt cx="3400" cy="844"/>
          </a:xfrm>
        </p:grpSpPr>
        <p:sp>
          <p:nvSpPr>
            <p:cNvPr id="13" name="1"/>
            <p:cNvSpPr txBox="1"/>
            <p:nvPr>
              <p:custDataLst>
                <p:tags r:id="rId1"/>
              </p:custDataLst>
            </p:nvPr>
          </p:nvSpPr>
          <p:spPr>
            <a:xfrm>
              <a:off x="8979" y="1772"/>
              <a:ext cx="3400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配置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MySQL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9283" y="2544"/>
              <a:ext cx="2792" cy="72"/>
              <a:chOff x="5367867" y="3100583"/>
              <a:chExt cx="1773297" cy="45722"/>
            </a:xfrm>
          </p:grpSpPr>
          <p:cxnSp>
            <p:nvCxnSpPr>
              <p:cNvPr id="15" name="直线连接符 8"/>
              <p:cNvCxnSpPr>
                <a:stCxn id="16" idx="2"/>
              </p:cNvCxnSpPr>
              <p:nvPr/>
            </p:nvCxnSpPr>
            <p:spPr>
              <a:xfrm flipV="1">
                <a:off x="5367867" y="3114554"/>
                <a:ext cx="1773297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椭圆 15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7095295" y="3100586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11" name="矩形 10"/>
          <p:cNvSpPr/>
          <p:nvPr/>
        </p:nvSpPr>
        <p:spPr>
          <a:xfrm>
            <a:off x="4295140" y="4490085"/>
            <a:ext cx="5038725" cy="4406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 marL="0" lvl="1"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mysqld --initialize --console</a:t>
            </a:r>
            <a:endParaRPr lang="zh-CN" altLang="it-IT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defRPr/>
            </a:pP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1.6.3配置MySQL</a:t>
            </a:r>
          </a:p>
        </p:txBody>
      </p:sp>
      <p:sp>
        <p:nvSpPr>
          <p:cNvPr id="20" name="流程图: 可选过程 19"/>
          <p:cNvSpPr/>
          <p:nvPr/>
        </p:nvSpPr>
        <p:spPr>
          <a:xfrm>
            <a:off x="3500120" y="2459990"/>
            <a:ext cx="6771640" cy="1102360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lvl="1">
              <a:lnSpc>
                <a:spcPct val="150000"/>
              </a:lnSpc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739515" y="2846070"/>
            <a:ext cx="62928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(2)通过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初始化MySQL自动创建数据库文件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目录的具体命令如下所示。</a:t>
            </a:r>
            <a:endParaRPr lang="zh-CN" altLang="it-IT"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1.6.4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管理MySQL服务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982345" y="909320"/>
            <a:ext cx="3124200" cy="676275"/>
            <a:chOff x="1547" y="1432"/>
            <a:chExt cx="4780" cy="1065"/>
          </a:xfrm>
        </p:grpSpPr>
        <p:sp>
          <p:nvSpPr>
            <p:cNvPr id="20" name="五边形 19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管理MySQL服务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558290" y="2206625"/>
            <a:ext cx="4461510" cy="3499485"/>
            <a:chOff x="2454" y="3814"/>
            <a:chExt cx="7026" cy="5511"/>
          </a:xfrm>
        </p:grpSpPr>
        <p:sp>
          <p:nvSpPr>
            <p:cNvPr id="2" name="Shape 1452"/>
            <p:cNvSpPr/>
            <p:nvPr/>
          </p:nvSpPr>
          <p:spPr>
            <a:xfrm>
              <a:off x="2454" y="4967"/>
              <a:ext cx="7026" cy="4359"/>
            </a:xfrm>
            <a:prstGeom prst="roundRect">
              <a:avLst>
                <a:gd name="adj" fmla="val 6924"/>
              </a:avLst>
            </a:prstGeom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Text Placeholder 6"/>
            <p:cNvSpPr txBox="1"/>
            <p:nvPr/>
          </p:nvSpPr>
          <p:spPr>
            <a:xfrm>
              <a:off x="2817" y="5514"/>
              <a:ext cx="6329" cy="237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120000"/>
                </a:lnSpc>
                <a:buNone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MySQL安装和配置完成后，需要启动MySQL服务，否则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MySQL客户端无法连接到数据库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。</a:t>
              </a:r>
            </a:p>
            <a:p>
              <a:pPr marL="0" indent="0" algn="just">
                <a:lnSpc>
                  <a:spcPct val="120000"/>
                </a:lnSpc>
                <a:buNone/>
              </a:pP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启动MySQL服务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可以在Windows命令处理程序窗口中执行如下命令。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4155" y="4153"/>
              <a:ext cx="3402" cy="908"/>
            </a:xfrm>
            <a:prstGeom prst="rect">
              <a:avLst/>
            </a:prstGeom>
            <a:solidFill>
              <a:srgbClr val="1369B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>
                <a:lnSpc>
                  <a:spcPct val="150000"/>
                </a:lnSpc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grpSp>
          <p:nvGrpSpPr>
            <p:cNvPr id="7" name="Group 20"/>
            <p:cNvGrpSpPr/>
            <p:nvPr/>
          </p:nvGrpSpPr>
          <p:grpSpPr>
            <a:xfrm>
              <a:off x="3871" y="3814"/>
              <a:ext cx="746" cy="746"/>
              <a:chOff x="1369087" y="2088729"/>
              <a:chExt cx="474017" cy="474016"/>
            </a:xfrm>
          </p:grpSpPr>
          <p:sp>
            <p:nvSpPr>
              <p:cNvPr id="8" name="Shape 1463"/>
              <p:cNvSpPr/>
              <p:nvPr/>
            </p:nvSpPr>
            <p:spPr>
              <a:xfrm>
                <a:off x="1369087" y="2088729"/>
                <a:ext cx="474017" cy="4740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DCDEE0"/>
              </a:solidFill>
              <a:ln w="12700">
                <a:miter lim="400000"/>
              </a:ln>
            </p:spPr>
            <p:txBody>
              <a:bodyPr lIns="25400" tIns="25400" rIns="25400" bIns="25400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Shape 1464"/>
              <p:cNvSpPr/>
              <p:nvPr/>
            </p:nvSpPr>
            <p:spPr>
              <a:xfrm>
                <a:off x="1477567" y="2232573"/>
                <a:ext cx="231656" cy="1863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0" h="21363" extrusionOk="0">
                    <a:moveTo>
                      <a:pt x="7274" y="21020"/>
                    </a:moveTo>
                    <a:cubicBezTo>
                      <a:pt x="7274" y="21376"/>
                      <a:pt x="7435" y="21475"/>
                      <a:pt x="7659" y="21222"/>
                    </a:cubicBezTo>
                    <a:cubicBezTo>
                      <a:pt x="7951" y="20894"/>
                      <a:pt x="10973" y="17529"/>
                      <a:pt x="10973" y="17529"/>
                    </a:cubicBezTo>
                    <a:lnTo>
                      <a:pt x="7274" y="15153"/>
                    </a:lnTo>
                    <a:cubicBezTo>
                      <a:pt x="7274" y="15153"/>
                      <a:pt x="7274" y="21020"/>
                      <a:pt x="7274" y="21020"/>
                    </a:cubicBezTo>
                    <a:close/>
                    <a:moveTo>
                      <a:pt x="20812" y="50"/>
                    </a:moveTo>
                    <a:cubicBezTo>
                      <a:pt x="20412" y="224"/>
                      <a:pt x="667" y="8860"/>
                      <a:pt x="277" y="9030"/>
                    </a:cubicBezTo>
                    <a:cubicBezTo>
                      <a:pt x="-53" y="9174"/>
                      <a:pt x="-126" y="9528"/>
                      <a:pt x="266" y="9723"/>
                    </a:cubicBezTo>
                    <a:cubicBezTo>
                      <a:pt x="733" y="9955"/>
                      <a:pt x="4681" y="11919"/>
                      <a:pt x="4681" y="11919"/>
                    </a:cubicBezTo>
                    <a:lnTo>
                      <a:pt x="4681" y="11919"/>
                    </a:lnTo>
                    <a:lnTo>
                      <a:pt x="7298" y="13221"/>
                    </a:lnTo>
                    <a:cubicBezTo>
                      <a:pt x="7298" y="13221"/>
                      <a:pt x="19903" y="1732"/>
                      <a:pt x="20073" y="1577"/>
                    </a:cubicBezTo>
                    <a:cubicBezTo>
                      <a:pt x="20246" y="1420"/>
                      <a:pt x="20443" y="1713"/>
                      <a:pt x="20319" y="1881"/>
                    </a:cubicBezTo>
                    <a:cubicBezTo>
                      <a:pt x="20194" y="2050"/>
                      <a:pt x="11163" y="14170"/>
                      <a:pt x="11163" y="14170"/>
                    </a:cubicBezTo>
                    <a:cubicBezTo>
                      <a:pt x="11163" y="14170"/>
                      <a:pt x="11163" y="14170"/>
                      <a:pt x="11163" y="14171"/>
                    </a:cubicBezTo>
                    <a:lnTo>
                      <a:pt x="10637" y="14898"/>
                    </a:lnTo>
                    <a:lnTo>
                      <a:pt x="11333" y="15363"/>
                    </a:lnTo>
                    <a:lnTo>
                      <a:pt x="11333" y="15363"/>
                    </a:lnTo>
                    <a:cubicBezTo>
                      <a:pt x="11333" y="15363"/>
                      <a:pt x="16742" y="18976"/>
                      <a:pt x="17127" y="19234"/>
                    </a:cubicBezTo>
                    <a:cubicBezTo>
                      <a:pt x="17464" y="19459"/>
                      <a:pt x="17904" y="19272"/>
                      <a:pt x="18001" y="18750"/>
                    </a:cubicBezTo>
                    <a:cubicBezTo>
                      <a:pt x="18117" y="18135"/>
                      <a:pt x="21310" y="1052"/>
                      <a:pt x="21382" y="671"/>
                    </a:cubicBezTo>
                    <a:cubicBezTo>
                      <a:pt x="21474" y="177"/>
                      <a:pt x="21211" y="-125"/>
                      <a:pt x="20812" y="5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1" name="Text Placeholder 5"/>
            <p:cNvSpPr txBox="1"/>
            <p:nvPr/>
          </p:nvSpPr>
          <p:spPr>
            <a:xfrm>
              <a:off x="4609" y="4153"/>
              <a:ext cx="2675" cy="910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18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启动MySQL服务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544945" y="2206625"/>
            <a:ext cx="4461510" cy="3498850"/>
            <a:chOff x="10307" y="3814"/>
            <a:chExt cx="7026" cy="5510"/>
          </a:xfrm>
        </p:grpSpPr>
        <p:sp>
          <p:nvSpPr>
            <p:cNvPr id="27" name="Shape 1452"/>
            <p:cNvSpPr/>
            <p:nvPr/>
          </p:nvSpPr>
          <p:spPr>
            <a:xfrm>
              <a:off x="10307" y="4966"/>
              <a:ext cx="7026" cy="4359"/>
            </a:xfrm>
            <a:prstGeom prst="roundRect">
              <a:avLst>
                <a:gd name="adj" fmla="val 6924"/>
              </a:avLst>
            </a:prstGeom>
            <a:ln w="12700">
              <a:solidFill>
                <a:srgbClr val="A6AAA9"/>
              </a:solidFill>
              <a:miter lim="400000"/>
            </a:ln>
          </p:spPr>
          <p:txBody>
            <a:bodyPr lIns="19051" tIns="19051" rIns="19051" bIns="19051" anchor="ctr"/>
            <a:lstStyle/>
            <a:p>
              <a:pPr lvl="0"/>
              <a:endParaRPr sz="1735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Text Placeholder 6"/>
            <p:cNvSpPr txBox="1"/>
            <p:nvPr/>
          </p:nvSpPr>
          <p:spPr>
            <a:xfrm>
              <a:off x="10670" y="5513"/>
              <a:ext cx="6329" cy="2372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150000"/>
                </a:lnSpc>
                <a:buNone/>
              </a:pP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在Windows命令处理程序窗口中，不仅可以使用命令启动MySQL服务，还可以使用命令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停止MySQL服务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，停止MySQL服务的具体命令如下所示。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2008" y="4152"/>
              <a:ext cx="3402" cy="908"/>
            </a:xfrm>
            <a:prstGeom prst="rect">
              <a:avLst/>
            </a:prstGeom>
            <a:solidFill>
              <a:srgbClr val="1369B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1">
                <a:lnSpc>
                  <a:spcPct val="150000"/>
                </a:lnSpc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34" name="Text Placeholder 5"/>
            <p:cNvSpPr txBox="1"/>
            <p:nvPr/>
          </p:nvSpPr>
          <p:spPr>
            <a:xfrm>
              <a:off x="12462" y="4152"/>
              <a:ext cx="2675" cy="910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18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停止MySQL服务</a:t>
              </a:r>
            </a:p>
          </p:txBody>
        </p:sp>
        <p:grpSp>
          <p:nvGrpSpPr>
            <p:cNvPr id="13" name="Group 32"/>
            <p:cNvGrpSpPr/>
            <p:nvPr/>
          </p:nvGrpSpPr>
          <p:grpSpPr>
            <a:xfrm>
              <a:off x="11640" y="3814"/>
              <a:ext cx="746" cy="746"/>
              <a:chOff x="3906591" y="2088732"/>
              <a:chExt cx="474017" cy="474017"/>
            </a:xfrm>
          </p:grpSpPr>
          <p:sp>
            <p:nvSpPr>
              <p:cNvPr id="14" name="Shape 1474"/>
              <p:cNvSpPr/>
              <p:nvPr/>
            </p:nvSpPr>
            <p:spPr>
              <a:xfrm>
                <a:off x="3906591" y="2088732"/>
                <a:ext cx="474017" cy="474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2"/>
              </a:solidFill>
              <a:ln w="12700">
                <a:miter lim="400000"/>
              </a:ln>
            </p:spPr>
            <p:txBody>
              <a:bodyPr lIns="25400" tIns="25400" rIns="25400" bIns="25400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grpSp>
            <p:nvGrpSpPr>
              <p:cNvPr id="15" name="Group 1479"/>
              <p:cNvGrpSpPr/>
              <p:nvPr/>
            </p:nvGrpSpPr>
            <p:grpSpPr>
              <a:xfrm>
                <a:off x="4031314" y="2211790"/>
                <a:ext cx="199171" cy="186335"/>
                <a:chOff x="0" y="0"/>
                <a:chExt cx="398340" cy="372667"/>
              </a:xfrm>
            </p:grpSpPr>
            <p:sp>
              <p:nvSpPr>
                <p:cNvPr id="16" name="Shape 1477"/>
                <p:cNvSpPr/>
                <p:nvPr/>
              </p:nvSpPr>
              <p:spPr>
                <a:xfrm>
                  <a:off x="0" y="0"/>
                  <a:ext cx="346395" cy="24198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74" h="21420" extrusionOk="0">
                      <a:moveTo>
                        <a:pt x="21474" y="11049"/>
                      </a:moveTo>
                      <a:lnTo>
                        <a:pt x="18909" y="958"/>
                      </a:lnTo>
                      <a:cubicBezTo>
                        <a:pt x="18720" y="217"/>
                        <a:pt x="18164" y="-180"/>
                        <a:pt x="17669" y="79"/>
                      </a:cubicBezTo>
                      <a:lnTo>
                        <a:pt x="618" y="8962"/>
                      </a:lnTo>
                      <a:cubicBezTo>
                        <a:pt x="123" y="9221"/>
                        <a:pt x="-126" y="10036"/>
                        <a:pt x="64" y="10782"/>
                      </a:cubicBezTo>
                      <a:lnTo>
                        <a:pt x="2769" y="21420"/>
                      </a:lnTo>
                      <a:lnTo>
                        <a:pt x="2769" y="15715"/>
                      </a:lnTo>
                      <a:cubicBezTo>
                        <a:pt x="2769" y="13145"/>
                        <a:pt x="4209" y="11049"/>
                        <a:pt x="5979" y="11049"/>
                      </a:cubicBezTo>
                      <a:lnTo>
                        <a:pt x="10484" y="11049"/>
                      </a:lnTo>
                      <a:lnTo>
                        <a:pt x="15858" y="5663"/>
                      </a:lnTo>
                      <a:lnTo>
                        <a:pt x="18967" y="11049"/>
                      </a:lnTo>
                      <a:cubicBezTo>
                        <a:pt x="18967" y="11049"/>
                        <a:pt x="21474" y="11049"/>
                        <a:pt x="21474" y="1104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Shape 1478"/>
                <p:cNvSpPr/>
                <p:nvPr/>
              </p:nvSpPr>
              <p:spPr>
                <a:xfrm>
                  <a:off x="74826" y="149651"/>
                  <a:ext cx="323515" cy="2230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571" y="0"/>
                      </a:moveTo>
                      <a:lnTo>
                        <a:pt x="1028" y="0"/>
                      </a:lnTo>
                      <a:cubicBezTo>
                        <a:pt x="460" y="0"/>
                        <a:pt x="0" y="708"/>
                        <a:pt x="0" y="1571"/>
                      </a:cubicBezTo>
                      <a:lnTo>
                        <a:pt x="0" y="20029"/>
                      </a:lnTo>
                      <a:cubicBezTo>
                        <a:pt x="0" y="20897"/>
                        <a:pt x="460" y="21600"/>
                        <a:pt x="1028" y="21600"/>
                      </a:cubicBezTo>
                      <a:lnTo>
                        <a:pt x="20571" y="21600"/>
                      </a:lnTo>
                      <a:cubicBezTo>
                        <a:pt x="21140" y="21600"/>
                        <a:pt x="21600" y="20897"/>
                        <a:pt x="21600" y="20029"/>
                      </a:cubicBezTo>
                      <a:lnTo>
                        <a:pt x="21600" y="1571"/>
                      </a:lnTo>
                      <a:cubicBezTo>
                        <a:pt x="21600" y="708"/>
                        <a:pt x="21140" y="0"/>
                        <a:pt x="205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36" name="矩形 35"/>
          <p:cNvSpPr/>
          <p:nvPr/>
        </p:nvSpPr>
        <p:spPr>
          <a:xfrm>
            <a:off x="1974850" y="5014595"/>
            <a:ext cx="3601720" cy="2959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1"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net start MySQL80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958965" y="4942205"/>
            <a:ext cx="3601720" cy="2959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1"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net stop MySQL80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247142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566035"/>
            <a:ext cx="7908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MySQL服务启动成功后，可以通过MySQL客户端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登录MySQL及密码设置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，下面针对这两种操作进行讲解。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35" y="266700"/>
            <a:ext cx="430466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登录MySQL与密码设置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57263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-1905" y="2142490"/>
            <a:ext cx="1697355" cy="515620"/>
            <a:chOff x="-2086" y="2141478"/>
            <a:chExt cx="1697534" cy="515997"/>
          </a:xfrm>
        </p:grpSpPr>
        <p:sp>
          <p:nvSpPr>
            <p:cNvPr id="28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0" y="3101340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2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-1905" y="400621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3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-10795" y="491045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4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265" y="513270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35" y="266700"/>
            <a:ext cx="430466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登录MySQL与密码设置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396615" y="2169795"/>
            <a:ext cx="6768465" cy="3026410"/>
            <a:chOff x="5349" y="3417"/>
            <a:chExt cx="10659" cy="4766"/>
          </a:xfrm>
        </p:grpSpPr>
        <p:sp>
          <p:nvSpPr>
            <p:cNvPr id="7" name="图文框 6"/>
            <p:cNvSpPr/>
            <p:nvPr/>
          </p:nvSpPr>
          <p:spPr>
            <a:xfrm>
              <a:off x="5349" y="3417"/>
              <a:ext cx="10659" cy="4766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37" y="4494"/>
              <a:ext cx="8448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algn="l">
                <a:lnSpc>
                  <a:spcPct val="150000"/>
                </a:lnSpc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(1)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在MySQL安装目录的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bin目录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中，mysql.exe是MySQL提供的命令行客户端工具，通过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mysql.exe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登录MySQL命令如下所示。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159375" y="1196975"/>
            <a:ext cx="3459480" cy="509905"/>
            <a:chOff x="9259" y="1812"/>
            <a:chExt cx="5448" cy="803"/>
          </a:xfrm>
        </p:grpSpPr>
        <p:sp>
          <p:nvSpPr>
            <p:cNvPr id="14" name="1"/>
            <p:cNvSpPr txBox="1"/>
            <p:nvPr>
              <p:custDataLst>
                <p:tags r:id="rId1"/>
              </p:custDataLst>
            </p:nvPr>
          </p:nvSpPr>
          <p:spPr>
            <a:xfrm>
              <a:off x="9292" y="1812"/>
              <a:ext cx="5377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登录MySQL与密码设置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259" y="2537"/>
              <a:ext cx="5449" cy="79"/>
              <a:chOff x="5367867" y="3096141"/>
              <a:chExt cx="3460700" cy="50161"/>
            </a:xfrm>
          </p:grpSpPr>
          <p:cxnSp>
            <p:nvCxnSpPr>
              <p:cNvPr id="17" name="直线连接符 8"/>
              <p:cNvCxnSpPr>
                <a:stCxn id="18" idx="2"/>
              </p:cNvCxnSpPr>
              <p:nvPr/>
            </p:nvCxnSpPr>
            <p:spPr>
              <a:xfrm flipV="1">
                <a:off x="5367867" y="3114554"/>
                <a:ext cx="3457040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椭圆 17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8782848" y="3096141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21" name="矩形 20"/>
          <p:cNvSpPr/>
          <p:nvPr/>
        </p:nvSpPr>
        <p:spPr>
          <a:xfrm>
            <a:off x="4343400" y="4047490"/>
            <a:ext cx="4979035" cy="377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 marL="0" lvl="1"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 –h hostname –u username –ppassword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defRPr/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57263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-1905" y="400621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3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-10795" y="491045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4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265" y="513270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170081"/>
            <a:ext cx="1626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881" y="3105248"/>
            <a:ext cx="1697269" cy="515916"/>
            <a:chOff x="-2086" y="2141478"/>
            <a:chExt cx="1697534" cy="515997"/>
          </a:xfrm>
        </p:grpSpPr>
        <p:sp>
          <p:nvSpPr>
            <p:cNvPr id="6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015230" y="1125220"/>
            <a:ext cx="3459480" cy="509905"/>
            <a:chOff x="9259" y="1812"/>
            <a:chExt cx="5448" cy="803"/>
          </a:xfrm>
        </p:grpSpPr>
        <p:sp>
          <p:nvSpPr>
            <p:cNvPr id="8" name="1"/>
            <p:cNvSpPr txBox="1"/>
            <p:nvPr>
              <p:custDataLst>
                <p:tags r:id="rId1"/>
              </p:custDataLst>
            </p:nvPr>
          </p:nvSpPr>
          <p:spPr>
            <a:xfrm>
              <a:off x="9292" y="1812"/>
              <a:ext cx="5377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登录MySQL与密码设置</a:t>
              </a: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9259" y="2537"/>
              <a:ext cx="5449" cy="79"/>
              <a:chOff x="5367867" y="3096141"/>
              <a:chExt cx="3460700" cy="50161"/>
            </a:xfrm>
          </p:grpSpPr>
          <p:cxnSp>
            <p:nvCxnSpPr>
              <p:cNvPr id="10" name="直线连接符 8"/>
              <p:cNvCxnSpPr>
                <a:stCxn id="11" idx="2"/>
              </p:cNvCxnSpPr>
              <p:nvPr/>
            </p:nvCxnSpPr>
            <p:spPr>
              <a:xfrm flipV="1">
                <a:off x="5367867" y="3114554"/>
                <a:ext cx="3457040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椭圆 10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8782848" y="3096141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23" name="Title 1"/>
          <p:cNvSpPr txBox="1"/>
          <p:nvPr/>
        </p:nvSpPr>
        <p:spPr>
          <a:xfrm>
            <a:off x="1143635" y="266700"/>
            <a:ext cx="430466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登录MySQL与密码设置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3396615" y="2169795"/>
            <a:ext cx="6768465" cy="3026410"/>
            <a:chOff x="5349" y="3417"/>
            <a:chExt cx="10659" cy="4766"/>
          </a:xfrm>
        </p:grpSpPr>
        <p:sp>
          <p:nvSpPr>
            <p:cNvPr id="27" name="图文框 26"/>
            <p:cNvSpPr/>
            <p:nvPr/>
          </p:nvSpPr>
          <p:spPr>
            <a:xfrm>
              <a:off x="5349" y="3417"/>
              <a:ext cx="10659" cy="4766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537" y="4494"/>
              <a:ext cx="8448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algn="l">
                <a:lnSpc>
                  <a:spcPct val="150000"/>
                </a:lnSpc>
              </a:pP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(2)本书初始化数据库时，MySQL为root用户设置的初始密码为“(Rh1gdCgqkpZ”，使用命令登录MySQL时，输入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用户名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和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密码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即可，具体命令如下所示。</a:t>
              </a:r>
              <a:endPara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 algn="l">
                <a:lnSpc>
                  <a:spcPct val="150000"/>
                </a:lnSpc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4343400" y="4149725"/>
            <a:ext cx="4979035" cy="377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 marL="0" lvl="1"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 -u root -p(Rh1gdCgqkpZ</a:t>
            </a:r>
          </a:p>
          <a:p>
            <a:pPr marL="0" lvl="1">
              <a:defRPr/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57263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3101340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2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-10795" y="491045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4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265" y="513270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170081"/>
            <a:ext cx="1626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5275" y="4017264"/>
            <a:ext cx="1697269" cy="515916"/>
            <a:chOff x="-2086" y="2141478"/>
            <a:chExt cx="1697534" cy="515997"/>
          </a:xfrm>
        </p:grpSpPr>
        <p:sp>
          <p:nvSpPr>
            <p:cNvPr id="6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35" y="266700"/>
            <a:ext cx="430466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登录MySQL与密码设置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5015230" y="1125220"/>
            <a:ext cx="3459480" cy="509905"/>
            <a:chOff x="9259" y="1812"/>
            <a:chExt cx="5448" cy="803"/>
          </a:xfrm>
        </p:grpSpPr>
        <p:sp>
          <p:nvSpPr>
            <p:cNvPr id="18" name="1"/>
            <p:cNvSpPr txBox="1"/>
            <p:nvPr>
              <p:custDataLst>
                <p:tags r:id="rId1"/>
              </p:custDataLst>
            </p:nvPr>
          </p:nvSpPr>
          <p:spPr>
            <a:xfrm>
              <a:off x="9292" y="1812"/>
              <a:ext cx="5377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登录MySQL与密码设置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259" y="2537"/>
              <a:ext cx="5449" cy="79"/>
              <a:chOff x="5367867" y="3096141"/>
              <a:chExt cx="3460700" cy="50161"/>
            </a:xfrm>
          </p:grpSpPr>
          <p:cxnSp>
            <p:nvCxnSpPr>
              <p:cNvPr id="20" name="直线连接符 8"/>
              <p:cNvCxnSpPr>
                <a:stCxn id="26" idx="2"/>
              </p:cNvCxnSpPr>
              <p:nvPr/>
            </p:nvCxnSpPr>
            <p:spPr>
              <a:xfrm flipV="1">
                <a:off x="5367867" y="3114554"/>
                <a:ext cx="3457040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8782848" y="3096141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3396615" y="2169795"/>
            <a:ext cx="6768465" cy="2676525"/>
            <a:chOff x="5349" y="3417"/>
            <a:chExt cx="10659" cy="4766"/>
          </a:xfrm>
        </p:grpSpPr>
        <p:sp>
          <p:nvSpPr>
            <p:cNvPr id="29" name="图文框 28"/>
            <p:cNvSpPr/>
            <p:nvPr/>
          </p:nvSpPr>
          <p:spPr>
            <a:xfrm>
              <a:off x="5349" y="3417"/>
              <a:ext cx="10659" cy="4766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537" y="4891"/>
              <a:ext cx="8448" cy="2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)</a:t>
              </a:r>
              <a:r>
                <a:rPr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使用MySQL客户端成功登录MySQL后，如果需要退出MySQL命令行客户端，可以使用</a:t>
              </a:r>
              <a:r>
                <a:rPr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exit</a:t>
              </a:r>
              <a:r>
                <a:rPr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或者</a:t>
              </a:r>
              <a:r>
                <a:rPr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quit</a:t>
              </a:r>
              <a:r>
                <a:rPr 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</a:t>
              </a:r>
              <a:r>
                <a:rPr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命令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。</a:t>
              </a:r>
              <a:endPara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 algn="l">
                <a:lnSpc>
                  <a:spcPct val="150000"/>
                </a:lnSpc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7"/>
          <p:cNvCxnSpPr/>
          <p:nvPr/>
        </p:nvCxnSpPr>
        <p:spPr>
          <a:xfrm>
            <a:off x="1789430" y="1487170"/>
            <a:ext cx="0" cy="4572635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1730375" y="234124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3101340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2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-1905" y="4006215"/>
            <a:ext cx="162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3</a:t>
            </a:r>
          </a:p>
        </p:txBody>
      </p:sp>
      <p:sp>
        <p:nvSpPr>
          <p:cNvPr id="37" name="椭圆 36"/>
          <p:cNvSpPr/>
          <p:nvPr/>
        </p:nvSpPr>
        <p:spPr>
          <a:xfrm>
            <a:off x="1730375" y="3310890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1730375" y="422211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39265" y="5132705"/>
            <a:ext cx="118745" cy="11874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2170081"/>
            <a:ext cx="162657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+mn-ea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+mn-ea"/>
              </a:rPr>
              <a:t>1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881" y="4934258"/>
            <a:ext cx="1697269" cy="515916"/>
            <a:chOff x="-2086" y="2141478"/>
            <a:chExt cx="1697534" cy="515997"/>
          </a:xfrm>
        </p:grpSpPr>
        <p:sp>
          <p:nvSpPr>
            <p:cNvPr id="6" name="箭头: 五边形 31"/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-2086" y="2168643"/>
              <a:ext cx="1490650" cy="46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4</a:t>
              </a:r>
              <a:endParaRPr lang="zh-CN" altLang="en-US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" name="Title 1"/>
          <p:cNvSpPr txBox="1"/>
          <p:nvPr/>
        </p:nvSpPr>
        <p:spPr>
          <a:xfrm>
            <a:off x="1143635" y="266700"/>
            <a:ext cx="430466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1.6.5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登录MySQL与密码设置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015230" y="1125220"/>
            <a:ext cx="3459480" cy="509905"/>
            <a:chOff x="9259" y="1812"/>
            <a:chExt cx="5448" cy="803"/>
          </a:xfrm>
        </p:grpSpPr>
        <p:sp>
          <p:nvSpPr>
            <p:cNvPr id="10" name="1"/>
            <p:cNvSpPr txBox="1"/>
            <p:nvPr>
              <p:custDataLst>
                <p:tags r:id="rId1"/>
              </p:custDataLst>
            </p:nvPr>
          </p:nvSpPr>
          <p:spPr>
            <a:xfrm>
              <a:off x="9292" y="1812"/>
              <a:ext cx="5377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登录MySQL与密码设置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9259" y="2537"/>
              <a:ext cx="5449" cy="79"/>
              <a:chOff x="5367867" y="3096141"/>
              <a:chExt cx="3460700" cy="50161"/>
            </a:xfrm>
          </p:grpSpPr>
          <p:cxnSp>
            <p:nvCxnSpPr>
              <p:cNvPr id="17" name="直线连接符 8"/>
              <p:cNvCxnSpPr>
                <a:stCxn id="22" idx="2"/>
              </p:cNvCxnSpPr>
              <p:nvPr/>
            </p:nvCxnSpPr>
            <p:spPr>
              <a:xfrm flipV="1">
                <a:off x="5367867" y="3114554"/>
                <a:ext cx="3457040" cy="88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椭圆 21"/>
              <p:cNvSpPr/>
              <p:nvPr/>
            </p:nvSpPr>
            <p:spPr>
              <a:xfrm>
                <a:off x="5367867" y="3100583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8782848" y="3096141"/>
                <a:ext cx="45719" cy="45719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3396615" y="2169795"/>
            <a:ext cx="6768465" cy="3237865"/>
            <a:chOff x="5349" y="3417"/>
            <a:chExt cx="10659" cy="4766"/>
          </a:xfrm>
        </p:grpSpPr>
        <p:sp>
          <p:nvSpPr>
            <p:cNvPr id="27" name="图文框 26"/>
            <p:cNvSpPr/>
            <p:nvPr/>
          </p:nvSpPr>
          <p:spPr>
            <a:xfrm>
              <a:off x="5349" y="3417"/>
              <a:ext cx="10659" cy="4766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455" y="4317"/>
              <a:ext cx="8448" cy="33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algn="l"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(4)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root用户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当前的密码是MySQL初始化时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随机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生成的，不方便记忆。MySQL中允许为登录MySQL服务器的用户</a:t>
              </a:r>
              <a:r>
                <a:rPr lang="zh-CN" altLang="it-IT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设置密码</a:t>
              </a:r>
              <a:r>
                <a:rPr lang="zh-CN" altLang="it-IT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，下面以设置root用户的密码为例，设置MySQL账户的密码，具体语句如下所示。</a:t>
              </a:r>
              <a:endPara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 algn="l">
                <a:lnSpc>
                  <a:spcPct val="150000"/>
                </a:lnSpc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4150995" y="4437380"/>
            <a:ext cx="5477510" cy="377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 marL="0" lvl="1">
              <a:defRPr/>
            </a:pPr>
            <a:r>
              <a: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ALTER USER 'root'@'localhost' IDENTIFIED BY '123456';</a:t>
            </a: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defRPr/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1482090" y="2501900"/>
            <a:ext cx="9577705" cy="244856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70050" y="2830195"/>
            <a:ext cx="92024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MySQL提供了很多内置的命令，对于刚接触MySQL的人员来说，很多的命令不知道该如何使用。为此，MySQL提供了相应的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。MySQL的帮助信息分为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客户端的帮助信息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服务端的帮助信息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，接下来分别进行讲解。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134870" y="2205355"/>
            <a:ext cx="8320405" cy="3740946"/>
            <a:chOff x="3260" y="2469"/>
            <a:chExt cx="13103" cy="5891"/>
          </a:xfrm>
        </p:grpSpPr>
        <p:grpSp>
          <p:nvGrpSpPr>
            <p:cNvPr id="18" name="组合 17"/>
            <p:cNvGrpSpPr/>
            <p:nvPr/>
          </p:nvGrpSpPr>
          <p:grpSpPr>
            <a:xfrm>
              <a:off x="4124" y="2469"/>
              <a:ext cx="10966" cy="2268"/>
              <a:chOff x="2655457" y="2246012"/>
              <a:chExt cx="6963152" cy="1440000"/>
            </a:xfrm>
          </p:grpSpPr>
          <p:sp>
            <p:nvSpPr>
              <p:cNvPr id="19" name="Rectangle 58"/>
              <p:cNvSpPr>
                <a:spLocks noChangeArrowheads="1"/>
              </p:cNvSpPr>
              <p:nvPr/>
            </p:nvSpPr>
            <p:spPr bwMode="auto">
              <a:xfrm rot="2700000">
                <a:off x="3737952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Rectangle 58"/>
              <p:cNvSpPr>
                <a:spLocks noChangeArrowheads="1"/>
              </p:cNvSpPr>
              <p:nvPr/>
            </p:nvSpPr>
            <p:spPr bwMode="auto">
              <a:xfrm rot="2700000">
                <a:off x="5376000" y="224601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Rectangle 58"/>
              <p:cNvSpPr>
                <a:spLocks noChangeArrowheads="1"/>
              </p:cNvSpPr>
              <p:nvPr/>
            </p:nvSpPr>
            <p:spPr bwMode="auto">
              <a:xfrm rot="2700000">
                <a:off x="7084003" y="2246012"/>
                <a:ext cx="1440000" cy="1440000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5723670" y="2607118"/>
                <a:ext cx="721832" cy="688172"/>
              </a:xfrm>
              <a:custGeom>
                <a:avLst/>
                <a:gdLst>
                  <a:gd name="T0" fmla="*/ 188 w 490"/>
                  <a:gd name="T1" fmla="*/ 199 h 467"/>
                  <a:gd name="T2" fmla="*/ 162 w 490"/>
                  <a:gd name="T3" fmla="*/ 123 h 467"/>
                  <a:gd name="T4" fmla="*/ 162 w 490"/>
                  <a:gd name="T5" fmla="*/ 117 h 467"/>
                  <a:gd name="T6" fmla="*/ 329 w 490"/>
                  <a:gd name="T7" fmla="*/ 117 h 467"/>
                  <a:gd name="T8" fmla="*/ 329 w 490"/>
                  <a:gd name="T9" fmla="*/ 123 h 467"/>
                  <a:gd name="T10" fmla="*/ 303 w 490"/>
                  <a:gd name="T11" fmla="*/ 199 h 467"/>
                  <a:gd name="T12" fmla="*/ 391 w 490"/>
                  <a:gd name="T13" fmla="*/ 244 h 467"/>
                  <a:gd name="T14" fmla="*/ 445 w 490"/>
                  <a:gd name="T15" fmla="*/ 172 h 467"/>
                  <a:gd name="T16" fmla="*/ 445 w 490"/>
                  <a:gd name="T17" fmla="*/ 172 h 467"/>
                  <a:gd name="T18" fmla="*/ 407 w 490"/>
                  <a:gd name="T19" fmla="*/ 94 h 467"/>
                  <a:gd name="T20" fmla="*/ 375 w 490"/>
                  <a:gd name="T21" fmla="*/ 93 h 467"/>
                  <a:gd name="T22" fmla="*/ 337 w 490"/>
                  <a:gd name="T23" fmla="*/ 172 h 467"/>
                  <a:gd name="T24" fmla="*/ 337 w 490"/>
                  <a:gd name="T25" fmla="*/ 172 h 467"/>
                  <a:gd name="T26" fmla="*/ 391 w 490"/>
                  <a:gd name="T27" fmla="*/ 244 h 467"/>
                  <a:gd name="T28" fmla="*/ 344 w 490"/>
                  <a:gd name="T29" fmla="*/ 173 h 467"/>
                  <a:gd name="T30" fmla="*/ 349 w 490"/>
                  <a:gd name="T31" fmla="*/ 148 h 467"/>
                  <a:gd name="T32" fmla="*/ 430 w 490"/>
                  <a:gd name="T33" fmla="*/ 134 h 467"/>
                  <a:gd name="T34" fmla="*/ 434 w 490"/>
                  <a:gd name="T35" fmla="*/ 160 h 467"/>
                  <a:gd name="T36" fmla="*/ 422 w 490"/>
                  <a:gd name="T37" fmla="*/ 217 h 467"/>
                  <a:gd name="T38" fmla="*/ 360 w 490"/>
                  <a:gd name="T39" fmla="*/ 217 h 467"/>
                  <a:gd name="T40" fmla="*/ 137 w 490"/>
                  <a:gd name="T41" fmla="*/ 221 h 467"/>
                  <a:gd name="T42" fmla="*/ 154 w 490"/>
                  <a:gd name="T43" fmla="*/ 172 h 467"/>
                  <a:gd name="T44" fmla="*/ 154 w 490"/>
                  <a:gd name="T45" fmla="*/ 168 h 467"/>
                  <a:gd name="T46" fmla="*/ 99 w 490"/>
                  <a:gd name="T47" fmla="*/ 92 h 467"/>
                  <a:gd name="T48" fmla="*/ 46 w 490"/>
                  <a:gd name="T49" fmla="*/ 168 h 467"/>
                  <a:gd name="T50" fmla="*/ 46 w 490"/>
                  <a:gd name="T51" fmla="*/ 172 h 467"/>
                  <a:gd name="T52" fmla="*/ 62 w 490"/>
                  <a:gd name="T53" fmla="*/ 221 h 467"/>
                  <a:gd name="T54" fmla="*/ 68 w 490"/>
                  <a:gd name="T55" fmla="*/ 217 h 467"/>
                  <a:gd name="T56" fmla="*/ 56 w 490"/>
                  <a:gd name="T57" fmla="*/ 160 h 467"/>
                  <a:gd name="T58" fmla="*/ 61 w 490"/>
                  <a:gd name="T59" fmla="*/ 134 h 467"/>
                  <a:gd name="T60" fmla="*/ 142 w 490"/>
                  <a:gd name="T61" fmla="*/ 148 h 467"/>
                  <a:gd name="T62" fmla="*/ 146 w 490"/>
                  <a:gd name="T63" fmla="*/ 173 h 467"/>
                  <a:gd name="T64" fmla="*/ 100 w 490"/>
                  <a:gd name="T65" fmla="*/ 237 h 467"/>
                  <a:gd name="T66" fmla="*/ 262 w 490"/>
                  <a:gd name="T67" fmla="*/ 291 h 467"/>
                  <a:gd name="T68" fmla="*/ 252 w 490"/>
                  <a:gd name="T69" fmla="*/ 313 h 467"/>
                  <a:gd name="T70" fmla="*/ 314 w 490"/>
                  <a:gd name="T71" fmla="*/ 264 h 467"/>
                  <a:gd name="T72" fmla="*/ 402 w 490"/>
                  <a:gd name="T73" fmla="*/ 437 h 467"/>
                  <a:gd name="T74" fmla="*/ 119 w 490"/>
                  <a:gd name="T75" fmla="*/ 467 h 467"/>
                  <a:gd name="T76" fmla="*/ 88 w 490"/>
                  <a:gd name="T77" fmla="*/ 334 h 467"/>
                  <a:gd name="T78" fmla="*/ 231 w 490"/>
                  <a:gd name="T79" fmla="*/ 413 h 467"/>
                  <a:gd name="T80" fmla="*/ 238 w 490"/>
                  <a:gd name="T81" fmla="*/ 308 h 467"/>
                  <a:gd name="T82" fmla="*/ 229 w 490"/>
                  <a:gd name="T83" fmla="*/ 288 h 467"/>
                  <a:gd name="T84" fmla="*/ 259 w 490"/>
                  <a:gd name="T85" fmla="*/ 286 h 467"/>
                  <a:gd name="T86" fmla="*/ 262 w 490"/>
                  <a:gd name="T87" fmla="*/ 291 h 467"/>
                  <a:gd name="T88" fmla="*/ 490 w 490"/>
                  <a:gd name="T89" fmla="*/ 305 h 467"/>
                  <a:gd name="T90" fmla="*/ 412 w 490"/>
                  <a:gd name="T91" fmla="*/ 312 h 467"/>
                  <a:gd name="T92" fmla="*/ 416 w 490"/>
                  <a:gd name="T93" fmla="*/ 388 h 467"/>
                  <a:gd name="T94" fmla="*/ 490 w 490"/>
                  <a:gd name="T95" fmla="*/ 371 h 467"/>
                  <a:gd name="T96" fmla="*/ 16 w 490"/>
                  <a:gd name="T97" fmla="*/ 388 h 467"/>
                  <a:gd name="T98" fmla="*/ 74 w 490"/>
                  <a:gd name="T99" fmla="*/ 334 h 467"/>
                  <a:gd name="T100" fmla="*/ 139 w 490"/>
                  <a:gd name="T101" fmla="*/ 260 h 467"/>
                  <a:gd name="T102" fmla="*/ 0 w 490"/>
                  <a:gd name="T103" fmla="*/ 371 h 467"/>
                  <a:gd name="T104" fmla="*/ 245 w 490"/>
                  <a:gd name="T105" fmla="*/ 223 h 467"/>
                  <a:gd name="T106" fmla="*/ 317 w 490"/>
                  <a:gd name="T107" fmla="*/ 124 h 467"/>
                  <a:gd name="T108" fmla="*/ 310 w 490"/>
                  <a:gd name="T109" fmla="*/ 85 h 467"/>
                  <a:gd name="T110" fmla="*/ 274 w 490"/>
                  <a:gd name="T111" fmla="*/ 61 h 467"/>
                  <a:gd name="T112" fmla="*/ 216 w 490"/>
                  <a:gd name="T113" fmla="*/ 61 h 467"/>
                  <a:gd name="T114" fmla="*/ 185 w 490"/>
                  <a:gd name="T115" fmla="*/ 64 h 467"/>
                  <a:gd name="T116" fmla="*/ 178 w 490"/>
                  <a:gd name="T117" fmla="*/ 105 h 467"/>
                  <a:gd name="T118" fmla="*/ 197 w 490"/>
                  <a:gd name="T119" fmla="*/ 192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90" h="467">
                    <a:moveTo>
                      <a:pt x="245" y="235"/>
                    </a:moveTo>
                    <a:cubicBezTo>
                      <a:pt x="224" y="235"/>
                      <a:pt x="203" y="220"/>
                      <a:pt x="188" y="199"/>
                    </a:cubicBezTo>
                    <a:cubicBezTo>
                      <a:pt x="172" y="178"/>
                      <a:pt x="162" y="150"/>
                      <a:pt x="162" y="123"/>
                    </a:cubicBezTo>
                    <a:cubicBezTo>
                      <a:pt x="162" y="123"/>
                      <a:pt x="162" y="123"/>
                      <a:pt x="162" y="123"/>
                    </a:cubicBezTo>
                    <a:cubicBezTo>
                      <a:pt x="162" y="122"/>
                      <a:pt x="162" y="122"/>
                      <a:pt x="162" y="122"/>
                    </a:cubicBezTo>
                    <a:cubicBezTo>
                      <a:pt x="162" y="121"/>
                      <a:pt x="162" y="119"/>
                      <a:pt x="162" y="117"/>
                    </a:cubicBezTo>
                    <a:cubicBezTo>
                      <a:pt x="162" y="52"/>
                      <a:pt x="151" y="0"/>
                      <a:pt x="245" y="0"/>
                    </a:cubicBezTo>
                    <a:cubicBezTo>
                      <a:pt x="340" y="0"/>
                      <a:pt x="329" y="52"/>
                      <a:pt x="329" y="117"/>
                    </a:cubicBezTo>
                    <a:cubicBezTo>
                      <a:pt x="329" y="119"/>
                      <a:pt x="329" y="121"/>
                      <a:pt x="329" y="122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23"/>
                      <a:pt x="329" y="123"/>
                      <a:pt x="329" y="123"/>
                    </a:cubicBezTo>
                    <a:cubicBezTo>
                      <a:pt x="329" y="150"/>
                      <a:pt x="318" y="178"/>
                      <a:pt x="303" y="199"/>
                    </a:cubicBezTo>
                    <a:cubicBezTo>
                      <a:pt x="287" y="220"/>
                      <a:pt x="266" y="235"/>
                      <a:pt x="245" y="235"/>
                    </a:cubicBezTo>
                    <a:close/>
                    <a:moveTo>
                      <a:pt x="391" y="244"/>
                    </a:moveTo>
                    <a:cubicBezTo>
                      <a:pt x="404" y="244"/>
                      <a:pt x="418" y="235"/>
                      <a:pt x="428" y="221"/>
                    </a:cubicBezTo>
                    <a:cubicBezTo>
                      <a:pt x="438" y="208"/>
                      <a:pt x="445" y="190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2"/>
                      <a:pt x="445" y="172"/>
                      <a:pt x="445" y="172"/>
                    </a:cubicBezTo>
                    <a:cubicBezTo>
                      <a:pt x="445" y="170"/>
                      <a:pt x="445" y="169"/>
                      <a:pt x="445" y="168"/>
                    </a:cubicBezTo>
                    <a:cubicBezTo>
                      <a:pt x="445" y="131"/>
                      <a:pt x="451" y="99"/>
                      <a:pt x="407" y="94"/>
                    </a:cubicBezTo>
                    <a:cubicBezTo>
                      <a:pt x="402" y="93"/>
                      <a:pt x="397" y="92"/>
                      <a:pt x="391" y="92"/>
                    </a:cubicBezTo>
                    <a:cubicBezTo>
                      <a:pt x="385" y="92"/>
                      <a:pt x="380" y="93"/>
                      <a:pt x="375" y="93"/>
                    </a:cubicBezTo>
                    <a:cubicBezTo>
                      <a:pt x="331" y="99"/>
                      <a:pt x="337" y="130"/>
                      <a:pt x="337" y="168"/>
                    </a:cubicBezTo>
                    <a:cubicBezTo>
                      <a:pt x="337" y="169"/>
                      <a:pt x="337" y="170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72"/>
                      <a:pt x="337" y="172"/>
                      <a:pt x="337" y="172"/>
                    </a:cubicBezTo>
                    <a:cubicBezTo>
                      <a:pt x="337" y="190"/>
                      <a:pt x="344" y="208"/>
                      <a:pt x="354" y="221"/>
                    </a:cubicBezTo>
                    <a:cubicBezTo>
                      <a:pt x="364" y="235"/>
                      <a:pt x="377" y="244"/>
                      <a:pt x="391" y="244"/>
                    </a:cubicBezTo>
                    <a:close/>
                    <a:moveTo>
                      <a:pt x="360" y="217"/>
                    </a:moveTo>
                    <a:cubicBezTo>
                      <a:pt x="351" y="204"/>
                      <a:pt x="345" y="188"/>
                      <a:pt x="344" y="173"/>
                    </a:cubicBezTo>
                    <a:cubicBezTo>
                      <a:pt x="348" y="160"/>
                      <a:pt x="348" y="160"/>
                      <a:pt x="348" y="160"/>
                    </a:cubicBezTo>
                    <a:cubicBezTo>
                      <a:pt x="349" y="156"/>
                      <a:pt x="349" y="152"/>
                      <a:pt x="349" y="148"/>
                    </a:cubicBezTo>
                    <a:cubicBezTo>
                      <a:pt x="349" y="142"/>
                      <a:pt x="349" y="138"/>
                      <a:pt x="352" y="134"/>
                    </a:cubicBezTo>
                    <a:cubicBezTo>
                      <a:pt x="354" y="127"/>
                      <a:pt x="429" y="127"/>
                      <a:pt x="430" y="134"/>
                    </a:cubicBezTo>
                    <a:cubicBezTo>
                      <a:pt x="433" y="138"/>
                      <a:pt x="433" y="142"/>
                      <a:pt x="433" y="148"/>
                    </a:cubicBezTo>
                    <a:cubicBezTo>
                      <a:pt x="433" y="152"/>
                      <a:pt x="433" y="156"/>
                      <a:pt x="434" y="160"/>
                    </a:cubicBezTo>
                    <a:cubicBezTo>
                      <a:pt x="437" y="173"/>
                      <a:pt x="437" y="173"/>
                      <a:pt x="437" y="173"/>
                    </a:cubicBezTo>
                    <a:cubicBezTo>
                      <a:pt x="437" y="188"/>
                      <a:pt x="431" y="204"/>
                      <a:pt x="422" y="217"/>
                    </a:cubicBezTo>
                    <a:cubicBezTo>
                      <a:pt x="413" y="229"/>
                      <a:pt x="402" y="237"/>
                      <a:pt x="391" y="237"/>
                    </a:cubicBezTo>
                    <a:cubicBezTo>
                      <a:pt x="380" y="237"/>
                      <a:pt x="368" y="229"/>
                      <a:pt x="360" y="217"/>
                    </a:cubicBezTo>
                    <a:close/>
                    <a:moveTo>
                      <a:pt x="100" y="244"/>
                    </a:moveTo>
                    <a:cubicBezTo>
                      <a:pt x="113" y="244"/>
                      <a:pt x="127" y="235"/>
                      <a:pt x="137" y="221"/>
                    </a:cubicBezTo>
                    <a:cubicBezTo>
                      <a:pt x="147" y="208"/>
                      <a:pt x="154" y="190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2"/>
                      <a:pt x="154" y="172"/>
                      <a:pt x="154" y="172"/>
                    </a:cubicBezTo>
                    <a:cubicBezTo>
                      <a:pt x="154" y="170"/>
                      <a:pt x="154" y="169"/>
                      <a:pt x="154" y="168"/>
                    </a:cubicBezTo>
                    <a:cubicBezTo>
                      <a:pt x="154" y="130"/>
                      <a:pt x="160" y="99"/>
                      <a:pt x="114" y="93"/>
                    </a:cubicBezTo>
                    <a:cubicBezTo>
                      <a:pt x="110" y="92"/>
                      <a:pt x="105" y="92"/>
                      <a:pt x="99" y="92"/>
                    </a:cubicBezTo>
                    <a:cubicBezTo>
                      <a:pt x="93" y="92"/>
                      <a:pt x="87" y="93"/>
                      <a:pt x="82" y="94"/>
                    </a:cubicBezTo>
                    <a:cubicBezTo>
                      <a:pt x="40" y="100"/>
                      <a:pt x="46" y="131"/>
                      <a:pt x="46" y="168"/>
                    </a:cubicBezTo>
                    <a:cubicBezTo>
                      <a:pt x="46" y="169"/>
                      <a:pt x="46" y="170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46" y="190"/>
                      <a:pt x="52" y="208"/>
                      <a:pt x="62" y="221"/>
                    </a:cubicBezTo>
                    <a:cubicBezTo>
                      <a:pt x="72" y="235"/>
                      <a:pt x="86" y="244"/>
                      <a:pt x="100" y="244"/>
                    </a:cubicBezTo>
                    <a:close/>
                    <a:moveTo>
                      <a:pt x="68" y="217"/>
                    </a:moveTo>
                    <a:cubicBezTo>
                      <a:pt x="59" y="204"/>
                      <a:pt x="53" y="188"/>
                      <a:pt x="53" y="173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7" y="156"/>
                      <a:pt x="57" y="152"/>
                      <a:pt x="58" y="148"/>
                    </a:cubicBezTo>
                    <a:cubicBezTo>
                      <a:pt x="58" y="142"/>
                      <a:pt x="58" y="138"/>
                      <a:pt x="61" y="134"/>
                    </a:cubicBezTo>
                    <a:cubicBezTo>
                      <a:pt x="63" y="127"/>
                      <a:pt x="138" y="127"/>
                      <a:pt x="139" y="134"/>
                    </a:cubicBezTo>
                    <a:cubicBezTo>
                      <a:pt x="141" y="138"/>
                      <a:pt x="142" y="142"/>
                      <a:pt x="142" y="148"/>
                    </a:cubicBezTo>
                    <a:cubicBezTo>
                      <a:pt x="142" y="152"/>
                      <a:pt x="142" y="156"/>
                      <a:pt x="143" y="160"/>
                    </a:cubicBezTo>
                    <a:cubicBezTo>
                      <a:pt x="146" y="173"/>
                      <a:pt x="146" y="173"/>
                      <a:pt x="146" y="173"/>
                    </a:cubicBezTo>
                    <a:cubicBezTo>
                      <a:pt x="146" y="188"/>
                      <a:pt x="140" y="204"/>
                      <a:pt x="131" y="217"/>
                    </a:cubicBezTo>
                    <a:cubicBezTo>
                      <a:pt x="122" y="229"/>
                      <a:pt x="111" y="237"/>
                      <a:pt x="100" y="237"/>
                    </a:cubicBezTo>
                    <a:cubicBezTo>
                      <a:pt x="89" y="237"/>
                      <a:pt x="77" y="229"/>
                      <a:pt x="68" y="217"/>
                    </a:cubicBezTo>
                    <a:close/>
                    <a:moveTo>
                      <a:pt x="262" y="291"/>
                    </a:moveTo>
                    <a:cubicBezTo>
                      <a:pt x="253" y="308"/>
                      <a:pt x="253" y="308"/>
                      <a:pt x="253" y="308"/>
                    </a:cubicBezTo>
                    <a:cubicBezTo>
                      <a:pt x="252" y="310"/>
                      <a:pt x="251" y="311"/>
                      <a:pt x="252" y="313"/>
                    </a:cubicBezTo>
                    <a:cubicBezTo>
                      <a:pt x="260" y="412"/>
                      <a:pt x="260" y="412"/>
                      <a:pt x="260" y="412"/>
                    </a:cubicBezTo>
                    <a:cubicBezTo>
                      <a:pt x="285" y="360"/>
                      <a:pt x="299" y="326"/>
                      <a:pt x="314" y="264"/>
                    </a:cubicBezTo>
                    <a:cubicBezTo>
                      <a:pt x="364" y="275"/>
                      <a:pt x="402" y="298"/>
                      <a:pt x="402" y="334"/>
                    </a:cubicBezTo>
                    <a:cubicBezTo>
                      <a:pt x="402" y="437"/>
                      <a:pt x="402" y="437"/>
                      <a:pt x="402" y="437"/>
                    </a:cubicBezTo>
                    <a:cubicBezTo>
                      <a:pt x="402" y="454"/>
                      <a:pt x="388" y="467"/>
                      <a:pt x="371" y="467"/>
                    </a:cubicBezTo>
                    <a:cubicBezTo>
                      <a:pt x="287" y="467"/>
                      <a:pt x="203" y="467"/>
                      <a:pt x="119" y="467"/>
                    </a:cubicBezTo>
                    <a:cubicBezTo>
                      <a:pt x="102" y="467"/>
                      <a:pt x="88" y="454"/>
                      <a:pt x="88" y="437"/>
                    </a:cubicBezTo>
                    <a:cubicBezTo>
                      <a:pt x="88" y="402"/>
                      <a:pt x="88" y="368"/>
                      <a:pt x="88" y="334"/>
                    </a:cubicBezTo>
                    <a:cubicBezTo>
                      <a:pt x="88" y="298"/>
                      <a:pt x="126" y="275"/>
                      <a:pt x="176" y="264"/>
                    </a:cubicBezTo>
                    <a:cubicBezTo>
                      <a:pt x="191" y="327"/>
                      <a:pt x="206" y="360"/>
                      <a:pt x="231" y="413"/>
                    </a:cubicBezTo>
                    <a:cubicBezTo>
                      <a:pt x="239" y="313"/>
                      <a:pt x="239" y="313"/>
                      <a:pt x="239" y="313"/>
                    </a:cubicBezTo>
                    <a:cubicBezTo>
                      <a:pt x="239" y="311"/>
                      <a:pt x="239" y="310"/>
                      <a:pt x="238" y="308"/>
                    </a:cubicBezTo>
                    <a:cubicBezTo>
                      <a:pt x="229" y="291"/>
                      <a:pt x="229" y="291"/>
                      <a:pt x="229" y="291"/>
                    </a:cubicBezTo>
                    <a:cubicBezTo>
                      <a:pt x="228" y="290"/>
                      <a:pt x="228" y="289"/>
                      <a:pt x="229" y="288"/>
                    </a:cubicBezTo>
                    <a:cubicBezTo>
                      <a:pt x="229" y="287"/>
                      <a:pt x="230" y="286"/>
                      <a:pt x="231" y="286"/>
                    </a:cubicBezTo>
                    <a:cubicBezTo>
                      <a:pt x="241" y="286"/>
                      <a:pt x="250" y="286"/>
                      <a:pt x="259" y="286"/>
                    </a:cubicBezTo>
                    <a:cubicBezTo>
                      <a:pt x="261" y="286"/>
                      <a:pt x="262" y="287"/>
                      <a:pt x="262" y="288"/>
                    </a:cubicBezTo>
                    <a:cubicBezTo>
                      <a:pt x="263" y="289"/>
                      <a:pt x="263" y="290"/>
                      <a:pt x="262" y="291"/>
                    </a:cubicBezTo>
                    <a:close/>
                    <a:moveTo>
                      <a:pt x="490" y="371"/>
                    </a:moveTo>
                    <a:cubicBezTo>
                      <a:pt x="490" y="305"/>
                      <a:pt x="490" y="305"/>
                      <a:pt x="490" y="305"/>
                    </a:cubicBezTo>
                    <a:cubicBezTo>
                      <a:pt x="490" y="263"/>
                      <a:pt x="410" y="248"/>
                      <a:pt x="351" y="260"/>
                    </a:cubicBezTo>
                    <a:cubicBezTo>
                      <a:pt x="376" y="269"/>
                      <a:pt x="402" y="286"/>
                      <a:pt x="412" y="312"/>
                    </a:cubicBezTo>
                    <a:cubicBezTo>
                      <a:pt x="415" y="319"/>
                      <a:pt x="416" y="326"/>
                      <a:pt x="416" y="334"/>
                    </a:cubicBezTo>
                    <a:cubicBezTo>
                      <a:pt x="416" y="388"/>
                      <a:pt x="416" y="388"/>
                      <a:pt x="416" y="388"/>
                    </a:cubicBezTo>
                    <a:cubicBezTo>
                      <a:pt x="435" y="388"/>
                      <a:pt x="454" y="388"/>
                      <a:pt x="474" y="388"/>
                    </a:cubicBezTo>
                    <a:cubicBezTo>
                      <a:pt x="483" y="388"/>
                      <a:pt x="490" y="380"/>
                      <a:pt x="490" y="371"/>
                    </a:cubicBezTo>
                    <a:close/>
                    <a:moveTo>
                      <a:pt x="0" y="371"/>
                    </a:moveTo>
                    <a:cubicBezTo>
                      <a:pt x="0" y="380"/>
                      <a:pt x="7" y="388"/>
                      <a:pt x="16" y="388"/>
                    </a:cubicBezTo>
                    <a:cubicBezTo>
                      <a:pt x="36" y="388"/>
                      <a:pt x="55" y="388"/>
                      <a:pt x="74" y="388"/>
                    </a:cubicBezTo>
                    <a:cubicBezTo>
                      <a:pt x="74" y="334"/>
                      <a:pt x="74" y="334"/>
                      <a:pt x="74" y="334"/>
                    </a:cubicBezTo>
                    <a:cubicBezTo>
                      <a:pt x="74" y="326"/>
                      <a:pt x="75" y="319"/>
                      <a:pt x="78" y="312"/>
                    </a:cubicBezTo>
                    <a:cubicBezTo>
                      <a:pt x="88" y="286"/>
                      <a:pt x="114" y="269"/>
                      <a:pt x="139" y="260"/>
                    </a:cubicBezTo>
                    <a:cubicBezTo>
                      <a:pt x="80" y="248"/>
                      <a:pt x="0" y="263"/>
                      <a:pt x="0" y="305"/>
                    </a:cubicBezTo>
                    <a:cubicBezTo>
                      <a:pt x="0" y="327"/>
                      <a:pt x="0" y="349"/>
                      <a:pt x="0" y="371"/>
                    </a:cubicBezTo>
                    <a:close/>
                    <a:moveTo>
                      <a:pt x="197" y="192"/>
                    </a:moveTo>
                    <a:cubicBezTo>
                      <a:pt x="211" y="210"/>
                      <a:pt x="228" y="223"/>
                      <a:pt x="245" y="223"/>
                    </a:cubicBezTo>
                    <a:cubicBezTo>
                      <a:pt x="262" y="223"/>
                      <a:pt x="280" y="210"/>
                      <a:pt x="293" y="192"/>
                    </a:cubicBezTo>
                    <a:cubicBezTo>
                      <a:pt x="307" y="173"/>
                      <a:pt x="317" y="148"/>
                      <a:pt x="317" y="124"/>
                    </a:cubicBezTo>
                    <a:cubicBezTo>
                      <a:pt x="312" y="105"/>
                      <a:pt x="312" y="105"/>
                      <a:pt x="312" y="105"/>
                    </a:cubicBezTo>
                    <a:cubicBezTo>
                      <a:pt x="310" y="98"/>
                      <a:pt x="310" y="91"/>
                      <a:pt x="310" y="85"/>
                    </a:cubicBezTo>
                    <a:cubicBezTo>
                      <a:pt x="310" y="77"/>
                      <a:pt x="310" y="70"/>
                      <a:pt x="305" y="64"/>
                    </a:cubicBezTo>
                    <a:cubicBezTo>
                      <a:pt x="298" y="54"/>
                      <a:pt x="287" y="57"/>
                      <a:pt x="274" y="61"/>
                    </a:cubicBezTo>
                    <a:cubicBezTo>
                      <a:pt x="265" y="64"/>
                      <a:pt x="256" y="66"/>
                      <a:pt x="245" y="66"/>
                    </a:cubicBezTo>
                    <a:cubicBezTo>
                      <a:pt x="235" y="66"/>
                      <a:pt x="225" y="64"/>
                      <a:pt x="216" y="61"/>
                    </a:cubicBezTo>
                    <a:cubicBezTo>
                      <a:pt x="216" y="61"/>
                      <a:pt x="216" y="61"/>
                      <a:pt x="216" y="61"/>
                    </a:cubicBezTo>
                    <a:cubicBezTo>
                      <a:pt x="203" y="57"/>
                      <a:pt x="192" y="54"/>
                      <a:pt x="185" y="64"/>
                    </a:cubicBezTo>
                    <a:cubicBezTo>
                      <a:pt x="181" y="70"/>
                      <a:pt x="180" y="77"/>
                      <a:pt x="180" y="85"/>
                    </a:cubicBezTo>
                    <a:cubicBezTo>
                      <a:pt x="180" y="91"/>
                      <a:pt x="180" y="98"/>
                      <a:pt x="178" y="105"/>
                    </a:cubicBezTo>
                    <a:cubicBezTo>
                      <a:pt x="174" y="124"/>
                      <a:pt x="174" y="124"/>
                      <a:pt x="174" y="124"/>
                    </a:cubicBezTo>
                    <a:cubicBezTo>
                      <a:pt x="174" y="148"/>
                      <a:pt x="183" y="173"/>
                      <a:pt x="197" y="192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" name="Freeform 29"/>
              <p:cNvSpPr>
                <a:spLocks noEditPoints="1"/>
              </p:cNvSpPr>
              <p:nvPr/>
            </p:nvSpPr>
            <p:spPr bwMode="auto">
              <a:xfrm>
                <a:off x="4193165" y="2651859"/>
                <a:ext cx="506744" cy="598693"/>
              </a:xfrm>
              <a:custGeom>
                <a:avLst/>
                <a:gdLst>
                  <a:gd name="T0" fmla="*/ 344 w 420"/>
                  <a:gd name="T1" fmla="*/ 0 h 496"/>
                  <a:gd name="T2" fmla="*/ 332 w 420"/>
                  <a:gd name="T3" fmla="*/ 79 h 496"/>
                  <a:gd name="T4" fmla="*/ 347 w 420"/>
                  <a:gd name="T5" fmla="*/ 92 h 496"/>
                  <a:gd name="T6" fmla="*/ 360 w 420"/>
                  <a:gd name="T7" fmla="*/ 13 h 496"/>
                  <a:gd name="T8" fmla="*/ 193 w 420"/>
                  <a:gd name="T9" fmla="*/ 362 h 496"/>
                  <a:gd name="T10" fmla="*/ 145 w 420"/>
                  <a:gd name="T11" fmla="*/ 410 h 496"/>
                  <a:gd name="T12" fmla="*/ 193 w 420"/>
                  <a:gd name="T13" fmla="*/ 362 h 496"/>
                  <a:gd name="T14" fmla="*/ 229 w 420"/>
                  <a:gd name="T15" fmla="*/ 362 h 496"/>
                  <a:gd name="T16" fmla="*/ 276 w 420"/>
                  <a:gd name="T17" fmla="*/ 410 h 496"/>
                  <a:gd name="T18" fmla="*/ 110 w 420"/>
                  <a:gd name="T19" fmla="*/ 362 h 496"/>
                  <a:gd name="T20" fmla="*/ 62 w 420"/>
                  <a:gd name="T21" fmla="*/ 410 h 496"/>
                  <a:gd name="T22" fmla="*/ 110 w 420"/>
                  <a:gd name="T23" fmla="*/ 362 h 496"/>
                  <a:gd name="T24" fmla="*/ 312 w 420"/>
                  <a:gd name="T25" fmla="*/ 291 h 496"/>
                  <a:gd name="T26" fmla="*/ 360 w 420"/>
                  <a:gd name="T27" fmla="*/ 338 h 496"/>
                  <a:gd name="T28" fmla="*/ 193 w 420"/>
                  <a:gd name="T29" fmla="*/ 291 h 496"/>
                  <a:gd name="T30" fmla="*/ 145 w 420"/>
                  <a:gd name="T31" fmla="*/ 338 h 496"/>
                  <a:gd name="T32" fmla="*/ 193 w 420"/>
                  <a:gd name="T33" fmla="*/ 291 h 496"/>
                  <a:gd name="T34" fmla="*/ 229 w 420"/>
                  <a:gd name="T35" fmla="*/ 291 h 496"/>
                  <a:gd name="T36" fmla="*/ 276 w 420"/>
                  <a:gd name="T37" fmla="*/ 338 h 496"/>
                  <a:gd name="T38" fmla="*/ 110 w 420"/>
                  <a:gd name="T39" fmla="*/ 291 h 496"/>
                  <a:gd name="T40" fmla="*/ 62 w 420"/>
                  <a:gd name="T41" fmla="*/ 338 h 496"/>
                  <a:gd name="T42" fmla="*/ 110 w 420"/>
                  <a:gd name="T43" fmla="*/ 291 h 496"/>
                  <a:gd name="T44" fmla="*/ 312 w 420"/>
                  <a:gd name="T45" fmla="*/ 219 h 496"/>
                  <a:gd name="T46" fmla="*/ 360 w 420"/>
                  <a:gd name="T47" fmla="*/ 267 h 496"/>
                  <a:gd name="T48" fmla="*/ 193 w 420"/>
                  <a:gd name="T49" fmla="*/ 219 h 496"/>
                  <a:gd name="T50" fmla="*/ 145 w 420"/>
                  <a:gd name="T51" fmla="*/ 267 h 496"/>
                  <a:gd name="T52" fmla="*/ 193 w 420"/>
                  <a:gd name="T53" fmla="*/ 219 h 496"/>
                  <a:gd name="T54" fmla="*/ 229 w 420"/>
                  <a:gd name="T55" fmla="*/ 219 h 496"/>
                  <a:gd name="T56" fmla="*/ 276 w 420"/>
                  <a:gd name="T57" fmla="*/ 267 h 496"/>
                  <a:gd name="T58" fmla="*/ 77 w 420"/>
                  <a:gd name="T59" fmla="*/ 0 h 496"/>
                  <a:gd name="T60" fmla="*/ 62 w 420"/>
                  <a:gd name="T61" fmla="*/ 13 h 496"/>
                  <a:gd name="T62" fmla="*/ 75 w 420"/>
                  <a:gd name="T63" fmla="*/ 92 h 496"/>
                  <a:gd name="T64" fmla="*/ 90 w 420"/>
                  <a:gd name="T65" fmla="*/ 79 h 496"/>
                  <a:gd name="T66" fmla="*/ 77 w 420"/>
                  <a:gd name="T67" fmla="*/ 0 h 496"/>
                  <a:gd name="T68" fmla="*/ 392 w 420"/>
                  <a:gd name="T69" fmla="*/ 441 h 496"/>
                  <a:gd name="T70" fmla="*/ 34 w 420"/>
                  <a:gd name="T71" fmla="*/ 446 h 496"/>
                  <a:gd name="T72" fmla="*/ 28 w 420"/>
                  <a:gd name="T73" fmla="*/ 185 h 496"/>
                  <a:gd name="T74" fmla="*/ 386 w 420"/>
                  <a:gd name="T75" fmla="*/ 180 h 496"/>
                  <a:gd name="T76" fmla="*/ 392 w 420"/>
                  <a:gd name="T77" fmla="*/ 460 h 496"/>
                  <a:gd name="T78" fmla="*/ 28 w 420"/>
                  <a:gd name="T79" fmla="*/ 463 h 496"/>
                  <a:gd name="T80" fmla="*/ 392 w 420"/>
                  <a:gd name="T81" fmla="*/ 460 h 496"/>
                  <a:gd name="T82" fmla="*/ 392 w 420"/>
                  <a:gd name="T83" fmla="*/ 481 h 496"/>
                  <a:gd name="T84" fmla="*/ 28 w 420"/>
                  <a:gd name="T85" fmla="*/ 478 h 496"/>
                  <a:gd name="T86" fmla="*/ 386 w 420"/>
                  <a:gd name="T87" fmla="*/ 41 h 496"/>
                  <a:gd name="T88" fmla="*/ 420 w 420"/>
                  <a:gd name="T89" fmla="*/ 463 h 496"/>
                  <a:gd name="T90" fmla="*/ 34 w 420"/>
                  <a:gd name="T91" fmla="*/ 496 h 496"/>
                  <a:gd name="T92" fmla="*/ 0 w 420"/>
                  <a:gd name="T93" fmla="*/ 75 h 496"/>
                  <a:gd name="T94" fmla="*/ 51 w 420"/>
                  <a:gd name="T95" fmla="*/ 41 h 496"/>
                  <a:gd name="T96" fmla="*/ 69 w 420"/>
                  <a:gd name="T97" fmla="*/ 106 h 496"/>
                  <a:gd name="T98" fmla="*/ 101 w 420"/>
                  <a:gd name="T99" fmla="*/ 88 h 496"/>
                  <a:gd name="T100" fmla="*/ 321 w 420"/>
                  <a:gd name="T101" fmla="*/ 41 h 496"/>
                  <a:gd name="T102" fmla="*/ 339 w 420"/>
                  <a:gd name="T103" fmla="*/ 106 h 496"/>
                  <a:gd name="T104" fmla="*/ 370 w 420"/>
                  <a:gd name="T105" fmla="*/ 88 h 496"/>
                  <a:gd name="T106" fmla="*/ 386 w 420"/>
                  <a:gd name="T107" fmla="*/ 41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20" h="496">
                    <a:moveTo>
                      <a:pt x="347" y="0"/>
                    </a:moveTo>
                    <a:cubicBezTo>
                      <a:pt x="346" y="0"/>
                      <a:pt x="345" y="0"/>
                      <a:pt x="344" y="0"/>
                    </a:cubicBezTo>
                    <a:cubicBezTo>
                      <a:pt x="337" y="0"/>
                      <a:pt x="332" y="6"/>
                      <a:pt x="332" y="13"/>
                    </a:cubicBezTo>
                    <a:cubicBezTo>
                      <a:pt x="332" y="79"/>
                      <a:pt x="332" y="79"/>
                      <a:pt x="332" y="79"/>
                    </a:cubicBezTo>
                    <a:cubicBezTo>
                      <a:pt x="332" y="87"/>
                      <a:pt x="337" y="92"/>
                      <a:pt x="344" y="92"/>
                    </a:cubicBezTo>
                    <a:cubicBezTo>
                      <a:pt x="345" y="92"/>
                      <a:pt x="346" y="92"/>
                      <a:pt x="347" y="92"/>
                    </a:cubicBezTo>
                    <a:cubicBezTo>
                      <a:pt x="354" y="92"/>
                      <a:pt x="360" y="87"/>
                      <a:pt x="360" y="79"/>
                    </a:cubicBezTo>
                    <a:cubicBezTo>
                      <a:pt x="360" y="13"/>
                      <a:pt x="360" y="13"/>
                      <a:pt x="360" y="13"/>
                    </a:cubicBezTo>
                    <a:cubicBezTo>
                      <a:pt x="360" y="6"/>
                      <a:pt x="354" y="0"/>
                      <a:pt x="347" y="0"/>
                    </a:cubicBezTo>
                    <a:close/>
                    <a:moveTo>
                      <a:pt x="193" y="362"/>
                    </a:moveTo>
                    <a:cubicBezTo>
                      <a:pt x="177" y="362"/>
                      <a:pt x="161" y="362"/>
                      <a:pt x="145" y="362"/>
                    </a:cubicBezTo>
                    <a:cubicBezTo>
                      <a:pt x="145" y="378"/>
                      <a:pt x="145" y="394"/>
                      <a:pt x="145" y="410"/>
                    </a:cubicBezTo>
                    <a:cubicBezTo>
                      <a:pt x="161" y="410"/>
                      <a:pt x="177" y="410"/>
                      <a:pt x="193" y="410"/>
                    </a:cubicBezTo>
                    <a:cubicBezTo>
                      <a:pt x="193" y="394"/>
                      <a:pt x="193" y="378"/>
                      <a:pt x="193" y="362"/>
                    </a:cubicBezTo>
                    <a:close/>
                    <a:moveTo>
                      <a:pt x="276" y="362"/>
                    </a:moveTo>
                    <a:cubicBezTo>
                      <a:pt x="260" y="362"/>
                      <a:pt x="245" y="362"/>
                      <a:pt x="229" y="362"/>
                    </a:cubicBezTo>
                    <a:cubicBezTo>
                      <a:pt x="229" y="378"/>
                      <a:pt x="229" y="394"/>
                      <a:pt x="229" y="410"/>
                    </a:cubicBezTo>
                    <a:cubicBezTo>
                      <a:pt x="245" y="410"/>
                      <a:pt x="260" y="410"/>
                      <a:pt x="276" y="410"/>
                    </a:cubicBezTo>
                    <a:cubicBezTo>
                      <a:pt x="276" y="394"/>
                      <a:pt x="276" y="378"/>
                      <a:pt x="276" y="362"/>
                    </a:cubicBezTo>
                    <a:close/>
                    <a:moveTo>
                      <a:pt x="110" y="362"/>
                    </a:moveTo>
                    <a:cubicBezTo>
                      <a:pt x="62" y="362"/>
                      <a:pt x="62" y="362"/>
                      <a:pt x="62" y="362"/>
                    </a:cubicBezTo>
                    <a:cubicBezTo>
                      <a:pt x="62" y="410"/>
                      <a:pt x="62" y="410"/>
                      <a:pt x="62" y="410"/>
                    </a:cubicBezTo>
                    <a:cubicBezTo>
                      <a:pt x="110" y="410"/>
                      <a:pt x="110" y="410"/>
                      <a:pt x="110" y="410"/>
                    </a:cubicBezTo>
                    <a:cubicBezTo>
                      <a:pt x="110" y="362"/>
                      <a:pt x="110" y="362"/>
                      <a:pt x="110" y="362"/>
                    </a:cubicBezTo>
                    <a:close/>
                    <a:moveTo>
                      <a:pt x="360" y="291"/>
                    </a:moveTo>
                    <a:cubicBezTo>
                      <a:pt x="312" y="291"/>
                      <a:pt x="312" y="291"/>
                      <a:pt x="312" y="291"/>
                    </a:cubicBezTo>
                    <a:cubicBezTo>
                      <a:pt x="312" y="338"/>
                      <a:pt x="312" y="338"/>
                      <a:pt x="312" y="338"/>
                    </a:cubicBezTo>
                    <a:cubicBezTo>
                      <a:pt x="360" y="338"/>
                      <a:pt x="360" y="338"/>
                      <a:pt x="360" y="338"/>
                    </a:cubicBezTo>
                    <a:cubicBezTo>
                      <a:pt x="360" y="291"/>
                      <a:pt x="360" y="291"/>
                      <a:pt x="360" y="291"/>
                    </a:cubicBezTo>
                    <a:close/>
                    <a:moveTo>
                      <a:pt x="193" y="291"/>
                    </a:moveTo>
                    <a:cubicBezTo>
                      <a:pt x="177" y="291"/>
                      <a:pt x="161" y="291"/>
                      <a:pt x="145" y="291"/>
                    </a:cubicBezTo>
                    <a:cubicBezTo>
                      <a:pt x="145" y="306"/>
                      <a:pt x="145" y="322"/>
                      <a:pt x="145" y="338"/>
                    </a:cubicBezTo>
                    <a:cubicBezTo>
                      <a:pt x="161" y="338"/>
                      <a:pt x="177" y="338"/>
                      <a:pt x="193" y="338"/>
                    </a:cubicBezTo>
                    <a:cubicBezTo>
                      <a:pt x="193" y="322"/>
                      <a:pt x="193" y="306"/>
                      <a:pt x="193" y="291"/>
                    </a:cubicBezTo>
                    <a:close/>
                    <a:moveTo>
                      <a:pt x="276" y="291"/>
                    </a:moveTo>
                    <a:cubicBezTo>
                      <a:pt x="260" y="291"/>
                      <a:pt x="245" y="291"/>
                      <a:pt x="229" y="291"/>
                    </a:cubicBezTo>
                    <a:cubicBezTo>
                      <a:pt x="229" y="306"/>
                      <a:pt x="229" y="322"/>
                      <a:pt x="229" y="338"/>
                    </a:cubicBezTo>
                    <a:cubicBezTo>
                      <a:pt x="245" y="338"/>
                      <a:pt x="260" y="338"/>
                      <a:pt x="276" y="338"/>
                    </a:cubicBezTo>
                    <a:cubicBezTo>
                      <a:pt x="276" y="322"/>
                      <a:pt x="276" y="306"/>
                      <a:pt x="276" y="291"/>
                    </a:cubicBezTo>
                    <a:close/>
                    <a:moveTo>
                      <a:pt x="110" y="291"/>
                    </a:moveTo>
                    <a:cubicBezTo>
                      <a:pt x="62" y="291"/>
                      <a:pt x="62" y="291"/>
                      <a:pt x="62" y="291"/>
                    </a:cubicBezTo>
                    <a:cubicBezTo>
                      <a:pt x="62" y="338"/>
                      <a:pt x="62" y="338"/>
                      <a:pt x="62" y="338"/>
                    </a:cubicBezTo>
                    <a:cubicBezTo>
                      <a:pt x="110" y="338"/>
                      <a:pt x="110" y="338"/>
                      <a:pt x="110" y="338"/>
                    </a:cubicBezTo>
                    <a:cubicBezTo>
                      <a:pt x="110" y="291"/>
                      <a:pt x="110" y="291"/>
                      <a:pt x="110" y="291"/>
                    </a:cubicBezTo>
                    <a:close/>
                    <a:moveTo>
                      <a:pt x="360" y="219"/>
                    </a:moveTo>
                    <a:cubicBezTo>
                      <a:pt x="312" y="219"/>
                      <a:pt x="312" y="219"/>
                      <a:pt x="312" y="219"/>
                    </a:cubicBezTo>
                    <a:cubicBezTo>
                      <a:pt x="312" y="267"/>
                      <a:pt x="312" y="267"/>
                      <a:pt x="312" y="267"/>
                    </a:cubicBezTo>
                    <a:cubicBezTo>
                      <a:pt x="360" y="267"/>
                      <a:pt x="360" y="267"/>
                      <a:pt x="360" y="267"/>
                    </a:cubicBezTo>
                    <a:cubicBezTo>
                      <a:pt x="360" y="219"/>
                      <a:pt x="360" y="219"/>
                      <a:pt x="360" y="219"/>
                    </a:cubicBezTo>
                    <a:close/>
                    <a:moveTo>
                      <a:pt x="193" y="219"/>
                    </a:moveTo>
                    <a:cubicBezTo>
                      <a:pt x="177" y="219"/>
                      <a:pt x="161" y="219"/>
                      <a:pt x="145" y="219"/>
                    </a:cubicBezTo>
                    <a:cubicBezTo>
                      <a:pt x="145" y="235"/>
                      <a:pt x="145" y="251"/>
                      <a:pt x="145" y="267"/>
                    </a:cubicBezTo>
                    <a:cubicBezTo>
                      <a:pt x="161" y="267"/>
                      <a:pt x="177" y="267"/>
                      <a:pt x="193" y="267"/>
                    </a:cubicBezTo>
                    <a:cubicBezTo>
                      <a:pt x="193" y="251"/>
                      <a:pt x="193" y="235"/>
                      <a:pt x="193" y="219"/>
                    </a:cubicBezTo>
                    <a:close/>
                    <a:moveTo>
                      <a:pt x="276" y="219"/>
                    </a:moveTo>
                    <a:cubicBezTo>
                      <a:pt x="260" y="219"/>
                      <a:pt x="245" y="219"/>
                      <a:pt x="229" y="219"/>
                    </a:cubicBezTo>
                    <a:cubicBezTo>
                      <a:pt x="229" y="235"/>
                      <a:pt x="229" y="251"/>
                      <a:pt x="229" y="267"/>
                    </a:cubicBezTo>
                    <a:cubicBezTo>
                      <a:pt x="245" y="267"/>
                      <a:pt x="260" y="267"/>
                      <a:pt x="276" y="267"/>
                    </a:cubicBezTo>
                    <a:cubicBezTo>
                      <a:pt x="276" y="251"/>
                      <a:pt x="276" y="235"/>
                      <a:pt x="276" y="219"/>
                    </a:cubicBezTo>
                    <a:close/>
                    <a:moveTo>
                      <a:pt x="77" y="0"/>
                    </a:moveTo>
                    <a:cubicBezTo>
                      <a:pt x="76" y="0"/>
                      <a:pt x="76" y="0"/>
                      <a:pt x="75" y="0"/>
                    </a:cubicBezTo>
                    <a:cubicBezTo>
                      <a:pt x="68" y="0"/>
                      <a:pt x="62" y="6"/>
                      <a:pt x="62" y="13"/>
                    </a:cubicBezTo>
                    <a:cubicBezTo>
                      <a:pt x="62" y="79"/>
                      <a:pt x="62" y="79"/>
                      <a:pt x="62" y="79"/>
                    </a:cubicBezTo>
                    <a:cubicBezTo>
                      <a:pt x="62" y="87"/>
                      <a:pt x="68" y="92"/>
                      <a:pt x="75" y="92"/>
                    </a:cubicBezTo>
                    <a:cubicBezTo>
                      <a:pt x="76" y="92"/>
                      <a:pt x="76" y="92"/>
                      <a:pt x="77" y="92"/>
                    </a:cubicBezTo>
                    <a:cubicBezTo>
                      <a:pt x="84" y="92"/>
                      <a:pt x="90" y="87"/>
                      <a:pt x="90" y="79"/>
                    </a:cubicBezTo>
                    <a:cubicBezTo>
                      <a:pt x="90" y="13"/>
                      <a:pt x="90" y="13"/>
                      <a:pt x="90" y="13"/>
                    </a:cubicBezTo>
                    <a:cubicBezTo>
                      <a:pt x="90" y="6"/>
                      <a:pt x="84" y="0"/>
                      <a:pt x="77" y="0"/>
                    </a:cubicBezTo>
                    <a:close/>
                    <a:moveTo>
                      <a:pt x="392" y="185"/>
                    </a:moveTo>
                    <a:cubicBezTo>
                      <a:pt x="392" y="441"/>
                      <a:pt x="392" y="441"/>
                      <a:pt x="392" y="441"/>
                    </a:cubicBezTo>
                    <a:cubicBezTo>
                      <a:pt x="392" y="443"/>
                      <a:pt x="389" y="446"/>
                      <a:pt x="386" y="446"/>
                    </a:cubicBezTo>
                    <a:cubicBezTo>
                      <a:pt x="34" y="446"/>
                      <a:pt x="34" y="446"/>
                      <a:pt x="34" y="446"/>
                    </a:cubicBezTo>
                    <a:cubicBezTo>
                      <a:pt x="31" y="446"/>
                      <a:pt x="28" y="443"/>
                      <a:pt x="28" y="441"/>
                    </a:cubicBezTo>
                    <a:cubicBezTo>
                      <a:pt x="28" y="185"/>
                      <a:pt x="28" y="185"/>
                      <a:pt x="28" y="185"/>
                    </a:cubicBezTo>
                    <a:cubicBezTo>
                      <a:pt x="28" y="182"/>
                      <a:pt x="31" y="180"/>
                      <a:pt x="34" y="180"/>
                    </a:cubicBezTo>
                    <a:cubicBezTo>
                      <a:pt x="386" y="180"/>
                      <a:pt x="386" y="180"/>
                      <a:pt x="386" y="180"/>
                    </a:cubicBezTo>
                    <a:cubicBezTo>
                      <a:pt x="389" y="180"/>
                      <a:pt x="392" y="182"/>
                      <a:pt x="392" y="185"/>
                    </a:cubicBezTo>
                    <a:close/>
                    <a:moveTo>
                      <a:pt x="392" y="460"/>
                    </a:moveTo>
                    <a:cubicBezTo>
                      <a:pt x="392" y="463"/>
                      <a:pt x="392" y="463"/>
                      <a:pt x="392" y="463"/>
                    </a:cubicBezTo>
                    <a:cubicBezTo>
                      <a:pt x="28" y="463"/>
                      <a:pt x="28" y="463"/>
                      <a:pt x="28" y="463"/>
                    </a:cubicBezTo>
                    <a:cubicBezTo>
                      <a:pt x="28" y="460"/>
                      <a:pt x="28" y="460"/>
                      <a:pt x="28" y="460"/>
                    </a:cubicBezTo>
                    <a:cubicBezTo>
                      <a:pt x="392" y="460"/>
                      <a:pt x="392" y="460"/>
                      <a:pt x="392" y="460"/>
                    </a:cubicBezTo>
                    <a:close/>
                    <a:moveTo>
                      <a:pt x="392" y="478"/>
                    </a:moveTo>
                    <a:cubicBezTo>
                      <a:pt x="392" y="481"/>
                      <a:pt x="392" y="481"/>
                      <a:pt x="392" y="481"/>
                    </a:cubicBezTo>
                    <a:cubicBezTo>
                      <a:pt x="28" y="481"/>
                      <a:pt x="28" y="481"/>
                      <a:pt x="28" y="481"/>
                    </a:cubicBezTo>
                    <a:cubicBezTo>
                      <a:pt x="28" y="478"/>
                      <a:pt x="28" y="478"/>
                      <a:pt x="28" y="478"/>
                    </a:cubicBezTo>
                    <a:cubicBezTo>
                      <a:pt x="392" y="478"/>
                      <a:pt x="392" y="478"/>
                      <a:pt x="392" y="478"/>
                    </a:cubicBezTo>
                    <a:close/>
                    <a:moveTo>
                      <a:pt x="386" y="41"/>
                    </a:moveTo>
                    <a:cubicBezTo>
                      <a:pt x="405" y="41"/>
                      <a:pt x="420" y="56"/>
                      <a:pt x="420" y="75"/>
                    </a:cubicBezTo>
                    <a:cubicBezTo>
                      <a:pt x="420" y="463"/>
                      <a:pt x="420" y="463"/>
                      <a:pt x="420" y="463"/>
                    </a:cubicBezTo>
                    <a:cubicBezTo>
                      <a:pt x="420" y="481"/>
                      <a:pt x="405" y="496"/>
                      <a:pt x="386" y="496"/>
                    </a:cubicBezTo>
                    <a:cubicBezTo>
                      <a:pt x="269" y="496"/>
                      <a:pt x="151" y="496"/>
                      <a:pt x="34" y="496"/>
                    </a:cubicBezTo>
                    <a:cubicBezTo>
                      <a:pt x="15" y="496"/>
                      <a:pt x="0" y="481"/>
                      <a:pt x="0" y="463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56"/>
                      <a:pt x="15" y="41"/>
                      <a:pt x="34" y="41"/>
                    </a:cubicBezTo>
                    <a:cubicBezTo>
                      <a:pt x="51" y="41"/>
                      <a:pt x="51" y="41"/>
                      <a:pt x="51" y="41"/>
                    </a:cubicBezTo>
                    <a:cubicBezTo>
                      <a:pt x="51" y="57"/>
                      <a:pt x="51" y="72"/>
                      <a:pt x="51" y="88"/>
                    </a:cubicBezTo>
                    <a:cubicBezTo>
                      <a:pt x="51" y="98"/>
                      <a:pt x="59" y="106"/>
                      <a:pt x="69" y="106"/>
                    </a:cubicBezTo>
                    <a:cubicBezTo>
                      <a:pt x="74" y="106"/>
                      <a:pt x="78" y="106"/>
                      <a:pt x="83" y="106"/>
                    </a:cubicBezTo>
                    <a:cubicBezTo>
                      <a:pt x="93" y="106"/>
                      <a:pt x="101" y="98"/>
                      <a:pt x="101" y="88"/>
                    </a:cubicBezTo>
                    <a:cubicBezTo>
                      <a:pt x="101" y="72"/>
                      <a:pt x="101" y="57"/>
                      <a:pt x="101" y="41"/>
                    </a:cubicBezTo>
                    <a:cubicBezTo>
                      <a:pt x="321" y="41"/>
                      <a:pt x="321" y="41"/>
                      <a:pt x="321" y="41"/>
                    </a:cubicBezTo>
                    <a:cubicBezTo>
                      <a:pt x="321" y="57"/>
                      <a:pt x="321" y="72"/>
                      <a:pt x="321" y="88"/>
                    </a:cubicBezTo>
                    <a:cubicBezTo>
                      <a:pt x="321" y="98"/>
                      <a:pt x="329" y="106"/>
                      <a:pt x="339" y="106"/>
                    </a:cubicBezTo>
                    <a:cubicBezTo>
                      <a:pt x="343" y="106"/>
                      <a:pt x="348" y="106"/>
                      <a:pt x="352" y="106"/>
                    </a:cubicBezTo>
                    <a:cubicBezTo>
                      <a:pt x="362" y="106"/>
                      <a:pt x="370" y="98"/>
                      <a:pt x="370" y="88"/>
                    </a:cubicBezTo>
                    <a:cubicBezTo>
                      <a:pt x="370" y="72"/>
                      <a:pt x="370" y="57"/>
                      <a:pt x="370" y="41"/>
                    </a:cubicBezTo>
                    <a:lnTo>
                      <a:pt x="386" y="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Freeform 30"/>
              <p:cNvSpPr>
                <a:spLocks noEditPoints="1"/>
              </p:cNvSpPr>
              <p:nvPr/>
            </p:nvSpPr>
            <p:spPr bwMode="auto">
              <a:xfrm>
                <a:off x="7516809" y="2606482"/>
                <a:ext cx="551558" cy="689448"/>
              </a:xfrm>
              <a:custGeom>
                <a:avLst/>
                <a:gdLst>
                  <a:gd name="T0" fmla="*/ 100 w 408"/>
                  <a:gd name="T1" fmla="*/ 18 h 510"/>
                  <a:gd name="T2" fmla="*/ 290 w 408"/>
                  <a:gd name="T3" fmla="*/ 368 h 510"/>
                  <a:gd name="T4" fmla="*/ 345 w 408"/>
                  <a:gd name="T5" fmla="*/ 332 h 510"/>
                  <a:gd name="T6" fmla="*/ 259 w 408"/>
                  <a:gd name="T7" fmla="*/ 464 h 510"/>
                  <a:gd name="T8" fmla="*/ 267 w 408"/>
                  <a:gd name="T9" fmla="*/ 397 h 510"/>
                  <a:gd name="T10" fmla="*/ 241 w 408"/>
                  <a:gd name="T11" fmla="*/ 345 h 510"/>
                  <a:gd name="T12" fmla="*/ 216 w 408"/>
                  <a:gd name="T13" fmla="*/ 319 h 510"/>
                  <a:gd name="T14" fmla="*/ 320 w 408"/>
                  <a:gd name="T15" fmla="*/ 474 h 510"/>
                  <a:gd name="T16" fmla="*/ 159 w 408"/>
                  <a:gd name="T17" fmla="*/ 386 h 510"/>
                  <a:gd name="T18" fmla="*/ 196 w 408"/>
                  <a:gd name="T19" fmla="*/ 298 h 510"/>
                  <a:gd name="T20" fmla="*/ 229 w 408"/>
                  <a:gd name="T21" fmla="*/ 381 h 510"/>
                  <a:gd name="T22" fmla="*/ 338 w 408"/>
                  <a:gd name="T23" fmla="*/ 391 h 510"/>
                  <a:gd name="T24" fmla="*/ 278 w 408"/>
                  <a:gd name="T25" fmla="*/ 440 h 510"/>
                  <a:gd name="T26" fmla="*/ 289 w 408"/>
                  <a:gd name="T27" fmla="*/ 332 h 510"/>
                  <a:gd name="T28" fmla="*/ 126 w 408"/>
                  <a:gd name="T29" fmla="*/ 86 h 510"/>
                  <a:gd name="T30" fmla="*/ 138 w 408"/>
                  <a:gd name="T31" fmla="*/ 19 h 510"/>
                  <a:gd name="T32" fmla="*/ 217 w 408"/>
                  <a:gd name="T33" fmla="*/ 61 h 510"/>
                  <a:gd name="T34" fmla="*/ 127 w 408"/>
                  <a:gd name="T35" fmla="*/ 22 h 510"/>
                  <a:gd name="T36" fmla="*/ 244 w 408"/>
                  <a:gd name="T37" fmla="*/ 59 h 510"/>
                  <a:gd name="T38" fmla="*/ 134 w 408"/>
                  <a:gd name="T39" fmla="*/ 343 h 510"/>
                  <a:gd name="T40" fmla="*/ 87 w 408"/>
                  <a:gd name="T41" fmla="*/ 290 h 510"/>
                  <a:gd name="T42" fmla="*/ 86 w 408"/>
                  <a:gd name="T43" fmla="*/ 290 h 510"/>
                  <a:gd name="T44" fmla="*/ 85 w 408"/>
                  <a:gd name="T45" fmla="*/ 290 h 510"/>
                  <a:gd name="T46" fmla="*/ 84 w 408"/>
                  <a:gd name="T47" fmla="*/ 289 h 510"/>
                  <a:gd name="T48" fmla="*/ 83 w 408"/>
                  <a:gd name="T49" fmla="*/ 289 h 510"/>
                  <a:gd name="T50" fmla="*/ 83 w 408"/>
                  <a:gd name="T51" fmla="*/ 289 h 510"/>
                  <a:gd name="T52" fmla="*/ 82 w 408"/>
                  <a:gd name="T53" fmla="*/ 289 h 510"/>
                  <a:gd name="T54" fmla="*/ 81 w 408"/>
                  <a:gd name="T55" fmla="*/ 288 h 510"/>
                  <a:gd name="T56" fmla="*/ 81 w 408"/>
                  <a:gd name="T57" fmla="*/ 288 h 510"/>
                  <a:gd name="T58" fmla="*/ 80 w 408"/>
                  <a:gd name="T59" fmla="*/ 287 h 510"/>
                  <a:gd name="T60" fmla="*/ 80 w 408"/>
                  <a:gd name="T61" fmla="*/ 287 h 510"/>
                  <a:gd name="T62" fmla="*/ 79 w 408"/>
                  <a:gd name="T63" fmla="*/ 286 h 510"/>
                  <a:gd name="T64" fmla="*/ 79 w 408"/>
                  <a:gd name="T65" fmla="*/ 285 h 510"/>
                  <a:gd name="T66" fmla="*/ 78 w 408"/>
                  <a:gd name="T67" fmla="*/ 284 h 510"/>
                  <a:gd name="T68" fmla="*/ 78 w 408"/>
                  <a:gd name="T69" fmla="*/ 284 h 510"/>
                  <a:gd name="T70" fmla="*/ 78 w 408"/>
                  <a:gd name="T71" fmla="*/ 283 h 510"/>
                  <a:gd name="T72" fmla="*/ 78 w 408"/>
                  <a:gd name="T73" fmla="*/ 282 h 510"/>
                  <a:gd name="T74" fmla="*/ 77 w 408"/>
                  <a:gd name="T75" fmla="*/ 281 h 510"/>
                  <a:gd name="T76" fmla="*/ 77 w 408"/>
                  <a:gd name="T77" fmla="*/ 281 h 510"/>
                  <a:gd name="T78" fmla="*/ 77 w 408"/>
                  <a:gd name="T79" fmla="*/ 280 h 510"/>
                  <a:gd name="T80" fmla="*/ 77 w 408"/>
                  <a:gd name="T81" fmla="*/ 279 h 510"/>
                  <a:gd name="T82" fmla="*/ 78 w 408"/>
                  <a:gd name="T83" fmla="*/ 278 h 510"/>
                  <a:gd name="T84" fmla="*/ 78 w 408"/>
                  <a:gd name="T85" fmla="*/ 278 h 510"/>
                  <a:gd name="T86" fmla="*/ 78 w 408"/>
                  <a:gd name="T87" fmla="*/ 277 h 510"/>
                  <a:gd name="T88" fmla="*/ 79 w 408"/>
                  <a:gd name="T89" fmla="*/ 276 h 510"/>
                  <a:gd name="T90" fmla="*/ 79 w 408"/>
                  <a:gd name="T91" fmla="*/ 275 h 510"/>
                  <a:gd name="T92" fmla="*/ 80 w 408"/>
                  <a:gd name="T93" fmla="*/ 274 h 510"/>
                  <a:gd name="T94" fmla="*/ 80 w 408"/>
                  <a:gd name="T95" fmla="*/ 274 h 510"/>
                  <a:gd name="T96" fmla="*/ 81 w 408"/>
                  <a:gd name="T97" fmla="*/ 273 h 510"/>
                  <a:gd name="T98" fmla="*/ 82 w 408"/>
                  <a:gd name="T99" fmla="*/ 272 h 510"/>
                  <a:gd name="T100" fmla="*/ 83 w 408"/>
                  <a:gd name="T101" fmla="*/ 272 h 510"/>
                  <a:gd name="T102" fmla="*/ 84 w 408"/>
                  <a:gd name="T103" fmla="*/ 272 h 510"/>
                  <a:gd name="T104" fmla="*/ 86 w 408"/>
                  <a:gd name="T105" fmla="*/ 271 h 510"/>
                  <a:gd name="T106" fmla="*/ 77 w 408"/>
                  <a:gd name="T107" fmla="*/ 280 h 510"/>
                  <a:gd name="T108" fmla="*/ 87 w 408"/>
                  <a:gd name="T109" fmla="*/ 237 h 510"/>
                  <a:gd name="T110" fmla="*/ 267 w 408"/>
                  <a:gd name="T111" fmla="*/ 175 h 510"/>
                  <a:gd name="T112" fmla="*/ 258 w 408"/>
                  <a:gd name="T113" fmla="*/ 115 h 510"/>
                  <a:gd name="T114" fmla="*/ 87 w 408"/>
                  <a:gd name="T115" fmla="*/ 115 h 510"/>
                  <a:gd name="T116" fmla="*/ 212 w 408"/>
                  <a:gd name="T117" fmla="*/ 28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08" h="510">
                    <a:moveTo>
                      <a:pt x="23" y="460"/>
                    </a:moveTo>
                    <a:cubicBezTo>
                      <a:pt x="147" y="460"/>
                      <a:pt x="147" y="460"/>
                      <a:pt x="147" y="460"/>
                    </a:cubicBezTo>
                    <a:cubicBezTo>
                      <a:pt x="140" y="447"/>
                      <a:pt x="135" y="434"/>
                      <a:pt x="132" y="419"/>
                    </a:cubicBezTo>
                    <a:cubicBezTo>
                      <a:pt x="43" y="419"/>
                      <a:pt x="43" y="419"/>
                      <a:pt x="43" y="419"/>
                    </a:cubicBezTo>
                    <a:cubicBezTo>
                      <a:pt x="43" y="59"/>
                      <a:pt x="43" y="59"/>
                      <a:pt x="43" y="59"/>
                    </a:cubicBezTo>
                    <a:cubicBezTo>
                      <a:pt x="100" y="59"/>
                      <a:pt x="100" y="59"/>
                      <a:pt x="100" y="59"/>
                    </a:cubicBezTo>
                    <a:cubicBezTo>
                      <a:pt x="100" y="18"/>
                      <a:pt x="100" y="18"/>
                      <a:pt x="100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11" y="18"/>
                      <a:pt x="0" y="28"/>
                      <a:pt x="0" y="41"/>
                    </a:cubicBezTo>
                    <a:cubicBezTo>
                      <a:pt x="0" y="437"/>
                      <a:pt x="0" y="437"/>
                      <a:pt x="0" y="437"/>
                    </a:cubicBezTo>
                    <a:cubicBezTo>
                      <a:pt x="0" y="450"/>
                      <a:pt x="11" y="460"/>
                      <a:pt x="23" y="460"/>
                    </a:cubicBezTo>
                    <a:close/>
                    <a:moveTo>
                      <a:pt x="286" y="370"/>
                    </a:moveTo>
                    <a:cubicBezTo>
                      <a:pt x="286" y="370"/>
                      <a:pt x="287" y="369"/>
                      <a:pt x="287" y="369"/>
                    </a:cubicBezTo>
                    <a:cubicBezTo>
                      <a:pt x="288" y="368"/>
                      <a:pt x="289" y="368"/>
                      <a:pt x="290" y="368"/>
                    </a:cubicBezTo>
                    <a:cubicBezTo>
                      <a:pt x="291" y="369"/>
                      <a:pt x="291" y="369"/>
                      <a:pt x="291" y="370"/>
                    </a:cubicBezTo>
                    <a:cubicBezTo>
                      <a:pt x="292" y="370"/>
                      <a:pt x="292" y="370"/>
                      <a:pt x="292" y="370"/>
                    </a:cubicBezTo>
                    <a:cubicBezTo>
                      <a:pt x="337" y="325"/>
                      <a:pt x="337" y="325"/>
                      <a:pt x="337" y="325"/>
                    </a:cubicBezTo>
                    <a:cubicBezTo>
                      <a:pt x="338" y="324"/>
                      <a:pt x="340" y="323"/>
                      <a:pt x="341" y="323"/>
                    </a:cubicBezTo>
                    <a:cubicBezTo>
                      <a:pt x="342" y="323"/>
                      <a:pt x="344" y="324"/>
                      <a:pt x="345" y="325"/>
                    </a:cubicBezTo>
                    <a:cubicBezTo>
                      <a:pt x="346" y="326"/>
                      <a:pt x="346" y="327"/>
                      <a:pt x="346" y="329"/>
                    </a:cubicBezTo>
                    <a:cubicBezTo>
                      <a:pt x="346" y="330"/>
                      <a:pt x="346" y="331"/>
                      <a:pt x="345" y="332"/>
                    </a:cubicBezTo>
                    <a:cubicBezTo>
                      <a:pt x="293" y="384"/>
                      <a:pt x="293" y="384"/>
                      <a:pt x="293" y="384"/>
                    </a:cubicBezTo>
                    <a:cubicBezTo>
                      <a:pt x="300" y="389"/>
                      <a:pt x="300" y="389"/>
                      <a:pt x="300" y="389"/>
                    </a:cubicBezTo>
                    <a:cubicBezTo>
                      <a:pt x="302" y="391"/>
                      <a:pt x="303" y="392"/>
                      <a:pt x="303" y="394"/>
                    </a:cubicBezTo>
                    <a:cubicBezTo>
                      <a:pt x="304" y="398"/>
                      <a:pt x="301" y="402"/>
                      <a:pt x="297" y="403"/>
                    </a:cubicBezTo>
                    <a:cubicBezTo>
                      <a:pt x="295" y="403"/>
                      <a:pt x="293" y="403"/>
                      <a:pt x="291" y="401"/>
                    </a:cubicBezTo>
                    <a:cubicBezTo>
                      <a:pt x="283" y="396"/>
                      <a:pt x="283" y="396"/>
                      <a:pt x="283" y="396"/>
                    </a:cubicBezTo>
                    <a:cubicBezTo>
                      <a:pt x="259" y="464"/>
                      <a:pt x="259" y="464"/>
                      <a:pt x="259" y="464"/>
                    </a:cubicBezTo>
                    <a:cubicBezTo>
                      <a:pt x="259" y="465"/>
                      <a:pt x="258" y="465"/>
                      <a:pt x="258" y="466"/>
                    </a:cubicBezTo>
                    <a:cubicBezTo>
                      <a:pt x="256" y="466"/>
                      <a:pt x="254" y="466"/>
                      <a:pt x="253" y="464"/>
                    </a:cubicBezTo>
                    <a:cubicBezTo>
                      <a:pt x="253" y="463"/>
                      <a:pt x="253" y="463"/>
                      <a:pt x="253" y="462"/>
                    </a:cubicBezTo>
                    <a:cubicBezTo>
                      <a:pt x="274" y="402"/>
                      <a:pt x="274" y="402"/>
                      <a:pt x="274" y="402"/>
                    </a:cubicBezTo>
                    <a:cubicBezTo>
                      <a:pt x="274" y="402"/>
                      <a:pt x="273" y="403"/>
                      <a:pt x="272" y="403"/>
                    </a:cubicBezTo>
                    <a:cubicBezTo>
                      <a:pt x="271" y="403"/>
                      <a:pt x="270" y="402"/>
                      <a:pt x="269" y="401"/>
                    </a:cubicBezTo>
                    <a:cubicBezTo>
                      <a:pt x="268" y="400"/>
                      <a:pt x="267" y="399"/>
                      <a:pt x="267" y="397"/>
                    </a:cubicBezTo>
                    <a:cubicBezTo>
                      <a:pt x="267" y="396"/>
                      <a:pt x="268" y="394"/>
                      <a:pt x="269" y="393"/>
                    </a:cubicBezTo>
                    <a:cubicBezTo>
                      <a:pt x="274" y="388"/>
                      <a:pt x="274" y="388"/>
                      <a:pt x="274" y="388"/>
                    </a:cubicBezTo>
                    <a:cubicBezTo>
                      <a:pt x="232" y="357"/>
                      <a:pt x="232" y="357"/>
                      <a:pt x="232" y="357"/>
                    </a:cubicBezTo>
                    <a:cubicBezTo>
                      <a:pt x="231" y="356"/>
                      <a:pt x="230" y="354"/>
                      <a:pt x="229" y="352"/>
                    </a:cubicBezTo>
                    <a:cubicBezTo>
                      <a:pt x="229" y="350"/>
                      <a:pt x="230" y="348"/>
                      <a:pt x="231" y="347"/>
                    </a:cubicBezTo>
                    <a:cubicBezTo>
                      <a:pt x="232" y="345"/>
                      <a:pt x="234" y="344"/>
                      <a:pt x="236" y="344"/>
                    </a:cubicBezTo>
                    <a:cubicBezTo>
                      <a:pt x="238" y="344"/>
                      <a:pt x="240" y="344"/>
                      <a:pt x="241" y="345"/>
                    </a:cubicBezTo>
                    <a:cubicBezTo>
                      <a:pt x="283" y="377"/>
                      <a:pt x="283" y="377"/>
                      <a:pt x="283" y="377"/>
                    </a:cubicBezTo>
                    <a:cubicBezTo>
                      <a:pt x="286" y="370"/>
                      <a:pt x="286" y="370"/>
                      <a:pt x="286" y="370"/>
                    </a:cubicBezTo>
                    <a:close/>
                    <a:moveTo>
                      <a:pt x="350" y="319"/>
                    </a:moveTo>
                    <a:cubicBezTo>
                      <a:pt x="342" y="310"/>
                      <a:pt x="331" y="303"/>
                      <a:pt x="320" y="299"/>
                    </a:cubicBezTo>
                    <a:cubicBezTo>
                      <a:pt x="309" y="294"/>
                      <a:pt x="296" y="291"/>
                      <a:pt x="283" y="291"/>
                    </a:cubicBezTo>
                    <a:cubicBezTo>
                      <a:pt x="271" y="291"/>
                      <a:pt x="258" y="294"/>
                      <a:pt x="247" y="299"/>
                    </a:cubicBezTo>
                    <a:cubicBezTo>
                      <a:pt x="236" y="303"/>
                      <a:pt x="225" y="310"/>
                      <a:pt x="216" y="319"/>
                    </a:cubicBezTo>
                    <a:cubicBezTo>
                      <a:pt x="208" y="328"/>
                      <a:pt x="201" y="338"/>
                      <a:pt x="196" y="350"/>
                    </a:cubicBezTo>
                    <a:cubicBezTo>
                      <a:pt x="191" y="361"/>
                      <a:pt x="189" y="373"/>
                      <a:pt x="189" y="386"/>
                    </a:cubicBezTo>
                    <a:cubicBezTo>
                      <a:pt x="189" y="399"/>
                      <a:pt x="191" y="411"/>
                      <a:pt x="196" y="422"/>
                    </a:cubicBezTo>
                    <a:cubicBezTo>
                      <a:pt x="201" y="434"/>
                      <a:pt x="208" y="444"/>
                      <a:pt x="216" y="453"/>
                    </a:cubicBezTo>
                    <a:cubicBezTo>
                      <a:pt x="225" y="462"/>
                      <a:pt x="236" y="469"/>
                      <a:pt x="247" y="474"/>
                    </a:cubicBezTo>
                    <a:cubicBezTo>
                      <a:pt x="258" y="478"/>
                      <a:pt x="271" y="481"/>
                      <a:pt x="283" y="481"/>
                    </a:cubicBezTo>
                    <a:cubicBezTo>
                      <a:pt x="296" y="481"/>
                      <a:pt x="309" y="478"/>
                      <a:pt x="320" y="474"/>
                    </a:cubicBezTo>
                    <a:cubicBezTo>
                      <a:pt x="331" y="469"/>
                      <a:pt x="342" y="462"/>
                      <a:pt x="350" y="453"/>
                    </a:cubicBezTo>
                    <a:cubicBezTo>
                      <a:pt x="359" y="444"/>
                      <a:pt x="366" y="434"/>
                      <a:pt x="371" y="422"/>
                    </a:cubicBezTo>
                    <a:cubicBezTo>
                      <a:pt x="376" y="411"/>
                      <a:pt x="378" y="399"/>
                      <a:pt x="378" y="386"/>
                    </a:cubicBezTo>
                    <a:cubicBezTo>
                      <a:pt x="378" y="373"/>
                      <a:pt x="376" y="361"/>
                      <a:pt x="371" y="350"/>
                    </a:cubicBezTo>
                    <a:cubicBezTo>
                      <a:pt x="366" y="338"/>
                      <a:pt x="359" y="328"/>
                      <a:pt x="350" y="319"/>
                    </a:cubicBezTo>
                    <a:close/>
                    <a:moveTo>
                      <a:pt x="196" y="298"/>
                    </a:moveTo>
                    <a:cubicBezTo>
                      <a:pt x="173" y="321"/>
                      <a:pt x="159" y="352"/>
                      <a:pt x="159" y="386"/>
                    </a:cubicBezTo>
                    <a:cubicBezTo>
                      <a:pt x="159" y="420"/>
                      <a:pt x="173" y="451"/>
                      <a:pt x="196" y="474"/>
                    </a:cubicBezTo>
                    <a:cubicBezTo>
                      <a:pt x="218" y="496"/>
                      <a:pt x="249" y="510"/>
                      <a:pt x="283" y="510"/>
                    </a:cubicBezTo>
                    <a:cubicBezTo>
                      <a:pt x="318" y="510"/>
                      <a:pt x="349" y="496"/>
                      <a:pt x="371" y="474"/>
                    </a:cubicBezTo>
                    <a:cubicBezTo>
                      <a:pt x="394" y="451"/>
                      <a:pt x="408" y="420"/>
                      <a:pt x="408" y="386"/>
                    </a:cubicBezTo>
                    <a:cubicBezTo>
                      <a:pt x="408" y="352"/>
                      <a:pt x="394" y="321"/>
                      <a:pt x="371" y="298"/>
                    </a:cubicBezTo>
                    <a:cubicBezTo>
                      <a:pt x="349" y="276"/>
                      <a:pt x="318" y="262"/>
                      <a:pt x="283" y="262"/>
                    </a:cubicBezTo>
                    <a:cubicBezTo>
                      <a:pt x="249" y="262"/>
                      <a:pt x="218" y="276"/>
                      <a:pt x="196" y="298"/>
                    </a:cubicBezTo>
                    <a:close/>
                    <a:moveTo>
                      <a:pt x="229" y="381"/>
                    </a:moveTo>
                    <a:cubicBezTo>
                      <a:pt x="202" y="381"/>
                      <a:pt x="202" y="381"/>
                      <a:pt x="202" y="381"/>
                    </a:cubicBezTo>
                    <a:cubicBezTo>
                      <a:pt x="199" y="381"/>
                      <a:pt x="197" y="383"/>
                      <a:pt x="197" y="386"/>
                    </a:cubicBezTo>
                    <a:cubicBezTo>
                      <a:pt x="197" y="389"/>
                      <a:pt x="199" y="391"/>
                      <a:pt x="202" y="391"/>
                    </a:cubicBezTo>
                    <a:cubicBezTo>
                      <a:pt x="229" y="391"/>
                      <a:pt x="229" y="391"/>
                      <a:pt x="229" y="391"/>
                    </a:cubicBezTo>
                    <a:cubicBezTo>
                      <a:pt x="232" y="391"/>
                      <a:pt x="235" y="389"/>
                      <a:pt x="235" y="386"/>
                    </a:cubicBezTo>
                    <a:cubicBezTo>
                      <a:pt x="235" y="383"/>
                      <a:pt x="232" y="381"/>
                      <a:pt x="229" y="381"/>
                    </a:cubicBezTo>
                    <a:close/>
                    <a:moveTo>
                      <a:pt x="338" y="391"/>
                    </a:moveTo>
                    <a:cubicBezTo>
                      <a:pt x="365" y="391"/>
                      <a:pt x="365" y="391"/>
                      <a:pt x="365" y="391"/>
                    </a:cubicBezTo>
                    <a:cubicBezTo>
                      <a:pt x="368" y="391"/>
                      <a:pt x="370" y="389"/>
                      <a:pt x="370" y="386"/>
                    </a:cubicBezTo>
                    <a:cubicBezTo>
                      <a:pt x="370" y="383"/>
                      <a:pt x="368" y="381"/>
                      <a:pt x="365" y="381"/>
                    </a:cubicBezTo>
                    <a:cubicBezTo>
                      <a:pt x="338" y="381"/>
                      <a:pt x="338" y="381"/>
                      <a:pt x="338" y="381"/>
                    </a:cubicBezTo>
                    <a:cubicBezTo>
                      <a:pt x="335" y="381"/>
                      <a:pt x="332" y="383"/>
                      <a:pt x="332" y="386"/>
                    </a:cubicBezTo>
                    <a:cubicBezTo>
                      <a:pt x="332" y="389"/>
                      <a:pt x="335" y="391"/>
                      <a:pt x="338" y="391"/>
                    </a:cubicBezTo>
                    <a:close/>
                    <a:moveTo>
                      <a:pt x="278" y="440"/>
                    </a:moveTo>
                    <a:cubicBezTo>
                      <a:pt x="278" y="467"/>
                      <a:pt x="278" y="467"/>
                      <a:pt x="278" y="467"/>
                    </a:cubicBezTo>
                    <a:cubicBezTo>
                      <a:pt x="278" y="470"/>
                      <a:pt x="280" y="473"/>
                      <a:pt x="283" y="473"/>
                    </a:cubicBezTo>
                    <a:cubicBezTo>
                      <a:pt x="286" y="473"/>
                      <a:pt x="289" y="470"/>
                      <a:pt x="289" y="467"/>
                    </a:cubicBezTo>
                    <a:cubicBezTo>
                      <a:pt x="289" y="440"/>
                      <a:pt x="289" y="440"/>
                      <a:pt x="289" y="440"/>
                    </a:cubicBezTo>
                    <a:cubicBezTo>
                      <a:pt x="289" y="437"/>
                      <a:pt x="286" y="435"/>
                      <a:pt x="283" y="435"/>
                    </a:cubicBezTo>
                    <a:cubicBezTo>
                      <a:pt x="280" y="435"/>
                      <a:pt x="278" y="437"/>
                      <a:pt x="278" y="440"/>
                    </a:cubicBezTo>
                    <a:close/>
                    <a:moveTo>
                      <a:pt x="289" y="332"/>
                    </a:moveTo>
                    <a:cubicBezTo>
                      <a:pt x="289" y="305"/>
                      <a:pt x="289" y="305"/>
                      <a:pt x="289" y="305"/>
                    </a:cubicBezTo>
                    <a:cubicBezTo>
                      <a:pt x="289" y="302"/>
                      <a:pt x="286" y="299"/>
                      <a:pt x="283" y="299"/>
                    </a:cubicBezTo>
                    <a:cubicBezTo>
                      <a:pt x="280" y="299"/>
                      <a:pt x="278" y="302"/>
                      <a:pt x="278" y="305"/>
                    </a:cubicBezTo>
                    <a:cubicBezTo>
                      <a:pt x="278" y="332"/>
                      <a:pt x="278" y="332"/>
                      <a:pt x="278" y="332"/>
                    </a:cubicBezTo>
                    <a:cubicBezTo>
                      <a:pt x="278" y="335"/>
                      <a:pt x="280" y="337"/>
                      <a:pt x="283" y="337"/>
                    </a:cubicBezTo>
                    <a:cubicBezTo>
                      <a:pt x="286" y="337"/>
                      <a:pt x="289" y="335"/>
                      <a:pt x="289" y="332"/>
                    </a:cubicBezTo>
                    <a:close/>
                    <a:moveTo>
                      <a:pt x="218" y="0"/>
                    </a:moveTo>
                    <a:cubicBezTo>
                      <a:pt x="224" y="0"/>
                      <a:pt x="228" y="2"/>
                      <a:pt x="232" y="4"/>
                    </a:cubicBezTo>
                    <a:cubicBezTo>
                      <a:pt x="235" y="7"/>
                      <a:pt x="237" y="11"/>
                      <a:pt x="237" y="14"/>
                    </a:cubicBezTo>
                    <a:cubicBezTo>
                      <a:pt x="237" y="72"/>
                      <a:pt x="237" y="72"/>
                      <a:pt x="237" y="72"/>
                    </a:cubicBezTo>
                    <a:cubicBezTo>
                      <a:pt x="237" y="75"/>
                      <a:pt x="235" y="79"/>
                      <a:pt x="232" y="82"/>
                    </a:cubicBezTo>
                    <a:cubicBezTo>
                      <a:pt x="228" y="84"/>
                      <a:pt x="224" y="86"/>
                      <a:pt x="218" y="86"/>
                    </a:cubicBezTo>
                    <a:cubicBezTo>
                      <a:pt x="126" y="86"/>
                      <a:pt x="126" y="86"/>
                      <a:pt x="126" y="86"/>
                    </a:cubicBezTo>
                    <a:cubicBezTo>
                      <a:pt x="121" y="86"/>
                      <a:pt x="116" y="84"/>
                      <a:pt x="113" y="82"/>
                    </a:cubicBezTo>
                    <a:cubicBezTo>
                      <a:pt x="110" y="79"/>
                      <a:pt x="108" y="75"/>
                      <a:pt x="108" y="72"/>
                    </a:cubicBezTo>
                    <a:cubicBezTo>
                      <a:pt x="108" y="14"/>
                      <a:pt x="108" y="14"/>
                      <a:pt x="108" y="14"/>
                    </a:cubicBezTo>
                    <a:cubicBezTo>
                      <a:pt x="108" y="11"/>
                      <a:pt x="110" y="7"/>
                      <a:pt x="113" y="4"/>
                    </a:cubicBezTo>
                    <a:cubicBezTo>
                      <a:pt x="116" y="2"/>
                      <a:pt x="121" y="0"/>
                      <a:pt x="126" y="0"/>
                    </a:cubicBezTo>
                    <a:cubicBezTo>
                      <a:pt x="218" y="0"/>
                      <a:pt x="218" y="0"/>
                      <a:pt x="218" y="0"/>
                    </a:cubicBezTo>
                    <a:close/>
                    <a:moveTo>
                      <a:pt x="138" y="19"/>
                    </a:moveTo>
                    <a:cubicBezTo>
                      <a:pt x="206" y="19"/>
                      <a:pt x="206" y="19"/>
                      <a:pt x="206" y="19"/>
                    </a:cubicBezTo>
                    <a:cubicBezTo>
                      <a:pt x="210" y="19"/>
                      <a:pt x="214" y="20"/>
                      <a:pt x="217" y="22"/>
                    </a:cubicBezTo>
                    <a:cubicBezTo>
                      <a:pt x="217" y="22"/>
                      <a:pt x="217" y="22"/>
                      <a:pt x="217" y="22"/>
                    </a:cubicBezTo>
                    <a:cubicBezTo>
                      <a:pt x="220" y="25"/>
                      <a:pt x="222" y="29"/>
                      <a:pt x="222" y="33"/>
                    </a:cubicBezTo>
                    <a:cubicBezTo>
                      <a:pt x="222" y="51"/>
                      <a:pt x="222" y="51"/>
                      <a:pt x="222" y="51"/>
                    </a:cubicBezTo>
                    <a:cubicBezTo>
                      <a:pt x="222" y="55"/>
                      <a:pt x="220" y="58"/>
                      <a:pt x="217" y="61"/>
                    </a:cubicBezTo>
                    <a:cubicBezTo>
                      <a:pt x="217" y="61"/>
                      <a:pt x="217" y="61"/>
                      <a:pt x="217" y="61"/>
                    </a:cubicBezTo>
                    <a:cubicBezTo>
                      <a:pt x="214" y="63"/>
                      <a:pt x="210" y="65"/>
                      <a:pt x="206" y="65"/>
                    </a:cubicBezTo>
                    <a:cubicBezTo>
                      <a:pt x="138" y="65"/>
                      <a:pt x="138" y="65"/>
                      <a:pt x="138" y="65"/>
                    </a:cubicBezTo>
                    <a:cubicBezTo>
                      <a:pt x="134" y="65"/>
                      <a:pt x="130" y="63"/>
                      <a:pt x="127" y="61"/>
                    </a:cubicBezTo>
                    <a:cubicBezTo>
                      <a:pt x="127" y="61"/>
                      <a:pt x="127" y="61"/>
                      <a:pt x="127" y="61"/>
                    </a:cubicBezTo>
                    <a:cubicBezTo>
                      <a:pt x="124" y="58"/>
                      <a:pt x="122" y="55"/>
                      <a:pt x="122" y="51"/>
                    </a:cubicBezTo>
                    <a:cubicBezTo>
                      <a:pt x="122" y="33"/>
                      <a:pt x="122" y="33"/>
                      <a:pt x="122" y="33"/>
                    </a:cubicBezTo>
                    <a:cubicBezTo>
                      <a:pt x="122" y="29"/>
                      <a:pt x="124" y="25"/>
                      <a:pt x="127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30" y="20"/>
                      <a:pt x="134" y="19"/>
                      <a:pt x="138" y="19"/>
                    </a:cubicBezTo>
                    <a:close/>
                    <a:moveTo>
                      <a:pt x="344" y="243"/>
                    </a:moveTo>
                    <a:cubicBezTo>
                      <a:pt x="344" y="41"/>
                      <a:pt x="344" y="41"/>
                      <a:pt x="344" y="41"/>
                    </a:cubicBezTo>
                    <a:cubicBezTo>
                      <a:pt x="344" y="28"/>
                      <a:pt x="334" y="18"/>
                      <a:pt x="321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44" y="59"/>
                      <a:pt x="244" y="59"/>
                      <a:pt x="244" y="59"/>
                    </a:cubicBezTo>
                    <a:cubicBezTo>
                      <a:pt x="302" y="59"/>
                      <a:pt x="302" y="59"/>
                      <a:pt x="302" y="59"/>
                    </a:cubicBezTo>
                    <a:cubicBezTo>
                      <a:pt x="302" y="92"/>
                      <a:pt x="302" y="92"/>
                      <a:pt x="302" y="92"/>
                    </a:cubicBezTo>
                    <a:cubicBezTo>
                      <a:pt x="302" y="232"/>
                      <a:pt x="302" y="232"/>
                      <a:pt x="302" y="232"/>
                    </a:cubicBezTo>
                    <a:cubicBezTo>
                      <a:pt x="317" y="234"/>
                      <a:pt x="331" y="238"/>
                      <a:pt x="344" y="243"/>
                    </a:cubicBezTo>
                    <a:close/>
                    <a:moveTo>
                      <a:pt x="87" y="324"/>
                    </a:moveTo>
                    <a:cubicBezTo>
                      <a:pt x="141" y="324"/>
                      <a:pt x="141" y="324"/>
                      <a:pt x="141" y="324"/>
                    </a:cubicBezTo>
                    <a:cubicBezTo>
                      <a:pt x="139" y="330"/>
                      <a:pt x="136" y="336"/>
                      <a:pt x="134" y="343"/>
                    </a:cubicBezTo>
                    <a:cubicBezTo>
                      <a:pt x="87" y="343"/>
                      <a:pt x="87" y="343"/>
                      <a:pt x="87" y="343"/>
                    </a:cubicBezTo>
                    <a:cubicBezTo>
                      <a:pt x="82" y="343"/>
                      <a:pt x="77" y="339"/>
                      <a:pt x="77" y="333"/>
                    </a:cubicBezTo>
                    <a:cubicBezTo>
                      <a:pt x="77" y="333"/>
                      <a:pt x="77" y="333"/>
                      <a:pt x="77" y="333"/>
                    </a:cubicBezTo>
                    <a:cubicBezTo>
                      <a:pt x="77" y="328"/>
                      <a:pt x="82" y="324"/>
                      <a:pt x="87" y="324"/>
                    </a:cubicBezTo>
                    <a:close/>
                    <a:moveTo>
                      <a:pt x="162" y="290"/>
                    </a:moveTo>
                    <a:cubicBezTo>
                      <a:pt x="87" y="290"/>
                      <a:pt x="87" y="290"/>
                      <a:pt x="87" y="290"/>
                    </a:cubicBezTo>
                    <a:cubicBezTo>
                      <a:pt x="87" y="290"/>
                      <a:pt x="87" y="290"/>
                      <a:pt x="87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6" y="290"/>
                      <a:pt x="86" y="290"/>
                      <a:pt x="86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5" y="290"/>
                      <a:pt x="85" y="290"/>
                      <a:pt x="85" y="290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4" y="289"/>
                      <a:pt x="84" y="289"/>
                      <a:pt x="84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3" y="289"/>
                      <a:pt x="83" y="289"/>
                      <a:pt x="83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9"/>
                      <a:pt x="82" y="289"/>
                      <a:pt x="82" y="289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2" y="288"/>
                      <a:pt x="82" y="288"/>
                      <a:pt x="82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8"/>
                      <a:pt x="81" y="288"/>
                      <a:pt x="81" y="288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1" y="287"/>
                      <a:pt x="81" y="287"/>
                      <a:pt x="81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7"/>
                      <a:pt x="80" y="287"/>
                      <a:pt x="80" y="287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80" y="286"/>
                      <a:pt x="80" y="286"/>
                      <a:pt x="80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6"/>
                      <a:pt x="79" y="286"/>
                      <a:pt x="79" y="286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9" y="285"/>
                      <a:pt x="79" y="285"/>
                      <a:pt x="79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5"/>
                      <a:pt x="78" y="285"/>
                      <a:pt x="78" y="285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4"/>
                      <a:pt x="78" y="284"/>
                      <a:pt x="78" y="284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3"/>
                      <a:pt x="78" y="283"/>
                      <a:pt x="78" y="283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8" y="282"/>
                      <a:pt x="78" y="282"/>
                      <a:pt x="78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2"/>
                      <a:pt x="77" y="282"/>
                      <a:pt x="77" y="282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7" y="279"/>
                      <a:pt x="77" y="279"/>
                      <a:pt x="77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9"/>
                      <a:pt x="78" y="279"/>
                      <a:pt x="78" y="279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8"/>
                      <a:pt x="78" y="278"/>
                      <a:pt x="78" y="278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7"/>
                      <a:pt x="78" y="277"/>
                      <a:pt x="78" y="277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8" y="276"/>
                      <a:pt x="78" y="276"/>
                      <a:pt x="78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6"/>
                      <a:pt x="79" y="276"/>
                      <a:pt x="79" y="276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79" y="275"/>
                      <a:pt x="79" y="275"/>
                      <a:pt x="79" y="275"/>
                    </a:cubicBezTo>
                    <a:cubicBezTo>
                      <a:pt x="80" y="275"/>
                      <a:pt x="80" y="275"/>
                      <a:pt x="80" y="275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0" y="274"/>
                      <a:pt x="80" y="274"/>
                      <a:pt x="80" y="274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1" y="273"/>
                      <a:pt x="81" y="273"/>
                      <a:pt x="81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3" y="272"/>
                      <a:pt x="83" y="272"/>
                      <a:pt x="83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5" y="271"/>
                      <a:pt x="85" y="271"/>
                      <a:pt x="85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6" y="271"/>
                      <a:pt x="86" y="271"/>
                      <a:pt x="86" y="271"/>
                    </a:cubicBezTo>
                    <a:cubicBezTo>
                      <a:pt x="87" y="271"/>
                      <a:pt x="87" y="271"/>
                      <a:pt x="87" y="271"/>
                    </a:cubicBezTo>
                    <a:cubicBezTo>
                      <a:pt x="179" y="271"/>
                      <a:pt x="179" y="271"/>
                      <a:pt x="179" y="271"/>
                    </a:cubicBezTo>
                    <a:cubicBezTo>
                      <a:pt x="173" y="277"/>
                      <a:pt x="167" y="283"/>
                      <a:pt x="162" y="290"/>
                    </a:cubicBezTo>
                    <a:close/>
                    <a:moveTo>
                      <a:pt x="77" y="280"/>
                    </a:moveTo>
                    <a:cubicBezTo>
                      <a:pt x="77" y="280"/>
                      <a:pt x="77" y="280"/>
                      <a:pt x="77" y="280"/>
                    </a:cubicBezTo>
                    <a:close/>
                    <a:moveTo>
                      <a:pt x="87" y="218"/>
                    </a:moveTo>
                    <a:cubicBezTo>
                      <a:pt x="258" y="218"/>
                      <a:pt x="258" y="218"/>
                      <a:pt x="258" y="218"/>
                    </a:cubicBezTo>
                    <a:cubicBezTo>
                      <a:pt x="263" y="218"/>
                      <a:pt x="267" y="222"/>
                      <a:pt x="267" y="228"/>
                    </a:cubicBezTo>
                    <a:cubicBezTo>
                      <a:pt x="267" y="228"/>
                      <a:pt x="267" y="228"/>
                      <a:pt x="267" y="228"/>
                    </a:cubicBezTo>
                    <a:cubicBezTo>
                      <a:pt x="267" y="229"/>
                      <a:pt x="267" y="231"/>
                      <a:pt x="266" y="232"/>
                    </a:cubicBezTo>
                    <a:cubicBezTo>
                      <a:pt x="257" y="233"/>
                      <a:pt x="249" y="235"/>
                      <a:pt x="241" y="237"/>
                    </a:cubicBezTo>
                    <a:cubicBezTo>
                      <a:pt x="87" y="237"/>
                      <a:pt x="87" y="237"/>
                      <a:pt x="87" y="237"/>
                    </a:cubicBezTo>
                    <a:cubicBezTo>
                      <a:pt x="82" y="237"/>
                      <a:pt x="77" y="233"/>
                      <a:pt x="77" y="228"/>
                    </a:cubicBezTo>
                    <a:cubicBezTo>
                      <a:pt x="77" y="228"/>
                      <a:pt x="77" y="228"/>
                      <a:pt x="77" y="228"/>
                    </a:cubicBezTo>
                    <a:cubicBezTo>
                      <a:pt x="77" y="222"/>
                      <a:pt x="82" y="218"/>
                      <a:pt x="87" y="218"/>
                    </a:cubicBezTo>
                    <a:close/>
                    <a:moveTo>
                      <a:pt x="87" y="165"/>
                    </a:moveTo>
                    <a:cubicBezTo>
                      <a:pt x="258" y="165"/>
                      <a:pt x="258" y="165"/>
                      <a:pt x="258" y="165"/>
                    </a:cubicBezTo>
                    <a:cubicBezTo>
                      <a:pt x="263" y="165"/>
                      <a:pt x="267" y="170"/>
                      <a:pt x="267" y="175"/>
                    </a:cubicBezTo>
                    <a:cubicBezTo>
                      <a:pt x="267" y="175"/>
                      <a:pt x="267" y="175"/>
                      <a:pt x="267" y="175"/>
                    </a:cubicBezTo>
                    <a:cubicBezTo>
                      <a:pt x="267" y="180"/>
                      <a:pt x="263" y="184"/>
                      <a:pt x="258" y="184"/>
                    </a:cubicBezTo>
                    <a:cubicBezTo>
                      <a:pt x="87" y="184"/>
                      <a:pt x="87" y="184"/>
                      <a:pt x="87" y="184"/>
                    </a:cubicBezTo>
                    <a:cubicBezTo>
                      <a:pt x="82" y="184"/>
                      <a:pt x="77" y="180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0"/>
                      <a:pt x="82" y="165"/>
                      <a:pt x="87" y="165"/>
                    </a:cubicBezTo>
                    <a:close/>
                    <a:moveTo>
                      <a:pt x="87" y="115"/>
                    </a:moveTo>
                    <a:cubicBezTo>
                      <a:pt x="258" y="115"/>
                      <a:pt x="258" y="115"/>
                      <a:pt x="258" y="115"/>
                    </a:cubicBezTo>
                    <a:cubicBezTo>
                      <a:pt x="263" y="115"/>
                      <a:pt x="267" y="120"/>
                      <a:pt x="267" y="125"/>
                    </a:cubicBezTo>
                    <a:cubicBezTo>
                      <a:pt x="267" y="125"/>
                      <a:pt x="267" y="125"/>
                      <a:pt x="267" y="125"/>
                    </a:cubicBezTo>
                    <a:cubicBezTo>
                      <a:pt x="267" y="130"/>
                      <a:pt x="263" y="134"/>
                      <a:pt x="258" y="134"/>
                    </a:cubicBezTo>
                    <a:cubicBezTo>
                      <a:pt x="87" y="134"/>
                      <a:pt x="87" y="134"/>
                      <a:pt x="87" y="134"/>
                    </a:cubicBezTo>
                    <a:cubicBezTo>
                      <a:pt x="82" y="134"/>
                      <a:pt x="77" y="130"/>
                      <a:pt x="77" y="125"/>
                    </a:cubicBezTo>
                    <a:cubicBezTo>
                      <a:pt x="77" y="125"/>
                      <a:pt x="77" y="125"/>
                      <a:pt x="77" y="125"/>
                    </a:cubicBezTo>
                    <a:cubicBezTo>
                      <a:pt x="77" y="120"/>
                      <a:pt x="82" y="115"/>
                      <a:pt x="87" y="115"/>
                    </a:cubicBezTo>
                    <a:close/>
                    <a:moveTo>
                      <a:pt x="130" y="59"/>
                    </a:moveTo>
                    <a:cubicBezTo>
                      <a:pt x="130" y="33"/>
                      <a:pt x="130" y="33"/>
                      <a:pt x="130" y="33"/>
                    </a:cubicBezTo>
                    <a:cubicBezTo>
                      <a:pt x="130" y="31"/>
                      <a:pt x="131" y="29"/>
                      <a:pt x="132" y="28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4" y="27"/>
                      <a:pt x="136" y="26"/>
                      <a:pt x="138" y="26"/>
                    </a:cubicBezTo>
                    <a:cubicBezTo>
                      <a:pt x="206" y="26"/>
                      <a:pt x="206" y="26"/>
                      <a:pt x="206" y="26"/>
                    </a:cubicBezTo>
                    <a:cubicBezTo>
                      <a:pt x="208" y="26"/>
                      <a:pt x="211" y="27"/>
                      <a:pt x="212" y="28"/>
                    </a:cubicBezTo>
                    <a:cubicBezTo>
                      <a:pt x="212" y="28"/>
                      <a:pt x="212" y="28"/>
                      <a:pt x="212" y="28"/>
                    </a:cubicBezTo>
                    <a:cubicBezTo>
                      <a:pt x="214" y="29"/>
                      <a:pt x="215" y="31"/>
                      <a:pt x="215" y="33"/>
                    </a:cubicBezTo>
                    <a:cubicBezTo>
                      <a:pt x="215" y="59"/>
                      <a:pt x="215" y="59"/>
                      <a:pt x="215" y="59"/>
                    </a:cubicBezTo>
                    <a:lnTo>
                      <a:pt x="130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" name="Rectangle 58"/>
              <p:cNvSpPr>
                <a:spLocks noChangeArrowheads="1"/>
              </p:cNvSpPr>
              <p:nvPr/>
            </p:nvSpPr>
            <p:spPr bwMode="auto">
              <a:xfrm rot="2700000">
                <a:off x="2655457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" name="Rectangle 58"/>
              <p:cNvSpPr>
                <a:spLocks noChangeArrowheads="1"/>
              </p:cNvSpPr>
              <p:nvPr/>
            </p:nvSpPr>
            <p:spPr bwMode="auto">
              <a:xfrm rot="2700000">
                <a:off x="8987566" y="2650490"/>
                <a:ext cx="631043" cy="631043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</a:ln>
              <a:effectLst>
                <a:outerShdw blurRad="190500" dist="38100" dir="2700000" algn="tl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US" sz="16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260" y="5641"/>
              <a:ext cx="5648" cy="2719"/>
              <a:chOff x="1276684" y="4550152"/>
              <a:chExt cx="3586261" cy="1726551"/>
            </a:xfrm>
          </p:grpSpPr>
          <p:sp>
            <p:nvSpPr>
              <p:cNvPr id="10" name="TextBox 76"/>
              <p:cNvSpPr txBox="1"/>
              <p:nvPr/>
            </p:nvSpPr>
            <p:spPr>
              <a:xfrm>
                <a:off x="1276684" y="4550152"/>
                <a:ext cx="2825577" cy="46032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客户端的帮助信息</a:t>
                </a: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276684" y="5225885"/>
                <a:ext cx="3586261" cy="105081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客户端相关的帮助信息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，可以在Windows命令处理程序窗口登录MySQL之后，执行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help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命令即可获得。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612" y="5592"/>
              <a:ext cx="5751" cy="2768"/>
              <a:chOff x="1211336" y="4519375"/>
              <a:chExt cx="3651610" cy="1757482"/>
            </a:xfrm>
          </p:grpSpPr>
          <p:sp>
            <p:nvSpPr>
              <p:cNvPr id="31" name="TextBox 76"/>
              <p:cNvSpPr txBox="1"/>
              <p:nvPr/>
            </p:nvSpPr>
            <p:spPr>
              <a:xfrm>
                <a:off x="1213876" y="4519375"/>
                <a:ext cx="2991895" cy="46039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服务端的帮助信息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211336" y="5225885"/>
                <a:ext cx="3651610" cy="105097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在Windows命令处理程序窗口中，执行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help contents</a:t>
                </a: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命令获得服务端相关的帮助信息。</a:t>
                </a:r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矩形 2"/>
          <p:cNvSpPr/>
          <p:nvPr/>
        </p:nvSpPr>
        <p:spPr>
          <a:xfrm>
            <a:off x="886460" y="1988820"/>
            <a:ext cx="1010602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执行MySQL的mysql命令时，需要确保当前执行命令的路径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位于MySQL安装目录的bin目录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，如果在其他目录，需要先使用命令切换到MySQL安装目录的bin目录。如果每次启动MySQL服务时，都需要切换到指定的路径，则操作比较繁琐，为此可以将MySQL安装目录的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bin目录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配置到系统的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PATH环境变量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中，这样启动MySQL服务时，系统会在PATH环境变量保存的路径中寻找对应的命令。</a:t>
            </a:r>
          </a:p>
          <a:p>
            <a:pPr lvl="1">
              <a:lnSpc>
                <a:spcPct val="150000"/>
              </a:lnSpc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endParaRPr lang="it-IT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1.6.6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配置环境变量</a:t>
            </a:r>
          </a:p>
        </p:txBody>
      </p:sp>
      <p:sp>
        <p:nvSpPr>
          <p:cNvPr id="40" name="矩形 93"/>
          <p:cNvSpPr/>
          <p:nvPr/>
        </p:nvSpPr>
        <p:spPr>
          <a:xfrm>
            <a:off x="1143576" y="179402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98245" y="1884680"/>
            <a:ext cx="9846310" cy="1919605"/>
            <a:chOff x="1888" y="2621"/>
            <a:chExt cx="15506" cy="3023"/>
          </a:xfrm>
        </p:grpSpPr>
        <p:sp>
          <p:nvSpPr>
            <p:cNvPr id="27" name="圆角矩形 26"/>
            <p:cNvSpPr/>
            <p:nvPr/>
          </p:nvSpPr>
          <p:spPr>
            <a:xfrm>
              <a:off x="1888" y="2621"/>
              <a:ext cx="15424" cy="2930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1" name="矩形 93"/>
            <p:cNvSpPr/>
            <p:nvPr/>
          </p:nvSpPr>
          <p:spPr>
            <a:xfrm rot="10800000">
              <a:off x="16790" y="5040"/>
              <a:ext cx="605" cy="605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982345" y="909320"/>
            <a:ext cx="2719070" cy="676275"/>
            <a:chOff x="1547" y="1432"/>
            <a:chExt cx="4780" cy="1065"/>
          </a:xfrm>
        </p:grpSpPr>
        <p:sp>
          <p:nvSpPr>
            <p:cNvPr id="20" name="五边形 19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配置环境变量</a:t>
              </a:r>
            </a:p>
          </p:txBody>
        </p:sp>
      </p:grpSp>
      <p:sp>
        <p:nvSpPr>
          <p:cNvPr id="4" name="矩形 3"/>
          <p:cNvSpPr/>
          <p:nvPr/>
        </p:nvSpPr>
        <p:spPr>
          <a:xfrm>
            <a:off x="1845945" y="5158105"/>
            <a:ext cx="8498205" cy="453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609600" lvl="1" indent="0" eaLnBrk="1" hangingPunct="1">
              <a:buNone/>
            </a:pPr>
            <a:endParaRPr lang="zh-CN" altLang="it-IT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 indent="0" eaLnBrk="1" hangingPunct="1">
              <a:buNone/>
            </a:pPr>
            <a:r>
              <a:rPr lang="en-US" altLang="it-IT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       </a:t>
            </a:r>
            <a:r>
              <a:rPr lang="it-IT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setx PATH "%PATH%;E:\mysql-8.0.23-winx64\bin"</a:t>
            </a:r>
            <a:endParaRPr lang="it-IT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defRPr/>
            </a:pP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2390" y="4036695"/>
            <a:ext cx="90798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09600" lvl="1" indent="0" eaLnBrk="1" hangingPunct="1">
              <a:lnSpc>
                <a:spcPct val="150000"/>
              </a:lnSpc>
              <a:buNone/>
            </a:pP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可以在Windows命令处理程序窗口使用命令配置环境变量，以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管理员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身份运行Windows命令处理程序，在Windows命令处理程序窗口中执行下面的命令。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GB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</a:t>
            </a:r>
            <a:r>
              <a:rPr lang="en-GB" altLang="zh-CN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图形化管理工具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89" y="3700"/>
              <a:ext cx="8993" cy="2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操作MySQL的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客户端工具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，可以使用安装包中已经提供的命令行客户端工具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mysql.exe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，也可以使用第三方提供的一些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图形化管理工具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，例如SQLyog和Navicat，本节将对MySQL这两种图形化管理工具进行讲解。</a:t>
              </a: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1.7.1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SQLyog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2309813"/>
            <a:ext cx="1733550" cy="1379537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3" name="矩形 2"/>
          <p:cNvSpPr/>
          <p:nvPr/>
        </p:nvSpPr>
        <p:spPr>
          <a:xfrm>
            <a:off x="2134553" y="981393"/>
            <a:ext cx="8134350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  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SQLyog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是Webyog公司推出的一个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高效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简洁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的图形化管理工具，用于管理MySQL数据库。SQLyog提供了个人版、企业版等版本，并发布了GPL协议开源的社区版。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863022" y="213360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en-US" sz="18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SQLyog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主界面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1.7.1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SQLyog</a:t>
            </a:r>
          </a:p>
        </p:txBody>
      </p:sp>
      <p:graphicFrame>
        <p:nvGraphicFramePr>
          <p:cNvPr id="2" name="对象 -2147482623"/>
          <p:cNvGraphicFramePr>
            <a:graphicFrameLocks noChangeAspect="1"/>
          </p:cNvGraphicFramePr>
          <p:nvPr/>
        </p:nvGraphicFramePr>
        <p:xfrm>
          <a:off x="2710815" y="2926080"/>
          <a:ext cx="7559040" cy="287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r:id="rId4" imgW="12026900" imgH="4559300" progId="Visio.Drawing.11">
                  <p:embed/>
                </p:oleObj>
              </mc:Choice>
              <mc:Fallback>
                <p:oleObj r:id="rId4" imgW="12026900" imgH="4559300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0815" y="2926080"/>
                        <a:ext cx="7559040" cy="287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708" y="2492693"/>
            <a:ext cx="1411287" cy="1163637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3" name="矩形 2"/>
          <p:cNvSpPr/>
          <p:nvPr/>
        </p:nvSpPr>
        <p:spPr>
          <a:xfrm>
            <a:off x="2134553" y="854393"/>
            <a:ext cx="813435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Navicat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是一套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高效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zh-CN" altLang="it-IT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可靠</a:t>
            </a:r>
            <a:r>
              <a:rPr lang="zh-CN" altLang="it-IT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的图形化数据库管理工具，它的设计符合数据库管理员、开发人员及中小企业的需求。Navicat支持的数据库包括MySQL、MariaDB、SQL Server、SQLite、Oracle以及PostgreSQL。</a:t>
            </a:r>
          </a:p>
          <a:p>
            <a:pPr>
              <a:lnSpc>
                <a:spcPct val="200000"/>
              </a:lnSpc>
            </a:pPr>
            <a:endParaRPr lang="zh-CN" altLang="it-IT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791267" y="249301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 algn="ctr"/>
            <a:r>
              <a:rPr lang="en-US" sz="1800" b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Navicat Premium</a:t>
            </a:r>
            <a:r>
              <a:rPr 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主界面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905" y="2997200"/>
            <a:ext cx="5922010" cy="341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1.7.2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Navicat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286760" y="3076575"/>
            <a:ext cx="8759825" cy="70675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ctr"/>
            <a:r>
              <a:rPr lang="en-GB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上机实践：</a:t>
            </a:r>
            <a:r>
              <a:rPr lang="en-GB" altLang="zh-CN" sz="4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图书管理系统的</a:t>
            </a:r>
            <a:r>
              <a:rPr lang="en-GB" altLang="zh-CN" sz="4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E-R图设计</a:t>
            </a:r>
            <a:endParaRPr lang="en-GB" altLang="zh-CN" sz="4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</a:p>
        </p:txBody>
      </p:sp>
      <p:sp>
        <p:nvSpPr>
          <p:cNvPr id="3" name="流程图: 可选过程 2"/>
          <p:cNvSpPr/>
          <p:nvPr/>
        </p:nvSpPr>
        <p:spPr>
          <a:xfrm>
            <a:off x="1418590" y="2178685"/>
            <a:ext cx="9645015" cy="373062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81150" y="2421890"/>
            <a:ext cx="948245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>
              <a:lnSpc>
                <a:spcPct val="150000"/>
              </a:lnSpc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系统的实体信息</a:t>
            </a:r>
            <a:endParaRPr lang="zh-CN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67970">
              <a:lnSpc>
                <a:spcPct val="150000"/>
              </a:lnSpc>
            </a:pP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）图书：编号、名称、价格、上架时间、借阅人编号、借阅时间、状态。</a:t>
            </a:r>
          </a:p>
          <a:p>
            <a:pPr indent="267970">
              <a:lnSpc>
                <a:spcPct val="150000"/>
              </a:lnSpc>
            </a:pP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）用户：编号、名称、状态。</a:t>
            </a:r>
          </a:p>
          <a:p>
            <a:pPr indent="267970">
              <a:lnSpc>
                <a:spcPct val="150000"/>
              </a:lnSpc>
            </a:pP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）借阅记录：编号、图书编号、借阅人编号、借阅时间、归还时间。</a:t>
            </a:r>
          </a:p>
          <a:p>
            <a:pPr indent="267970">
              <a:lnSpc>
                <a:spcPct val="150000"/>
              </a:lnSpc>
            </a:pPr>
            <a:endParaRPr 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67970">
              <a:lnSpc>
                <a:spcPct val="150000"/>
              </a:lnSpc>
            </a:pP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系统实体之间的联系</a:t>
            </a:r>
            <a:endParaRPr lang="zh-CN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67970">
              <a:lnSpc>
                <a:spcPct val="150000"/>
              </a:lnSpc>
            </a:pP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</a:t>
            </a: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一本尚未被借阅的图书只可以借阅给一个用户，每个用户可以同时借阅多本尚未被借阅的图书。</a:t>
            </a:r>
          </a:p>
          <a:p>
            <a:pPr indent="267970">
              <a:lnSpc>
                <a:spcPct val="150000"/>
              </a:lnSpc>
            </a:pP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</a:t>
            </a: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一条借阅记录只记录一本图书的借阅信息，一本图书可以有多条借阅记录。</a:t>
            </a:r>
          </a:p>
          <a:p>
            <a:pPr indent="267970">
              <a:lnSpc>
                <a:spcPct val="150000"/>
              </a:lnSpc>
            </a:pP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</a:t>
            </a:r>
            <a:r>
              <a:rPr lang="en-US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6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一个用户可以有多条借阅记录，一条借阅记录只能记录一个用户的借阅情况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75740" y="1031240"/>
            <a:ext cx="92106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实践需求：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根据图书管理系统的</a:t>
            </a:r>
            <a:r>
              <a:rPr 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实体信息及实体之间的联系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，设计出图书管理系统的</a:t>
            </a:r>
            <a:r>
              <a:rPr 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E-R图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，系统的实体信息及系统实体之间的联系，具体如下。</a:t>
            </a:r>
            <a:endParaRPr lang="zh-CN" altLang="en-US" sz="16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</a:p>
        </p:txBody>
      </p:sp>
      <p:pic>
        <p:nvPicPr>
          <p:cNvPr id="14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0" y="1624965"/>
            <a:ext cx="6341110" cy="47377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262380" y="1128395"/>
            <a:ext cx="1325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动手实践：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82552" y="1680573"/>
            <a:ext cx="9209198" cy="4053477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本章主要对数据库入门的知识进行了详细讲解。首先对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数据管理技术的发展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和数据库技术的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基本术语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进行了讲解；其次讲解了数据模型；然后讲解了常见的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数据库产品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简介；接着讲解了MySQL的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，以及常用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图形化管理工具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；最后通过一个上机实践，加深读者对数据库入门知识的理解。通过本章的学习，读者能够掌握数据库入门的相关知识，为后续的学习打下坚实的基础。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414780" y="2055859"/>
            <a:ext cx="9794240" cy="339016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SubTitle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Text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SubTitle"/>
  <p:tag name="MH_ORD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Text"/>
  <p:tag name="MH_ORDER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SubTitle"/>
  <p:tag name="MH_ORDER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Text"/>
  <p:tag name="MH_ORDER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SubTitle"/>
  <p:tag name="MH_ORDER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Text"/>
  <p:tag name="MH_ORDER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19155452"/>
  <p:tag name="MH_LIBRARY" val="GRAPHIC"/>
  <p:tag name="MH_TYPE" val="Other"/>
  <p:tag name="MH_ORDER" val="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Other"/>
  <p:tag name="MH_ORDER" val="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SubTitle"/>
  <p:tag name="MH_ORDER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611105247"/>
  <p:tag name="MH_LIBRARY" val="GRAPHIC"/>
  <p:tag name="MH_TYPE" val="Text"/>
  <p:tag name="MH_ORDER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5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4124</Words>
  <Application>Microsoft Office PowerPoint</Application>
  <PresentationFormat>自定义</PresentationFormat>
  <Paragraphs>346</Paragraphs>
  <Slides>67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5" baseType="lpstr">
      <vt:lpstr>Source Han Sans K Bold</vt:lpstr>
      <vt:lpstr>微软雅黑</vt:lpstr>
      <vt:lpstr>字魂105号-简雅黑</vt:lpstr>
      <vt:lpstr>Arial</vt:lpstr>
      <vt:lpstr>Calibri</vt:lpstr>
      <vt:lpstr>webwppDefTheme</vt:lpstr>
      <vt:lpstr>Office 主题</vt:lpstr>
      <vt:lpstr>Microsoft Visio 2003-2010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sml@zjnu.cn</cp:lastModifiedBy>
  <cp:revision>53</cp:revision>
  <dcterms:created xsi:type="dcterms:W3CDTF">2020-11-11T09:29:00Z</dcterms:created>
  <dcterms:modified xsi:type="dcterms:W3CDTF">2025-09-14T10:25:52Z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  <property fmtid="{D5CDD505-2E9C-101B-9397-08002B2CF9AE}" pid="3" name="ICV">
    <vt:lpwstr>1A1DF1C5A91143DC9EEBD62C88A927BA</vt:lpwstr>
  </property>
</Properties>
</file>