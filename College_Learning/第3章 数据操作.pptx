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56"/>
  </p:handoutMasterIdLst>
  <p:sldIdLst>
    <p:sldId id="325" r:id="rId4"/>
    <p:sldId id="264" r:id="rId6"/>
    <p:sldId id="328" r:id="rId7"/>
    <p:sldId id="327" r:id="rId8"/>
    <p:sldId id="309" r:id="rId9"/>
    <p:sldId id="385" r:id="rId10"/>
    <p:sldId id="350" r:id="rId11"/>
    <p:sldId id="351" r:id="rId12"/>
    <p:sldId id="408" r:id="rId13"/>
    <p:sldId id="409" r:id="rId14"/>
    <p:sldId id="410" r:id="rId15"/>
    <p:sldId id="411" r:id="rId16"/>
    <p:sldId id="412" r:id="rId17"/>
    <p:sldId id="414" r:id="rId18"/>
    <p:sldId id="413" r:id="rId19"/>
    <p:sldId id="386" r:id="rId20"/>
    <p:sldId id="415" r:id="rId21"/>
    <p:sldId id="416" r:id="rId22"/>
    <p:sldId id="387" r:id="rId23"/>
    <p:sldId id="352" r:id="rId24"/>
    <p:sldId id="417" r:id="rId25"/>
    <p:sldId id="418" r:id="rId26"/>
    <p:sldId id="340" r:id="rId27"/>
    <p:sldId id="388" r:id="rId28"/>
    <p:sldId id="354" r:id="rId29"/>
    <p:sldId id="353" r:id="rId30"/>
    <p:sldId id="419" r:id="rId31"/>
    <p:sldId id="422" r:id="rId32"/>
    <p:sldId id="425" r:id="rId33"/>
    <p:sldId id="341" r:id="rId34"/>
    <p:sldId id="389" r:id="rId35"/>
    <p:sldId id="358" r:id="rId36"/>
    <p:sldId id="359" r:id="rId37"/>
    <p:sldId id="427" r:id="rId38"/>
    <p:sldId id="430" r:id="rId39"/>
    <p:sldId id="432" r:id="rId40"/>
    <p:sldId id="364" r:id="rId41"/>
    <p:sldId id="434" r:id="rId42"/>
    <p:sldId id="435" r:id="rId43"/>
    <p:sldId id="438" r:id="rId44"/>
    <p:sldId id="440" r:id="rId45"/>
    <p:sldId id="441" r:id="rId46"/>
    <p:sldId id="360" r:id="rId47"/>
    <p:sldId id="444" r:id="rId48"/>
    <p:sldId id="469" r:id="rId49"/>
    <p:sldId id="467" r:id="rId50"/>
    <p:sldId id="470" r:id="rId51"/>
    <p:sldId id="471" r:id="rId52"/>
    <p:sldId id="475" r:id="rId53"/>
    <p:sldId id="363" r:id="rId54"/>
    <p:sldId id="326" r:id="rId55"/>
  </p:sldIdLst>
  <p:sldSz cx="12190095" cy="6859270"/>
  <p:notesSz cx="6858000" cy="9144000"/>
  <p:custDataLst>
    <p:tags r:id="rId6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d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08" autoAdjust="0"/>
    <p:restoredTop sz="94660" autoAdjust="0"/>
  </p:normalViewPr>
  <p:slideViewPr>
    <p:cSldViewPr>
      <p:cViewPr varScale="1">
        <p:scale>
          <a:sx n="61" d="100"/>
          <a:sy n="61" d="100"/>
        </p:scale>
        <p:origin x="48" y="1170"/>
      </p:cViewPr>
      <p:guideLst>
        <p:guide orient="horz" pos="2114"/>
        <p:guide pos="256"/>
        <p:guide pos="66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18"/>
        <p:guide pos="2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gs" Target="tags/tag24.xml"/><Relationship Id="rId60" Type="http://schemas.openxmlformats.org/officeDocument/2006/relationships/commentAuthors" Target="commentAuthors.xml"/><Relationship Id="rId6" Type="http://schemas.openxmlformats.org/officeDocument/2006/relationships/slide" Target="slides/slide2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3</a:t>
            </a:r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数据操作</a:t>
            </a:r>
            <a:endParaRPr lang="zh-CN" altLang="en-US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02435" y="2431415"/>
            <a:ext cx="8837295" cy="2426970"/>
            <a:chOff x="4042" y="3473"/>
            <a:chExt cx="11486" cy="3822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插入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INSERT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语句在数据表中插入数据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更新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UPDATE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语句更新数据表中的数据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删除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DELETE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语句删除数据表中的数据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216959"/>
            <a:ext cx="101511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通过上一章的学习，相信读者对数据库和数据表的基本操作有了一定了解，但要想操作数据库中的数据，则需要通过数据操纵语言实现。MySQL提供的数据操纵语言以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INSERT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UPDATE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DELETE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语句为核心，使用这3种语句分别可以完成数据的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，本章将针对这3种语句对数据的操作进行讲解。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73095" y="2133600"/>
            <a:ext cx="6047740" cy="3411855"/>
            <a:chOff x="4912" y="3009"/>
            <a:chExt cx="9524" cy="5373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8"/>
              <a:chOff x="2215144" y="3084852"/>
              <a:chExt cx="1244730" cy="844793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3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4912" y="7418"/>
              <a:ext cx="1877" cy="965"/>
              <a:chOff x="2215144" y="4135856"/>
              <a:chExt cx="1244730" cy="842781"/>
            </a:xfrm>
          </p:grpSpPr>
          <p:sp>
            <p:nvSpPr>
              <p:cNvPr id="55" name="平行四边形 54"/>
              <p:cNvSpPr/>
              <p:nvPr/>
            </p:nvSpPr>
            <p:spPr>
              <a:xfrm>
                <a:off x="2215144" y="4135856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文本框 12"/>
              <p:cNvSpPr txBox="1"/>
              <p:nvPr/>
            </p:nvSpPr>
            <p:spPr>
              <a:xfrm>
                <a:off x="2393075" y="4169272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插入数据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更新数据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删除数据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338" y="7383"/>
              <a:ext cx="8098" cy="965"/>
              <a:chOff x="4315150" y="3035884"/>
              <a:chExt cx="3857250" cy="54005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41196" y="3118548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上机实践：图书表的数据操作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71" name="平行四边形 70"/>
              <p:cNvSpPr/>
              <p:nvPr/>
            </p:nvSpPr>
            <p:spPr>
              <a:xfrm>
                <a:off x="4315150" y="3035884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9" y="3700"/>
              <a:ext cx="9956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数据表创建好之后，就可以在数据表中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插入数据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了，在 MySQL 中可以使用INSERT语句向数据表中一次插入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单条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数据或者插入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多条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数据。本节将对这两种插入数据的方式进行讲解。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2278380" y="2277745"/>
            <a:ext cx="7776845" cy="318452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26715" y="2781935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向数据表中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插入单条数据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的语法格式如下所示。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715" y="3429635"/>
            <a:ext cx="6644005" cy="141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[INTO] 数据表名 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[(字段名1[, 字段名2] ...)]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{VALUES | VALUE} (值1) [, (值2)] ...;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70100" y="1567815"/>
            <a:ext cx="8320405" cy="3888901"/>
            <a:chOff x="3260" y="2469"/>
            <a:chExt cx="13103" cy="6124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2952"/>
              <a:chOff x="1276684" y="4550152"/>
              <a:chExt cx="3586261" cy="1874491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2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</a:t>
                </a:r>
                <a:r>
                  <a:rPr lang="en-US" altLang="zh-CN" sz="24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19875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向数据表所有字段插入数据时，可以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指定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所有字段名，也可以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省略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所有字段名。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2510"/>
              <a:chOff x="1211336" y="4519375"/>
              <a:chExt cx="3651610" cy="1593693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39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</a:t>
                </a:r>
                <a:r>
                  <a:rPr lang="en-US" altLang="zh-CN" sz="24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88718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有时候只需要或者只有部分数据时，可以选择向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字段插入数据。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2868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向数据表所有字段插入数据时，可以指定所有字段名，也可以省略所有字段名。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指定所有字段名</a:t>
            </a:r>
            <a:endParaRPr lang="zh-CN" altLang="en-US" sz="16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6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假设现在有一个存储员工信息的员工表emp，表结构信息如下所示。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65730" y="3645535"/>
          <a:ext cx="6858635" cy="2409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78610"/>
                <a:gridCol w="1990090"/>
                <a:gridCol w="1401445"/>
                <a:gridCol w="1888490"/>
              </a:tblGrid>
              <a:tr h="30924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VARCHAR(20)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员工姓名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VARCHAR(20)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员工职位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直属上级编号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DECIMAL(7,2)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基本工资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DECIMAL(7,2)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奖金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所属部门的编号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3122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如果想向员工表emp中插入一条员工数据，员工数据如下所示。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96185" y="2493645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/>
                <a:gridCol w="1122680"/>
                <a:gridCol w="1061085"/>
                <a:gridCol w="974090"/>
                <a:gridCol w="1193165"/>
                <a:gridCol w="1047750"/>
                <a:gridCol w="1169670"/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9902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赵六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分析员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4000.00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66670" y="3126740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数据库ems中创建员工表emp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73045" y="3645535"/>
            <a:ext cx="6644005" cy="2484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CREATE TABLE emp(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empno   INT PRIMARY KEY,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ename   VARCHAR(20) UNIQUE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job     VARCHAR(20)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mgr     INT 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sal     DECIMAL(7,2),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comm    DECIMAL(7,2),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deptno  INT 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852295"/>
            <a:ext cx="8348345" cy="41808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创建好员工表emp后，使用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39060" y="4150360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想要验证数据是否按要求插入到数据表中，可以使用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查询数据，具体查询的SQL语句如下所示。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73045" y="5201285"/>
            <a:ext cx="6644005" cy="5835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0815" y="2997835"/>
            <a:ext cx="7620635" cy="931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INSERT INTO emp VALUES(9902,'赵六','分析员',9566,4000,NULL,20);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68500"/>
            <a:ext cx="8348345" cy="43675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014220"/>
            <a:ext cx="750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省略所有字段名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省略所有字段名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的方式向数据表插入数据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例如，向员工表emp中插入数据，需要插入的员工数据如下所示。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11730" y="3355975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/>
                <a:gridCol w="1122680"/>
                <a:gridCol w="1061085"/>
                <a:gridCol w="974090"/>
                <a:gridCol w="1193165"/>
                <a:gridCol w="1047750"/>
                <a:gridCol w="1169670"/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李四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经理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3995.00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97480" y="4237990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73045" y="5103495"/>
            <a:ext cx="7379970" cy="1019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INSERT INTO emp VALUES(9566,'李四','经理',9839,3995,NULL,20);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81175"/>
            <a:ext cx="8348345" cy="4196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向部分字段插入数据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例如，向员工表emp中插入数据，需要插入的员工数据如下所示。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854960" y="2925445"/>
          <a:ext cx="577215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/>
                <a:gridCol w="1122680"/>
                <a:gridCol w="1061085"/>
                <a:gridCol w="1193165"/>
                <a:gridCol w="1169670"/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刘一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董事长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6000.00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44775" y="3807460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使用INSERT语句将表中的员工数据插入到员工表emp中，具体SQL语句如下所示。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73045" y="4601210"/>
            <a:ext cx="7379970" cy="1019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(empno,ename,job,sal,deptno)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VALUES(9839,'刘一','董事长',6000,10);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31076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9060" y="2277745"/>
            <a:ext cx="75082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字段的默认值等信息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可以通过数据表的创建语句进行查看，使用SQL语句“SHOW CREATE TABLE emp\G”可以查看数据表emp的创建细节，具体SQL语句如下所示。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82570" y="4077970"/>
            <a:ext cx="6644005" cy="584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CREATE TABLE emp\G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4960" y="2205355"/>
            <a:ext cx="6889750" cy="352996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230" y="2997835"/>
            <a:ext cx="56172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需要注意的是，如果某个字段在定义时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添加了非空约束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没有添加默认值约束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插入新数据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时就必须为该字段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，否则数据库系统会提示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语句还有一种语法格式，使用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子句为表中指定的字段或者全部字段添加数据，其格式如下所示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18740" y="3862070"/>
            <a:ext cx="74409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ININSERT INTO 数据表名SET 字段名1=值1[，字段名2=值2，…]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07005" y="2637790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中使用SET子句向员工表emp中插入员工数据，具体内容如表所示。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494915" y="3862070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/>
                <a:gridCol w="1122680"/>
                <a:gridCol w="1061085"/>
                <a:gridCol w="974090"/>
                <a:gridCol w="1193165"/>
                <a:gridCol w="1047750"/>
                <a:gridCol w="1169670"/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9369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张三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保洁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9902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900.00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90004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570" y="3862070"/>
            <a:ext cx="7637145" cy="1148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SET empno=9369,ename='张三',job='保洁',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mgr=9902,sal=900.00,comm=NULL,deptno=20;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如果需要一次向数据表中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插入多条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数据，可以使用上面学习的方式将数据逐条添加，但是这样做需要书写多条INSERT语句，比较麻烦。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2422525" y="2205355"/>
            <a:ext cx="7776845" cy="338391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854960" y="2421890"/>
            <a:ext cx="71608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MySQL允许使用一条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语句同时添加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数据，其语法格式如下所示。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98470" y="3717925"/>
            <a:ext cx="6644005" cy="141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[INTO] 数据表名 [(字段名1，字段名2，…) ]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{VALUES | VALUE}(值1，值2，…)，(值1，值2，…)，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…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(值1，值2，…);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6" name="五边形 5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81175"/>
            <a:ext cx="8348345" cy="4196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一条INSERT语句插入多条数据，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例如，向员工表emp中插入多条数据，需要插入的员工数据如下所示。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11730" y="3213735"/>
          <a:ext cx="7793990" cy="23914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/>
                <a:gridCol w="1122680"/>
                <a:gridCol w="1061085"/>
                <a:gridCol w="974090"/>
                <a:gridCol w="1193165"/>
                <a:gridCol w="1047750"/>
                <a:gridCol w="1169670"/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9499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孙七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2600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9521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周八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2250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9654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吴九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2250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9982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陈二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经理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3450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9988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王五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分析员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9844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郑十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2500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萧十一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保洁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1050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7" name="五边形 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41148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213360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同时将表中的员工数据插入到员工表emp中，具体SQL语句如下所示。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0815" y="3141980"/>
            <a:ext cx="6644005" cy="2785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(9499,'孙七','销售',9698,2600,300,30),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(9521,'周八','销售',9698,2250,500,30),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(9654,'吴九','销售',9698,2250,1400,30),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(9982,'陈二','经理',9839,3450,NULL,10),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(9988,'王五','分析员',9566,4000,NULL,20),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(9844,'郑十','销售',9698,2500,0,30),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(9900,'萧十一','保洁',9698,1050,NULL,30);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7" name="五边形 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更新数据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是指对数据表中已经存在的数据进行修改，比如某个部门名称变更了，就需要对数据表中部门名称字段的值进行修改。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1999615" y="2277745"/>
            <a:ext cx="8637905" cy="239458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360295" y="2565400"/>
            <a:ext cx="79997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语句更新表中的数据，其基本的语法格式如下所示。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5230" y="3789680"/>
            <a:ext cx="7686675" cy="478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数据表名 SET 字段名1 = 值1[，字段名2 = 值2，…] [WHERE 条件表达式];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70100" y="1567815"/>
            <a:ext cx="8320405" cy="4258525"/>
            <a:chOff x="3260" y="2469"/>
            <a:chExt cx="13103" cy="670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534"/>
              <a:chOff x="1276684" y="4550152"/>
              <a:chExt cx="3586261" cy="2244094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4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更新部分数据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56836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更新部分数据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是指根据指定条件更新数据表中的某条或者某几条数据，需要使用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子句来指定更新数据的条件。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001"/>
              <a:chOff x="1211336" y="4519375"/>
              <a:chExt cx="3651610" cy="1905222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31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更新全部数据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19871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UPDATE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语句中如果没有使用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子句，则会将表中所有数据的指定字段都进行更新。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42805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2420620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通过案例，演示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使用UPDATE语句更新部分数据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使用UPDATE语句更新张三的工资，将张三sal字段的值在原来的基础上增加200，具体SQL语句及执行结果如下所示。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710815" y="4536440"/>
            <a:ext cx="6644005" cy="986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UPDATE emp SET sal=sal+200 WHERE ename='张三';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1830"/>
            <a:ext cx="8348345" cy="40601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90725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通过案例演示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WHERE子句中条件表达式满足多条数据时更新数据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UPDATE语句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将职位为保洁的员工涨薪300，具体SQL语句及执行结果如下所示。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639060" y="4004945"/>
            <a:ext cx="6644005" cy="1180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UPDATE emp SET sal=sal+300 WHERE job='保洁';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2 rows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2  Changed: 2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5505" y="1990725"/>
            <a:ext cx="8347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在UPDATE语句中如果没有使用WHERE子句，则会将表中所有数据的指定字段都进行更新。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7" name="流程图: 过程 6"/>
          <p:cNvSpPr/>
          <p:nvPr/>
        </p:nvSpPr>
        <p:spPr>
          <a:xfrm>
            <a:off x="2134870" y="3277870"/>
            <a:ext cx="8348345" cy="27178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3670" y="3409315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例如，公司今年利润翻倍，老板给公司所有员工涨薪500。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将所有员工涨薪500，具体SQL语句及执行结果如下所示。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73045" y="4434205"/>
            <a:ext cx="6644005" cy="1139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UPDATE emp SET sal=sal+500;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11 rows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11  Changed: 11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是指对数据表中已经存在的数据进行删除，例如员工离职后，需要将离职的员工从员工表中删除。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1999615" y="2277745"/>
            <a:ext cx="8637905" cy="239458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60295" y="2565400"/>
            <a:ext cx="79997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语句删除数据表中的数据，其语法格式如下所示。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5230" y="3789680"/>
            <a:ext cx="7686675" cy="478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数据表名 [WHERE 条件表达式]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70100" y="1567815"/>
            <a:ext cx="8320405" cy="4258538"/>
            <a:chOff x="3260" y="2469"/>
            <a:chExt cx="13103" cy="670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534"/>
              <a:chOff x="1276684" y="4550152"/>
              <a:chExt cx="3586261" cy="2244107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5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56837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删除部分数据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是指根据指定条件删除数据表中的某一条或者某几条数据，需要使用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子句指定删除数据的条件。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001"/>
              <a:chOff x="1211336" y="4519375"/>
              <a:chExt cx="3651610" cy="1905070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25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全部数据</a:t>
                </a:r>
                <a:endPara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19856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DELETE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语句中如果没有使用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子句，则会将数据表中的所有数据都删除。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26565"/>
            <a:ext cx="8348345" cy="8547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1897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例如员工孙七离职了，需要将孙七的信息从员工表中删除。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134870" y="2874645"/>
            <a:ext cx="8348345" cy="2736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3670" y="319405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删除员工表中孙七的数据，具体SQL语句及执行结果如下所示。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39060" y="4291330"/>
            <a:ext cx="6644005" cy="740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DELETE FROM emp WHERE ename='孙七';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96035"/>
            <a:ext cx="8348345" cy="12833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48844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例如，由于公司业务调整，不再需要分析员这个岗位。公司全部分析员办理离职后，这些分析员的信息要从员工表emp中删除。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134870" y="3018155"/>
            <a:ext cx="8348345" cy="23177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66670" y="3210560"/>
            <a:ext cx="75082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73045" y="4074795"/>
            <a:ext cx="6644005" cy="700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DELETE FROM emp WHERE job='分析员';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2 rows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146300" y="1520825"/>
            <a:ext cx="8348345" cy="40773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66670" y="2062480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例如，将员工表中的所有数据全部删除。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员工表中所有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39060" y="3931285"/>
            <a:ext cx="6644005" cy="826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DELETE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8 rows affected (0.01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在MySQL数据库中，还有一种方式可以用来删除表中所有的数据，这种方式需要用到关键字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1940" y="3861435"/>
            <a:ext cx="70345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TRUNCATE [TABLE] 数据表名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1776095"/>
            <a:ext cx="8159750" cy="315722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991995"/>
            <a:ext cx="7369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的用法。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在数据库itcast中创建一张表tab_truncate，创建tab_truncate表的SQL语句如下所示。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54960" y="3360420"/>
            <a:ext cx="7034530" cy="1234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tab_truncate(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id INT(3) PRIMARY KEY AUTO_INCREMENT,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name VARCHAR(4)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468755" y="1202055"/>
            <a:ext cx="8348345" cy="18376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85290" y="1329055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向tab_truncate表中添加5条数据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，且只添加name字段的值，具体SQL语句如下所示。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85290" y="2291080"/>
            <a:ext cx="7034530" cy="551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INSERT INTO tab_truncate(name) VALUES('A'),('B'),('C'),('D'),('E');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1452245" y="3409950"/>
            <a:ext cx="8348345" cy="22332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16710" y="3498850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语句删除tab_truncate表中的所有数据，具体SQL语句及执行结果如下所示。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06245" y="4435475"/>
            <a:ext cx="7034530" cy="72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TRUNCATE TABLE tab_truncate;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1345565"/>
            <a:ext cx="8159750" cy="448373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561465"/>
            <a:ext cx="7369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DETELE语句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都能删除数据表中的所有数据，但两者也有一定的区别，具体如下所示。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是数据操纵语句，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通常被认为是数据定义语句。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后面可以跟WHERE子句，通过指定WHERE子句中的条件表达式只删除满足条件的部分数据，而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只能用于删除表中的所有数据。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93035" y="3427095"/>
            <a:ext cx="7369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 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是逐行删除记录，而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则是直接删除数据表，再重新创建一个一模一样的新表。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删除表中的数据后，再次向表中添加数据时，自动增加字段的默认初始值重新由1开始，而使用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删除表中所有数据后，再次向表中添加数据时，自动增加字段的值为删除时该字段的最大值加1。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1058545"/>
            <a:ext cx="8159750" cy="184531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202690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通过案例演示上述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条区别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。在空表tab_truncate 中，重新添加5条数据，具体SQL语句如下所示。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570" y="2118995"/>
            <a:ext cx="7034530" cy="6407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tab_truncate(name)VALUES('F'),('G'),('H'),('I'),('J');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2169795" y="3266440"/>
            <a:ext cx="8348345" cy="33940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20035" y="333883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使用SELECT语句查询数据表中的数据，具体SQL语句及执行结果如下所示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09570" y="3893820"/>
            <a:ext cx="7034530" cy="2709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SELECT * FROM tab_truncate;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id | name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1 | F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2 | G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3 | H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4 | I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5 | J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5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915035"/>
            <a:ext cx="8159750" cy="160909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1309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删除tab_truncate表中的所有数据，具体SQL语句如下所示。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570" y="1973580"/>
            <a:ext cx="7034530" cy="429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DELETE FROM tab_truncate;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2169795" y="2979420"/>
            <a:ext cx="8348345" cy="36182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20035" y="305181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向tab_truncate数据表中添加一条新数据，具体SQL语句及执行结果如下所示。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09570" y="3606800"/>
            <a:ext cx="7034530" cy="494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INSERT INTO tab_truncate(name) VALUES('K');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1 row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3525" y="42551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使用SELECT语句查询数据表中的数据，具体SQL语句及执行结果如下所示。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93060" y="4738370"/>
            <a:ext cx="7034530" cy="1858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SELECT * FROM tab_truncate;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id | name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6 | K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646805" y="2997200"/>
            <a:ext cx="814641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图书表的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数据操作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5760" y="959485"/>
            <a:ext cx="935736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插入单条图书信息。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插入单条图书信息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是录入图书信息的必填项，图书的上架时间默认为操作系统的当前时间，图书的信息如下表所示。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67970" fontAlgn="auto">
              <a:lnSpc>
                <a:spcPct val="150000"/>
              </a:lnSpc>
            </a:pP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1993900"/>
          <a:ext cx="6578600" cy="8216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88565"/>
                <a:gridCol w="2174875"/>
                <a:gridCol w="1915160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Java基础入门（第3版）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59.00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流程图: 过程 4"/>
          <p:cNvSpPr/>
          <p:nvPr/>
        </p:nvSpPr>
        <p:spPr>
          <a:xfrm>
            <a:off x="1540510" y="3426460"/>
            <a:ext cx="8348345" cy="20491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57045" y="355346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插入单条图书信息，具体的SQL语句如下所示。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57045" y="4371975"/>
            <a:ext cx="7034530" cy="74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book (name,price,upload_time,state)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VALUES('Java基础入门（第3版）',59.00,CURRENT_TIMESTAMP,0);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8740" y="103124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插入单条用户信息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用户名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称为必填项，开发人员本次插入单条用户的信息如下表所示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17520" y="1899285"/>
          <a:ext cx="5191125" cy="12871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33065"/>
                <a:gridCol w="2258060"/>
              </a:tblGrid>
              <a:tr h="57721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张三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alt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李四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流程图: 过程 6"/>
          <p:cNvSpPr/>
          <p:nvPr/>
        </p:nvSpPr>
        <p:spPr>
          <a:xfrm>
            <a:off x="1308735" y="3912235"/>
            <a:ext cx="9415780" cy="22459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25270" y="40392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插入单条用户信息，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25270" y="4785995"/>
            <a:ext cx="7034530" cy="74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user (name,state) VALUES ('张三',0),('李四',0);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905" y="1174750"/>
            <a:ext cx="533273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同时插入多条图书信息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。插入的图书信息中需要包含信息插入时间字段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upload_time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，该字段的值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默认为操作系统的当前时间。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图书信息具体如下表所示。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5155" y="2747645"/>
          <a:ext cx="4386580" cy="24866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13965"/>
                <a:gridCol w="944245"/>
                <a:gridCol w="928370"/>
              </a:tblGrid>
              <a:tr h="39941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三国演义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69.00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MySQL数据库入门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40.00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JavaWeb程序开发入门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49.00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西游记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59.00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红楼梦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33.00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水浒传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66.66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流程图: 过程 5"/>
          <p:cNvSpPr/>
          <p:nvPr/>
        </p:nvSpPr>
        <p:spPr>
          <a:xfrm>
            <a:off x="5759450" y="1270000"/>
            <a:ext cx="6261100" cy="42646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75985" y="1466215"/>
            <a:ext cx="4811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同时插入多条图书信息，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75985" y="2428240"/>
            <a:ext cx="5692775" cy="2896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book (name,price,upload_time,state)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('三国演义',69.00,CURRENT_TIMESTAMP,2),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('MySQL数据库入门',40.00,CURRENT_TIMESTAMP,0),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('JavaWeb程序开发入门',49.00,CURRENT_TIMESTAMP,0),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('西游记',59.00,CURRENT_TIMESTAMP,2),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('红楼梦',33.00,CURRENT_TIMESTAMP,2),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('水浒传',66.66,CURRENT_TIMESTAMP,2);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35760" y="88773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上架图书《西游记》，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将图书表book中图书《西游记》状态修改为可借阅（state字段的值为0）</a:t>
            </a:r>
            <a:r>
              <a:rPr 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16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07515" y="366141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修改单条图书信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息，将《水浒传》的价格修改为66.00。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706880" y="1789430"/>
            <a:ext cx="8716645" cy="17183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74545" y="2657475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UPDATE book SET state=0 WHERE name='西游记';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1190" y="1923415"/>
            <a:ext cx="80473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修改图书西游记的信息，将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的值修改为0，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618615" y="4443730"/>
            <a:ext cx="8716645" cy="16516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22145" y="5231130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price=66.00 WHERE name='水浒传';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41170" y="4346575"/>
            <a:ext cx="799528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修改图书水浒传的信息，将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的值修改为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66.0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51025" y="88773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批量修改图书信息的功能，将所有的图书价格下调10%。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91005" y="366966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删除图书，删除图书《红楼梦》的信息。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823720" y="1575435"/>
            <a:ext cx="8716645" cy="14370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82800" y="2292985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price=price*0.9;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1751965" y="4345305"/>
            <a:ext cx="8716645" cy="16516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22780" y="5218430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book WHERE name='红楼梦';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01190" y="1564640"/>
            <a:ext cx="77838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将所有的图书价格更新为原来价格的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0.9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29435" y="4434840"/>
            <a:ext cx="79686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中名称为红楼梦的图书信息删除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7515" y="146177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为编号为1的用户借阅图书《MySQL数据库入门》，需要在图书表中修改图书的借阅人信息、借阅时间信息、图书状态。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1751965" y="2623185"/>
            <a:ext cx="8716645" cy="29705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11045" y="4445635"/>
            <a:ext cx="8013700" cy="671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borrower_id=1, borrow_time=CURRENT_TIMESTAMP,state=1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name='MySQL数据库入门';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29435" y="2856230"/>
            <a:ext cx="765302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为编号为1的用户借阅图书《MySQL数据库入门》，根据借阅人编号，修改图书表中图书名称，修改借阅人编号、借阅时间和图书状态，其中，借阅人编号为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，借阅时间为系统当前时间，图书状态为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97100" y="1341755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本章主要对数据表中的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数据操作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进行了详细讲解。首先对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数据进行了介绍；其次对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数据进行了讲解；然后讲解了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数据；最后通过一个上机实践，加深读者对数据表基本操作的理解。通过本章的学习，读者能够掌握数据表的基本操作，为后续的学习打下坚实的基础。</a:t>
            </a: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414780" y="1485900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2e618d20-ceb9-4402-a021-0d5d6cbb6ed6}"/>
  <p:tag name="TABLE_ENDDRAG_ORIGIN_RECT" val="540*186"/>
  <p:tag name="TABLE_ENDDRAG_RECT" val="209*292*540*186"/>
</p:tagLst>
</file>

<file path=ppt/tags/tag2.xml><?xml version="1.0" encoding="utf-8"?>
<p:tagLst xmlns:p="http://schemas.openxmlformats.org/presentationml/2006/main">
  <p:tag name="PA" val="v5.2.7"/>
  <p:tag name="RESOURCELIBID_ANIM" val="450"/>
</p:tagLst>
</file>

<file path=ppt/tags/tag3.xml><?xml version="1.0" encoding="utf-8"?>
<p:tagLst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4.xml><?xml version="1.0" encoding="utf-8"?>
<p:tagLst xmlns:p="http://schemas.openxmlformats.org/presentationml/2006/main">
  <p:tag name="PA" val="v5.2.7"/>
  <p:tag name="RESOURCELIBID_ANIM" val="450"/>
</p:tagLst>
</file>

<file path=ppt/tags/tag5.xml><?xml version="1.0" encoding="utf-8"?>
<p:tagLst xmlns:p="http://schemas.openxmlformats.org/presentationml/2006/main">
  <p:tag name="PA" val="v5.2.7"/>
  <p:tag name="RESOURCELIBID_ANIM" val="450"/>
</p:tagLst>
</file>

<file path=ppt/tags/tag6.xml><?xml version="1.0" encoding="utf-8"?>
<p:tagLst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7.xml><?xml version="1.0" encoding="utf-8"?>
<p:tagLst xmlns:p="http://schemas.openxmlformats.org/presentationml/2006/main">
  <p:tag name="PA" val="v5.2.7"/>
  <p:tag name="RESOURCELIBID_ANIM" val="450"/>
</p:tagLst>
</file>

<file path=ppt/tags/tag8.xml><?xml version="1.0" encoding="utf-8"?>
<p:tagLst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9.xml><?xml version="1.0" encoding="utf-8"?>
<p:tagLst xmlns:p="http://schemas.openxmlformats.org/presentationml/2006/main">
  <p:tag name="PA" val="v5.2.7"/>
  <p:tag name="RESOURCELIBID_ANIM" val="450"/>
</p:tagLst>
</file>

<file path=ppt/tags/tag10.xml><?xml version="1.0" encoding="utf-8"?>
<p:tagLst xmlns:p="http://schemas.openxmlformats.org/presentationml/2006/main">
  <p:tag name="PA" val="v5.2.7"/>
  <p:tag name="RESOURCELIBID_ANIM" val="450"/>
</p:tagLst>
</file>

<file path=ppt/tags/tag11.xml><?xml version="1.0" encoding="utf-8"?>
<p:tagLst xmlns:p="http://schemas.openxmlformats.org/presentationml/2006/main">
  <p:tag name="PA" val="v5.2.7"/>
  <p:tag name="RESOURCELIBID_ANIM" val="450"/>
</p:tagLst>
</file>

<file path=ppt/tags/tag12.xml><?xml version="1.0" encoding="utf-8"?>
<p:tagLst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13.xml><?xml version="1.0" encoding="utf-8"?>
<p:tagLst xmlns:p="http://schemas.openxmlformats.org/presentationml/2006/main">
  <p:tag name="PA" val="v5.2.7"/>
  <p:tag name="RESOURCELIBID_ANIM" val="450"/>
</p:tagLst>
</file>

<file path=ppt/tags/tag14.xml><?xml version="1.0" encoding="utf-8"?>
<p:tagLst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15.xml><?xml version="1.0" encoding="utf-8"?>
<p:tagLst xmlns:p="http://schemas.openxmlformats.org/presentationml/2006/main">
  <p:tag name="PA" val="v5.2.7"/>
  <p:tag name="RESOURCELIBID_ANIM" val="450"/>
</p:tagLst>
</file>

<file path=ppt/tags/tag16.xml><?xml version="1.0" encoding="utf-8"?>
<p:tagLst xmlns:p="http://schemas.openxmlformats.org/presentationml/2006/main">
  <p:tag name="PA" val="v5.2.7"/>
  <p:tag name="RESOURCELIBID_ANIM" val="450"/>
</p:tagLst>
</file>

<file path=ppt/tags/tag17.xml><?xml version="1.0" encoding="utf-8"?>
<p:tagLst xmlns:p="http://schemas.openxmlformats.org/presentationml/2006/main">
  <p:tag name="PA" val="v5.2.7"/>
  <p:tag name="RESOURCELIBID_ANIM" val="450"/>
</p:tagLst>
</file>

<file path=ppt/tags/tag18.xml><?xml version="1.0" encoding="utf-8"?>
<p:tagLst xmlns:p="http://schemas.openxmlformats.org/presentationml/2006/main">
  <p:tag name="PA" val="v5.2.7"/>
  <p:tag name="RESOURCELIBID_ANIM" val="450"/>
</p:tagLst>
</file>

<file path=ppt/tags/tag19.xml><?xml version="1.0" encoding="utf-8"?>
<p:tagLst xmlns:p="http://schemas.openxmlformats.org/presentationml/2006/main">
  <p:tag name="PA" val="v5.2.7"/>
  <p:tag name="RESOURCELIBID_ANIM" val="450"/>
</p:tagLst>
</file>

<file path=ppt/tags/tag20.xml><?xml version="1.0" encoding="utf-8"?>
<p:tagLst xmlns:p="http://schemas.openxmlformats.org/presentationml/2006/main">
  <p:tag name="PA" val="v5.2.7"/>
  <p:tag name="RESOURCELIBID_ANIM" val="450"/>
</p:tagLst>
</file>

<file path=ppt/tags/tag21.xml><?xml version="1.0" encoding="utf-8"?>
<p:tagLst xmlns:p="http://schemas.openxmlformats.org/presentationml/2006/main">
  <p:tag name="KSO_WM_UNIT_TABLE_BEAUTIFY" val="smartTable{2e618d20-ceb9-4402-a021-0d5d6cbb6ed6}"/>
  <p:tag name="TABLE_ENDDRAG_ORIGIN_RECT" val="517*73"/>
  <p:tag name="TABLE_ENDDRAG_RECT" val="156*253*518*73"/>
</p:tagLst>
</file>

<file path=ppt/tags/tag22.xml><?xml version="1.0" encoding="utf-8"?>
<p:tagLst xmlns:p="http://schemas.openxmlformats.org/presentationml/2006/main">
  <p:tag name="KSO_WM_UNIT_TABLE_BEAUTIFY" val="smartTable{2e618d20-ceb9-4402-a021-0d5d6cbb6ed6}"/>
  <p:tag name="TABLE_ENDDRAG_ORIGIN_RECT" val="408*101"/>
  <p:tag name="TABLE_ENDDRAG_RECT" val="264*272*408*101"/>
</p:tagLst>
</file>

<file path=ppt/tags/tag23.xml><?xml version="1.0" encoding="utf-8"?>
<p:tagLst xmlns:p="http://schemas.openxmlformats.org/presentationml/2006/main">
  <p:tag name="KSO_WM_UNIT_TABLE_BEAUTIFY" val="smartTable{2e618d20-ceb9-4402-a021-0d5d6cbb6ed6}"/>
  <p:tag name="TABLE_ENDDRAG_ORIGIN_RECT" val="481*168"/>
  <p:tag name="TABLE_ENDDRAG_RECT" val="156*253*481*168"/>
</p:tagLst>
</file>

<file path=ppt/tags/tag24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8346</Words>
  <Application>WPS 演示</Application>
  <PresentationFormat>自定义</PresentationFormat>
  <Paragraphs>819</Paragraphs>
  <Slides>51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7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Roboto</vt:lpstr>
      <vt:lpstr>Open Sans Light</vt:lpstr>
      <vt:lpstr>Courier New</vt:lpstr>
      <vt:lpstr>思源黑体 CN Normal</vt:lpstr>
      <vt:lpstr>Times New Roman</vt:lpstr>
      <vt:lpstr>字魂105号-简雅黑</vt:lpstr>
      <vt:lpstr>Arial Unicode MS</vt:lpstr>
      <vt:lpstr>思源黑体 CN Regular</vt:lpstr>
      <vt:lpstr>Segoe Print</vt:lpstr>
      <vt:lpstr>Open Sans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79</cp:revision>
  <dcterms:created xsi:type="dcterms:W3CDTF">2020-11-11T09:29:00Z</dcterms:created>
  <dcterms:modified xsi:type="dcterms:W3CDTF">2022-06-17T07:41:37Z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353961F61E884632854057DF26FFF81D</vt:lpwstr>
  </property>
</Properties>
</file>