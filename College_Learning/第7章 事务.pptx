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82"/>
  </p:handoutMasterIdLst>
  <p:sldIdLst>
    <p:sldId id="325" r:id="rId4"/>
    <p:sldId id="264" r:id="rId6"/>
    <p:sldId id="328" r:id="rId7"/>
    <p:sldId id="327" r:id="rId8"/>
    <p:sldId id="309" r:id="rId9"/>
    <p:sldId id="352" r:id="rId10"/>
    <p:sldId id="353" r:id="rId11"/>
    <p:sldId id="354" r:id="rId12"/>
    <p:sldId id="356" r:id="rId13"/>
    <p:sldId id="357" r:id="rId14"/>
    <p:sldId id="358" r:id="rId15"/>
    <p:sldId id="478" r:id="rId16"/>
    <p:sldId id="479" r:id="rId17"/>
    <p:sldId id="480" r:id="rId18"/>
    <p:sldId id="550" r:id="rId19"/>
    <p:sldId id="481" r:id="rId20"/>
    <p:sldId id="360" r:id="rId21"/>
    <p:sldId id="361" r:id="rId22"/>
    <p:sldId id="362" r:id="rId23"/>
    <p:sldId id="363" r:id="rId24"/>
    <p:sldId id="482" r:id="rId25"/>
    <p:sldId id="551" r:id="rId26"/>
    <p:sldId id="483" r:id="rId27"/>
    <p:sldId id="484" r:id="rId28"/>
    <p:sldId id="485" r:id="rId29"/>
    <p:sldId id="340" r:id="rId30"/>
    <p:sldId id="367" r:id="rId31"/>
    <p:sldId id="366" r:id="rId32"/>
    <p:sldId id="369" r:id="rId33"/>
    <p:sldId id="370" r:id="rId34"/>
    <p:sldId id="368" r:id="rId35"/>
    <p:sldId id="372" r:id="rId36"/>
    <p:sldId id="374" r:id="rId37"/>
    <p:sldId id="375" r:id="rId38"/>
    <p:sldId id="376" r:id="rId39"/>
    <p:sldId id="377" r:id="rId40"/>
    <p:sldId id="378" r:id="rId41"/>
    <p:sldId id="424" r:id="rId42"/>
    <p:sldId id="379" r:id="rId43"/>
    <p:sldId id="380" r:id="rId44"/>
    <p:sldId id="381" r:id="rId45"/>
    <p:sldId id="382" r:id="rId46"/>
    <p:sldId id="383" r:id="rId47"/>
    <p:sldId id="385" r:id="rId48"/>
    <p:sldId id="386" r:id="rId49"/>
    <p:sldId id="387" r:id="rId50"/>
    <p:sldId id="388" r:id="rId51"/>
    <p:sldId id="389" r:id="rId52"/>
    <p:sldId id="390" r:id="rId53"/>
    <p:sldId id="391" r:id="rId54"/>
    <p:sldId id="393" r:id="rId55"/>
    <p:sldId id="394" r:id="rId56"/>
    <p:sldId id="395" r:id="rId57"/>
    <p:sldId id="396" r:id="rId58"/>
    <p:sldId id="397" r:id="rId59"/>
    <p:sldId id="398" r:id="rId60"/>
    <p:sldId id="399" r:id="rId61"/>
    <p:sldId id="400" r:id="rId62"/>
    <p:sldId id="401" r:id="rId63"/>
    <p:sldId id="403" r:id="rId64"/>
    <p:sldId id="404" r:id="rId65"/>
    <p:sldId id="405" r:id="rId66"/>
    <p:sldId id="406" r:id="rId67"/>
    <p:sldId id="407" r:id="rId68"/>
    <p:sldId id="408" r:id="rId69"/>
    <p:sldId id="409" r:id="rId70"/>
    <p:sldId id="410" r:id="rId71"/>
    <p:sldId id="411" r:id="rId72"/>
    <p:sldId id="412" r:id="rId73"/>
    <p:sldId id="413" r:id="rId74"/>
    <p:sldId id="415" r:id="rId75"/>
    <p:sldId id="341" r:id="rId76"/>
    <p:sldId id="418" r:id="rId77"/>
    <p:sldId id="553" r:id="rId78"/>
    <p:sldId id="552" r:id="rId79"/>
    <p:sldId id="419" r:id="rId80"/>
    <p:sldId id="326" r:id="rId81"/>
  </p:sldIdLst>
  <p:sldSz cx="12190095" cy="6859270"/>
  <p:notesSz cx="6858000" cy="9144000"/>
  <p:custDataLst>
    <p:tags r:id="rId87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i lianjie" initials="l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 autoAdjust="0"/>
  </p:normalViewPr>
  <p:slideViewPr>
    <p:cSldViewPr>
      <p:cViewPr varScale="1">
        <p:scale>
          <a:sx n="79" d="100"/>
          <a:sy n="79" d="100"/>
        </p:scale>
        <p:origin x="72" y="154"/>
      </p:cViewPr>
      <p:guideLst>
        <p:guide orient="horz" pos="2115"/>
        <p:guide pos="256"/>
        <p:guide pos="6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19"/>
        <p:guide pos="221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7" Type="http://schemas.openxmlformats.org/officeDocument/2006/relationships/tags" Target="tags/tag20.xml"/><Relationship Id="rId86" Type="http://schemas.openxmlformats.org/officeDocument/2006/relationships/commentAuthors" Target="commentAuthors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handoutMaster" Target="handoutMasters/handoutMaster1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350790" y="2534497"/>
            <a:ext cx="770610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7</a:t>
            </a:r>
            <a:r>
              <a:rPr lang="zh-CN" altLang="en-US" sz="6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事务</a:t>
            </a:r>
            <a:endParaRPr lang="zh-CN" altLang="en-US" sz="6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76630" y="2493645"/>
            <a:ext cx="10271125" cy="2426970"/>
            <a:chOff x="4042" y="3473"/>
            <a:chExt cx="11486" cy="3822"/>
          </a:xfrm>
        </p:grpSpPr>
        <p:grpSp>
          <p:nvGrpSpPr>
            <p:cNvPr id="80" name="组合 79"/>
            <p:cNvGrpSpPr/>
            <p:nvPr/>
          </p:nvGrpSpPr>
          <p:grpSpPr>
            <a:xfrm>
              <a:off x="4042" y="3473"/>
              <a:ext cx="11486" cy="1084"/>
              <a:chOff x="978872" y="1800500"/>
              <a:chExt cx="5471124" cy="515937"/>
            </a:xfrm>
          </p:grpSpPr>
          <p:sp>
            <p:nvSpPr>
              <p:cNvPr id="81" name="Pentagon 3"/>
              <p:cNvSpPr/>
              <p:nvPr/>
            </p:nvSpPr>
            <p:spPr bwMode="auto">
              <a:xfrm>
                <a:off x="978872" y="1800500"/>
                <a:ext cx="5471124" cy="515937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了解事务，能够说出事务的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概念</a:t>
                </a:r>
                <a:endPara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2" name="MH_Others_1"/>
              <p:cNvSpPr/>
              <p:nvPr/>
            </p:nvSpPr>
            <p:spPr bwMode="auto">
              <a:xfrm>
                <a:off x="985222" y="1800500"/>
                <a:ext cx="82550" cy="515937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4042" y="4844"/>
              <a:ext cx="11415" cy="1080"/>
              <a:chOff x="978872" y="2570437"/>
              <a:chExt cx="5437064" cy="514350"/>
            </a:xfrm>
          </p:grpSpPr>
          <p:sp>
            <p:nvSpPr>
              <p:cNvPr id="84" name="Pentagon 5"/>
              <p:cNvSpPr/>
              <p:nvPr/>
            </p:nvSpPr>
            <p:spPr bwMode="auto">
              <a:xfrm>
                <a:off x="978872" y="2570437"/>
                <a:ext cx="5437064" cy="51435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掌握事务的基本操作，能够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开启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、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回滚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和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提交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事务，以及创建事务的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保存点</a:t>
                </a:r>
                <a:endPara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5" name="MH_Others_1"/>
              <p:cNvSpPr/>
              <p:nvPr/>
            </p:nvSpPr>
            <p:spPr bwMode="auto">
              <a:xfrm>
                <a:off x="985222" y="2570437"/>
                <a:ext cx="82550" cy="514350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4042" y="6211"/>
              <a:ext cx="11415" cy="1084"/>
              <a:chOff x="978872" y="3338787"/>
              <a:chExt cx="5437064" cy="515938"/>
            </a:xfrm>
          </p:grpSpPr>
          <p:sp>
            <p:nvSpPr>
              <p:cNvPr id="87" name="Pentagon 6"/>
              <p:cNvSpPr/>
              <p:nvPr/>
            </p:nvSpPr>
            <p:spPr bwMode="auto">
              <a:xfrm>
                <a:off x="978872" y="3338787"/>
                <a:ext cx="5437064" cy="515938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    熟悉事务的隔离级别，能够说出MySQL中事务的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隔离级别</a:t>
                </a:r>
                <a:r>
                  <a:rPr lang="zh-CN" alt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字魂58号-创中黑" panose="00000500000000000000" pitchFamily="2" charset="-122"/>
                  </a:rPr>
                  <a:t>，以及每个隔离级别的特点</a:t>
                </a:r>
                <a:endPara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endParaRPr>
              </a:p>
            </p:txBody>
          </p:sp>
          <p:sp>
            <p:nvSpPr>
              <p:cNvPr id="88" name="MH_Others_1"/>
              <p:cNvSpPr/>
              <p:nvPr/>
            </p:nvSpPr>
            <p:spPr bwMode="auto">
              <a:xfrm>
                <a:off x="985222" y="3338787"/>
                <a:ext cx="82550" cy="515938"/>
              </a:xfrm>
              <a:custGeom>
                <a:avLst/>
                <a:gdLst>
                  <a:gd name="connsiteX0" fmla="*/ 0 w 3276600"/>
                  <a:gd name="connsiteY0" fmla="*/ 6311900 h 6311900"/>
                  <a:gd name="connsiteX1" fmla="*/ 0 w 3276600"/>
                  <a:gd name="connsiteY1" fmla="*/ 0 h 6311900"/>
                  <a:gd name="connsiteX2" fmla="*/ 3276600 w 3276600"/>
                  <a:gd name="connsiteY2" fmla="*/ 0 h 6311900"/>
                  <a:gd name="connsiteX0-1" fmla="*/ 0 w 0"/>
                  <a:gd name="connsiteY0-2" fmla="*/ 6311900 h 6311900"/>
                  <a:gd name="connsiteX1-3" fmla="*/ 0 w 0"/>
                  <a:gd name="connsiteY1-4" fmla="*/ 0 h 63119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h="6311900">
                    <a:moveTo>
                      <a:pt x="0" y="63119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369B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CN" altLang="en-US" sz="2500">
                  <a:solidFill>
                    <a:schemeClr val="bg1">
                      <a:lumMod val="50000"/>
                    </a:schemeClr>
                  </a:solidFill>
                  <a:latin typeface="Source Han Sans K Bold" panose="020B0800000000000000" pitchFamily="34" charset="-128"/>
                  <a:ea typeface="Source Han Sans K Bold" panose="020B0800000000000000" pitchFamily="34" charset="-128"/>
                  <a:sym typeface="Source Han Sans K Bold" panose="020B0800000000000000" pitchFamily="34" charset="-128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2360469"/>
            <a:ext cx="1015113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通过前几章的学习，大家对数据库的概念、数据库的基本操作以及SQL语句的使用有了一定的了解，在数据库开发过程中，经常会为了完成某一功能而编写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一组SQL语句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。为了确保每一组SQL语句操作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数据的完整性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，MySQL引入了事务的管理，本章将针对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进行详细地讲解。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65655" y="2493645"/>
            <a:ext cx="8058785" cy="2486687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39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1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事务处理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1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GB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事务的隔离级别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24395"/>
                <a:ext cx="2827146" cy="3311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上机实践：图书管理系统中事务的应用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处理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16" y="4267"/>
              <a:ext cx="8993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事务处理机制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在应用程序开发过程中有着非常重要的作用，它可以保证在同一个事务中的操作具有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同步性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，从而让整个应用程序更加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，本节将针对事务管理进行详细地讲解。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638425" y="2006600"/>
            <a:ext cx="7233285" cy="35369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2344420"/>
            <a:ext cx="63690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现实生活中，人们经常会进行转账操作，转账可以分为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转出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两部分，只有这两个部分都完成才认为转账成功。在数据库中，转账过程中的SQL语句，只要任意一条语句出现异常没有执行成功，就会导致两个账户的转账金额不同步，出现转账错误。MySQL中可以使用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避免上述情况的发生。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66614" y="1845471"/>
            <a:ext cx="10713355" cy="4570819"/>
            <a:chOff x="627123" y="2435096"/>
            <a:chExt cx="10756739" cy="3471772"/>
          </a:xfrm>
        </p:grpSpPr>
        <p:sp>
          <p:nvSpPr>
            <p:cNvPr id="4" name="MH_Other_1"/>
            <p:cNvSpPr/>
            <p:nvPr>
              <p:custDataLst>
                <p:tags r:id="rId1"/>
              </p:custDataLst>
            </p:nvPr>
          </p:nvSpPr>
          <p:spPr>
            <a:xfrm>
              <a:off x="7183722" y="2970901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" name="MH_SubTitle_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500631" y="243509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隔离性</a:t>
              </a:r>
              <a:endParaRPr lang="zh-CN" altLang="en-US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MH_Text_4"/>
            <p:cNvSpPr txBox="1"/>
            <p:nvPr>
              <p:custDataLst>
                <p:tags r:id="rId3"/>
              </p:custDataLst>
            </p:nvPr>
          </p:nvSpPr>
          <p:spPr>
            <a:xfrm>
              <a:off x="8500631" y="3180500"/>
              <a:ext cx="2883231" cy="1005120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隔离性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是指当一个事务在执行时，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受到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其他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事务的影响。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MH_Other_2"/>
            <p:cNvSpPr/>
            <p:nvPr>
              <p:custDataLst>
                <p:tags r:id="rId4"/>
              </p:custDataLst>
            </p:nvPr>
          </p:nvSpPr>
          <p:spPr>
            <a:xfrm flipH="1">
              <a:off x="3914736" y="2970901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8" name="MH_SubTitle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 flipH="1">
              <a:off x="1054375" y="2435097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原子性</a:t>
              </a:r>
              <a:endParaRPr lang="zh-CN" altLang="en-US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MH_Text_1"/>
            <p:cNvSpPr txBox="1"/>
            <p:nvPr>
              <p:custDataLst>
                <p:tags r:id="rId6"/>
              </p:custDataLst>
            </p:nvPr>
          </p:nvSpPr>
          <p:spPr>
            <a:xfrm flipH="1">
              <a:off x="627126" y="3180500"/>
              <a:ext cx="3093356" cy="1005120"/>
            </a:xfrm>
            <a:prstGeom prst="rect">
              <a:avLst/>
            </a:prstGeom>
            <a:noFill/>
          </p:spPr>
          <p:txBody>
            <a:bodyPr lIns="0" tIns="0" rIns="0" bIns="0"/>
            <a:lstStyle/>
            <a:p>
              <a:pPr marL="0" marR="0" lvl="0" indent="0" algn="r" defTabSz="914400" rtl="0" fontAlgn="auto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原子性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是指一个事务必须被视为一个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不可分割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最小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工作单元，只有事务中所有的数据库操作都执行成功，才算整个事务执行成功。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" name="MH_Other_3"/>
            <p:cNvSpPr/>
            <p:nvPr>
              <p:custDataLst>
                <p:tags r:id="rId7"/>
              </p:custDataLst>
            </p:nvPr>
          </p:nvSpPr>
          <p:spPr>
            <a:xfrm flipV="1">
              <a:off x="7183722" y="4450794"/>
              <a:ext cx="1128476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1" name="MH_Other_4"/>
            <p:cNvSpPr/>
            <p:nvPr>
              <p:custDataLst>
                <p:tags r:id="rId8"/>
              </p:custDataLst>
            </p:nvPr>
          </p:nvSpPr>
          <p:spPr>
            <a:xfrm flipH="1" flipV="1">
              <a:off x="3914736" y="4450794"/>
              <a:ext cx="1126360" cy="217537"/>
            </a:xfrm>
            <a:custGeom>
              <a:avLst/>
              <a:gdLst>
                <a:gd name="connsiteX0" fmla="*/ 0 w 1190172"/>
                <a:gd name="connsiteY0" fmla="*/ 217715 h 217715"/>
                <a:gd name="connsiteX1" fmla="*/ 159657 w 1190172"/>
                <a:gd name="connsiteY1" fmla="*/ 0 h 217715"/>
                <a:gd name="connsiteX2" fmla="*/ 1190172 w 1190172"/>
                <a:gd name="connsiteY2" fmla="*/ 0 h 217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172" h="217715">
                  <a:moveTo>
                    <a:pt x="0" y="217715"/>
                  </a:moveTo>
                  <a:lnTo>
                    <a:pt x="159657" y="0"/>
                  </a:lnTo>
                  <a:lnTo>
                    <a:pt x="1190172" y="0"/>
                  </a:lnTo>
                </a:path>
              </a:pathLst>
            </a:custGeom>
            <a:noFill/>
            <a:ln>
              <a:solidFill>
                <a:srgbClr val="C0C0C0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2" name="MH_Other_5"/>
            <p:cNvSpPr/>
            <p:nvPr>
              <p:custDataLst>
                <p:tags r:id="rId9"/>
              </p:custDataLst>
            </p:nvPr>
          </p:nvSpPr>
          <p:spPr>
            <a:xfrm>
              <a:off x="4763017" y="2801907"/>
              <a:ext cx="1162607" cy="871929"/>
            </a:xfrm>
            <a:custGeom>
              <a:avLst/>
              <a:gdLst>
                <a:gd name="connsiteX0" fmla="*/ 1090749 w 1090749"/>
                <a:gd name="connsiteY0" fmla="*/ 0 h 1090749"/>
                <a:gd name="connsiteX1" fmla="*/ 1090749 w 1090749"/>
                <a:gd name="connsiteY1" fmla="*/ 520353 h 1090749"/>
                <a:gd name="connsiteX2" fmla="*/ 1054097 w 1090749"/>
                <a:gd name="connsiteY2" fmla="*/ 529777 h 1090749"/>
                <a:gd name="connsiteX3" fmla="*/ 529777 w 1090749"/>
                <a:gd name="connsiteY3" fmla="*/ 1054097 h 1090749"/>
                <a:gd name="connsiteX4" fmla="*/ 520353 w 1090749"/>
                <a:gd name="connsiteY4" fmla="*/ 1090749 h 1090749"/>
                <a:gd name="connsiteX5" fmla="*/ 0 w 1090749"/>
                <a:gd name="connsiteY5" fmla="*/ 1090749 h 1090749"/>
                <a:gd name="connsiteX6" fmla="*/ 9646 w 1090749"/>
                <a:gd name="connsiteY6" fmla="*/ 1027542 h 1090749"/>
                <a:gd name="connsiteX7" fmla="*/ 1027542 w 1090749"/>
                <a:gd name="connsiteY7" fmla="*/ 9646 h 1090749"/>
                <a:gd name="connsiteX8" fmla="*/ 1090749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1090749" y="0"/>
                  </a:moveTo>
                  <a:lnTo>
                    <a:pt x="1090749" y="520353"/>
                  </a:lnTo>
                  <a:lnTo>
                    <a:pt x="1054097" y="529777"/>
                  </a:lnTo>
                  <a:cubicBezTo>
                    <a:pt x="804459" y="607423"/>
                    <a:pt x="607423" y="804459"/>
                    <a:pt x="529777" y="1054097"/>
                  </a:cubicBezTo>
                  <a:lnTo>
                    <a:pt x="520353" y="1090749"/>
                  </a:lnTo>
                  <a:lnTo>
                    <a:pt x="0" y="1090749"/>
                  </a:lnTo>
                  <a:lnTo>
                    <a:pt x="9646" y="1027542"/>
                  </a:lnTo>
                  <a:cubicBezTo>
                    <a:pt x="114196" y="516617"/>
                    <a:pt x="516617" y="114196"/>
                    <a:pt x="1027542" y="9646"/>
                  </a:cubicBezTo>
                  <a:lnTo>
                    <a:pt x="10907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3" name="MH_Other_6"/>
            <p:cNvSpPr/>
            <p:nvPr>
              <p:custDataLst>
                <p:tags r:id="rId10"/>
              </p:custDataLst>
            </p:nvPr>
          </p:nvSpPr>
          <p:spPr>
            <a:xfrm>
              <a:off x="6324182" y="2801907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63206 w 1090749"/>
                <a:gd name="connsiteY1" fmla="*/ 9646 h 1090749"/>
                <a:gd name="connsiteX2" fmla="*/ 1081102 w 1090749"/>
                <a:gd name="connsiteY2" fmla="*/ 1027542 h 1090749"/>
                <a:gd name="connsiteX3" fmla="*/ 1090749 w 1090749"/>
                <a:gd name="connsiteY3" fmla="*/ 1090749 h 1090749"/>
                <a:gd name="connsiteX4" fmla="*/ 570395 w 1090749"/>
                <a:gd name="connsiteY4" fmla="*/ 1090749 h 1090749"/>
                <a:gd name="connsiteX5" fmla="*/ 560971 w 1090749"/>
                <a:gd name="connsiteY5" fmla="*/ 1054097 h 1090749"/>
                <a:gd name="connsiteX6" fmla="*/ 36651 w 1090749"/>
                <a:gd name="connsiteY6" fmla="*/ 529777 h 1090749"/>
                <a:gd name="connsiteX7" fmla="*/ 0 w 1090749"/>
                <a:gd name="connsiteY7" fmla="*/ 520353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63206" y="9646"/>
                  </a:lnTo>
                  <a:cubicBezTo>
                    <a:pt x="574131" y="114196"/>
                    <a:pt x="976552" y="516617"/>
                    <a:pt x="1081102" y="1027542"/>
                  </a:cubicBezTo>
                  <a:lnTo>
                    <a:pt x="1090749" y="1090749"/>
                  </a:lnTo>
                  <a:lnTo>
                    <a:pt x="570395" y="1090749"/>
                  </a:lnTo>
                  <a:lnTo>
                    <a:pt x="560971" y="1054097"/>
                  </a:lnTo>
                  <a:cubicBezTo>
                    <a:pt x="483326" y="804459"/>
                    <a:pt x="286290" y="607423"/>
                    <a:pt x="36651" y="529777"/>
                  </a:cubicBezTo>
                  <a:lnTo>
                    <a:pt x="0" y="520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" name="MH_Other_7"/>
            <p:cNvSpPr/>
            <p:nvPr>
              <p:custDataLst>
                <p:tags r:id="rId11"/>
              </p:custDataLst>
            </p:nvPr>
          </p:nvSpPr>
          <p:spPr>
            <a:xfrm>
              <a:off x="4734326" y="3994264"/>
              <a:ext cx="1162607" cy="871929"/>
            </a:xfrm>
            <a:custGeom>
              <a:avLst/>
              <a:gdLst>
                <a:gd name="connsiteX0" fmla="*/ 0 w 1090749"/>
                <a:gd name="connsiteY0" fmla="*/ 0 h 1090749"/>
                <a:gd name="connsiteX1" fmla="*/ 520353 w 1090749"/>
                <a:gd name="connsiteY1" fmla="*/ 0 h 1090749"/>
                <a:gd name="connsiteX2" fmla="*/ 529777 w 1090749"/>
                <a:gd name="connsiteY2" fmla="*/ 36651 h 1090749"/>
                <a:gd name="connsiteX3" fmla="*/ 1054097 w 1090749"/>
                <a:gd name="connsiteY3" fmla="*/ 560971 h 1090749"/>
                <a:gd name="connsiteX4" fmla="*/ 1090749 w 1090749"/>
                <a:gd name="connsiteY4" fmla="*/ 570395 h 1090749"/>
                <a:gd name="connsiteX5" fmla="*/ 1090749 w 1090749"/>
                <a:gd name="connsiteY5" fmla="*/ 1090749 h 1090749"/>
                <a:gd name="connsiteX6" fmla="*/ 1027542 w 1090749"/>
                <a:gd name="connsiteY6" fmla="*/ 1081102 h 1090749"/>
                <a:gd name="connsiteX7" fmla="*/ 9646 w 1090749"/>
                <a:gd name="connsiteY7" fmla="*/ 63206 h 1090749"/>
                <a:gd name="connsiteX8" fmla="*/ 0 w 1090749"/>
                <a:gd name="connsiteY8" fmla="*/ 0 h 10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9" h="1090749">
                  <a:moveTo>
                    <a:pt x="0" y="0"/>
                  </a:moveTo>
                  <a:lnTo>
                    <a:pt x="520353" y="0"/>
                  </a:lnTo>
                  <a:lnTo>
                    <a:pt x="529777" y="36651"/>
                  </a:lnTo>
                  <a:cubicBezTo>
                    <a:pt x="607423" y="286290"/>
                    <a:pt x="804459" y="483326"/>
                    <a:pt x="1054097" y="560971"/>
                  </a:cubicBezTo>
                  <a:lnTo>
                    <a:pt x="1090749" y="570395"/>
                  </a:lnTo>
                  <a:lnTo>
                    <a:pt x="1090749" y="1090749"/>
                  </a:lnTo>
                  <a:lnTo>
                    <a:pt x="1027542" y="1081102"/>
                  </a:lnTo>
                  <a:cubicBezTo>
                    <a:pt x="516617" y="976552"/>
                    <a:pt x="114196" y="574131"/>
                    <a:pt x="9646" y="6320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5" name="MH_Other_8"/>
            <p:cNvSpPr/>
            <p:nvPr>
              <p:custDataLst>
                <p:tags r:id="rId12"/>
              </p:custDataLst>
            </p:nvPr>
          </p:nvSpPr>
          <p:spPr>
            <a:xfrm>
              <a:off x="6324182" y="3994263"/>
              <a:ext cx="1162605" cy="871928"/>
            </a:xfrm>
            <a:custGeom>
              <a:avLst/>
              <a:gdLst>
                <a:gd name="connsiteX0" fmla="*/ 570395 w 1090748"/>
                <a:gd name="connsiteY0" fmla="*/ 0 h 1090748"/>
                <a:gd name="connsiteX1" fmla="*/ 1090748 w 1090748"/>
                <a:gd name="connsiteY1" fmla="*/ 0 h 1090748"/>
                <a:gd name="connsiteX2" fmla="*/ 1081102 w 1090748"/>
                <a:gd name="connsiteY2" fmla="*/ 63206 h 1090748"/>
                <a:gd name="connsiteX3" fmla="*/ 63206 w 1090748"/>
                <a:gd name="connsiteY3" fmla="*/ 1081102 h 1090748"/>
                <a:gd name="connsiteX4" fmla="*/ 0 w 1090748"/>
                <a:gd name="connsiteY4" fmla="*/ 1090748 h 1090748"/>
                <a:gd name="connsiteX5" fmla="*/ 0 w 1090748"/>
                <a:gd name="connsiteY5" fmla="*/ 570395 h 1090748"/>
                <a:gd name="connsiteX6" fmla="*/ 36651 w 1090748"/>
                <a:gd name="connsiteY6" fmla="*/ 560971 h 1090748"/>
                <a:gd name="connsiteX7" fmla="*/ 560971 w 1090748"/>
                <a:gd name="connsiteY7" fmla="*/ 36651 h 1090748"/>
                <a:gd name="connsiteX8" fmla="*/ 570395 w 1090748"/>
                <a:gd name="connsiteY8" fmla="*/ 0 h 109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90748" h="1090748">
                  <a:moveTo>
                    <a:pt x="570395" y="0"/>
                  </a:moveTo>
                  <a:lnTo>
                    <a:pt x="1090748" y="0"/>
                  </a:lnTo>
                  <a:lnTo>
                    <a:pt x="1081102" y="63206"/>
                  </a:lnTo>
                  <a:cubicBezTo>
                    <a:pt x="976552" y="574131"/>
                    <a:pt x="574131" y="976552"/>
                    <a:pt x="63206" y="1081102"/>
                  </a:cubicBezTo>
                  <a:lnTo>
                    <a:pt x="0" y="1090748"/>
                  </a:lnTo>
                  <a:lnTo>
                    <a:pt x="0" y="570395"/>
                  </a:lnTo>
                  <a:lnTo>
                    <a:pt x="36651" y="560971"/>
                  </a:lnTo>
                  <a:cubicBezTo>
                    <a:pt x="286290" y="483326"/>
                    <a:pt x="483326" y="286290"/>
                    <a:pt x="560971" y="36651"/>
                  </a:cubicBezTo>
                  <a:lnTo>
                    <a:pt x="570395" y="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850" tIns="54425" rIns="108850" bIns="54425" anchor="ctr"/>
            <a:lstStyle/>
            <a:p>
              <a:pPr algn="ctr" defTabSz="1087755">
                <a:defRPr/>
              </a:pPr>
              <a:endParaRPr lang="zh-CN" altLang="en-US" sz="210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6" name="MH_SubTitle_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500631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持久性</a:t>
              </a:r>
              <a:endParaRPr lang="zh-CN" altLang="en-US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7" name="MH_Text_3"/>
            <p:cNvSpPr txBox="1"/>
            <p:nvPr>
              <p:custDataLst>
                <p:tags r:id="rId14"/>
              </p:custDataLst>
            </p:nvPr>
          </p:nvSpPr>
          <p:spPr>
            <a:xfrm>
              <a:off x="8500631" y="4900160"/>
              <a:ext cx="2883231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持久性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是指事务一旦提交，对数据库中数据的修改就是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永久性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MH_SubTitle_2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054375" y="4156346"/>
              <a:ext cx="2671929" cy="643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b"/>
            <a:lstStyle>
              <a:lvl1pPr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charset="-122"/>
                  <a:ea typeface="等线" panose="02010600030101010101" charset="-122"/>
                </a:defRPr>
              </a:lvl9pPr>
            </a:lstStyle>
            <a:p>
              <a:pPr algn="r" defTabSz="1087755">
                <a:lnSpc>
                  <a:spcPct val="120000"/>
                </a:lnSpc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一致性</a:t>
              </a:r>
              <a:endParaRPr lang="zh-CN" altLang="en-US" sz="20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9" name="MH_Text_2"/>
            <p:cNvSpPr txBox="1"/>
            <p:nvPr>
              <p:custDataLst>
                <p:tags r:id="rId16"/>
              </p:custDataLst>
            </p:nvPr>
          </p:nvSpPr>
          <p:spPr>
            <a:xfrm flipH="1">
              <a:off x="627123" y="4900160"/>
              <a:ext cx="3093357" cy="1006708"/>
            </a:xfrm>
            <a:prstGeom prst="rect">
              <a:avLst/>
            </a:prstGeom>
            <a:noFill/>
          </p:spPr>
          <p:txBody>
            <a:bodyPr lIns="0" tIns="0" rIns="0" bIns="0">
              <a:noAutofit/>
            </a:bodyPr>
            <a:lstStyle/>
            <a:p>
              <a:pPr lvl="0" algn="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一致性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是指事务将数据库从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一个一致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状态转变为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下一个一致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的状态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461770" y="1053465"/>
            <a:ext cx="10079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MySQL中的事务必须满足4个特性，分别是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（Atomicity）、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（Consistency）、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隔离性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（Isolation）、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持久性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（Durability）。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事务概述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638425" y="1791335"/>
            <a:ext cx="7233285" cy="35369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1990090"/>
            <a:ext cx="636905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MySQL中，用户执行的每一条SQL语句，默认都会当成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单独的事务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自动提交。如果想要将一组SQL语句作为一个事务，需要在执行这组SQL语句之前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开启事务，显式开启事务的语句如下。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332480" y="4150360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START TRANSACTION;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1990090" y="2006600"/>
            <a:ext cx="8735060" cy="416560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14930" y="2133600"/>
            <a:ext cx="75622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开启事务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之后，后续的每一条SQL语句将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不再自动提交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，用户想要提交时，需要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手动提交事务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。只有事务提交后，事务中的SQL语句才会生效。手动提交事务的语句具体如下。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82570" y="3783965"/>
            <a:ext cx="5524500" cy="437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COMMIT;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38120" y="4221480"/>
            <a:ext cx="76803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不想提交当前事务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，还可以使用下列语句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（即回滚），具体如下。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82570" y="5373370"/>
            <a:ext cx="5524500" cy="380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ROLLBACK;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2062480"/>
            <a:ext cx="6889750" cy="3121660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74415" y="2752090"/>
            <a:ext cx="56172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ROLLBACK语句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只能针对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未提交的事务执行回滚操作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，已提交的事务是不能回滚的。当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执行COMMIT或ROLLBACK后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事务就会自动结束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729230"/>
            <a:ext cx="8348345" cy="33115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2809240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（1）数据库管理员想要先查询员工表emp中陈二和李四当前的信息，具体SQL语句如下所示。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39060" y="3768725"/>
            <a:ext cx="7174230" cy="2068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| mgr  | sal     | comm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9566 | 李四  | 经理 | 9839 | 3995.00 | NULL |     20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9982 | 陈二  | 经理 | 9839 | 3450.00 | NULL |     10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4870" y="855345"/>
            <a:ext cx="83483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公司为了激励中层，为部门经理陈二和李四设立奖金，奖金总额固定为2000元，第一个月俩人奖金都为1000元，第二个月开始根据部门业绩调整俩人奖金，扣除业绩不好的经理的奖金奖励给业绩好的经理（奖金总额不变）。数据库管理员收到通知后具体操作步骤如下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26565"/>
            <a:ext cx="8348345" cy="34397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1732915"/>
            <a:ext cx="750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（2）因为操作陈二和李四的数据时，需要确保操作要么都成功，要么都失败，数据库管理员需要在每次操作之前都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开启事务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。数据库管理员将员工表emp中陈二和李四的奖金都设置为1000，具体SQL语句如下所示。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39060" y="3143250"/>
            <a:ext cx="7174230" cy="1621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开启事务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START TRANSACTION;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设置陈二的奖金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emp SET comm=10000 WHERE ename='陈二';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# 设置李四的奖金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emp SET comm=10000 WHERE ename='李四';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5505" y="1599565"/>
            <a:ext cx="8348345" cy="36436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173291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（3）为了保险起见，数据库管理员决定在提交修改信息之前，先查询修改后的信息，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SQL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语句及执行结果如下所示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39060" y="2639060"/>
            <a:ext cx="7174230" cy="2464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| mgr  | sal     | comm    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9566 | 李四  | 经理 | 9839 | 3995.00 | 10000.00 |     20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9982 | 陈二  | 经理 | 9839 | 3450.00 | 10000.00 |     10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30095" y="5519420"/>
            <a:ext cx="8611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数据库管理员从查询出的员工信息看到，奖金信息修改错误，将奖金1000元设置为了10000元。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83080"/>
            <a:ext cx="8348345" cy="46456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710815" y="1949450"/>
            <a:ext cx="750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（4）数据库管理员庆幸还好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没有提交事务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，否则被查出来可能被算作重大工作失误。数据库管理员不想重新修改数据，决定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撤销之前修改奖金的操作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，并查询撤销操作后的数据，具体语句及执行结果如下所示。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21610" y="3211195"/>
            <a:ext cx="7174230" cy="3112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回滚事务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ROLLBACK;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| mgr  | sal     | comm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9566 | 李四  | 经理 | 9839 | 3995.00 | NULL |     20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9982 | 陈二  | 经理 | 9839 | 3450.00 | NULL |     10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868680"/>
            <a:ext cx="8348345" cy="57003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101536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（5）数据库管理员重新设置李四和陈二的奖金，对于此次数据修改数据库管理员觉得肯定不会出错，设置奖金后将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事务进行提交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39060" y="1921510"/>
            <a:ext cx="7174230" cy="16459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设置陈二的奖金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comm=1000 WHERE ename='陈二';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设置李四的奖金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comm=1000 WHERE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提交事务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COMMIT;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10815" y="3649345"/>
            <a:ext cx="7508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（6）此时数据库管理员查询修改后的数据具体语句如下所示。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21610" y="4166235"/>
            <a:ext cx="7174230" cy="2165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*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empno | ename | job  | mgr  | sal     | comm    | deptno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9566 | 李四  | 经理 | 9839 | 3995.00 | 1000.00 |     20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 9982 | 陈二  | 经理 | 9839 | 3450.00 | 1000.00 |     10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+-------+-------+------+------+---------+---------+--------+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事务的基本操作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1481455" y="1436370"/>
            <a:ext cx="9577705" cy="3902075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9415" y="1605280"/>
            <a:ext cx="92024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MySQL中事务默认是自动提交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，如果用户想要设置事务的自动提交方式，可以通过更改AUTOCOMMIT的值来实现。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AUTOCOMMIT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的值设置为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事务自动提交，设置为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事务自动提交，如果想要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当前会话的AUTOCOMMIT值，可以使用如下语句。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34235" y="2912745"/>
            <a:ext cx="7440930" cy="410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@@AUTOCOMMIT;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34235" y="3884930"/>
            <a:ext cx="7440930" cy="410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set AUTOCOMMIT=0;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69415" y="3431540"/>
            <a:ext cx="92024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如果想要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当前会话事务的自动提交，可以使用以下语句。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0680" y="4307840"/>
            <a:ext cx="92024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执行上述语句后，用户需要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手动执行提交（COMMIT）操作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，事务才会提交，如果直接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MySQL会话，MySQL会自动进行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638425" y="1719580"/>
            <a:ext cx="7233285" cy="353695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1918335"/>
            <a:ext cx="63690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在回滚事务时，事务内的所有操作将都被撤销。如果希望只撤销事务内的部分操作，则可以借助事务的保存点实现。事务中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创建保存点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86760" y="3790950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SAVEPOINT 保存点名;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638425" y="1719580"/>
            <a:ext cx="7233285" cy="387032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1918335"/>
            <a:ext cx="63690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在事务中设置保存点后，可以将事务回滚到指定的保存点，事物中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设置保存点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的语法格式如下所示。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215005" y="2926715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ROLLBACK TO SAVEPOINT 保存点名;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15005" y="3574415"/>
            <a:ext cx="63690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如果某个保存点不再使用，可以通过如下语法格式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删除指定的保存点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17875" y="4726305"/>
            <a:ext cx="5524500" cy="579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RELEASE SAVEPOINT 保存点名;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5595" y="2205990"/>
            <a:ext cx="6889750" cy="319468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75050" y="2781300"/>
            <a:ext cx="56172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创建多个保存点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。一旦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提交事务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，事务中的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保存点都会被删除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。另外，如果事务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回滚到某个保存点后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保存点之后创建的其他保存点也会被删除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845310" y="1442720"/>
            <a:ext cx="8940800" cy="44145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35530" y="1589405"/>
            <a:ext cx="81768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下面接着通过设置员工奖金的案例演示事务保存点的使用，具体步骤如下。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（1）到了第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个月，数据库管理员需要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根据部门业绩重新调整陈二和李四的奖金，调整奖金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之前，数据库管理员对员工表emp中陈二和李四当前的奖金信息进行了查询，具体SQL语句如下所示。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35530" y="3319145"/>
            <a:ext cx="8176895" cy="22802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5" name="1"/>
          <p:cNvSpPr txBox="1"/>
          <p:nvPr>
            <p:custDataLst>
              <p:tags r:id="rId1"/>
            </p:custDataLst>
          </p:nvPr>
        </p:nvSpPr>
        <p:spPr>
          <a:xfrm>
            <a:off x="1061085" y="909320"/>
            <a:ext cx="187960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897380" y="1442720"/>
            <a:ext cx="8915400" cy="37407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1"/>
          <p:cNvSpPr txBox="1"/>
          <p:nvPr>
            <p:custDataLst>
              <p:tags r:id="rId1"/>
            </p:custDataLst>
          </p:nvPr>
        </p:nvSpPr>
        <p:spPr>
          <a:xfrm>
            <a:off x="1061085" y="909320"/>
            <a:ext cx="187960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</a:t>
            </a:r>
            <a:endParaRPr lang="zh-CN" altLang="en-US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63800" y="1567815"/>
            <a:ext cx="79400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（2）经过初步核算，本月需要将陈二的奖金增加200，李四的奖金减少200。本次事务中可能还需要对陈二和李四的信息进行修改，数据库管理员在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本次修改后创建一个保存点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64435" y="3042285"/>
            <a:ext cx="7860030" cy="1699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START TRANSACTION; -- 开启事务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UPDATE emp SET comm=comm+200 WHERE ename='陈二'; -- 设置陈二的奖金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UPDATE emp SET comm=comm-200 WHERE ename='李四'; -- 设置李四的奖金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SAVEPOINT  s1; -- 创建保存点s1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27455"/>
            <a:ext cx="8348345" cy="39522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10815" y="2502535"/>
            <a:ext cx="7174230" cy="2424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 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1200.00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39060" y="149415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（3）数据库管理员修改奖金并创建好事务保存点后，为确保修改无误，想要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查询员工表emp中陈二和李四当前的奖金信息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155700"/>
            <a:ext cx="8348345" cy="49409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5240" y="1302385"/>
            <a:ext cx="75082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（4）数据库管理员又收到通知，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陈二的奖金修改为600，李四的奖金修改为1400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39060" y="2208530"/>
            <a:ext cx="7579995" cy="812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emp SET comm=600 WHERE ename='陈二';   -- 设置陈二的奖金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emp SET comm=1400 WHERE ename='李四'; -- 设置李四的奖金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10815" y="3433445"/>
            <a:ext cx="75082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（5）陈二对奖金调整不满，找老板理论。不久后数据库管理员又收到通知，需要将陈二和李四的奖金恢复到第一次修改后的结果。数据库管理员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对事务进行了回滚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，并在回滚后再次查询了陈二和李四当前的奖金信息，具体语句如下所示。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9695" y="4782185"/>
            <a:ext cx="7579995" cy="100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ROLLBACK TO SAVEPOINT s1; -- 回滚到保存点s1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083945"/>
            <a:ext cx="8348345" cy="50863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82570" y="3075940"/>
            <a:ext cx="7174230" cy="2772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 ROLLBACK; -- 回滚事务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10815" y="1276350"/>
            <a:ext cx="750824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6）由于之前老板没有将根据业绩调整奖金的公式说太清楚，老板决定本月暂时先取消根据业绩调整奖金，通知数据库管理员将陈二和李四的奖金恢复到上个月的状态，数据库管理员庆幸操作数据之前开启了事务，此时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回滚事务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就可以恢复数据到最初的状态，要不然还要挨个去查数据，具体语句如下所示。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7.1.3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事务的保存点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GB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事务的</a:t>
            </a:r>
            <a:r>
              <a:rPr lang="zh-CN" altLang="en-GB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隔离级别</a:t>
            </a:r>
            <a:endParaRPr lang="zh-CN" altLang="en-GB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0910"/>
            <a:ext cx="7416800" cy="3244850"/>
            <a:chOff x="4042" y="3466"/>
            <a:chExt cx="11680" cy="5110"/>
          </a:xfrm>
        </p:grpSpPr>
        <p:sp>
          <p:nvSpPr>
            <p:cNvPr id="2" name="折角形 1"/>
            <p:cNvSpPr/>
            <p:nvPr/>
          </p:nvSpPr>
          <p:spPr>
            <a:xfrm>
              <a:off x="4042" y="3466"/>
              <a:ext cx="11680" cy="5110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89" y="3926"/>
              <a:ext cx="9584" cy="3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MySQL支持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多线程并发访问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，用户可以通过不同的线程执行不同的事务。为了保证多个事务之间互不影响，就需要为事务设置适当的隔离级别。MySQL中，事务有4种隔离级别，分别为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 UNCOMMITTED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（读未提交）、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 COMMITTED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（读已提交）、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REPEATABLE READ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（可重复读）和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SERIALIZABLE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（串行化）。本节将针对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事务隔离级别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的相关知识进行详细讲解。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566670" y="2135505"/>
            <a:ext cx="7233285" cy="221742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70860" y="2423160"/>
            <a:ext cx="63690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UNCOMMITTED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是事务隔离级别中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最低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的级别，在该级别下的事务可以读取到其他事务中未提交的数据，这种读取方式也被称为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（Dirty Read）。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012315" y="1248410"/>
            <a:ext cx="92532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例如，数据库管理员收到通知将陈二的奖金减少200，但是在修改时候由于失误减少了2000，执行了下面的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语句做了奖金的修改。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22525" y="2642235"/>
            <a:ext cx="6836410" cy="5880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UPDATE emp SET comm=comm-2000 WHERE ename='陈二';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33575" y="3696970"/>
            <a:ext cx="91186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数据库管理员庆幸说还好没提交事务，此时老板在他的客户端中对员工信息进行查看，如果老板客户端设置的隔离级别是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UNCOMMITTED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，就会读到数据库管理员事务中未提交的数据，发现数据库管理员修改错误的信息。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459230" y="1992630"/>
            <a:ext cx="94818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为了演示上述情况，首先开启两个命令行窗口，为方便分辨分别称为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。两个客户端都登录到MySQL数据库，并将操作的数据库切换为ems。准备完成后，按如下步骤进行操作。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109980"/>
            <a:ext cx="8529320" cy="31095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6510" y="1275080"/>
            <a:ext cx="783336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设置客户端B中事务的隔离级别</a:t>
            </a:r>
            <a:endParaRPr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MySQL的默认隔离级别是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（可重复读），该级别可以避免脏读，为了演示脏读，需要将客户端B中事务的隔离级别设置为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UNCOMMITTED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（读未提交），具体语句如下所示。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361690"/>
            <a:ext cx="7359015" cy="581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SET SESSION TRANSACTION ISOLATION LEVEL READ UNCOMMITTED;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66670" y="4431030"/>
            <a:ext cx="76981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上述语句中，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表示当前会话，TRANSACTION就表示事务，ISOLATION表示隔离，LEVEL表示级别，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UNCOMMITTED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表示当前设置的隔离级别，上述语句执行成功后，使用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语句查询事务的隔离级别，结果如下。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206625" y="2757805"/>
            <a:ext cx="8348345" cy="3433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508317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从上述查询结果可以看出，客户端B事务的隔离级别已经被修改为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UNCOMMITTED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066415"/>
            <a:ext cx="7359015" cy="187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mysql&gt; SELECT @@session.transaction_isolation;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@@session.transaction_isolation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READ-UNCOMMITTED           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260" y="1263650"/>
            <a:ext cx="83470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隔离级别设置为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READ UNCOMMITTED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后，使用SELECT语句查询事务的隔离级别，结果如下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486535"/>
            <a:ext cx="8523605" cy="42862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486535"/>
            <a:ext cx="78651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演示脏读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数据库管理员收到通知需要修改员工陈二和李四当前的奖金，修改之前数据库管理员对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陈二和李四当前的奖金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信息进行了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3143250"/>
            <a:ext cx="7359015" cy="2291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00150"/>
            <a:ext cx="8348345" cy="39535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27190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数据库管理员在客户端A中开启事务，接着对陈二和李四的奖金进行了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，具体语句及执行结果如下。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2496185"/>
            <a:ext cx="7359015" cy="25476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comm=comm-200 WHERE ename='陈二';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comm=comm+200 WHERE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34870" y="5293360"/>
            <a:ext cx="83489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需要注意的是，此时不要提交事务，因为如果提交事务就无法演示脏读的现象。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637665" y="1343660"/>
            <a:ext cx="9328150" cy="4213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34235" y="1631315"/>
            <a:ext cx="84988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此时，老板打电话问数据库管理员陈二和李四的奖金是否修改好了，因为数据库管理员还没提交事务，就和老板说还没有修改好，老板刚好在电脑旁边，在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客户端B中查询陈二和李四的奖金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信息（老板是技术人员出身，会数据库相关的技术），具体如下所示。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78380" y="2999740"/>
            <a:ext cx="7359015" cy="2291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1200.00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 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2101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56510" y="2207895"/>
            <a:ext cx="769810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从查询结果可以看出，客户端B能看陈二和李四的奖金修改过后的信息，这是由于客户端B的事务隔离级别较低，因此读取了客户端A中还没有提交的内容，出现了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4235" y="4653915"/>
            <a:ext cx="83496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脏读演示完毕，为了下面讲解时数据不混乱，此处先在客户端A中执行“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ROLLBACK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;”命令进行事务回滚，让数据恢复到最初的值。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062480" y="1630045"/>
            <a:ext cx="9006205" cy="38461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78380" y="1774190"/>
            <a:ext cx="84677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设置客户端B事务的隔离级别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老板觉得需要解决脏读的现象，让数据库管理员解决一下。为了防止脏读的发生，数据库管理员在客户端B中将事务的隔离级别设置为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（读已提交），该隔离级别可以避免脏读，设置的语句及执行结果如下。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3574415"/>
            <a:ext cx="7925435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SET SESSION TRANSACTION ISOLATION LEVEL READ COMMITTED;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78380" y="4726940"/>
            <a:ext cx="7698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上述语句执行成功后，客户端B的隔离级别已经被设置为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062480" y="1558290"/>
            <a:ext cx="9006205" cy="40366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78380" y="1702435"/>
            <a:ext cx="8467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验证是否出现脏读</a:t>
            </a:r>
            <a:endParaRPr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修改完隔离级别后，数据库管理员为了验证是否解决了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现象，首先在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中查询陈二和李四的奖金信息，具体如下所示。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2998470"/>
            <a:ext cx="7359015" cy="2265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487170"/>
            <a:ext cx="8348345" cy="42583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703070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接着数据库管理员在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中开启事务，并修改陈二和李四的奖金，具体语句及执行结果如下。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2783205"/>
            <a:ext cx="7359015" cy="26612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comm=comm-200 WHERE ename='陈二';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comm=comm+200 WHERE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30680"/>
            <a:ext cx="8348345" cy="41319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191833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数据库管理员修改员工表的数据后，在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中查询陈二和李四的奖金信息，具体如下所示。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142615"/>
            <a:ext cx="7359015" cy="2370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74190"/>
            <a:ext cx="8348345" cy="22777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90725"/>
            <a:ext cx="76981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通过对比两次查询结果可以发现，本次客户端B中并没有查询到客户端A中未提交的内容，说明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COMMITTED隔离级别可以避免脏读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。值得一提的是，脏读在实际应用中会带来很多问题，为了保证数据的一致性，在实际应用中几乎不会使用隔离级别READ UNCOMMITTED。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7.2.1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UNCOMMITTED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50770" y="4948555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为了保证后续演示数据不混乱，在客户端A中执行“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ROLLBACK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;”命令进行事务回滚，使数据恢复到最初的值。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710180" y="1846580"/>
            <a:ext cx="7233285" cy="352361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2615" y="2134235"/>
            <a:ext cx="63690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MySQL中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级别下，事务只能读取其他事务已经提交的内容，可以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避免脏读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现象，但是会出现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不可重复读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的情况。不可重复读是指在事务内重复读取别的线程已经提交的数据，由于多次查询期间，其他事务做了更新操作，出现多次读取的结果不一致的现象。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981710" y="1845945"/>
            <a:ext cx="10421620" cy="3469005"/>
            <a:chOff x="4382" y="3359"/>
            <a:chExt cx="9525" cy="4764"/>
          </a:xfrm>
        </p:grpSpPr>
        <p:sp>
          <p:nvSpPr>
            <p:cNvPr id="4" name="文本框 3"/>
            <p:cNvSpPr txBox="1"/>
            <p:nvPr/>
          </p:nvSpPr>
          <p:spPr>
            <a:xfrm>
              <a:off x="4949" y="4720"/>
              <a:ext cx="6381" cy="1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执行CONCAT()函数会返回函数参数连接之后的字符串。如执行CONCAT('a','_'，'b')，会返回字符串'a_b'。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流程图: 过程 4"/>
            <p:cNvSpPr/>
            <p:nvPr/>
          </p:nvSpPr>
          <p:spPr>
            <a:xfrm>
              <a:off x="4382" y="3814"/>
              <a:ext cx="9525" cy="430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上凸带形 5"/>
            <p:cNvSpPr/>
            <p:nvPr/>
          </p:nvSpPr>
          <p:spPr>
            <a:xfrm>
              <a:off x="5949" y="3359"/>
              <a:ext cx="6236" cy="794"/>
            </a:xfrm>
            <a:prstGeom prst="ribbon2">
              <a:avLst/>
            </a:prstGeom>
            <a:solidFill>
              <a:srgbClr val="1369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827" y="4720"/>
              <a:ext cx="8636" cy="2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重复读并不算错误，但在有些情况下却不符合实际需求。例如，银行根据用户的余额送积分，余额小于500的送100积分，余额大于500的送500积分。银行在系统中开启事务A，生成余额在500以下人员清单时，刘一余额为300；接着在事务A中查询余额在500以上的人员清单，期间刘一存入了1000元，导致刘一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同时在送100积分和送500积分的人员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清单中。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539875" y="1845945"/>
            <a:ext cx="9451975" cy="434911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58315" y="1845945"/>
            <a:ext cx="9006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演示不可重复读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老板想要查看陈二和李四当前的奖金信息，于是在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中，开启事务进行查询，具体如下所示。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46580" y="2853690"/>
            <a:ext cx="7359015" cy="3086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 -- 开启事务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1000.00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68755" y="1066168"/>
            <a:ext cx="8999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通过修改员工奖金的案例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演示不可重复读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的情况，具体步骤如下。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74190"/>
            <a:ext cx="8348345" cy="37706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134235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此时，数据库管理员同时根据本月的标准在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语句修改陈二和李四的奖金信息，具体语句及执行结果如下所示。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3286125"/>
            <a:ext cx="7359015" cy="1945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comm=comm-200 WHERE ename='陈二';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comm=comm+200 WHERE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30680"/>
            <a:ext cx="8348345" cy="413131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90725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在数据库管理员修改了陈二和李四的奖金后，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中老板在刚才的事务中又查询了一次陈二和李四的奖金信息，具体如下所示。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3070225"/>
            <a:ext cx="7359015" cy="23533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1200.00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 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1720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27774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查询后老板发现陈二和李四的奖金信息两次查询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结果不一致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，觉得太奇怪了，一个事务中相同的查询语句查询出的结果却不一致。	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6670" y="4582795"/>
            <a:ext cx="76981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上述情况演示成功后，将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中的事务提交。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997585" y="1630680"/>
            <a:ext cx="10481310" cy="38481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70635" y="1702435"/>
            <a:ext cx="98609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设置客户端B中事务的隔离级别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老板不希望在一个事务中看到的查询结果不一致，为了防止不可重复读的情况出现，老板安排数据库管理员对数据库进行优化。数据库管理员接到任务后，在客户端B中将事务的隔离级别设置为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（可重复读），设置的语句及执行结果如下所示。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14145" y="3503930"/>
            <a:ext cx="8070850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SET SESSION TRANSACTION ISOLATION LEVEL REPEATABLE READ;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4145" y="4726940"/>
            <a:ext cx="9501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上述语句执行成功后，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中事务的隔离级别被设置为REPEATABLE READ。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430020" y="1558925"/>
            <a:ext cx="9561830" cy="44018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846580" y="1630680"/>
            <a:ext cx="8924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验证是否出现不可重复读 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修改完隔离级别后，数据库管理员为了验证是否已经解决了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不可重复读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的现象，在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中开启事务，并且对陈二和李四的奖金信息进行了查询，具体如下所示。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90725" y="2926715"/>
            <a:ext cx="7359015" cy="2822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 -- 开启事务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1200.00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 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30680"/>
            <a:ext cx="8348345" cy="36925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38425" y="1918335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接着数据库管理员在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UPDATE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语句修改陈二和李四的奖金信息，具体语句及执行结果如下所示。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2998470"/>
            <a:ext cx="7359015" cy="2004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comm=comm-200 WHERE ename='陈二';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UPDATE emp SET comm=comm+200 WHERE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Rows matched: 1  Changed: 1  Warnings: 0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398780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061210"/>
            <a:ext cx="76981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数据库管理员修改员工信息后，在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中对陈二和李四的奖金信息进行查询，具体如下所示。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3285490"/>
            <a:ext cx="7359015" cy="2324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ename='陈二' OR ename='李四';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李四  | 1200.00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陈二  |  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423160" y="2061210"/>
            <a:ext cx="76981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数据库管理员对比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两次的查询结果，发现客户端B隔离级别修改为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后，查询的结果是一致的，并没有出现不同的数据，说明事务的隔离级别为REPEATABLE READ时，可以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避免不可重复读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的情况。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7.2.2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COMMITTED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638425" y="2421255"/>
            <a:ext cx="7233285" cy="232600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70860" y="2925445"/>
            <a:ext cx="63690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是MySQL默认的事务隔离级别，它可以避免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不可重复读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。但理论上，该级别会出现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976630" y="2132965"/>
            <a:ext cx="10426700" cy="3285490"/>
            <a:chOff x="4382" y="3359"/>
            <a:chExt cx="9525" cy="5174"/>
          </a:xfrm>
        </p:grpSpPr>
        <p:sp>
          <p:nvSpPr>
            <p:cNvPr id="4" name="文本框 3"/>
            <p:cNvSpPr txBox="1"/>
            <p:nvPr/>
          </p:nvSpPr>
          <p:spPr>
            <a:xfrm>
              <a:off x="4949" y="4720"/>
              <a:ext cx="638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执行CONCAT()函数会返回函数参数连接之后的字符串。如执行CONCAT('a','_'，'b')，会返回字符串'a_b'。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流程图: 过程 4"/>
            <p:cNvSpPr/>
            <p:nvPr/>
          </p:nvSpPr>
          <p:spPr>
            <a:xfrm>
              <a:off x="4382" y="3814"/>
              <a:ext cx="9525" cy="471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上凸带形 5"/>
            <p:cNvSpPr/>
            <p:nvPr/>
          </p:nvSpPr>
          <p:spPr>
            <a:xfrm>
              <a:off x="5949" y="3359"/>
              <a:ext cx="6236" cy="794"/>
            </a:xfrm>
            <a:prstGeom prst="ribbon2">
              <a:avLst/>
            </a:prstGeom>
            <a:solidFill>
              <a:srgbClr val="1369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24" y="4831"/>
              <a:ext cx="8560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幻读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又被称为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虚读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，是指在一个事务内两次查询中数据条数不一致，幻读和不可重复读类似，同样是在两次查询过程中，不同的是，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幻读是由于其他事务做了插入记录的操作，导致记录数有所增加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。不过MySQL的存储引擎通过多版本并发控制机制解决了该问题，将事务的隔离级别为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REPEATABLE READ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时可以避免幻读。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43025" y="2093595"/>
            <a:ext cx="97529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银行根据用户的余额送积分，余额小于500的送100积分，余额大于500的送500积分。银行开启事务A生成余额在500以下人员清单时，刘一和陈二还没注册；事务A接着查询余额在500以上的人员清单期间，刘一和陈二同时进行了注册并分别存入了300元和1000元，导致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刘一不在送100积分和送500积分的人员清单中，而同时注册的陈二却在送500积分的人员清单中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74190"/>
            <a:ext cx="8348345" cy="38188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17700"/>
            <a:ext cx="76981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设置客户端B的隔离级别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将客户端B的事务隔离级别设置为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，设置的语句及执行结果如下所示。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215640"/>
            <a:ext cx="7626985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SET SESSION TRANSACTION ISOLATION LEVEL READ COMMITTED;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6670" y="4511675"/>
            <a:ext cx="7698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上述语句执行成功后，客户端B中事务的隔离级别为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READ COMMITTED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5350" y="949325"/>
            <a:ext cx="5669280" cy="50673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通过插入员工案例来演示幻读的情况，具体步骤如下。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558925"/>
            <a:ext cx="8348345" cy="43859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702435"/>
            <a:ext cx="769810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演示幻读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老板想要查看下当前公司奖金大于1500的员工信息，首先在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中开启事务，并且查询奖金</a:t>
            </a:r>
            <a:r>
              <a:rPr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大于1500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的员工信息，具体如下所示。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142615"/>
            <a:ext cx="7359015" cy="24745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comm&gt;1500;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八戒  | 2000.00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845945"/>
            <a:ext cx="8348345" cy="3052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061210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此时数据库管理员刚好在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中将刚入职的员工信息插入到员工表中，具体语句及插入结果如下所示。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357880"/>
            <a:ext cx="7359015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INSERT INTO emp VALUES(9999,'悟空','人事',9982,3000,1800,40);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200150"/>
            <a:ext cx="8348345" cy="38093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29535" y="141541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在数据库管理员插入了新入职的员工信息后，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中老板在刚才的事务中又查询了一次奖金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大于1500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2639695"/>
            <a:ext cx="7359015" cy="2077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comm&gt;1500;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八戒  | 2000.00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悟空  | 1800.00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66670" y="5434965"/>
            <a:ext cx="76981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老板发现第二次查询数据时比第一次查询时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多了一条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170940" y="1702435"/>
            <a:ext cx="10218420" cy="34931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80820" y="1845945"/>
            <a:ext cx="95986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重新设置客户端B的隔离级别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幻读的现象并不能算是一种错误，但是老板不希望在一个事务中看到的查询结果不一致。为了防止幻读的情况出现，老板安排数据库管理员对数据库进行优化。数据库管理员接到任务后，为了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防止出现幻读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，将客户端B中的隔离级别设置为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，设置的具体语句如下所示。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558290" y="3502025"/>
            <a:ext cx="7359015" cy="8502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SET SESSION TRANSACTION ISOLATION LEVEL REPEATABLE READ;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6535" y="4510405"/>
            <a:ext cx="7698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上述语句执行成功后，客户端B中事务的隔离级别被设置为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235" y="1436370"/>
            <a:ext cx="8348345" cy="45389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558290"/>
            <a:ext cx="76981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验证是否出现幻读</a:t>
            </a:r>
            <a:endParaRPr sz="1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修改完隔离级别后，数据库管理员为了验证是否已经解决了不可重复读的现象，首先在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中开启一个事务，并且查询奖金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大于1500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2757170"/>
            <a:ext cx="7359015" cy="30232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comm&gt;1500;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八戒  | 2000.00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悟空  | 1800.00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30524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13296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接着数据库管理员在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中执行添加操作，具体语句及插入结果如下所示。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29535" y="3357245"/>
            <a:ext cx="7359015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INSERT INTO emp VALUES(9977,'唐僧','人事',9982,4000,1900,40);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1 row affected (0.01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02435"/>
            <a:ext cx="8348345" cy="38188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1833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数据库管理员插入员工信息后，在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中再次查询奖金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大于1500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的员工信息，具体如下所示。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38425" y="3141980"/>
            <a:ext cx="7359015" cy="2063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comm&gt;1500;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八戒  | 2000.00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悟空  | 1800.00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845945"/>
            <a:ext cx="8348345" cy="243967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94280" y="1989455"/>
            <a:ext cx="76981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数据库管理员对比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中的两次查询结果，发现客户端B设置隔离级别为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REPEATABLE READ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后，在同一个事务中两次的查询结果是一致的，并没有读取到其他事务新插入的记录，任务完成。说明设置事务的隔离级别为REPEATABLE READ可以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避免幻读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	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7.2.3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REPEATABLE READ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/>
          <p:cNvSpPr/>
          <p:nvPr/>
        </p:nvSpPr>
        <p:spPr>
          <a:xfrm>
            <a:off x="2018665" y="2006600"/>
            <a:ext cx="8854440" cy="2785745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96515" y="2421255"/>
            <a:ext cx="77971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SERIALIZABLE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是事务的最高隔离级别，它会在每个读的数据行上加锁，从而解决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重复读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的问题。这个级别，可能导致大量的超时和锁竞争的现象，因此也是性能最低的一种隔离级别。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144270" y="2132965"/>
            <a:ext cx="10213340" cy="3025140"/>
            <a:chOff x="4382" y="3359"/>
            <a:chExt cx="9525" cy="4764"/>
          </a:xfrm>
        </p:grpSpPr>
        <p:sp>
          <p:nvSpPr>
            <p:cNvPr id="4" name="文本框 3"/>
            <p:cNvSpPr txBox="1"/>
            <p:nvPr/>
          </p:nvSpPr>
          <p:spPr>
            <a:xfrm>
              <a:off x="4949" y="4720"/>
              <a:ext cx="6381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执行CONCAT()函数会返回函数参数连接之后的字符串。如执行CONCAT('a','_'，'b')，会返回字符串'a_b'。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流程图: 过程 4"/>
            <p:cNvSpPr/>
            <p:nvPr/>
          </p:nvSpPr>
          <p:spPr>
            <a:xfrm>
              <a:off x="4382" y="3814"/>
              <a:ext cx="9525" cy="430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上凸带形 5"/>
            <p:cNvSpPr/>
            <p:nvPr/>
          </p:nvSpPr>
          <p:spPr>
            <a:xfrm>
              <a:off x="5949" y="3359"/>
              <a:ext cx="6236" cy="794"/>
            </a:xfrm>
            <a:prstGeom prst="ribbon2">
              <a:avLst/>
            </a:prstGeom>
            <a:solidFill>
              <a:srgbClr val="1369B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013" y="4831"/>
              <a:ext cx="8415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老板觉得隔离级别太低会出现之前的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脏读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不可重复读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幻读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，那就把隔离级别调到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最高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，这样上述3种现象都可以避免。数据库管理员听完为老板演示了事务的隔离级别设置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SERIALIZABLE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后的导致的现象，具体步骤如下。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367790" y="1699260"/>
            <a:ext cx="9812020" cy="38455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57680" y="1845945"/>
            <a:ext cx="90316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设置客户端B中事务的隔离级别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数据库管理员首先将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客户端B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中的隔离级别设置为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SERIALIZABLE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，设置的语句及执行结果如下所示。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46580" y="3502025"/>
            <a:ext cx="7359015" cy="1061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SET SESSION TRANSACTION ISOLATION LEVEL SERIALIZABLE;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46580" y="4726305"/>
            <a:ext cx="89998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上述语句执行成功后，客户端B中事务的隔离级别被成功设置为SERIALIZABLE。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159510" y="1558925"/>
            <a:ext cx="10297795" cy="43395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42390" y="1702435"/>
            <a:ext cx="101923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演示可串行化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接着数据库管理员在客户端B中开启事务，然后使用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语句查询奖金</a:t>
            </a:r>
            <a:r>
              <a:rPr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大于1500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的员工信息，查询结果如下。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14145" y="2638425"/>
            <a:ext cx="7359015" cy="2981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Query OK, 0 rows affected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mysql&gt; SELECT ename,comm FROM emp WHERE comm&gt;1500;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ename | comm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八戒  | 2000.00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唐僧  | 1900.00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 悟空  | 1800.00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+-------+---------+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rows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235" y="1701800"/>
            <a:ext cx="8348345" cy="389191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1833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接着数据库管理员在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中往数据表中插入数据，插入的语句如下所示。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66670" y="3070225"/>
            <a:ext cx="7359015" cy="450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INSERT INTO emp VALUES(9933,'沙僧','人事',9982,2000,1600,40);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6670" y="3574415"/>
            <a:ext cx="769810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执行插入语句后的效果如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图所示。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670" y="4293870"/>
            <a:ext cx="6060440" cy="9721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774190"/>
            <a:ext cx="8348345" cy="35286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1955800"/>
            <a:ext cx="769810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可以看出，客户端A中执行插入语句后，不是立即执行成功，而是光标一直在闪，一直在等待。此时，提交客户端B中的事务，客户端A中的插入操作会立即执行。如果客户端B一直未提交事务，客户端A的操作会一直等待，直到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客户端A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中出现如下提示信息。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74620" y="4509770"/>
            <a:ext cx="7590155" cy="450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ERROR 1205 (HY000): Lock wait timeout exceeded; try restarting transaction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17700"/>
            <a:ext cx="8348345" cy="15481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66670" y="2132965"/>
            <a:ext cx="76981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上述提示信息表示锁等待超时，尝试重新启动事务。默认情况下，锁等待的超时时间为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秒。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6670" y="4293235"/>
            <a:ext cx="76981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虽然事务的隔离级别设置为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SERIALIZABLE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可以避免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不可重复读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幻读</a:t>
            </a:r>
            <a:r>
              <a:rPr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的现象，但是对使用数据库时性能太差了，一般不会在实际开发中使用。</a:t>
            </a:r>
            <a:endParaRPr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35" y="266700"/>
            <a:ext cx="438594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7.2.4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SERIALIZABLE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574415" y="3039745"/>
            <a:ext cx="8510270" cy="64516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上机实践：图书管理系统中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事务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的应用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7.3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45540" y="2204720"/>
          <a:ext cx="10092690" cy="36931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66875"/>
                <a:gridCol w="1159510"/>
                <a:gridCol w="2707640"/>
                <a:gridCol w="1766570"/>
                <a:gridCol w="1875790"/>
                <a:gridCol w="916305"/>
              </a:tblGrid>
              <a:tr h="25781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en-US" alt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  <a:endParaRPr lang="en-US" alt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upload_time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borrower_id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borrow_time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498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Java基础入门（第3版）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59.00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三国演义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69.00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CURRENT_TIMESTAMP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'0'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498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MySQL数据库入门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40.00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'2021-08-06 11:16:05'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'1'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JavaWeb程序开发入门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49.00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西游记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59.00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水浒传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66.66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唐诗三百首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39.00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Python数据可视化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49.80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CURRENT_TIMESTAMP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NULL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42415" y="899160"/>
            <a:ext cx="93573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手动开启事务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，首先删除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数据表book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原有的全部数据，然后向数据表book插入图书信息，图书信息如下表。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过程 2"/>
          <p:cNvSpPr/>
          <p:nvPr/>
        </p:nvSpPr>
        <p:spPr>
          <a:xfrm>
            <a:off x="1601470" y="1075690"/>
            <a:ext cx="9243060" cy="529082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45995" y="2152650"/>
            <a:ext cx="8199120" cy="4023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开启事务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START TRANSACTION;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删除数据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DELETE FROM book;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插入数据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INSERT INTO book (name,price,upload_time,borrower_id,borrow_time,state)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VALUES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('Java基础入门',59.00,CURRENT_TIMESTAMP,NULL,NULL,0),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('三国演义',69.00,CURRENT_TIMESTAMP,NULL,NULL,0),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('MySQL数据库入门',40.00,CURRENT_TIMESTAMP,1,'2021-08-06 11:16:05',1),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('JavaWeb程序开发入门',49.00,CURRENT_TIMESTAMP,NULL,NULL,0),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('西游记',59.00,CURRENT_TIMESTAMP,NULL,NULL,0),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('水浒传',66.66,CURRENT_TIMESTAMP,NULL,NULL,0),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('唐诗三百首',39.00,CURRENT_TIMESTAMP,NULL,NULL,0),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('Python数据可视化',49.80,CURRENT_TIMESTAMP,NULL,NULL,0);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51405" y="1238250"/>
            <a:ext cx="76981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手动开启事务，首先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中的所有记录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，然后插入图书信息。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具体的SQL语句如下所示。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02130" y="1339850"/>
            <a:ext cx="93573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查看数据表中的数据，如果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数据无误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提交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本次事务，否则对事务进行回滚。</a:t>
            </a:r>
            <a:endParaRPr lang="zh-CN" altLang="en-US" sz="16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601470" y="2314575"/>
            <a:ext cx="9744075" cy="307784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indent="0" algn="ctr" fontAlgn="auto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90395" y="2314575"/>
            <a:ext cx="81591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查询图书表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中的所有记录</a:t>
            </a:r>
            <a:r>
              <a:rPr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核验查询到的数据，如果插入无误后提交事务，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具体的SQL语句如下所示。</a:t>
            </a:r>
            <a:endParaRPr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51330" y="3375660"/>
            <a:ext cx="9379585" cy="1652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查看图书信息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SELECT * FROM book;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 数据核对无误，提交事务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COMMIT;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925955" y="1125220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事务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进行了详细讲解。首先对事务进行了介绍，包含事务概述、事务的基本操作和事务的保存点；接着讲解了事务的隔离级别，包含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READ UNCOMMITTED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READ COMMITTED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REPEATABLE READ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SERIALIZABLE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；最后通过一个上机实践，让读者提高对事务的操作能力。通过本章的学习，希望读者能够掌握事务的基本知识，为后续的学习打下坚实的基础。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143635" y="1485265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611105247"/>
  <p:tag name="MH_LIBRARY" val="GRAPHIC"/>
  <p:tag name="MH_TYPE" val="Other"/>
  <p:tag name="MH_ORDER" val="1"/>
</p:tagLst>
</file>

<file path=ppt/tags/tag2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4"/>
</p:tagLst>
</file>

<file path=ppt/tags/tag3.xml><?xml version="1.0" encoding="utf-8"?>
<p:tagLst xmlns:p="http://schemas.openxmlformats.org/presentationml/2006/main">
  <p:tag name="MH" val="20180611105247"/>
  <p:tag name="MH_LIBRARY" val="GRAPHIC"/>
  <p:tag name="MH_TYPE" val="Text"/>
  <p:tag name="MH_ORDER" val="4"/>
</p:tagLst>
</file>

<file path=ppt/tags/tag4.xml><?xml version="1.0" encoding="utf-8"?>
<p:tagLst xmlns:p="http://schemas.openxmlformats.org/presentationml/2006/main">
  <p:tag name="MH" val="20180611105247"/>
  <p:tag name="MH_LIBRARY" val="GRAPHIC"/>
  <p:tag name="MH_TYPE" val="Other"/>
  <p:tag name="MH_ORDER" val="2"/>
</p:tagLst>
</file>

<file path=ppt/tags/tag5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1"/>
</p:tagLst>
</file>

<file path=ppt/tags/tag6.xml><?xml version="1.0" encoding="utf-8"?>
<p:tagLst xmlns:p="http://schemas.openxmlformats.org/presentationml/2006/main">
  <p:tag name="MH" val="20180611105247"/>
  <p:tag name="MH_LIBRARY" val="GRAPHIC"/>
  <p:tag name="MH_TYPE" val="Text"/>
  <p:tag name="MH_ORDER" val="1"/>
</p:tagLst>
</file>

<file path=ppt/tags/tag7.xml><?xml version="1.0" encoding="utf-8"?>
<p:tagLst xmlns:p="http://schemas.openxmlformats.org/presentationml/2006/main">
  <p:tag name="MH" val="20180611105247"/>
  <p:tag name="MH_LIBRARY" val="GRAPHIC"/>
  <p:tag name="MH_TYPE" val="Other"/>
  <p:tag name="MH_ORDER" val="3"/>
</p:tagLst>
</file>

<file path=ppt/tags/tag8.xml><?xml version="1.0" encoding="utf-8"?>
<p:tagLst xmlns:p="http://schemas.openxmlformats.org/presentationml/2006/main">
  <p:tag name="MH" val="20180611105247"/>
  <p:tag name="MH_LIBRARY" val="GRAPHIC"/>
  <p:tag name="MH_TYPE" val="Other"/>
  <p:tag name="MH_ORDER" val="4"/>
</p:tagLst>
</file>

<file path=ppt/tags/tag9.xml><?xml version="1.0" encoding="utf-8"?>
<p:tagLst xmlns:p="http://schemas.openxmlformats.org/presentationml/2006/main">
  <p:tag name="MH" val="20180611105247"/>
  <p:tag name="MH_LIBRARY" val="GRAPHIC"/>
  <p:tag name="MH_TYPE" val="Other"/>
  <p:tag name="MH_ORDER" val="5"/>
</p:tagLst>
</file>

<file path=ppt/tags/tag10.xml><?xml version="1.0" encoding="utf-8"?>
<p:tagLst xmlns:p="http://schemas.openxmlformats.org/presentationml/2006/main">
  <p:tag name="MH" val="20180611105247"/>
  <p:tag name="MH_LIBRARY" val="GRAPHIC"/>
  <p:tag name="MH_TYPE" val="Other"/>
  <p:tag name="MH_ORDER" val="6"/>
</p:tagLst>
</file>

<file path=ppt/tags/tag11.xml><?xml version="1.0" encoding="utf-8"?>
<p:tagLst xmlns:p="http://schemas.openxmlformats.org/presentationml/2006/main">
  <p:tag name="MH" val="20180611105247"/>
  <p:tag name="MH_LIBRARY" val="GRAPHIC"/>
  <p:tag name="MH_TYPE" val="Other"/>
  <p:tag name="MH_ORDER" val="7"/>
</p:tagLst>
</file>

<file path=ppt/tags/tag12.xml><?xml version="1.0" encoding="utf-8"?>
<p:tagLst xmlns:p="http://schemas.openxmlformats.org/presentationml/2006/main">
  <p:tag name="MH" val="20180611105247"/>
  <p:tag name="MH_LIBRARY" val="GRAPHIC"/>
  <p:tag name="MH_TYPE" val="Other"/>
  <p:tag name="MH_ORDER" val="8"/>
</p:tagLst>
</file>

<file path=ppt/tags/tag13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3"/>
</p:tagLst>
</file>

<file path=ppt/tags/tag14.xml><?xml version="1.0" encoding="utf-8"?>
<p:tagLst xmlns:p="http://schemas.openxmlformats.org/presentationml/2006/main">
  <p:tag name="MH" val="20180611105247"/>
  <p:tag name="MH_LIBRARY" val="GRAPHIC"/>
  <p:tag name="MH_TYPE" val="Text"/>
  <p:tag name="MH_ORDER" val="3"/>
</p:tagLst>
</file>

<file path=ppt/tags/tag15.xml><?xml version="1.0" encoding="utf-8"?>
<p:tagLst xmlns:p="http://schemas.openxmlformats.org/presentationml/2006/main">
  <p:tag name="MH" val="20180611105247"/>
  <p:tag name="MH_LIBRARY" val="GRAPHIC"/>
  <p:tag name="MH_TYPE" val="SubTitle"/>
  <p:tag name="MH_ORDER" val="2"/>
</p:tagLst>
</file>

<file path=ppt/tags/tag16.xml><?xml version="1.0" encoding="utf-8"?>
<p:tagLst xmlns:p="http://schemas.openxmlformats.org/presentationml/2006/main">
  <p:tag name="MH" val="20180611105247"/>
  <p:tag name="MH_LIBRARY" val="GRAPHIC"/>
  <p:tag name="MH_TYPE" val="Text"/>
  <p:tag name="MH_ORDER" val="2"/>
</p:tagLst>
</file>

<file path=ppt/tags/tag17.xml><?xml version="1.0" encoding="utf-8"?>
<p:tagLst xmlns:p="http://schemas.openxmlformats.org/presentationml/2006/main">
  <p:tag name="PA" val="v5.2.7"/>
  <p:tag name="RESOURCELIBID_ANIM" val="450"/>
</p:tagLst>
</file>

<file path=ppt/tags/tag18.xml><?xml version="1.0" encoding="utf-8"?>
<p:tagLst xmlns:p="http://schemas.openxmlformats.org/presentationml/2006/main">
  <p:tag name="PA" val="v5.2.7"/>
  <p:tag name="RESOURCELIBID_ANIM" val="450"/>
</p:tagLst>
</file>

<file path=ppt/tags/tag19.xml><?xml version="1.0" encoding="utf-8"?>
<p:tagLst xmlns:p="http://schemas.openxmlformats.org/presentationml/2006/main">
  <p:tag name="KSO_WM_UNIT_TABLE_BEAUTIFY" val="smartTable{055480ef-9925-4468-b918-ca24ecdef3fe}"/>
  <p:tag name="TABLE_ENDDRAG_ORIGIN_RECT" val="792*411"/>
  <p:tag name="TABLE_ENDDRAG_RECT" val="100*156*792*411"/>
</p:tagLst>
</file>

<file path=ppt/tags/tag20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18408</Words>
  <Application>WPS 演示</Application>
  <PresentationFormat>自定义</PresentationFormat>
  <Paragraphs>861</Paragraphs>
  <Slides>77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99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Roboto</vt:lpstr>
      <vt:lpstr>Open Sans Light</vt:lpstr>
      <vt:lpstr>等线</vt:lpstr>
      <vt:lpstr>Courier New</vt:lpstr>
      <vt:lpstr>字魂105号-简雅黑</vt:lpstr>
      <vt:lpstr>Arial Unicode MS</vt:lpstr>
      <vt:lpstr>Times New Roman</vt:lpstr>
      <vt:lpstr>Segoe Print</vt:lpstr>
      <vt:lpstr>Open Sans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54</cp:revision>
  <dcterms:created xsi:type="dcterms:W3CDTF">2020-11-11T09:29:00Z</dcterms:created>
  <dcterms:modified xsi:type="dcterms:W3CDTF">2022-06-17T08:06:17Z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6032C07D01CE48DC9370332CDA99E54E</vt:lpwstr>
  </property>
</Properties>
</file>