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7"/>
  </p:handoutMasterIdLst>
  <p:sldIdLst>
    <p:sldId id="325" r:id="rId4"/>
    <p:sldId id="264" r:id="rId6"/>
    <p:sldId id="328" r:id="rId7"/>
    <p:sldId id="327" r:id="rId8"/>
    <p:sldId id="309" r:id="rId9"/>
    <p:sldId id="460" r:id="rId10"/>
    <p:sldId id="351" r:id="rId11"/>
    <p:sldId id="352" r:id="rId12"/>
    <p:sldId id="521" r:id="rId13"/>
    <p:sldId id="522" r:id="rId14"/>
    <p:sldId id="353" r:id="rId15"/>
    <p:sldId id="354" r:id="rId16"/>
    <p:sldId id="523" r:id="rId17"/>
    <p:sldId id="355" r:id="rId18"/>
    <p:sldId id="524" r:id="rId19"/>
    <p:sldId id="356" r:id="rId20"/>
    <p:sldId id="357" r:id="rId21"/>
    <p:sldId id="350" r:id="rId22"/>
    <p:sldId id="525" r:id="rId23"/>
    <p:sldId id="358" r:id="rId24"/>
    <p:sldId id="340" r:id="rId25"/>
    <p:sldId id="461" r:id="rId26"/>
    <p:sldId id="527" r:id="rId27"/>
    <p:sldId id="360" r:id="rId28"/>
    <p:sldId id="528" r:id="rId29"/>
    <p:sldId id="361" r:id="rId30"/>
    <p:sldId id="362" r:id="rId31"/>
    <p:sldId id="529" r:id="rId32"/>
    <p:sldId id="363" r:id="rId33"/>
    <p:sldId id="531" r:id="rId34"/>
    <p:sldId id="364" r:id="rId35"/>
    <p:sldId id="530" r:id="rId36"/>
    <p:sldId id="365" r:id="rId37"/>
    <p:sldId id="366" r:id="rId38"/>
    <p:sldId id="462" r:id="rId39"/>
    <p:sldId id="367" r:id="rId40"/>
    <p:sldId id="532" r:id="rId41"/>
    <p:sldId id="378" r:id="rId42"/>
    <p:sldId id="379" r:id="rId43"/>
    <p:sldId id="380" r:id="rId44"/>
    <p:sldId id="464" r:id="rId45"/>
    <p:sldId id="381" r:id="rId46"/>
    <p:sldId id="382" r:id="rId47"/>
    <p:sldId id="384" r:id="rId48"/>
    <p:sldId id="385" r:id="rId49"/>
    <p:sldId id="387" r:id="rId50"/>
    <p:sldId id="388" r:id="rId51"/>
    <p:sldId id="389" r:id="rId52"/>
    <p:sldId id="390" r:id="rId53"/>
    <p:sldId id="465" r:id="rId54"/>
    <p:sldId id="391" r:id="rId55"/>
    <p:sldId id="392" r:id="rId56"/>
    <p:sldId id="394" r:id="rId57"/>
    <p:sldId id="396" r:id="rId58"/>
    <p:sldId id="397" r:id="rId59"/>
    <p:sldId id="400" r:id="rId60"/>
    <p:sldId id="533" r:id="rId61"/>
    <p:sldId id="591" r:id="rId62"/>
    <p:sldId id="534" r:id="rId63"/>
    <p:sldId id="592" r:id="rId64"/>
    <p:sldId id="402" r:id="rId65"/>
    <p:sldId id="326" r:id="rId66"/>
  </p:sldIdLst>
  <p:sldSz cx="12190095" cy="6859270"/>
  <p:notesSz cx="6858000" cy="9144000"/>
  <p:custDataLst>
    <p:tags r:id="rId71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FFFFF"/>
    <a:srgbClr val="FAFAFA"/>
    <a:srgbClr val="F2F2F2"/>
    <a:srgbClr val="006BBC"/>
    <a:srgbClr val="0075CC"/>
    <a:srgbClr val="008DF6"/>
    <a:srgbClr val="005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1" autoAdjust="0"/>
    <p:restoredTop sz="94660" autoAdjust="0"/>
  </p:normalViewPr>
  <p:slideViewPr>
    <p:cSldViewPr>
      <p:cViewPr varScale="1">
        <p:scale>
          <a:sx n="58" d="100"/>
          <a:sy n="58" d="100"/>
        </p:scale>
        <p:origin x="60" y="870"/>
      </p:cViewPr>
      <p:guideLst>
        <p:guide orient="horz" pos="2315"/>
        <p:guide pos="256"/>
        <p:guide pos="65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08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1" Type="http://schemas.openxmlformats.org/officeDocument/2006/relationships/tags" Target="tags/tag4.xml"/><Relationship Id="rId70" Type="http://schemas.openxmlformats.org/officeDocument/2006/relationships/tableStyles" Target="tableStyles.xml"/><Relationship Id="rId7" Type="http://schemas.openxmlformats.org/officeDocument/2006/relationships/slide" Target="slides/slide3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350790" y="2534497"/>
            <a:ext cx="770610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5</a:t>
            </a:r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多表操作</a:t>
            </a:r>
            <a:endParaRPr lang="zh-CN" altLang="en-US" sz="6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05205" y="2205355"/>
            <a:ext cx="10203815" cy="3295015"/>
            <a:chOff x="4042" y="3473"/>
            <a:chExt cx="11486" cy="5189"/>
          </a:xfrm>
        </p:grpSpPr>
        <p:grpSp>
          <p:nvGrpSpPr>
            <p:cNvPr id="80" name="组合 79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掌握多表查询，能够使用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交叉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连接、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内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连接、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外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连接及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复合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条件连接进行多表查询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4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掌握子查询，能够使用子查询结合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IN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EXISTS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ANY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ALL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及比较运算符进行查询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5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042" y="6211"/>
              <a:ext cx="11415" cy="1084"/>
              <a:chOff x="978872" y="3338787"/>
              <a:chExt cx="5437064" cy="515938"/>
            </a:xfrm>
          </p:grpSpPr>
          <p:sp>
            <p:nvSpPr>
              <p:cNvPr id="87" name="Pentagon 6"/>
              <p:cNvSpPr/>
              <p:nvPr/>
            </p:nvSpPr>
            <p:spPr bwMode="auto">
              <a:xfrm>
                <a:off x="978872" y="3338787"/>
                <a:ext cx="5437064" cy="515938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掌握外键约束的使用，能够为表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添加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外键约束和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删除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外键约束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8" name="MH_Others_1"/>
              <p:cNvSpPr/>
              <p:nvPr/>
            </p:nvSpPr>
            <p:spPr bwMode="auto">
              <a:xfrm>
                <a:off x="985222" y="3338787"/>
                <a:ext cx="82550" cy="515938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>
              <a:off x="4042" y="7582"/>
              <a:ext cx="11415" cy="1080"/>
              <a:chOff x="978872" y="4108725"/>
              <a:chExt cx="5437064" cy="514350"/>
            </a:xfrm>
          </p:grpSpPr>
          <p:sp>
            <p:nvSpPr>
              <p:cNvPr id="90" name="Pentagon 7"/>
              <p:cNvSpPr/>
              <p:nvPr/>
            </p:nvSpPr>
            <p:spPr bwMode="auto">
              <a:xfrm>
                <a:off x="978872" y="4108725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掌握关联表的三种关联关系，能够向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关联表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中添加和删除数据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91" name="MH_Others_1"/>
              <p:cNvSpPr/>
              <p:nvPr/>
            </p:nvSpPr>
            <p:spPr bwMode="auto">
              <a:xfrm>
                <a:off x="985222" y="4108725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719244"/>
            <a:ext cx="10151132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之前章节对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数据的操作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都是基于一张数据表完成的，即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操作，然而实际应用中业务逻辑较为复杂，表与表之间可能存在业务联系，有时候需要基于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两张以上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的数据表进行操作，即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操作。本章将针对多表操作的相关知识进行讲解。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94915" y="1989455"/>
            <a:ext cx="7143750" cy="3412243"/>
            <a:chOff x="4912" y="3009"/>
            <a:chExt cx="9524" cy="5374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2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2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6"/>
              <a:chOff x="2215144" y="3084852"/>
              <a:chExt cx="1244730" cy="843188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2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4912" y="7418"/>
              <a:ext cx="1877" cy="965"/>
              <a:chOff x="2215144" y="4135856"/>
              <a:chExt cx="1244730" cy="842781"/>
            </a:xfrm>
          </p:grpSpPr>
          <p:sp>
            <p:nvSpPr>
              <p:cNvPr id="55" name="平行四边形 54"/>
              <p:cNvSpPr/>
              <p:nvPr/>
            </p:nvSpPr>
            <p:spPr>
              <a:xfrm>
                <a:off x="2215144" y="4135856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文本框 12"/>
              <p:cNvSpPr txBox="1"/>
              <p:nvPr/>
            </p:nvSpPr>
            <p:spPr>
              <a:xfrm>
                <a:off x="2393075" y="4169272"/>
                <a:ext cx="1066799" cy="802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178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多表查询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178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子查询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24395"/>
                <a:ext cx="2827146" cy="331178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外键约束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6338" y="7383"/>
              <a:ext cx="8098" cy="965"/>
              <a:chOff x="4315150" y="3035884"/>
              <a:chExt cx="3857250" cy="54005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841196" y="3118548"/>
                <a:ext cx="2827147" cy="331178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上机实践：图书管理系统的多表操作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71" name="平行四边形 70"/>
              <p:cNvSpPr/>
              <p:nvPr/>
            </p:nvSpPr>
            <p:spPr>
              <a:xfrm>
                <a:off x="4315150" y="3035884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多表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138680"/>
            <a:ext cx="7416800" cy="327723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946" y="3734"/>
              <a:ext cx="10264" cy="2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关系型数据库中，一张数据表通常存储一个实体的信息。当两张或多张数据表中存在相同意义的字段时，如果需要同时显示多张数据表中的数据，便可以通过这些意义相同的字段将不同的数据表进行连接，并对连接后的数据表进行查询，这样的查询通常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连接查询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。在MySQL中，连接查询包括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交叉连接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内连接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外连接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复合条件连接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查询，本节将对这些连接查询进行讲解。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交叉连接查询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2566670" y="1631315"/>
            <a:ext cx="7389495" cy="354838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29585" y="1775460"/>
            <a:ext cx="6473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交叉连接（CROSS JOIN）查询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返回的结果是被连接的两张数据表中所有数据行的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交叉连接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70860" y="2855595"/>
            <a:ext cx="6555740" cy="525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&lt;字段名&gt; FROM &lt;数据表名1&gt; CROSS JOIN &lt;数据表名2&gt; 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29585" y="3431540"/>
            <a:ext cx="64738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70860" y="4223385"/>
            <a:ext cx="6555740" cy="525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&lt;字段名&gt; FROM &lt;数据表名1&gt;, &lt;数据表名2&gt; ; 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交叉连接查询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664335"/>
            <a:ext cx="8348345" cy="30511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1760" y="2063115"/>
            <a:ext cx="731456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上述语法格式中，两种语法格式的返回结果相同，其中&lt;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&gt;指的是需要查询的字段名称；&lt;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数据表名1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&gt;和&lt;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数据表名2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&gt;指的是需要交叉连接的数据表的名称；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CROSS JOIN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用于连接两个要查询的数据表，通过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CROSS JOIN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语句可以查询两个表中所有的数据组合。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交叉连接查询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216660"/>
            <a:ext cx="8348345" cy="52171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4605" y="1332230"/>
            <a:ext cx="75082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例如，对数据库ems中员工表emp和部门表dept进行交叉连接查询，具体如下。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部门表dept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用于存储部门信息，由于在第2章的讲解中将部门表删除了，所以查询之前需要先创建一个部门表，并完善部门表中的数据，具体SQL语句如下。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73045" y="3303905"/>
            <a:ext cx="6644005" cy="29229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创建部门表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dept(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deptno	INT PRIMARY KEY,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dname	VARCHAR(20) UNIQUE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插入部门数据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dept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VALUES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(10, '总裁办'),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(20, '研究院'),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(30, '销售部'),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(40, '运营部');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交叉连接查询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473200" y="1115060"/>
            <a:ext cx="9603105" cy="48882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42440" y="1247775"/>
            <a:ext cx="77584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对员工表和部门表进行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交叉连接查询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00530" y="2151380"/>
            <a:ext cx="9191625" cy="337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* FROM emp,dept;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+-------+--------+--------+------+---------+---------+--------+--------+--------+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 | job    | mgr  | sal     | comm    | deptno | deptno | dname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+-------+--------+--------+------+---------+---------+--------+--------+--------+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9369 | 张三   | 保洁   | 9902 |  900.00 |    NULL |     20 |     30 | 销售部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9369 | 张三   | 保洁   | 9902 |  900.00 |    NULL |     20 |     40 | 运营部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9369 | 张三   | 保洁   | 9902 |  900.00 |    NULL |     20 |     20 | 研究院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9369 | 张三   | 保洁   | 9902 |  900.00 |    NULL |     20 |     10 | 总裁办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…因篇幅有限，此处省略了其他的记录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+-------+--------+--------+------+---------+---------+--------+--------+--------+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48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交叉连接查询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2638425" y="2061845"/>
            <a:ext cx="7389495" cy="302704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01340" y="2205990"/>
            <a:ext cx="64738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内连接（INNER JOIN）查询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又称简单连接查询或自然连接查询，是常见的连接查询。内连接根据连接条件，可以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对交叉连接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查询的部分结果进行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，仅筛选出两张表中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相互匹配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的记录。内连接查询的语法格式如下所示。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74340" y="4149725"/>
            <a:ext cx="6728460" cy="525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查询字段 FROM 数据表1 [INNER] JOIN 数据表2 ON 匹配条件;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3820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1760" y="2349500"/>
            <a:ext cx="731456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INNER JOIN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用于连接2张数据表，其中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INNER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可以省略；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用于指定查询的匹配条件，即同时匹配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张数据表的条件。由于内连接查询是对2张数据表进行操作，所以需要在匹配条件中指定所操作的字段来源于哪一张数据表，如果给数据表设置了别名，也可以通过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指定数据表。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98980" y="2026920"/>
            <a:ext cx="8652510" cy="29806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57755" y="2278380"/>
            <a:ext cx="80708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例如，查询已经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分配了部门（部门号不为NULL）的员工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的信息，员工信息只需要显示员工姓名和对应部门的名称，具体SQL语句如下所示。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57120" y="4006215"/>
            <a:ext cx="8072120" cy="488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ename,dname FROM emp e JOIN dept d ON e.deptno=d.deptno;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42615" y="2061845"/>
            <a:ext cx="6048375" cy="3665173"/>
            <a:chOff x="4382" y="3247"/>
            <a:chExt cx="9525" cy="4876"/>
          </a:xfrm>
        </p:grpSpPr>
        <p:sp>
          <p:nvSpPr>
            <p:cNvPr id="4" name="文本框 3"/>
            <p:cNvSpPr txBox="1"/>
            <p:nvPr/>
          </p:nvSpPr>
          <p:spPr>
            <a:xfrm>
              <a:off x="4949" y="4720"/>
              <a:ext cx="6381" cy="1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执行CONCAT()函数会返回函数参数连接之后的字符串。如执行CONCAT('a','_'，'b')，会返回字符串'a_b'。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流程图: 过程 4"/>
            <p:cNvSpPr/>
            <p:nvPr/>
          </p:nvSpPr>
          <p:spPr>
            <a:xfrm>
              <a:off x="4382" y="3814"/>
              <a:ext cx="9525" cy="430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上凸带形 5"/>
            <p:cNvSpPr/>
            <p:nvPr/>
          </p:nvSpPr>
          <p:spPr>
            <a:xfrm>
              <a:off x="5949" y="3359"/>
              <a:ext cx="6236" cy="794"/>
            </a:xfrm>
            <a:prstGeom prst="ribbon2">
              <a:avLst/>
            </a:prstGeom>
            <a:solidFill>
              <a:srgbClr val="1369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095" y="4492"/>
              <a:ext cx="8405" cy="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如果在一个连接查询中，涉及到的两张数据表是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同一张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数据表，这种查询称为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自连接查询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。自连接是一种特殊的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内连接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，它是指相互连接的数据表在物理上为同一张数据表，但逻辑上分为两张数据表。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1"/>
            <p:cNvSpPr txBox="1"/>
            <p:nvPr>
              <p:custDataLst>
                <p:tags r:id="rId1"/>
              </p:custDataLst>
            </p:nvPr>
          </p:nvSpPr>
          <p:spPr>
            <a:xfrm>
              <a:off x="8011" y="3247"/>
              <a:ext cx="2965" cy="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自连接查询</a:t>
              </a:r>
              <a:endParaRPr lang="zh-CN" altLang="en-US" sz="18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98980" y="2170430"/>
            <a:ext cx="8652510" cy="26511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57755" y="2421890"/>
            <a:ext cx="80708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例如，查询员工王五所在部门的所有员工信息。查询时可以使用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自连接查询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22525" y="3645535"/>
            <a:ext cx="7869555" cy="668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e1.* FROM emp e1 JOIN emp e2 ON e1.deptno=e2.deptno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WHERE e2.ename='王五';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631315"/>
            <a:ext cx="8979535" cy="323469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76170" y="1775460"/>
            <a:ext cx="79089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内连接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的查询结果是符合连接条件的记录，然而有时在查询时，除了要查询出符合条件的数据外，还需要查询出其中一张数据表中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符合条件之外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的其他数据，此时就需要使用外连接查询。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外连接查询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76170" y="3862705"/>
            <a:ext cx="7981315" cy="525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所查字段 FROM 数据表1 LEFT|RIGHT [OUTER] JOIN 数据表2 ON 匹配条件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42465" y="1798955"/>
            <a:ext cx="8876030" cy="307530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6640" y="2062480"/>
            <a:ext cx="82677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外连接查询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左连接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（LEFT JOIN）查询和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右连接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（RIGHT JOIN）查询，一般称呼上述语法格式中的数据表1被称为左表，数据表2被称为右表。使用左连接查询和右连接查询的区别如下。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 JOIN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：返回左表中的所有记录和右表中符合连接条件的记录。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 JOIN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：返回右表中的所有记录和左表中符合连接条件的记录。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521460" y="2129155"/>
            <a:ext cx="9449435" cy="4098632"/>
            <a:chOff x="3260" y="2469"/>
            <a:chExt cx="13103" cy="6862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260" y="5641"/>
              <a:ext cx="5648" cy="3690"/>
              <a:chOff x="1276684" y="4550152"/>
              <a:chExt cx="3586261" cy="2343200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1276684" y="4550152"/>
                <a:ext cx="3307513" cy="48943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左连接查询</a:t>
                </a:r>
                <a:endPara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66746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左连接查询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的结果包括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LEFT JOIN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子句中左表的所有记录，以及右表中满足连接条件的记录。如果左表的某条记录在右表中不存在，则右表中对应字段的值显示为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NULL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3739"/>
              <a:chOff x="1211336" y="4519375"/>
              <a:chExt cx="3651610" cy="2373624"/>
            </a:xfrm>
          </p:grpSpPr>
          <p:sp>
            <p:nvSpPr>
              <p:cNvPr id="2" name="TextBox 76"/>
              <p:cNvSpPr txBox="1"/>
              <p:nvPr/>
            </p:nvSpPr>
            <p:spPr>
              <a:xfrm>
                <a:off x="1213876" y="4519375"/>
                <a:ext cx="3116345" cy="48933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右连接查询</a:t>
                </a:r>
                <a:endPara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166711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右连接查询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的结果包括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RIGHT JOIN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子句中右表的所有记录，以及左表中满足连接条件的记录。如果右表的某条记录在左表中没有匹配，则左表中对应字段的值显示为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NULL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388745" y="1868170"/>
            <a:ext cx="9787890" cy="36322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39570" y="1868170"/>
            <a:ext cx="91814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例如，查询所有部门名称及部门对应员工的姓名。因为需要查询出所有部门的名称，查询时可以使用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左连接查询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，将部门表作为查询中的左表，具体SQL语句如下所示。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02435" y="2853690"/>
            <a:ext cx="8976360" cy="419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d.dname,e.ename FROM dept d LEFT JOIN emp e ON e.deptno=d.deptno;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95120" y="3429635"/>
            <a:ext cx="90474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例如，查询所有员工姓名及对应部门的名称，没有分配部门的员工也需要查询出来。因为需要查询出所有员工的名称，查询时可以使用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右连接查询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，将员工表作为查询中的右表，具体SQL语句如下所示。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06880" y="4725670"/>
            <a:ext cx="9152255" cy="485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d.dname,e.ename FROM dept d RIGHT JOIN emp e ON e.deptno=d.deptno;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74825" y="986790"/>
            <a:ext cx="8979535" cy="156337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1275080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复合条件连接查询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是指在连接查询的过程中，通过添加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过滤条件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限制执行结果，使执行结果更加精确。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复合条件连接查询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769745" y="2887980"/>
            <a:ext cx="8985250" cy="358330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84070" y="3067685"/>
            <a:ext cx="85128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例如，查询所有员工信息，员工信息包含员工所在部门的名称，并且按员工的工资降序排序。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在查询时，可以根据deptno字段，使用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左连接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将部门表和员工表进行关联查询，并使用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ORDER BY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根据sal字段的值对查询结果进行排序，具体SQL语句如下所示。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58365" y="5083175"/>
            <a:ext cx="8468995" cy="894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e.*,d.dname FROM emp e LEFT JOIN dept d ON e.deptno=d.deptno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ORDER BY e.sal DESC;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子查询</a:t>
            </a:r>
            <a:endParaRPr lang="zh-CN" altLang="en-GB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60231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446" y="3812"/>
              <a:ext cx="8993" cy="3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子查询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是指一个查询语句嵌套在另一个语句内部的查询，当某个语句执行所需要的过滤条件是另外一个SELECT语句的结果时，可以使用子查询。子查询通常在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WHERE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子句中结合操作符一起使用，操作符可以是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EXISTS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、比较运算符，本节将结合这几种操作符的子查询进行讲解。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061085" y="2457450"/>
            <a:ext cx="10418445" cy="36747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13180" y="2708910"/>
            <a:ext cx="99339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例如，查询工资大于2900的员工所属部门。查询时可以先通过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返回工资大于2900的员工所在部门的编号，接着使用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IN关键字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根据部门编号查询部门信息，具体SQL语句如下所示。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88135" y="3788410"/>
            <a:ext cx="9358630" cy="441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dept WHERE deptno IN(SELECT deptno FROM emp WHERE sal&gt;2900);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1270" y="4580255"/>
            <a:ext cx="9375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例如，查询工资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小于2900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的员工所在的部门信息，具体SQL语句如下所示。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32255" y="5228590"/>
            <a:ext cx="9858375" cy="441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SELECT * FROM dept WHERE deptno NOT IN(SELECT deptno FROM emp WHERE sal&gt;2900);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416050" y="916940"/>
            <a:ext cx="9229725" cy="121158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91995" y="988695"/>
            <a:ext cx="84226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IN关键字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使用时，需要内层子查询语句返回的结果是一个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，这个数据列中的值供外层语句进行比较操作。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74825" y="1847850"/>
            <a:ext cx="8979535" cy="297307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10130" y="2063750"/>
            <a:ext cx="790892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EXISTS关键字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用于判断子查询的结果集是否为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，若子查询的结果集不为空，返回TRUE，否则返回FALSE。使用EXISTS关键字结合子查询进行查询时，会先执行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外层查询语句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，再根据EXISTS关键字后面子查询的查询结果，判断是否保留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外层语句查询出的记录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，EXISTS的判断结果为TRUE时，保留对应的记录，否则去除记录。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55231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5.2.2  EXISTS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061085" y="2026920"/>
            <a:ext cx="10418445" cy="34950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13180" y="2278380"/>
            <a:ext cx="99339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例如，查询工资大于2900的员工所在的部门信息。首先查询出部门的所有信息，然后通过子查询筛选出工资大于2900的员工信息，接着使用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EXISTS关键字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符合子查询结果的记录返回；具体SQL语句如下所示。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13180" y="4077970"/>
            <a:ext cx="9358630" cy="814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dept  WHERE EXISTS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(SELECT * FROM emp WHERE emp.deptno=dept.deptno AND emp.sal&gt;2900);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35" y="266700"/>
            <a:ext cx="455231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5.2.2  EXISTS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143635" y="1703705"/>
            <a:ext cx="9342755" cy="28765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97685" y="1919605"/>
            <a:ext cx="822325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EXISTS关键字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，和使用IN关键字结合子查询的结果一致，但在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不同时，这两种方式的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也不同。当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数据量比较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数据量比较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的时候，适合使用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关键字结合子查询进行查询。当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数据量比较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数据量比较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的情况，适合使用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EXISTS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关键字结合子查询进行查询。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55231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5.2.2  EXISTS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815465" y="2205355"/>
            <a:ext cx="8979535" cy="298005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493645"/>
            <a:ext cx="790892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ANY关键字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任意一个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”的意思，必须和比较操作符一起使用，例如ANY和&gt;结合起来使用，表示大于任意一个。ANY关键字结合子查询时，表示子查询的查询结果集中的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任一查询结果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，例如“值1&gt;ANY(子查询)”，比较值1是否大于子查询返回的结果集中任意一个结果。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7451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5.2.3  ANY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061085" y="1811655"/>
            <a:ext cx="10418445" cy="34950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13180" y="2063115"/>
            <a:ext cx="99339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例如，查询部门编号为10的员工信息，要求查询到的员工信息中，工资都高于部门编号为20的部门中的最低工资。查询时可以先使用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语句查询出部门编号为20的部门中所有员工工资，接着查询部门编号为10的部门中所有员工信息，最后使用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连接两者的工资进行比较。具体SQL语句如下所示。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20495" y="4150995"/>
            <a:ext cx="9719310" cy="856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deptno=10 AND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sal&gt;ANY(SELECT sal FROM emp WHERE deptno=20);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37451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5.2.3  ANY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247142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566035"/>
            <a:ext cx="7908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ANY关键字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”的意思，ALL关键字结合子查询时，表示子查询的所有查询集中是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，例如“值1&gt;ALL(子查询)”，比较值1是否大于子查询返回的结果集中所有结果。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5.2.4  ALL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061085" y="1596390"/>
            <a:ext cx="10418445" cy="39249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13180" y="1704340"/>
            <a:ext cx="99339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部门编号为10的员工信息，要求查询到的员工信息中，工资都高于部门编号为20的部门中的最高工资。查询时可以使用子查询将部门编号为20的所有员工工资查询出来，然后将部门编号为10的所有员工工资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的结果进行比较，只要大于子查询中的任意一个值，就是符合查询条件的记录，具体SQL语句如下所示。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20495" y="4367530"/>
            <a:ext cx="9719310" cy="856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deptno=10 AND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sal&gt;ALL(SELECT sal FROM emp  WHERE deptno=20);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5.2.4  ALL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74825" y="1990090"/>
            <a:ext cx="8979535" cy="203073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279015"/>
            <a:ext cx="7908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前面讲解的ANY关键字和ALL关键字的子查询中使用了比较运算符&gt;，除了&gt;运算符，子查询中还可以使用其他的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&lt;、=、!=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4373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5.2.5  比较运算符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061085" y="1668145"/>
            <a:ext cx="10418445" cy="34950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13180" y="1919605"/>
            <a:ext cx="99339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例如，查询与王五职位相同的员工信息。查询时可以先使用子查询获取王五的职位，接着根据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的结果筛选出职位和王五相同的员工信息，具体SQL语句如下所示。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42390" y="3791585"/>
            <a:ext cx="9719310" cy="856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* FROM emp WHERE job=(SELECT job FROM emp WHERE ename='王五')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AND ename !='王五';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4373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5.2.5  比较运算符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93925" y="2277110"/>
            <a:ext cx="8348345" cy="27139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895600"/>
            <a:ext cx="7314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一般情况下，表连接查询都可以用子查询替换，但反过来却不一定适用。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相对比较灵活、方便、形式多样，适合作为查询的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筛选条件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表连接查询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更适合查看连接表的数据。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1143635" y="266700"/>
            <a:ext cx="44373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5.2.5  比较运算符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结合子查询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外键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约束</a:t>
            </a:r>
            <a:endParaRPr lang="zh-CN" altLang="en-GB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86042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836" y="3666"/>
              <a:ext cx="10410" cy="3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的项目中，一个健壮数据库中的数据一定有很好的参照完整性。例如，员工管理系统中有员工表和部门表，如果员工表的部门编号字段使用了20的部门编号，部门表中的20编号却被删除了，这样就会产生垃圾数据或者错误数据。为了保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数据的完整性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，可以在员工表中添加外键约束。本节将对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外键约束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添加外键约束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985520"/>
            <a:ext cx="8979535" cy="182880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364740" y="1273175"/>
            <a:ext cx="809307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是数据表中的一个特殊字段，它引用另一张数据表中的一列或多列，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被引用的列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应该具有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主键约束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唯一性约束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。对于两个具有关联关系的数据表来说，相关联字段中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所在的数据表就是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所在的数据表就是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添加外键约束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744980" y="3175000"/>
            <a:ext cx="8978900" cy="30143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64105" y="4719320"/>
            <a:ext cx="799465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CONSTRAINT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表示添加约束；外键名称是可选参数，用来指定添加的外键约束的名称；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FOREIGN KEY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表示外键约束；使用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指定创建的外键引用哪个表的主键。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50770" y="3935730"/>
            <a:ext cx="8008620" cy="679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从表名 ADD CONSTRAINT [外键名称] FOREIGN KEY(外键字段名)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REFERENCES 主表名(主键字段名);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48230" y="3265805"/>
            <a:ext cx="79089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在MySQL中为从表添加外键约束的语法格式如下。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061085" y="1524635"/>
            <a:ext cx="10418445" cy="44875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13180" y="1559560"/>
            <a:ext cx="99339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添加外键约束的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语法格式，给员工表emp添加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外键约束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13180" y="2424430"/>
            <a:ext cx="9287510" cy="1123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emp ADD CONSTRAINT fk_deptno FOREIGN KEY(deptno) REFERENCES dept(deptno);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3180" y="4050665"/>
            <a:ext cx="99339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添加外键成功之后，可以使用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语句查看员工表emp的创建语句，查询语句如下所示。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添加外键约束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13180" y="5174615"/>
            <a:ext cx="9287510" cy="62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SHOW CREATE TABLE emp;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640330" y="1560195"/>
            <a:ext cx="6889750" cy="352996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87395" y="1776095"/>
            <a:ext cx="56172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在为表添加外键约束时，需要注意以下情况：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（1）建立外键的表必须使用InnoDB引擎（默认的存储引擎），不能是临时表，因为在MySQL中只有InnoDB引擎才允许使用外键。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（2）定义的外键名称不能加引号，如CONSTRAINT 'FK_ID'或CONSTRAINT " FK_ID "都是错误的。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（3）外键所在列的数据类型必须和主表中主键对应列的数据类型相同。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添加外键约束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482090" y="2087880"/>
            <a:ext cx="9577705" cy="178816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9415" y="2251075"/>
            <a:ext cx="92024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建立外键是为了保证数据的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，但如果主表中的数据被删除或被修改，从表中对应的数据也应该被删除或被修改，否则数据库中会存在很多无意义的垃圾数据。MySQL可以在建立外键时添加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 DELETE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 UPDATE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子句来告诉数据库，怎样避免垃圾数据的产生。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18335" y="3983990"/>
          <a:ext cx="8753475" cy="24168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17115"/>
                <a:gridCol w="6436360"/>
              </a:tblGrid>
              <a:tr h="45910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参数名称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CASCADE</a:t>
                      </a:r>
                      <a:endParaRPr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主表中删除或更新记录时，同时自动删除或更新从表中对应的记录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SET NULL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主表中删除或更新记录时，使用NULL值替换从表中对应的记录（不适用于已标记为NOT NULL的字段） 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 ACTION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拒绝主表删除或修改外键关联列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RESTRICT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拒绝主表删除或修改外键关联列。（在不定义ON DELETE和ON UPDATE子句时，这是默认设置，也是最安全的设置）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520565" y="3425190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外键约束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的参数说明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2925" y="887730"/>
            <a:ext cx="920242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建立外键时避免垃圾数据的语法格式如下。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01190" y="1419860"/>
            <a:ext cx="8771255" cy="14566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从表名 ADD CONSTRAINT [外键名称] FOREIGN KEY(外键字段名) 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REFERENCES 外表表名(主键字段名);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[ON DELETE {CASCADE | SET NULL | NO ACTION | RESTRICT}]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[ON UPDATE {CASCADE | SET NULL | NO ACTION | RESTRICT}]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3032760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722" y="3864"/>
              <a:ext cx="1045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实际开发中，需要根据实体的内容设计数据表，实体间会有各种关联关系，因此数据表之间也存在着各种关联关系。下面对数据表的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关联关系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关联表添加数据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关联表删除数据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09675" y="1943735"/>
            <a:ext cx="9906000" cy="3538855"/>
            <a:chOff x="1905" y="3061"/>
            <a:chExt cx="15600" cy="5573"/>
          </a:xfrm>
        </p:grpSpPr>
        <p:sp>
          <p:nvSpPr>
            <p:cNvPr id="36" name="矩形: 剪去单角 444"/>
            <p:cNvSpPr/>
            <p:nvPr/>
          </p:nvSpPr>
          <p:spPr bwMode="auto">
            <a:xfrm>
              <a:off x="7357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矩形 45"/>
            <p:cNvSpPr>
              <a:spLocks noChangeArrowheads="1"/>
            </p:cNvSpPr>
            <p:nvPr/>
          </p:nvSpPr>
          <p:spPr bwMode="auto">
            <a:xfrm>
              <a:off x="7357" y="8417"/>
              <a:ext cx="4697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任意多边形: 形状 445"/>
            <p:cNvSpPr/>
            <p:nvPr/>
          </p:nvSpPr>
          <p:spPr bwMode="auto">
            <a:xfrm>
              <a:off x="10869" y="3061"/>
              <a:ext cx="1185" cy="1269"/>
            </a:xfrm>
            <a:custGeom>
              <a:avLst/>
              <a:gdLst>
                <a:gd name="T0" fmla="*/ 719975 w 608"/>
                <a:gd name="T1" fmla="*/ 0 h 608"/>
                <a:gd name="T2" fmla="*/ 0 w 608"/>
                <a:gd name="T3" fmla="*/ 0 h 608"/>
                <a:gd name="T4" fmla="*/ 719975 w 608"/>
                <a:gd name="T5" fmla="*/ 719975 h 608"/>
                <a:gd name="T6" fmla="*/ 719975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endPara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矩形: 剪去单角 437"/>
            <p:cNvSpPr/>
            <p:nvPr/>
          </p:nvSpPr>
          <p:spPr bwMode="auto">
            <a:xfrm>
              <a:off x="1905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0" name="矩形 42"/>
            <p:cNvSpPr>
              <a:spLocks noChangeArrowheads="1"/>
            </p:cNvSpPr>
            <p:nvPr/>
          </p:nvSpPr>
          <p:spPr bwMode="auto">
            <a:xfrm>
              <a:off x="1905" y="8417"/>
              <a:ext cx="4697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任意多边形: 形状 438"/>
            <p:cNvSpPr/>
            <p:nvPr/>
          </p:nvSpPr>
          <p:spPr bwMode="auto">
            <a:xfrm>
              <a:off x="5417" y="3061"/>
              <a:ext cx="1185" cy="1269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矩形: 剪去单角 455"/>
            <p:cNvSpPr/>
            <p:nvPr/>
          </p:nvSpPr>
          <p:spPr bwMode="auto">
            <a:xfrm>
              <a:off x="12809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12809" y="8418"/>
              <a:ext cx="4696" cy="215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4" name="任意多边形: 形状 456"/>
            <p:cNvSpPr/>
            <p:nvPr/>
          </p:nvSpPr>
          <p:spPr bwMode="auto">
            <a:xfrm>
              <a:off x="16322" y="3061"/>
              <a:ext cx="1183" cy="1267"/>
            </a:xfrm>
            <a:custGeom>
              <a:avLst/>
              <a:gdLst>
                <a:gd name="T0" fmla="*/ 608 w 608"/>
                <a:gd name="T1" fmla="*/ 0 h 608"/>
                <a:gd name="T2" fmla="*/ 0 w 608"/>
                <a:gd name="T3" fmla="*/ 0 h 608"/>
                <a:gd name="T4" fmla="*/ 608 w 608"/>
                <a:gd name="T5" fmla="*/ 608 h 608"/>
                <a:gd name="T6" fmla="*/ 608 w 608"/>
                <a:gd name="T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lIns="121920" tIns="60960" rIns="121920" bIns="60960">
              <a:normAutofit/>
            </a:bodyPr>
            <a:lstStyle/>
            <a:p>
              <a:pPr algn="r">
                <a:defRPr/>
              </a:pPr>
              <a:r>
                <a:rPr lang="en-US" altLang="ko-KR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3</a:t>
              </a:r>
              <a:endPara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2246" y="5716"/>
              <a:ext cx="4162" cy="2470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一对一关系的两张数据表建立外键时，要分清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主从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关系。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在数据表的主从关系中，从表需要主表的存在才有意义。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2246" y="4930"/>
              <a:ext cx="3452" cy="101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一对一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7431" y="5716"/>
              <a:ext cx="4548" cy="247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表之间的关系是通过外键建立的。在多对一的表关系中，应该将外键添加在“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”的一方，否则会造成数据的冗余。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7444" y="4930"/>
              <a:ext cx="3452" cy="101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多对一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13154" y="5716"/>
              <a:ext cx="4162" cy="2470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通常情况下，为了实现多对多关联关系需要定义一张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中间表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（称为连接表），中间表会存在两个外键。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3154" y="4930"/>
              <a:ext cx="3452" cy="101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多对多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51" name="任意多边形: 形状 43"/>
            <p:cNvSpPr/>
            <p:nvPr/>
          </p:nvSpPr>
          <p:spPr bwMode="auto">
            <a:xfrm>
              <a:off x="8969" y="3608"/>
              <a:ext cx="674" cy="722"/>
            </a:xfrm>
            <a:custGeom>
              <a:avLst/>
              <a:gdLst>
                <a:gd name="T0" fmla="*/ 218845 w 21551"/>
                <a:gd name="T1" fmla="*/ 218844 h 21600"/>
                <a:gd name="T2" fmla="*/ 218845 w 21551"/>
                <a:gd name="T3" fmla="*/ 218844 h 21600"/>
                <a:gd name="T4" fmla="*/ 218845 w 21551"/>
                <a:gd name="T5" fmla="*/ 218844 h 21600"/>
                <a:gd name="T6" fmla="*/ 218845 w 21551"/>
                <a:gd name="T7" fmla="*/ 21884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51" h="21600" extrusionOk="0">
                  <a:moveTo>
                    <a:pt x="19313" y="4353"/>
                  </a:moveTo>
                  <a:lnTo>
                    <a:pt x="16178" y="7496"/>
                  </a:lnTo>
                  <a:cubicBezTo>
                    <a:pt x="16034" y="7640"/>
                    <a:pt x="15980" y="7851"/>
                    <a:pt x="16036" y="8047"/>
                  </a:cubicBezTo>
                  <a:lnTo>
                    <a:pt x="18732" y="17470"/>
                  </a:lnTo>
                  <a:cubicBezTo>
                    <a:pt x="18788" y="17666"/>
                    <a:pt x="18734" y="17878"/>
                    <a:pt x="18590" y="18022"/>
                  </a:cubicBezTo>
                  <a:lnTo>
                    <a:pt x="17170" y="19445"/>
                  </a:lnTo>
                  <a:cubicBezTo>
                    <a:pt x="17059" y="19556"/>
                    <a:pt x="16916" y="19609"/>
                    <a:pt x="16775" y="19609"/>
                  </a:cubicBezTo>
                  <a:cubicBezTo>
                    <a:pt x="16581" y="19609"/>
                    <a:pt x="16390" y="19510"/>
                    <a:pt x="16285" y="19322"/>
                  </a:cubicBezTo>
                  <a:lnTo>
                    <a:pt x="12375" y="12317"/>
                  </a:lnTo>
                  <a:cubicBezTo>
                    <a:pt x="12271" y="12129"/>
                    <a:pt x="12079" y="12029"/>
                    <a:pt x="11886" y="12029"/>
                  </a:cubicBezTo>
                  <a:cubicBezTo>
                    <a:pt x="11744" y="12029"/>
                    <a:pt x="11602" y="12083"/>
                    <a:pt x="11491" y="12194"/>
                  </a:cubicBezTo>
                  <a:lnTo>
                    <a:pt x="8519" y="15172"/>
                  </a:lnTo>
                  <a:cubicBezTo>
                    <a:pt x="8388" y="15304"/>
                    <a:pt x="8330" y="15492"/>
                    <a:pt x="8365" y="15674"/>
                  </a:cubicBezTo>
                  <a:lnTo>
                    <a:pt x="8996" y="18989"/>
                  </a:lnTo>
                  <a:cubicBezTo>
                    <a:pt x="9031" y="19171"/>
                    <a:pt x="8973" y="19359"/>
                    <a:pt x="8842" y="19491"/>
                  </a:cubicBezTo>
                  <a:lnTo>
                    <a:pt x="8441" y="19893"/>
                  </a:lnTo>
                  <a:cubicBezTo>
                    <a:pt x="8330" y="20004"/>
                    <a:pt x="8187" y="20058"/>
                    <a:pt x="8046" y="20058"/>
                  </a:cubicBezTo>
                  <a:cubicBezTo>
                    <a:pt x="7852" y="20058"/>
                    <a:pt x="7661" y="19958"/>
                    <a:pt x="7556" y="19770"/>
                  </a:cubicBezTo>
                  <a:lnTo>
                    <a:pt x="5577" y="16226"/>
                  </a:lnTo>
                  <a:cubicBezTo>
                    <a:pt x="5526" y="16136"/>
                    <a:pt x="5452" y="16061"/>
                    <a:pt x="5362" y="16010"/>
                  </a:cubicBezTo>
                  <a:lnTo>
                    <a:pt x="1826" y="14027"/>
                  </a:lnTo>
                  <a:cubicBezTo>
                    <a:pt x="1502" y="13845"/>
                    <a:pt x="1441" y="13403"/>
                    <a:pt x="1703" y="13141"/>
                  </a:cubicBezTo>
                  <a:lnTo>
                    <a:pt x="2105" y="12738"/>
                  </a:lnTo>
                  <a:cubicBezTo>
                    <a:pt x="2211" y="12632"/>
                    <a:pt x="2354" y="12574"/>
                    <a:pt x="2501" y="12574"/>
                  </a:cubicBezTo>
                  <a:cubicBezTo>
                    <a:pt x="2536" y="12574"/>
                    <a:pt x="2571" y="12577"/>
                    <a:pt x="2606" y="12584"/>
                  </a:cubicBezTo>
                  <a:lnTo>
                    <a:pt x="5913" y="13216"/>
                  </a:lnTo>
                  <a:cubicBezTo>
                    <a:pt x="5948" y="13223"/>
                    <a:pt x="5983" y="13226"/>
                    <a:pt x="6018" y="13226"/>
                  </a:cubicBezTo>
                  <a:cubicBezTo>
                    <a:pt x="6165" y="13226"/>
                    <a:pt x="6308" y="13168"/>
                    <a:pt x="6414" y="13062"/>
                  </a:cubicBezTo>
                  <a:lnTo>
                    <a:pt x="9385" y="10083"/>
                  </a:lnTo>
                  <a:cubicBezTo>
                    <a:pt x="9648" y="9820"/>
                    <a:pt x="9587" y="9379"/>
                    <a:pt x="9263" y="9197"/>
                  </a:cubicBezTo>
                  <a:lnTo>
                    <a:pt x="2273" y="5278"/>
                  </a:lnTo>
                  <a:cubicBezTo>
                    <a:pt x="1949" y="5097"/>
                    <a:pt x="1888" y="4655"/>
                    <a:pt x="2150" y="4392"/>
                  </a:cubicBezTo>
                  <a:lnTo>
                    <a:pt x="3571" y="2968"/>
                  </a:lnTo>
                  <a:cubicBezTo>
                    <a:pt x="3677" y="2862"/>
                    <a:pt x="3820" y="2804"/>
                    <a:pt x="3966" y="2804"/>
                  </a:cubicBezTo>
                  <a:cubicBezTo>
                    <a:pt x="4018" y="2804"/>
                    <a:pt x="4070" y="2811"/>
                    <a:pt x="4121" y="2826"/>
                  </a:cubicBezTo>
                  <a:lnTo>
                    <a:pt x="13523" y="5528"/>
                  </a:lnTo>
                  <a:cubicBezTo>
                    <a:pt x="13574" y="5543"/>
                    <a:pt x="13625" y="5550"/>
                    <a:pt x="13677" y="5550"/>
                  </a:cubicBezTo>
                  <a:cubicBezTo>
                    <a:pt x="13823" y="5550"/>
                    <a:pt x="13966" y="5493"/>
                    <a:pt x="14073" y="5386"/>
                  </a:cubicBezTo>
                  <a:lnTo>
                    <a:pt x="17208" y="2243"/>
                  </a:lnTo>
                  <a:cubicBezTo>
                    <a:pt x="17593" y="1857"/>
                    <a:pt x="18321" y="1542"/>
                    <a:pt x="18937" y="1542"/>
                  </a:cubicBezTo>
                  <a:cubicBezTo>
                    <a:pt x="19252" y="1542"/>
                    <a:pt x="19538" y="1624"/>
                    <a:pt x="19734" y="1821"/>
                  </a:cubicBezTo>
                  <a:cubicBezTo>
                    <a:pt x="20316" y="2404"/>
                    <a:pt x="19895" y="3770"/>
                    <a:pt x="19313" y="4353"/>
                  </a:cubicBezTo>
                  <a:cubicBezTo>
                    <a:pt x="19313" y="4353"/>
                    <a:pt x="19313" y="4353"/>
                    <a:pt x="19313" y="4353"/>
                  </a:cubicBezTo>
                  <a:close/>
                  <a:moveTo>
                    <a:pt x="20822" y="731"/>
                  </a:moveTo>
                  <a:cubicBezTo>
                    <a:pt x="20557" y="465"/>
                    <a:pt x="20235" y="268"/>
                    <a:pt x="19866" y="145"/>
                  </a:cubicBezTo>
                  <a:cubicBezTo>
                    <a:pt x="19578" y="49"/>
                    <a:pt x="19266" y="0"/>
                    <a:pt x="18937" y="0"/>
                  </a:cubicBezTo>
                  <a:cubicBezTo>
                    <a:pt x="18441" y="0"/>
                    <a:pt x="17909" y="111"/>
                    <a:pt x="17399" y="322"/>
                  </a:cubicBezTo>
                  <a:cubicBezTo>
                    <a:pt x="16897" y="530"/>
                    <a:pt x="16455" y="817"/>
                    <a:pt x="16120" y="1153"/>
                  </a:cubicBezTo>
                  <a:lnTo>
                    <a:pt x="13392" y="3887"/>
                  </a:lnTo>
                  <a:lnTo>
                    <a:pt x="4545" y="1343"/>
                  </a:lnTo>
                  <a:cubicBezTo>
                    <a:pt x="4357" y="1289"/>
                    <a:pt x="4162" y="1262"/>
                    <a:pt x="3966" y="1262"/>
                  </a:cubicBezTo>
                  <a:cubicBezTo>
                    <a:pt x="3691" y="1262"/>
                    <a:pt x="3423" y="1315"/>
                    <a:pt x="3169" y="1420"/>
                  </a:cubicBezTo>
                  <a:cubicBezTo>
                    <a:pt x="2911" y="1526"/>
                    <a:pt x="2680" y="1680"/>
                    <a:pt x="2482" y="1878"/>
                  </a:cubicBezTo>
                  <a:lnTo>
                    <a:pt x="1062" y="3301"/>
                  </a:lnTo>
                  <a:cubicBezTo>
                    <a:pt x="828" y="3536"/>
                    <a:pt x="650" y="3827"/>
                    <a:pt x="549" y="4142"/>
                  </a:cubicBezTo>
                  <a:cubicBezTo>
                    <a:pt x="452" y="4442"/>
                    <a:pt x="424" y="4765"/>
                    <a:pt x="467" y="5077"/>
                  </a:cubicBezTo>
                  <a:cubicBezTo>
                    <a:pt x="511" y="5389"/>
                    <a:pt x="625" y="5693"/>
                    <a:pt x="799" y="5955"/>
                  </a:cubicBezTo>
                  <a:cubicBezTo>
                    <a:pt x="982" y="6230"/>
                    <a:pt x="1232" y="6462"/>
                    <a:pt x="1522" y="6624"/>
                  </a:cubicBezTo>
                  <a:lnTo>
                    <a:pt x="7382" y="9910"/>
                  </a:lnTo>
                  <a:lnTo>
                    <a:pt x="5692" y="11604"/>
                  </a:lnTo>
                  <a:lnTo>
                    <a:pt x="2894" y="11069"/>
                  </a:lnTo>
                  <a:cubicBezTo>
                    <a:pt x="2765" y="11044"/>
                    <a:pt x="2632" y="11031"/>
                    <a:pt x="2501" y="11031"/>
                  </a:cubicBezTo>
                  <a:cubicBezTo>
                    <a:pt x="2225" y="11031"/>
                    <a:pt x="1956" y="11085"/>
                    <a:pt x="1701" y="11190"/>
                  </a:cubicBezTo>
                  <a:cubicBezTo>
                    <a:pt x="1444" y="11296"/>
                    <a:pt x="1213" y="11450"/>
                    <a:pt x="1017" y="11647"/>
                  </a:cubicBezTo>
                  <a:lnTo>
                    <a:pt x="615" y="12050"/>
                  </a:lnTo>
                  <a:cubicBezTo>
                    <a:pt x="380" y="12285"/>
                    <a:pt x="203" y="12576"/>
                    <a:pt x="101" y="12891"/>
                  </a:cubicBezTo>
                  <a:cubicBezTo>
                    <a:pt x="5" y="13191"/>
                    <a:pt x="-23" y="13513"/>
                    <a:pt x="20" y="13826"/>
                  </a:cubicBezTo>
                  <a:cubicBezTo>
                    <a:pt x="63" y="14138"/>
                    <a:pt x="178" y="14441"/>
                    <a:pt x="352" y="14703"/>
                  </a:cubicBezTo>
                  <a:cubicBezTo>
                    <a:pt x="535" y="14979"/>
                    <a:pt x="785" y="15210"/>
                    <a:pt x="1074" y="15373"/>
                  </a:cubicBezTo>
                  <a:lnTo>
                    <a:pt x="4369" y="17221"/>
                  </a:lnTo>
                  <a:lnTo>
                    <a:pt x="6213" y="20524"/>
                  </a:lnTo>
                  <a:cubicBezTo>
                    <a:pt x="6584" y="21188"/>
                    <a:pt x="7286" y="21600"/>
                    <a:pt x="8046" y="21600"/>
                  </a:cubicBezTo>
                  <a:cubicBezTo>
                    <a:pt x="8606" y="21600"/>
                    <a:pt x="9132" y="21381"/>
                    <a:pt x="9529" y="20984"/>
                  </a:cubicBezTo>
                  <a:lnTo>
                    <a:pt x="9930" y="20581"/>
                  </a:lnTo>
                  <a:cubicBezTo>
                    <a:pt x="10422" y="20088"/>
                    <a:pt x="10638" y="19385"/>
                    <a:pt x="10508" y="18700"/>
                  </a:cubicBezTo>
                  <a:lnTo>
                    <a:pt x="9974" y="15896"/>
                  </a:lnTo>
                  <a:lnTo>
                    <a:pt x="11664" y="14201"/>
                  </a:lnTo>
                  <a:lnTo>
                    <a:pt x="14942" y="20075"/>
                  </a:lnTo>
                  <a:cubicBezTo>
                    <a:pt x="15313" y="20739"/>
                    <a:pt x="16015" y="21152"/>
                    <a:pt x="16775" y="21152"/>
                  </a:cubicBezTo>
                  <a:cubicBezTo>
                    <a:pt x="17335" y="21152"/>
                    <a:pt x="17861" y="20933"/>
                    <a:pt x="18258" y="20536"/>
                  </a:cubicBezTo>
                  <a:lnTo>
                    <a:pt x="19678" y="19113"/>
                  </a:lnTo>
                  <a:cubicBezTo>
                    <a:pt x="20217" y="18572"/>
                    <a:pt x="20422" y="17780"/>
                    <a:pt x="20211" y="17045"/>
                  </a:cubicBezTo>
                  <a:lnTo>
                    <a:pt x="17674" y="8178"/>
                  </a:lnTo>
                  <a:lnTo>
                    <a:pt x="20402" y="5443"/>
                  </a:lnTo>
                  <a:cubicBezTo>
                    <a:pt x="20900" y="4943"/>
                    <a:pt x="21298" y="4185"/>
                    <a:pt x="21464" y="3413"/>
                  </a:cubicBezTo>
                  <a:cubicBezTo>
                    <a:pt x="21559" y="2971"/>
                    <a:pt x="21577" y="2546"/>
                    <a:pt x="21517" y="2149"/>
                  </a:cubicBezTo>
                  <a:cubicBezTo>
                    <a:pt x="21432" y="1592"/>
                    <a:pt x="21192" y="1102"/>
                    <a:pt x="20822" y="731"/>
                  </a:cubicBezTo>
                  <a:cubicBezTo>
                    <a:pt x="20822" y="731"/>
                    <a:pt x="20822" y="731"/>
                    <a:pt x="20822" y="73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41"/>
            <p:cNvSpPr/>
            <p:nvPr/>
          </p:nvSpPr>
          <p:spPr bwMode="auto">
            <a:xfrm>
              <a:off x="3439" y="3645"/>
              <a:ext cx="727" cy="632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任意多边形: 形状 39"/>
            <p:cNvSpPr/>
            <p:nvPr/>
          </p:nvSpPr>
          <p:spPr bwMode="auto">
            <a:xfrm>
              <a:off x="14423" y="3554"/>
              <a:ext cx="629" cy="854"/>
            </a:xfrm>
            <a:custGeom>
              <a:avLst/>
              <a:gdLst>
                <a:gd name="T0" fmla="*/ 204156 w 21600"/>
                <a:gd name="T1" fmla="*/ 258980 h 21600"/>
                <a:gd name="T2" fmla="*/ 204156 w 21600"/>
                <a:gd name="T3" fmla="*/ 258980 h 21600"/>
                <a:gd name="T4" fmla="*/ 204156 w 21600"/>
                <a:gd name="T5" fmla="*/ 258980 h 21600"/>
                <a:gd name="T6" fmla="*/ 204156 w 21600"/>
                <a:gd name="T7" fmla="*/ 25898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8003" y="6729"/>
                  </a:moveTo>
                  <a:cubicBezTo>
                    <a:pt x="17891" y="6790"/>
                    <a:pt x="17842" y="6883"/>
                    <a:pt x="17842" y="6994"/>
                  </a:cubicBezTo>
                  <a:cubicBezTo>
                    <a:pt x="17842" y="7080"/>
                    <a:pt x="17901" y="7139"/>
                    <a:pt x="18015" y="7191"/>
                  </a:cubicBezTo>
                  <a:cubicBezTo>
                    <a:pt x="18122" y="7230"/>
                    <a:pt x="18344" y="7284"/>
                    <a:pt x="18697" y="7352"/>
                  </a:cubicBezTo>
                  <a:cubicBezTo>
                    <a:pt x="19207" y="7434"/>
                    <a:pt x="19552" y="7540"/>
                    <a:pt x="19715" y="7661"/>
                  </a:cubicBezTo>
                  <a:cubicBezTo>
                    <a:pt x="19899" y="7775"/>
                    <a:pt x="19976" y="7963"/>
                    <a:pt x="19976" y="8220"/>
                  </a:cubicBezTo>
                  <a:cubicBezTo>
                    <a:pt x="19976" y="8479"/>
                    <a:pt x="19851" y="8684"/>
                    <a:pt x="19591" y="8842"/>
                  </a:cubicBezTo>
                  <a:cubicBezTo>
                    <a:pt x="19332" y="8993"/>
                    <a:pt x="18985" y="9069"/>
                    <a:pt x="18546" y="9069"/>
                  </a:cubicBezTo>
                  <a:cubicBezTo>
                    <a:pt x="18091" y="9069"/>
                    <a:pt x="17748" y="8987"/>
                    <a:pt x="17505" y="8826"/>
                  </a:cubicBezTo>
                  <a:cubicBezTo>
                    <a:pt x="17256" y="8660"/>
                    <a:pt x="17122" y="8433"/>
                    <a:pt x="17105" y="8130"/>
                  </a:cubicBezTo>
                  <a:lnTo>
                    <a:pt x="17814" y="8130"/>
                  </a:lnTo>
                  <a:cubicBezTo>
                    <a:pt x="17814" y="8283"/>
                    <a:pt x="17879" y="8395"/>
                    <a:pt x="18015" y="8471"/>
                  </a:cubicBezTo>
                  <a:cubicBezTo>
                    <a:pt x="18132" y="8553"/>
                    <a:pt x="18312" y="8592"/>
                    <a:pt x="18546" y="8592"/>
                  </a:cubicBezTo>
                  <a:cubicBezTo>
                    <a:pt x="18773" y="8592"/>
                    <a:pt x="18957" y="8562"/>
                    <a:pt x="19091" y="8501"/>
                  </a:cubicBezTo>
                  <a:cubicBezTo>
                    <a:pt x="19217" y="8442"/>
                    <a:pt x="19283" y="8356"/>
                    <a:pt x="19283" y="8253"/>
                  </a:cubicBezTo>
                  <a:cubicBezTo>
                    <a:pt x="19283" y="8152"/>
                    <a:pt x="19234" y="8078"/>
                    <a:pt x="19148" y="8024"/>
                  </a:cubicBezTo>
                  <a:cubicBezTo>
                    <a:pt x="19054" y="7973"/>
                    <a:pt x="18860" y="7926"/>
                    <a:pt x="18555" y="7874"/>
                  </a:cubicBezTo>
                  <a:cubicBezTo>
                    <a:pt x="18003" y="7775"/>
                    <a:pt x="17623" y="7669"/>
                    <a:pt x="17440" y="7554"/>
                  </a:cubicBezTo>
                  <a:cubicBezTo>
                    <a:pt x="17256" y="7442"/>
                    <a:pt x="17161" y="7268"/>
                    <a:pt x="17161" y="7024"/>
                  </a:cubicBezTo>
                  <a:cubicBezTo>
                    <a:pt x="17161" y="6759"/>
                    <a:pt x="17278" y="6550"/>
                    <a:pt x="17527" y="6388"/>
                  </a:cubicBezTo>
                  <a:cubicBezTo>
                    <a:pt x="17776" y="6230"/>
                    <a:pt x="18103" y="6154"/>
                    <a:pt x="18524" y="6154"/>
                  </a:cubicBezTo>
                  <a:cubicBezTo>
                    <a:pt x="18919" y="6154"/>
                    <a:pt x="19234" y="6230"/>
                    <a:pt x="19487" y="6397"/>
                  </a:cubicBezTo>
                  <a:cubicBezTo>
                    <a:pt x="19737" y="6563"/>
                    <a:pt x="19868" y="6785"/>
                    <a:pt x="19899" y="7063"/>
                  </a:cubicBezTo>
                  <a:lnTo>
                    <a:pt x="19179" y="7063"/>
                  </a:lnTo>
                  <a:cubicBezTo>
                    <a:pt x="19169" y="6926"/>
                    <a:pt x="19091" y="6820"/>
                    <a:pt x="18967" y="6747"/>
                  </a:cubicBezTo>
                  <a:cubicBezTo>
                    <a:pt x="18832" y="6670"/>
                    <a:pt x="18648" y="6631"/>
                    <a:pt x="18437" y="6631"/>
                  </a:cubicBezTo>
                  <a:cubicBezTo>
                    <a:pt x="18257" y="6631"/>
                    <a:pt x="18103" y="6661"/>
                    <a:pt x="18003" y="6729"/>
                  </a:cubicBezTo>
                  <a:cubicBezTo>
                    <a:pt x="18003" y="6729"/>
                    <a:pt x="18003" y="6729"/>
                    <a:pt x="18003" y="6729"/>
                  </a:cubicBezTo>
                  <a:close/>
                  <a:moveTo>
                    <a:pt x="15761" y="7344"/>
                  </a:moveTo>
                  <a:cubicBezTo>
                    <a:pt x="15665" y="7405"/>
                    <a:pt x="15528" y="7434"/>
                    <a:pt x="15338" y="7434"/>
                  </a:cubicBezTo>
                  <a:lnTo>
                    <a:pt x="14490" y="7434"/>
                  </a:lnTo>
                  <a:lnTo>
                    <a:pt x="14490" y="6707"/>
                  </a:lnTo>
                  <a:lnTo>
                    <a:pt x="15366" y="6707"/>
                  </a:lnTo>
                  <a:cubicBezTo>
                    <a:pt x="15549" y="6707"/>
                    <a:pt x="15675" y="6738"/>
                    <a:pt x="15768" y="6798"/>
                  </a:cubicBezTo>
                  <a:cubicBezTo>
                    <a:pt x="15865" y="6857"/>
                    <a:pt x="15902" y="6950"/>
                    <a:pt x="15902" y="7070"/>
                  </a:cubicBezTo>
                  <a:cubicBezTo>
                    <a:pt x="15902" y="7191"/>
                    <a:pt x="15855" y="7284"/>
                    <a:pt x="15761" y="7344"/>
                  </a:cubicBezTo>
                  <a:cubicBezTo>
                    <a:pt x="15761" y="7344"/>
                    <a:pt x="15761" y="7344"/>
                    <a:pt x="15761" y="7344"/>
                  </a:cubicBezTo>
                  <a:close/>
                  <a:moveTo>
                    <a:pt x="16633" y="6994"/>
                  </a:moveTo>
                  <a:cubicBezTo>
                    <a:pt x="16633" y="6769"/>
                    <a:pt x="16526" y="6579"/>
                    <a:pt x="16326" y="6435"/>
                  </a:cubicBezTo>
                  <a:cubicBezTo>
                    <a:pt x="16124" y="6299"/>
                    <a:pt x="15855" y="6230"/>
                    <a:pt x="15518" y="6230"/>
                  </a:cubicBezTo>
                  <a:lnTo>
                    <a:pt x="13751" y="6230"/>
                  </a:lnTo>
                  <a:lnTo>
                    <a:pt x="13751" y="8993"/>
                  </a:lnTo>
                  <a:lnTo>
                    <a:pt x="14490" y="8993"/>
                  </a:lnTo>
                  <a:lnTo>
                    <a:pt x="14490" y="7904"/>
                  </a:lnTo>
                  <a:lnTo>
                    <a:pt x="15210" y="7904"/>
                  </a:lnTo>
                  <a:cubicBezTo>
                    <a:pt x="15432" y="7904"/>
                    <a:pt x="15577" y="7926"/>
                    <a:pt x="15665" y="7980"/>
                  </a:cubicBezTo>
                  <a:cubicBezTo>
                    <a:pt x="15761" y="8032"/>
                    <a:pt x="15800" y="8122"/>
                    <a:pt x="15800" y="8245"/>
                  </a:cubicBezTo>
                  <a:lnTo>
                    <a:pt x="15806" y="8494"/>
                  </a:lnTo>
                  <a:cubicBezTo>
                    <a:pt x="15806" y="8609"/>
                    <a:pt x="15815" y="8706"/>
                    <a:pt x="15837" y="8805"/>
                  </a:cubicBezTo>
                  <a:cubicBezTo>
                    <a:pt x="15855" y="8895"/>
                    <a:pt x="15865" y="8963"/>
                    <a:pt x="15886" y="8987"/>
                  </a:cubicBezTo>
                  <a:lnTo>
                    <a:pt x="16692" y="8987"/>
                  </a:lnTo>
                  <a:lnTo>
                    <a:pt x="16692" y="8919"/>
                  </a:lnTo>
                  <a:cubicBezTo>
                    <a:pt x="16633" y="8895"/>
                    <a:pt x="16585" y="8864"/>
                    <a:pt x="16575" y="8826"/>
                  </a:cubicBezTo>
                  <a:cubicBezTo>
                    <a:pt x="16547" y="8788"/>
                    <a:pt x="16538" y="8720"/>
                    <a:pt x="16526" y="8638"/>
                  </a:cubicBezTo>
                  <a:lnTo>
                    <a:pt x="16519" y="8184"/>
                  </a:lnTo>
                  <a:cubicBezTo>
                    <a:pt x="16508" y="7963"/>
                    <a:pt x="16401" y="7805"/>
                    <a:pt x="16202" y="7707"/>
                  </a:cubicBezTo>
                  <a:cubicBezTo>
                    <a:pt x="16174" y="7691"/>
                    <a:pt x="16135" y="7685"/>
                    <a:pt x="16086" y="7661"/>
                  </a:cubicBezTo>
                  <a:cubicBezTo>
                    <a:pt x="16163" y="7639"/>
                    <a:pt x="16230" y="7609"/>
                    <a:pt x="16298" y="7579"/>
                  </a:cubicBezTo>
                  <a:cubicBezTo>
                    <a:pt x="16519" y="7456"/>
                    <a:pt x="16633" y="7260"/>
                    <a:pt x="16633" y="6994"/>
                  </a:cubicBezTo>
                  <a:cubicBezTo>
                    <a:pt x="16633" y="6994"/>
                    <a:pt x="16633" y="6994"/>
                    <a:pt x="16633" y="6994"/>
                  </a:cubicBezTo>
                  <a:close/>
                  <a:moveTo>
                    <a:pt x="12311" y="8993"/>
                  </a:moveTo>
                  <a:lnTo>
                    <a:pt x="12311" y="7737"/>
                  </a:lnTo>
                  <a:lnTo>
                    <a:pt x="10936" y="7737"/>
                  </a:lnTo>
                  <a:lnTo>
                    <a:pt x="10936" y="8993"/>
                  </a:lnTo>
                  <a:lnTo>
                    <a:pt x="10200" y="8993"/>
                  </a:lnTo>
                  <a:lnTo>
                    <a:pt x="10200" y="6230"/>
                  </a:lnTo>
                  <a:lnTo>
                    <a:pt x="10936" y="6230"/>
                  </a:lnTo>
                  <a:lnTo>
                    <a:pt x="10936" y="7268"/>
                  </a:lnTo>
                  <a:lnTo>
                    <a:pt x="12311" y="7268"/>
                  </a:lnTo>
                  <a:lnTo>
                    <a:pt x="12311" y="6230"/>
                  </a:lnTo>
                  <a:lnTo>
                    <a:pt x="13033" y="6230"/>
                  </a:lnTo>
                  <a:lnTo>
                    <a:pt x="13033" y="8993"/>
                  </a:lnTo>
                  <a:cubicBezTo>
                    <a:pt x="13033" y="8993"/>
                    <a:pt x="12311" y="8993"/>
                    <a:pt x="12311" y="8993"/>
                  </a:cubicBezTo>
                  <a:close/>
                  <a:moveTo>
                    <a:pt x="16086" y="3348"/>
                  </a:moveTo>
                  <a:lnTo>
                    <a:pt x="16135" y="3271"/>
                  </a:lnTo>
                  <a:lnTo>
                    <a:pt x="17787" y="1111"/>
                  </a:lnTo>
                  <a:lnTo>
                    <a:pt x="17787" y="3348"/>
                  </a:lnTo>
                  <a:cubicBezTo>
                    <a:pt x="17787" y="3348"/>
                    <a:pt x="16086" y="3348"/>
                    <a:pt x="16086" y="3348"/>
                  </a:cubicBezTo>
                  <a:close/>
                  <a:moveTo>
                    <a:pt x="17787" y="5367"/>
                  </a:moveTo>
                  <a:lnTo>
                    <a:pt x="19104" y="5367"/>
                  </a:lnTo>
                  <a:lnTo>
                    <a:pt x="19104" y="4180"/>
                  </a:lnTo>
                  <a:lnTo>
                    <a:pt x="19868" y="4180"/>
                  </a:lnTo>
                  <a:lnTo>
                    <a:pt x="19868" y="3348"/>
                  </a:lnTo>
                  <a:lnTo>
                    <a:pt x="19104" y="3348"/>
                  </a:lnTo>
                  <a:lnTo>
                    <a:pt x="19104" y="0"/>
                  </a:lnTo>
                  <a:lnTo>
                    <a:pt x="17613" y="0"/>
                  </a:lnTo>
                  <a:lnTo>
                    <a:pt x="15106" y="3271"/>
                  </a:lnTo>
                  <a:lnTo>
                    <a:pt x="15106" y="4180"/>
                  </a:lnTo>
                  <a:lnTo>
                    <a:pt x="17787" y="4180"/>
                  </a:lnTo>
                  <a:cubicBezTo>
                    <a:pt x="17787" y="4180"/>
                    <a:pt x="17787" y="5367"/>
                    <a:pt x="17787" y="5367"/>
                  </a:cubicBezTo>
                  <a:close/>
                  <a:moveTo>
                    <a:pt x="14415" y="5367"/>
                  </a:moveTo>
                  <a:lnTo>
                    <a:pt x="9776" y="5367"/>
                  </a:lnTo>
                  <a:lnTo>
                    <a:pt x="9776" y="5360"/>
                  </a:lnTo>
                  <a:cubicBezTo>
                    <a:pt x="9776" y="4876"/>
                    <a:pt x="9929" y="4451"/>
                    <a:pt x="10247" y="4095"/>
                  </a:cubicBezTo>
                  <a:cubicBezTo>
                    <a:pt x="10563" y="3746"/>
                    <a:pt x="11159" y="3340"/>
                    <a:pt x="12024" y="2853"/>
                  </a:cubicBezTo>
                  <a:cubicBezTo>
                    <a:pt x="12410" y="2643"/>
                    <a:pt x="12676" y="2443"/>
                    <a:pt x="12841" y="2271"/>
                  </a:cubicBezTo>
                  <a:cubicBezTo>
                    <a:pt x="13003" y="2089"/>
                    <a:pt x="13081" y="1892"/>
                    <a:pt x="13081" y="1674"/>
                  </a:cubicBezTo>
                  <a:cubicBezTo>
                    <a:pt x="13081" y="1440"/>
                    <a:pt x="12995" y="1243"/>
                    <a:pt x="12820" y="1106"/>
                  </a:cubicBezTo>
                  <a:cubicBezTo>
                    <a:pt x="12648" y="954"/>
                    <a:pt x="12416" y="885"/>
                    <a:pt x="12121" y="885"/>
                  </a:cubicBezTo>
                  <a:cubicBezTo>
                    <a:pt x="11824" y="885"/>
                    <a:pt x="11581" y="976"/>
                    <a:pt x="11419" y="1158"/>
                  </a:cubicBezTo>
                  <a:cubicBezTo>
                    <a:pt x="11235" y="1342"/>
                    <a:pt x="11159" y="1590"/>
                    <a:pt x="11169" y="1892"/>
                  </a:cubicBezTo>
                  <a:lnTo>
                    <a:pt x="9863" y="1892"/>
                  </a:lnTo>
                  <a:cubicBezTo>
                    <a:pt x="9842" y="1317"/>
                    <a:pt x="10038" y="855"/>
                    <a:pt x="10449" y="514"/>
                  </a:cubicBezTo>
                  <a:cubicBezTo>
                    <a:pt x="10851" y="175"/>
                    <a:pt x="11419" y="0"/>
                    <a:pt x="12139" y="0"/>
                  </a:cubicBezTo>
                  <a:cubicBezTo>
                    <a:pt x="12801" y="0"/>
                    <a:pt x="13348" y="159"/>
                    <a:pt x="13779" y="470"/>
                  </a:cubicBezTo>
                  <a:cubicBezTo>
                    <a:pt x="14194" y="786"/>
                    <a:pt x="14415" y="1188"/>
                    <a:pt x="14415" y="1679"/>
                  </a:cubicBezTo>
                  <a:cubicBezTo>
                    <a:pt x="14415" y="2089"/>
                    <a:pt x="14290" y="2430"/>
                    <a:pt x="14051" y="2695"/>
                  </a:cubicBezTo>
                  <a:cubicBezTo>
                    <a:pt x="13810" y="2960"/>
                    <a:pt x="13358" y="3263"/>
                    <a:pt x="12697" y="3595"/>
                  </a:cubicBezTo>
                  <a:cubicBezTo>
                    <a:pt x="12080" y="3907"/>
                    <a:pt x="11668" y="4180"/>
                    <a:pt x="11438" y="4429"/>
                  </a:cubicBezTo>
                  <a:lnTo>
                    <a:pt x="11438" y="4437"/>
                  </a:lnTo>
                  <a:lnTo>
                    <a:pt x="14415" y="4437"/>
                  </a:lnTo>
                  <a:cubicBezTo>
                    <a:pt x="14415" y="4437"/>
                    <a:pt x="14415" y="5367"/>
                    <a:pt x="14415" y="5367"/>
                  </a:cubicBezTo>
                  <a:close/>
                  <a:moveTo>
                    <a:pt x="11045" y="20298"/>
                  </a:moveTo>
                  <a:cubicBezTo>
                    <a:pt x="11045" y="21008"/>
                    <a:pt x="10314" y="21600"/>
                    <a:pt x="9403" y="21600"/>
                  </a:cubicBezTo>
                  <a:cubicBezTo>
                    <a:pt x="8489" y="21600"/>
                    <a:pt x="7750" y="21008"/>
                    <a:pt x="7750" y="20298"/>
                  </a:cubicBezTo>
                  <a:cubicBezTo>
                    <a:pt x="7750" y="19577"/>
                    <a:pt x="8489" y="18995"/>
                    <a:pt x="9403" y="18995"/>
                  </a:cubicBezTo>
                  <a:cubicBezTo>
                    <a:pt x="10314" y="18995"/>
                    <a:pt x="11045" y="19577"/>
                    <a:pt x="11045" y="20298"/>
                  </a:cubicBezTo>
                  <a:cubicBezTo>
                    <a:pt x="11045" y="20298"/>
                    <a:pt x="11045" y="20298"/>
                    <a:pt x="11045" y="20298"/>
                  </a:cubicBezTo>
                  <a:close/>
                  <a:moveTo>
                    <a:pt x="5175" y="20298"/>
                  </a:moveTo>
                  <a:cubicBezTo>
                    <a:pt x="5175" y="21008"/>
                    <a:pt x="4448" y="21600"/>
                    <a:pt x="3541" y="21600"/>
                  </a:cubicBezTo>
                  <a:cubicBezTo>
                    <a:pt x="2625" y="21600"/>
                    <a:pt x="1882" y="21008"/>
                    <a:pt x="1882" y="20298"/>
                  </a:cubicBezTo>
                  <a:cubicBezTo>
                    <a:pt x="1882" y="19577"/>
                    <a:pt x="2625" y="18995"/>
                    <a:pt x="3541" y="18995"/>
                  </a:cubicBezTo>
                  <a:cubicBezTo>
                    <a:pt x="4448" y="18995"/>
                    <a:pt x="5175" y="19577"/>
                    <a:pt x="5175" y="20298"/>
                  </a:cubicBezTo>
                  <a:cubicBezTo>
                    <a:pt x="5175" y="20298"/>
                    <a:pt x="5175" y="20298"/>
                    <a:pt x="5175" y="20298"/>
                  </a:cubicBezTo>
                  <a:close/>
                  <a:moveTo>
                    <a:pt x="21600" y="12006"/>
                  </a:moveTo>
                  <a:cubicBezTo>
                    <a:pt x="21600" y="12259"/>
                    <a:pt x="21339" y="12460"/>
                    <a:pt x="21021" y="12460"/>
                  </a:cubicBezTo>
                  <a:lnTo>
                    <a:pt x="16990" y="12460"/>
                  </a:lnTo>
                  <a:lnTo>
                    <a:pt x="13714" y="18359"/>
                  </a:lnTo>
                  <a:cubicBezTo>
                    <a:pt x="13627" y="18526"/>
                    <a:pt x="13417" y="18624"/>
                    <a:pt x="13184" y="18624"/>
                  </a:cubicBezTo>
                  <a:lnTo>
                    <a:pt x="847" y="18624"/>
                  </a:lnTo>
                  <a:cubicBezTo>
                    <a:pt x="523" y="18624"/>
                    <a:pt x="264" y="18428"/>
                    <a:pt x="264" y="18177"/>
                  </a:cubicBezTo>
                  <a:cubicBezTo>
                    <a:pt x="264" y="17928"/>
                    <a:pt x="523" y="17723"/>
                    <a:pt x="847" y="17723"/>
                  </a:cubicBezTo>
                  <a:lnTo>
                    <a:pt x="12810" y="17723"/>
                  </a:lnTo>
                  <a:lnTo>
                    <a:pt x="16086" y="11824"/>
                  </a:lnTo>
                  <a:cubicBezTo>
                    <a:pt x="16174" y="11657"/>
                    <a:pt x="16384" y="11554"/>
                    <a:pt x="16613" y="11554"/>
                  </a:cubicBezTo>
                  <a:lnTo>
                    <a:pt x="21021" y="11554"/>
                  </a:lnTo>
                  <a:cubicBezTo>
                    <a:pt x="21339" y="11554"/>
                    <a:pt x="21600" y="11758"/>
                    <a:pt x="21600" y="12006"/>
                  </a:cubicBezTo>
                  <a:cubicBezTo>
                    <a:pt x="21600" y="12006"/>
                    <a:pt x="21600" y="12006"/>
                    <a:pt x="21600" y="12006"/>
                  </a:cubicBezTo>
                  <a:close/>
                  <a:moveTo>
                    <a:pt x="3650" y="4466"/>
                  </a:moveTo>
                  <a:cubicBezTo>
                    <a:pt x="5034" y="4466"/>
                    <a:pt x="6147" y="5345"/>
                    <a:pt x="6147" y="6435"/>
                  </a:cubicBezTo>
                  <a:lnTo>
                    <a:pt x="6147" y="9675"/>
                  </a:lnTo>
                  <a:lnTo>
                    <a:pt x="1158" y="9675"/>
                  </a:lnTo>
                  <a:lnTo>
                    <a:pt x="1158" y="6435"/>
                  </a:lnTo>
                  <a:cubicBezTo>
                    <a:pt x="1158" y="5345"/>
                    <a:pt x="2273" y="4466"/>
                    <a:pt x="3650" y="4466"/>
                  </a:cubicBezTo>
                  <a:cubicBezTo>
                    <a:pt x="3650" y="4466"/>
                    <a:pt x="3650" y="4466"/>
                    <a:pt x="3650" y="4466"/>
                  </a:cubicBezTo>
                  <a:close/>
                  <a:moveTo>
                    <a:pt x="10936" y="11113"/>
                  </a:moveTo>
                  <a:lnTo>
                    <a:pt x="5982" y="15080"/>
                  </a:lnTo>
                  <a:cubicBezTo>
                    <a:pt x="4963" y="13984"/>
                    <a:pt x="5059" y="12430"/>
                    <a:pt x="6310" y="11431"/>
                  </a:cubicBezTo>
                  <a:cubicBezTo>
                    <a:pt x="6992" y="10888"/>
                    <a:pt x="7903" y="10585"/>
                    <a:pt x="8872" y="10585"/>
                  </a:cubicBezTo>
                  <a:cubicBezTo>
                    <a:pt x="9620" y="10590"/>
                    <a:pt x="10341" y="10772"/>
                    <a:pt x="10936" y="11113"/>
                  </a:cubicBezTo>
                  <a:cubicBezTo>
                    <a:pt x="10936" y="11113"/>
                    <a:pt x="10936" y="11113"/>
                    <a:pt x="10936" y="11113"/>
                  </a:cubicBezTo>
                  <a:close/>
                  <a:moveTo>
                    <a:pt x="11438" y="15405"/>
                  </a:moveTo>
                  <a:cubicBezTo>
                    <a:pt x="10228" y="16366"/>
                    <a:pt x="8201" y="16481"/>
                    <a:pt x="6809" y="15716"/>
                  </a:cubicBezTo>
                  <a:lnTo>
                    <a:pt x="11765" y="11750"/>
                  </a:lnTo>
                  <a:cubicBezTo>
                    <a:pt x="12784" y="12856"/>
                    <a:pt x="12685" y="14398"/>
                    <a:pt x="11438" y="15405"/>
                  </a:cubicBezTo>
                  <a:cubicBezTo>
                    <a:pt x="11438" y="15405"/>
                    <a:pt x="11438" y="15405"/>
                    <a:pt x="11438" y="15405"/>
                  </a:cubicBezTo>
                  <a:close/>
                  <a:moveTo>
                    <a:pt x="1158" y="14082"/>
                  </a:moveTo>
                  <a:lnTo>
                    <a:pt x="1158" y="10585"/>
                  </a:lnTo>
                  <a:lnTo>
                    <a:pt x="5811" y="10585"/>
                  </a:lnTo>
                  <a:cubicBezTo>
                    <a:pt x="5704" y="10652"/>
                    <a:pt x="5590" y="10720"/>
                    <a:pt x="5493" y="10794"/>
                  </a:cubicBezTo>
                  <a:cubicBezTo>
                    <a:pt x="3821" y="12135"/>
                    <a:pt x="3713" y="14218"/>
                    <a:pt x="5109" y="15670"/>
                  </a:cubicBezTo>
                  <a:cubicBezTo>
                    <a:pt x="4686" y="15913"/>
                    <a:pt x="4187" y="16050"/>
                    <a:pt x="3650" y="16050"/>
                  </a:cubicBezTo>
                  <a:cubicBezTo>
                    <a:pt x="2273" y="16050"/>
                    <a:pt x="1158" y="15170"/>
                    <a:pt x="1158" y="14082"/>
                  </a:cubicBezTo>
                  <a:cubicBezTo>
                    <a:pt x="1158" y="14082"/>
                    <a:pt x="1158" y="14082"/>
                    <a:pt x="1158" y="14082"/>
                  </a:cubicBezTo>
                  <a:close/>
                  <a:moveTo>
                    <a:pt x="3650" y="16958"/>
                  </a:moveTo>
                  <a:cubicBezTo>
                    <a:pt x="4485" y="16958"/>
                    <a:pt x="5271" y="16732"/>
                    <a:pt x="5916" y="16323"/>
                  </a:cubicBezTo>
                  <a:cubicBezTo>
                    <a:pt x="6761" y="16852"/>
                    <a:pt x="7778" y="17155"/>
                    <a:pt x="8872" y="17155"/>
                  </a:cubicBezTo>
                  <a:cubicBezTo>
                    <a:pt x="10151" y="17155"/>
                    <a:pt x="11360" y="16761"/>
                    <a:pt x="12252" y="16041"/>
                  </a:cubicBezTo>
                  <a:cubicBezTo>
                    <a:pt x="14088" y="14573"/>
                    <a:pt x="14067" y="12195"/>
                    <a:pt x="12204" y="10750"/>
                  </a:cubicBezTo>
                  <a:cubicBezTo>
                    <a:pt x="11304" y="10059"/>
                    <a:pt x="10123" y="9675"/>
                    <a:pt x="8872" y="9675"/>
                  </a:cubicBezTo>
                  <a:cubicBezTo>
                    <a:pt x="8326" y="9675"/>
                    <a:pt x="7799" y="9764"/>
                    <a:pt x="7297" y="9902"/>
                  </a:cubicBezTo>
                  <a:lnTo>
                    <a:pt x="7297" y="6435"/>
                  </a:lnTo>
                  <a:cubicBezTo>
                    <a:pt x="7297" y="4846"/>
                    <a:pt x="5667" y="3557"/>
                    <a:pt x="3650" y="3557"/>
                  </a:cubicBezTo>
                  <a:cubicBezTo>
                    <a:pt x="1639" y="3557"/>
                    <a:pt x="0" y="4846"/>
                    <a:pt x="0" y="6435"/>
                  </a:cubicBezTo>
                  <a:lnTo>
                    <a:pt x="0" y="14082"/>
                  </a:lnTo>
                  <a:cubicBezTo>
                    <a:pt x="0" y="15670"/>
                    <a:pt x="1639" y="16958"/>
                    <a:pt x="3650" y="16958"/>
                  </a:cubicBezTo>
                  <a:cubicBezTo>
                    <a:pt x="3650" y="16958"/>
                    <a:pt x="3650" y="16958"/>
                    <a:pt x="3650" y="1695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82345" y="909320"/>
            <a:ext cx="3421380" cy="676275"/>
            <a:chOff x="1547" y="1432"/>
            <a:chExt cx="4780" cy="1065"/>
          </a:xfrm>
        </p:grpSpPr>
        <p:sp>
          <p:nvSpPr>
            <p:cNvPr id="10" name="五边形 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数据表的关联关系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5595" y="1631950"/>
            <a:ext cx="6889750" cy="352996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75050" y="2058670"/>
            <a:ext cx="561721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需要注意的是，一对一关联关系在数据库中并不常见，因为以这种方式存储的信息通常会放在一个表中。在实际开发中，一对一关联关系可以应用于如下场景。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）分割具有很多列的表。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）由于安全原因而隔离表的一部分。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）保存临时数据，并且可以毫不费力地通过删除保存临时数据的表，而删除这些数据。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057275"/>
            <a:ext cx="8979535" cy="176403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364740" y="1129665"/>
            <a:ext cx="7908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例如，在员工表emp的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deptno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字段上添加外键约束，引用部门表dept的主键字段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deptno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，如此就通过外键加强了员工表和部门表数据之间的关联。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2570" y="3785235"/>
            <a:ext cx="6358255" cy="27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222750" y="3065145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员工表和部门表数据之间的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02435" y="2421890"/>
            <a:ext cx="8979535" cy="234124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350770" y="2849245"/>
            <a:ext cx="7908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已经为员工表emp添加外键约束。此时员工表emp和部门表dept之间是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多对一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的关联关系。下面演示在这两个关联表中添加数据，具体如下。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47472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（1）往主表dept中插入数据。因为从表emp的外键列只能插入所引用的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（部门表的deptno字段）中存在的值，所以如果要为两个数据表添加数据，就需要先为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dept添加数据，插入数据的SQL语句如下。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86710" y="4437380"/>
            <a:ext cx="6962775" cy="628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dept VALUES(50, '人力资源部');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0366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8425" y="2171065"/>
            <a:ext cx="731456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）往从表emp中插入数据。主表中添加的数据中，主键deptno的值包含10、20、30、40和50，由于员工表emp的外键引用部门表的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deptno，因此在往员工表emp中添加数据时，其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deptno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字段的值只能是10、20、30、40和50，不能使用其他的值，具体语句如下。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89860" y="4725670"/>
            <a:ext cx="7237730" cy="8680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 VALUES(9966,'八戒','运营专员',9839,3000,2000,40);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INSERT INTO emp VALUES(9999,'悟空','人事专员',9982,3000,NULL,50);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555115" y="1493520"/>
            <a:ext cx="9468485" cy="46145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34235" y="1846580"/>
            <a:ext cx="8105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数据插入成功后，如果要查询人力资源部有哪些员工，可以使用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连接查询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完成，也可以使用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完成。例如使用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内连接查询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完成查询需求，具体SQL语句及执行结果如下所示。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34870" y="3592830"/>
            <a:ext cx="8105140" cy="2268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e.*,d.dname FROM emp e,dept d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-&gt; WHERE e.deptno=d.deptno AND d.dname='人力资源部';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+-------+-------+----------+------+---------+------+--------+------------+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| job      | mgr  | sal     | comm | deptno | dname  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+-------+-------+----------+------+---------+------+--------+------------+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9999 | 悟空  | 人事专员 | 9982 | 3000.00 | NULL |     50 | 人力资源部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+-------+-------+----------+------+---------+------+--------+------------+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28238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从上述执行结果可以得出，人力资源部只有1名员工。需要注意的是，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外键约束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是为了保证数据的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统一性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，主表和从表中进行数据的新增、编辑、删除时需要遵循外键约束的要求，但是对数据的查询没有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约束性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494915" y="2205355"/>
            <a:ext cx="7559040" cy="3064510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047" y="3734"/>
              <a:ext cx="9849" cy="2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除了给关联表添加数据，某些情况下也存在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删除关联表中数据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的需求。例如，因为公司组织架构调整，需要取消人力资源部，此时就需要在数据库中将人力资源部删除。下面演示删除关联表中部门表的数据，具体如下。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846580"/>
            <a:ext cx="8979535" cy="313436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364740" y="2134235"/>
            <a:ext cx="790892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由于员工表emp和部门表dept之间使用外键进行了关联，主表dept中已经被引用的值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不能直接删除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。如果要删除人力资源部，需要先将人力资源部中的员工删除，或者转移到其他部门，或者不分配部门（部门编号设置为NULL）。在此选择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先删除人力资源部中的员工，再删除部门表中的人力资源部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17700"/>
            <a:ext cx="8348345" cy="30524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6510" y="2279650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从表emp中属于人力资源部的员工信息，具体SQL语句如下所示。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66365" y="3502025"/>
            <a:ext cx="7359015" cy="1035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DELETE FROM emp WHERE deptno=(SELECT deptno FROM dept WHERE dname='人力资源部');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58340" y="1942465"/>
            <a:ext cx="8803005" cy="34455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8425" y="2277110"/>
            <a:ext cx="76174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（2）删除主表dept中的数据。此时从表emp中已经没有数据引用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主表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dept主键值为人力资源部的记录，可以删除主表dept中部门名称为人力资源部的记录，具体SQL语句及执行结果如下所示。 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1940" y="4077335"/>
            <a:ext cx="6546215" cy="949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DELETE FROM  dept WHERE dname='人力资源部';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211070" y="1845310"/>
            <a:ext cx="8348345" cy="43053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1917065"/>
            <a:ext cx="74974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如果删除关联表的数据时，没有先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从表中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有关联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的数据，而直接删除主表的数据，会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删除失败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。例如，直接删除部门表dept中名称为运营部的记录，具体SQL语句及执行结果如下所示。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2570" y="3357245"/>
            <a:ext cx="7425690" cy="1318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ERROR 1451 (23000): Cannot delete or update a parent row: a foreign key constraint fails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(`ems`.`emp`, CONSTRAINT `fk_deptno` FOREIGN KEY (`deptno`) REFERENCES `dept` (`deptno`))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10815" y="4715510"/>
            <a:ext cx="734949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由此运行结果可以看出，执行删除语句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了。说明在两个具有关联关系的表中删除数据时，需要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先解除从表中外键对主表中主键值的引用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，然后再删除主表中的数据，否则会报错。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操作关联表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1057275"/>
            <a:ext cx="8979535" cy="26098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364740" y="1344930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在实际开发中，根据业务逻辑的需求，需要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解除两个表之间的关联关系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时，就需要删除外键约束。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删除外键约束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2398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删除外键约束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3330" y="2568575"/>
            <a:ext cx="7440930" cy="607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TABLE表名DROP FOREIGN KEY 外键名;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743710" y="4074160"/>
            <a:ext cx="8980170" cy="20313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13330" y="4217035"/>
            <a:ext cx="76301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演示外键约束的删除，例如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将员工表emp中的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外键约束删除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45410" y="5367020"/>
            <a:ext cx="7157720" cy="591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ALTER TABLE emp DROP FOREIGN KEY fk_deptno;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488690" y="3014345"/>
            <a:ext cx="8531225" cy="70675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上机实践：图书管理系统的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多表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操作</a:t>
            </a:r>
            <a:endParaRPr lang="zh-CN" altLang="en-US" sz="4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0680" y="4070985"/>
            <a:ext cx="935736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价格比《西游记》的价格高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14170" y="82550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查询张三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当前借阅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借阅人编号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借阅人名称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借阅时间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1617980" y="1779905"/>
            <a:ext cx="8716645" cy="19284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85925" y="1779905"/>
            <a:ext cx="852297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根据图书表book的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b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orrower_id字段和用户表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user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的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字段将表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和表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user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进行关联，并查询出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user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表中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name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值为张三的记录，查询出的记录只返回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user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表的id、name字段的值，以及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表的 borrower、name、bookname、b.borrow_time字段的值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79270" y="2906395"/>
            <a:ext cx="8474710" cy="591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u.id,u.name borrower,b.name bookname,b.borrow_time FROM book b,user u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b.borrower_id=u.id AND u.name='张三';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601470" y="4633595"/>
            <a:ext cx="8716645" cy="17843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69415" y="463359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首先查询图书表book中name的值为西游记的图书价格，将该查询作为子查询；然后查询价格大于子查询结果的图书信息，查询出的图书信息只返回name、price字段的值，具体的SQL语句如下所示。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25930" y="5614035"/>
            <a:ext cx="8475345" cy="591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name,price FROM book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price&gt;(SELECT price FROM book WHERE name='西游记');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0680" y="84201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查询高于平均价的图书信息。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查询价格比所有图书的平均价格还低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4170" y="369570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根据图书状态查询同类状态的图书。查询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图书状态和《三国演义》相同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617980" y="1779905"/>
            <a:ext cx="8716645" cy="16256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85925" y="177990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首先查询图书表book中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的平均值，将该查询作为子查询；然后查询价格小于于子查询结果的图书信息，查询出的图书信息只返回name、price字段的值，具体的SQL语句如下所示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74190" y="2567940"/>
            <a:ext cx="8119110" cy="657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name,price FROM book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price&lt;(SELECT AVG(price) FROM book);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601470" y="4633595"/>
            <a:ext cx="8716645" cy="16256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69415" y="463359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首先查询图书表book中三国演义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的值，将该查询作为子查询；然后查询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值和子查询结果相同的图书信息，查询出的图书信息只返回name、price、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字段的值，具体的SQL语句如下所示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38630" y="5511165"/>
            <a:ext cx="8154670" cy="695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name,price,state FROM book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state=(SELECT state FROM book WHERE name='三国演义');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0680" y="392811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查询价格比任意已借阅的图书价格还高的图书信息，图书信息只需显示图书名称、图书价格和状态。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14170" y="467360"/>
            <a:ext cx="935736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查询已借阅的低于某价格的图书信息。查询已借阅图书中，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价格比任意未借阅的图书价格还低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的图书信息，图书信息只需显示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图书名称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图书价格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601470" y="1763395"/>
            <a:ext cx="8716645" cy="16256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69415" y="176339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首先查询图书表book中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等于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的图书价格，将该查询作为子查询；然后查询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值等于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，并且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小于任意一个子查询结果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的图书信息，查询出的图书信息只返回name、price、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601470" y="4777105"/>
            <a:ext cx="8716645" cy="16256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69415" y="477710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首先查询图书表book中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等于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的图书价格，将该查询作为子查询；然后查询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表中</a:t>
            </a: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price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字段的值大于所有子查询结果的图书信息，查询出的图书信息只返回name、price、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state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字段的值，具体的SQL语句如下所示。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38630" y="5582920"/>
            <a:ext cx="8474710" cy="657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name,price,state FROM book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price&gt;ALL(SELECT price FROM book WHERE state=1);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32915" y="2567940"/>
            <a:ext cx="8474710" cy="657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SELECT name,price,state FROM book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WHERE state=1 AND price&lt;ANY(SELECT price FROM book WHERE state=0);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14170" y="1400175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添加外键约束，对图书表中的借阅者编号添加外键约束，以保证数据的完整性。</a:t>
            </a:r>
            <a:endParaRPr 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601470" y="2050415"/>
            <a:ext cx="8716645" cy="22580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69415" y="2050415"/>
            <a:ext cx="85229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在图书表book中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borrower_id字段添加外键约束，创建的外键引用user表的id字段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，具体的SQL语句如下所示。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83385" y="3088005"/>
            <a:ext cx="8474710" cy="803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TABLE book ADD CONSTRAINT FK_ID FOREIGN KEY(borrower_id)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REFERENCES user (id);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25955" y="1125220"/>
            <a:ext cx="8229600" cy="505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多表操作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进行了详细讲解。首先对多表查询进行了介绍，其次讲解了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子查询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，然后讲解了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外键约束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；最后通过上机实践案例，加深读者对多表操作的熟练度。通过本章的学习，希望读者能够掌握多表操作的基本使用，为后续的学习打下坚实的基础。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43635" y="1485265"/>
            <a:ext cx="9794240" cy="4623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7"/>
  <p:tag name="RESOURCELIBID_ANIM" val="450"/>
</p:tagLst>
</file>

<file path=ppt/tags/tag2.xml><?xml version="1.0" encoding="utf-8"?>
<p:tagLst xmlns:p="http://schemas.openxmlformats.org/presentationml/2006/main">
  <p:tag name="KSO_WM_UNIT_TABLE_BEAUTIFY" val="smartTable{32a10381-9c57-490b-95db-b2a8c35a4b6c}"/>
  <p:tag name="TABLE_ENDDRAG_ORIGIN_RECT" val="688*261"/>
  <p:tag name="TABLE_ENDDRAG_RECT" val="145*230*688*261"/>
</p:tagLst>
</file>

<file path=ppt/tags/tag3.xml><?xml version="1.0" encoding="utf-8"?>
<p:tagLst xmlns:p="http://schemas.openxmlformats.org/presentationml/2006/main">
  <p:tag name="PA" val="v5.2.7"/>
  <p:tag name="RESOURCELIBID_ANIM" val="450"/>
</p:tagLst>
</file>

<file path=ppt/tags/tag4.xml><?xml version="1.0" encoding="utf-8"?>
<p:tagLst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12112</Words>
  <Application>WPS 演示</Application>
  <PresentationFormat>自定义</PresentationFormat>
  <Paragraphs>500</Paragraphs>
  <Slides>62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85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Roboto</vt:lpstr>
      <vt:lpstr>Open Sans Light</vt:lpstr>
      <vt:lpstr>Courier New</vt:lpstr>
      <vt:lpstr>字魂105号-简雅黑</vt:lpstr>
      <vt:lpstr>Arial Unicode MS</vt:lpstr>
      <vt:lpstr>思源黑体 CN Normal</vt:lpstr>
      <vt:lpstr>Times New Roman</vt:lpstr>
      <vt:lpstr>Arial</vt:lpstr>
      <vt:lpstr>Segoe Print</vt:lpstr>
      <vt:lpstr>Open Sans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tk</cp:lastModifiedBy>
  <cp:revision>53</cp:revision>
  <dcterms:created xsi:type="dcterms:W3CDTF">2020-11-11T09:29:00Z</dcterms:created>
  <dcterms:modified xsi:type="dcterms:W3CDTF">2022-06-17T07:57:35Z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DA523DBF662949D6AFE44A183DC3CF44</vt:lpwstr>
  </property>
</Properties>
</file>