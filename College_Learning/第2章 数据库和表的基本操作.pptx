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99"/>
  </p:handoutMasterIdLst>
  <p:sldIdLst>
    <p:sldId id="325" r:id="rId4"/>
    <p:sldId id="264" r:id="rId6"/>
    <p:sldId id="328" r:id="rId7"/>
    <p:sldId id="327" r:id="rId8"/>
    <p:sldId id="351" r:id="rId9"/>
    <p:sldId id="309" r:id="rId10"/>
    <p:sldId id="457" r:id="rId11"/>
    <p:sldId id="259" r:id="rId12"/>
    <p:sldId id="458" r:id="rId13"/>
    <p:sldId id="528" r:id="rId14"/>
    <p:sldId id="624" r:id="rId15"/>
    <p:sldId id="459" r:id="rId16"/>
    <p:sldId id="354" r:id="rId17"/>
    <p:sldId id="529" r:id="rId18"/>
    <p:sldId id="460" r:id="rId19"/>
    <p:sldId id="382" r:id="rId20"/>
    <p:sldId id="530" r:id="rId21"/>
    <p:sldId id="461" r:id="rId22"/>
    <p:sldId id="383" r:id="rId23"/>
    <p:sldId id="531" r:id="rId24"/>
    <p:sldId id="340" r:id="rId25"/>
    <p:sldId id="462" r:id="rId26"/>
    <p:sldId id="357" r:id="rId27"/>
    <p:sldId id="358" r:id="rId28"/>
    <p:sldId id="359" r:id="rId29"/>
    <p:sldId id="360" r:id="rId30"/>
    <p:sldId id="463" r:id="rId31"/>
    <p:sldId id="384" r:id="rId32"/>
    <p:sldId id="532" r:id="rId33"/>
    <p:sldId id="465" r:id="rId34"/>
    <p:sldId id="363" r:id="rId35"/>
    <p:sldId id="533" r:id="rId36"/>
    <p:sldId id="625" r:id="rId37"/>
    <p:sldId id="534" r:id="rId38"/>
    <p:sldId id="466" r:id="rId39"/>
    <p:sldId id="467" r:id="rId40"/>
    <p:sldId id="468" r:id="rId41"/>
    <p:sldId id="469" r:id="rId42"/>
    <p:sldId id="470" r:id="rId43"/>
    <p:sldId id="537" r:id="rId44"/>
    <p:sldId id="471" r:id="rId45"/>
    <p:sldId id="472" r:id="rId46"/>
    <p:sldId id="474" r:id="rId47"/>
    <p:sldId id="475" r:id="rId48"/>
    <p:sldId id="476" r:id="rId49"/>
    <p:sldId id="477" r:id="rId50"/>
    <p:sldId id="478" r:id="rId51"/>
    <p:sldId id="479" r:id="rId52"/>
    <p:sldId id="480" r:id="rId53"/>
    <p:sldId id="481" r:id="rId54"/>
    <p:sldId id="482" r:id="rId55"/>
    <p:sldId id="386" r:id="rId56"/>
    <p:sldId id="367" r:id="rId57"/>
    <p:sldId id="483" r:id="rId58"/>
    <p:sldId id="484" r:id="rId59"/>
    <p:sldId id="387" r:id="rId60"/>
    <p:sldId id="538" r:id="rId61"/>
    <p:sldId id="539" r:id="rId62"/>
    <p:sldId id="540" r:id="rId63"/>
    <p:sldId id="541" r:id="rId64"/>
    <p:sldId id="485" r:id="rId65"/>
    <p:sldId id="388" r:id="rId66"/>
    <p:sldId id="542" r:id="rId67"/>
    <p:sldId id="543" r:id="rId68"/>
    <p:sldId id="544" r:id="rId69"/>
    <p:sldId id="545" r:id="rId70"/>
    <p:sldId id="486" r:id="rId71"/>
    <p:sldId id="390" r:id="rId72"/>
    <p:sldId id="546" r:id="rId73"/>
    <p:sldId id="547" r:id="rId74"/>
    <p:sldId id="548" r:id="rId75"/>
    <p:sldId id="549" r:id="rId76"/>
    <p:sldId id="487" r:id="rId77"/>
    <p:sldId id="391" r:id="rId78"/>
    <p:sldId id="550" r:id="rId79"/>
    <p:sldId id="551" r:id="rId80"/>
    <p:sldId id="552" r:id="rId81"/>
    <p:sldId id="553" r:id="rId82"/>
    <p:sldId id="392" r:id="rId83"/>
    <p:sldId id="488" r:id="rId84"/>
    <p:sldId id="389" r:id="rId85"/>
    <p:sldId id="554" r:id="rId86"/>
    <p:sldId id="555" r:id="rId87"/>
    <p:sldId id="341" r:id="rId88"/>
    <p:sldId id="719" r:id="rId89"/>
    <p:sldId id="720" r:id="rId90"/>
    <p:sldId id="559" r:id="rId91"/>
    <p:sldId id="560" r:id="rId92"/>
    <p:sldId id="714" r:id="rId93"/>
    <p:sldId id="729" r:id="rId94"/>
    <p:sldId id="730" r:id="rId95"/>
    <p:sldId id="557" r:id="rId96"/>
    <p:sldId id="394" r:id="rId97"/>
    <p:sldId id="326" r:id="rId98"/>
  </p:sldIdLst>
  <p:sldSz cx="12190095" cy="6859270"/>
  <p:notesSz cx="6858000" cy="9144000"/>
  <p:custDataLst>
    <p:tags r:id="rId104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zhe" initials="wz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AFAFA"/>
    <a:srgbClr val="F2F2F2"/>
    <a:srgbClr val="006BBC"/>
    <a:srgbClr val="0075CC"/>
    <a:srgbClr val="008DF6"/>
    <a:srgbClr val="005DA2"/>
    <a:srgbClr val="F5F5F5"/>
    <a:srgbClr val="399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08" autoAdjust="0"/>
    <p:restoredTop sz="94660" autoAdjust="0"/>
  </p:normalViewPr>
  <p:slideViewPr>
    <p:cSldViewPr>
      <p:cViewPr varScale="1">
        <p:scale>
          <a:sx n="59" d="100"/>
          <a:sy n="59" d="100"/>
        </p:scale>
        <p:origin x="80" y="260"/>
      </p:cViewPr>
      <p:guideLst>
        <p:guide orient="horz" pos="2067"/>
        <p:guide pos="256"/>
        <p:guide pos="66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756"/>
        <p:guide pos="22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handoutMaster" Target="handoutMasters/handoutMaster1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4" Type="http://schemas.openxmlformats.org/officeDocument/2006/relationships/tags" Target="tags/tag39.xml"/><Relationship Id="rId103" Type="http://schemas.openxmlformats.org/officeDocument/2006/relationships/commentAuthors" Target="commentAuthors.xml"/><Relationship Id="rId102" Type="http://schemas.openxmlformats.org/officeDocument/2006/relationships/tableStyles" Target="tableStyles.xml"/><Relationship Id="rId101" Type="http://schemas.openxmlformats.org/officeDocument/2006/relationships/viewProps" Target="viewProps.xml"/><Relationship Id="rId100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71ABEE-DCA7-46CA-AE8D-4C0BF38F3AC6}" type="doc">
      <dgm:prSet loTypeId="urn:microsoft.com/office/officeart/2005/8/layout/chevron2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8EBC3E71-5301-47A5-BCDE-F837F0474F9D}">
      <dgm:prSet phldrT="[文本]" phldr="0" custT="0"/>
      <dgm:spPr>
        <a:solidFill>
          <a:srgbClr val="81A7DF"/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创建</a:t>
          </a:r>
        </a:p>
      </dgm:t>
    </dgm:pt>
    <dgm:pt modelId="{1155BBF0-E866-499E-A4ED-560E8CD314CD}" cxnId="{97B077B5-0174-4DAC-B56D-912F3DE6B7E4}" type="parTrans">
      <dgm:prSet/>
      <dgm:spPr/>
      <dgm:t>
        <a:bodyPr/>
        <a:lstStyle/>
        <a:p>
          <a:endParaRPr lang="zh-CN" altLang="en-US"/>
        </a:p>
      </dgm:t>
    </dgm:pt>
    <dgm:pt modelId="{BA53CC0A-E02E-4A6B-B30B-23F5694F18CD}" cxnId="{97B077B5-0174-4DAC-B56D-912F3DE6B7E4}" type="sibTrans">
      <dgm:prSet/>
      <dgm:spPr/>
      <dgm:t>
        <a:bodyPr/>
        <a:lstStyle/>
        <a:p>
          <a:endParaRPr lang="zh-CN" altLang="en-US"/>
        </a:p>
      </dgm:t>
    </dgm:pt>
    <dgm:pt modelId="{607049DE-886A-4A9C-B8EF-ECB9FCFBFC93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创建数据库</a:t>
          </a:r>
          <a:r>
            <a:rPr lang="en-US" altLang="zh-CN" sz="16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itcast字符集为</a:t>
          </a:r>
          <a:r>
            <a:rPr lang="en-US" altLang="zh-CN" sz="1600" dirty="0" err="1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utf8mb4</a:t>
          </a:r>
          <a:r>
            <a:rPr lang="zh-CN" altLang="en-US" sz="16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。</a:t>
          </a:r>
        </a:p>
      </dgm:t>
    </dgm:pt>
    <dgm:pt modelId="{D8A219FB-BA91-43BF-94E2-59B4E338027E}" cxnId="{A7B73906-4669-49DF-8FD3-3DD80457E5E7}" type="parTrans">
      <dgm:prSet/>
      <dgm:spPr/>
      <dgm:t>
        <a:bodyPr/>
        <a:lstStyle/>
        <a:p>
          <a:endParaRPr lang="zh-CN" altLang="en-US"/>
        </a:p>
      </dgm:t>
    </dgm:pt>
    <dgm:pt modelId="{E4FE8195-E4E5-432C-A1DA-7199CBD448AC}" cxnId="{A7B73906-4669-49DF-8FD3-3DD80457E5E7}" type="sibTrans">
      <dgm:prSet/>
      <dgm:spPr/>
      <dgm:t>
        <a:bodyPr/>
        <a:lstStyle/>
        <a:p>
          <a:endParaRPr lang="zh-CN" altLang="en-US"/>
        </a:p>
      </dgm:t>
    </dgm:pt>
    <dgm:pt modelId="{D961BCD2-003C-445A-A70B-3F6ED086FA2A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CREATE DATABASE </a:t>
          </a:r>
          <a:r>
            <a:rPr lang="en-US" sz="16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itcast</a:t>
          </a:r>
          <a:r>
            <a:rPr 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IF NOT EXISTS itcast CHARACTER SET utf8mb4;</a:t>
          </a:r>
          <a:endParaRPr lang="zh-CN" altLang="en-US" sz="1600" dirty="0" err="1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gm:t>
    </dgm:pt>
    <dgm:pt modelId="{EC60CF42-05B3-4BBD-89DC-AA48661B69B9}" cxnId="{35564CD6-E4E4-47FD-AB1B-472D9BC692CA}" type="parTrans">
      <dgm:prSet/>
      <dgm:spPr/>
    </dgm:pt>
    <dgm:pt modelId="{D4EA4284-84DE-4834-B1AC-1426ED7172CF}" cxnId="{35564CD6-E4E4-47FD-AB1B-472D9BC692CA}" type="sibTrans">
      <dgm:prSet/>
      <dgm:spPr/>
    </dgm:pt>
    <dgm:pt modelId="{3A89AEE5-674D-4EAE-B2DA-97F84C0B81A1}">
      <dgm:prSet phldrT="[文本]" phldr="0" custT="0"/>
      <dgm:spPr>
        <a:solidFill>
          <a:srgbClr val="81A7DF"/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执行结果</a:t>
          </a:r>
        </a:p>
      </dgm:t>
    </dgm:pt>
    <dgm:pt modelId="{5F4B68F7-0B6A-4D1F-BFF6-A6D41C15A327}" cxnId="{6A73B999-9960-452E-AE33-4AFE499680FC}" type="parTrans">
      <dgm:prSet/>
      <dgm:spPr/>
      <dgm:t>
        <a:bodyPr/>
        <a:lstStyle/>
        <a:p>
          <a:endParaRPr lang="zh-CN" altLang="en-US"/>
        </a:p>
      </dgm:t>
    </dgm:pt>
    <dgm:pt modelId="{23B50204-B9AF-4C22-A6F8-8388E81F2BB0}" cxnId="{6A73B999-9960-452E-AE33-4AFE499680FC}" type="sibTrans">
      <dgm:prSet/>
      <dgm:spPr/>
      <dgm:t>
        <a:bodyPr/>
        <a:lstStyle/>
        <a:p>
          <a:endParaRPr lang="zh-CN" altLang="en-US"/>
        </a:p>
      </dgm:t>
    </dgm:pt>
    <dgm:pt modelId="{5027E4A2-6AB3-4D55-B594-361F9BEFFCD8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Query OK, 1 row affected (0.01 sec)</a:t>
          </a:r>
        </a:p>
      </dgm:t>
    </dgm:pt>
    <dgm:pt modelId="{D5ED1233-C5BB-432F-8D10-B5F4654F1232}" cxnId="{85D5C917-EB31-4822-8DD1-7836D43989F1}" type="parTrans">
      <dgm:prSet/>
      <dgm:spPr/>
      <dgm:t>
        <a:bodyPr/>
        <a:lstStyle/>
        <a:p>
          <a:endParaRPr lang="zh-CN" altLang="en-US"/>
        </a:p>
      </dgm:t>
    </dgm:pt>
    <dgm:pt modelId="{DD06E458-9F30-429F-AE19-B72C78EBE048}" cxnId="{85D5C917-EB31-4822-8DD1-7836D43989F1}" type="sibTrans">
      <dgm:prSet/>
      <dgm:spPr/>
      <dgm:t>
        <a:bodyPr/>
        <a:lstStyle/>
        <a:p>
          <a:endParaRPr lang="zh-CN" altLang="en-US"/>
        </a:p>
      </dgm:t>
    </dgm:pt>
    <dgm:pt modelId="{EDE49C4C-9B43-41E8-AD16-E89132B838DC}">
      <dgm:prSet phldrT="[文本]" phldr="0" custT="0"/>
      <dgm:spPr>
        <a:solidFill>
          <a:srgbClr val="81A7DF"/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查看数据库</a:t>
          </a:r>
        </a:p>
      </dgm:t>
    </dgm:pt>
    <dgm:pt modelId="{F7A999F0-B25A-4090-B71C-65BA9EF3AD31}" cxnId="{DFA840C9-961F-4406-B75B-A5DFD6F1AEB8}" type="parTrans">
      <dgm:prSet/>
      <dgm:spPr/>
      <dgm:t>
        <a:bodyPr/>
        <a:lstStyle/>
        <a:p>
          <a:endParaRPr lang="zh-CN" altLang="en-US"/>
        </a:p>
      </dgm:t>
    </dgm:pt>
    <dgm:pt modelId="{88CECD91-BDC3-4008-82A8-31E2CCF0204B}" cxnId="{DFA840C9-961F-4406-B75B-A5DFD6F1AEB8}" type="sibTrans">
      <dgm:prSet/>
      <dgm:spPr/>
      <dgm:t>
        <a:bodyPr/>
        <a:lstStyle/>
        <a:p>
          <a:endParaRPr lang="zh-CN" altLang="en-US"/>
        </a:p>
      </dgm:t>
    </dgm:pt>
    <dgm:pt modelId="{B3D0E04F-E637-4FA1-BD8C-AE9BDB876A8A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SHOW DATABASES;</a:t>
          </a:r>
          <a:endParaRPr lang="en-US" altLang="en-US" sz="16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C23F8C5-6B54-40DF-B24D-16C1307D327C}" cxnId="{48BFCF94-9AC8-478F-A09D-D5949C6ADE3D}" type="parTrans">
      <dgm:prSet/>
      <dgm:spPr/>
      <dgm:t>
        <a:bodyPr/>
        <a:lstStyle/>
        <a:p>
          <a:endParaRPr lang="zh-CN" altLang="en-US"/>
        </a:p>
      </dgm:t>
    </dgm:pt>
    <dgm:pt modelId="{47AA0320-D98A-4EF5-857C-1AE1BB914E49}" cxnId="{48BFCF94-9AC8-478F-A09D-D5949C6ADE3D}" type="sibTrans">
      <dgm:prSet/>
      <dgm:spPr/>
      <dgm:t>
        <a:bodyPr/>
        <a:lstStyle/>
        <a:p>
          <a:endParaRPr lang="zh-CN" altLang="en-US"/>
        </a:p>
      </dgm:t>
    </dgm:pt>
    <dgm:pt modelId="{67B3215A-ECC7-4276-AE7B-A09F02A13401}" type="pres">
      <dgm:prSet presAssocID="{4371ABEE-DCA7-46CA-AE8D-4C0BF38F3AC6}" presName="linearFlow" presStyleCnt="0">
        <dgm:presLayoutVars>
          <dgm:dir/>
          <dgm:animLvl val="lvl"/>
          <dgm:resizeHandles val="exact"/>
        </dgm:presLayoutVars>
      </dgm:prSet>
      <dgm:spPr/>
    </dgm:pt>
    <dgm:pt modelId="{BD233FB5-3BAF-4986-8312-62E3EDC532F5}" type="pres">
      <dgm:prSet presAssocID="{8EBC3E71-5301-47A5-BCDE-F837F0474F9D}" presName="composite" presStyleCnt="0"/>
      <dgm:spPr/>
    </dgm:pt>
    <dgm:pt modelId="{779F285C-23C7-4913-8ACF-8C077B0BBE7F}" type="pres">
      <dgm:prSet presAssocID="{8EBC3E71-5301-47A5-BCDE-F837F0474F9D}" presName="parentText" presStyleLbl="alignNode1" presStyleIdx="0" presStyleCnt="3" custLinFactNeighborX="0" custLinFactNeighborY="-122">
        <dgm:presLayoutVars>
          <dgm:chMax val="1"/>
          <dgm:bulletEnabled val="1"/>
        </dgm:presLayoutVars>
      </dgm:prSet>
      <dgm:spPr/>
    </dgm:pt>
    <dgm:pt modelId="{9FC909F2-91B1-46B6-9F64-25CB1E0BB6F0}" type="pres">
      <dgm:prSet presAssocID="{8EBC3E71-5301-47A5-BCDE-F837F0474F9D}" presName="descendantText" presStyleLbl="alignAcc1" presStyleIdx="0" presStyleCnt="3">
        <dgm:presLayoutVars>
          <dgm:bulletEnabled val="1"/>
        </dgm:presLayoutVars>
      </dgm:prSet>
      <dgm:spPr/>
    </dgm:pt>
    <dgm:pt modelId="{602176D8-1017-46EC-8F69-53E2777F2D58}" type="pres">
      <dgm:prSet presAssocID="{BA53CC0A-E02E-4A6B-B30B-23F5694F18CD}" presName="sp" presStyleCnt="0"/>
      <dgm:spPr/>
    </dgm:pt>
    <dgm:pt modelId="{DA2E9518-C072-43F7-B9A2-BA9894A6ABEE}" type="pres">
      <dgm:prSet presAssocID="{3A89AEE5-674D-4EAE-B2DA-97F84C0B81A1}" presName="composite" presStyleCnt="0"/>
      <dgm:spPr/>
    </dgm:pt>
    <dgm:pt modelId="{9BC63501-6A43-43D2-9612-0F3F78E579D2}" type="pres">
      <dgm:prSet presAssocID="{3A89AEE5-674D-4EAE-B2DA-97F84C0B81A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13FD797-E483-447F-8294-419CD1086AE1}" type="pres">
      <dgm:prSet presAssocID="{3A89AEE5-674D-4EAE-B2DA-97F84C0B81A1}" presName="descendantText" presStyleLbl="alignAcc1" presStyleIdx="1" presStyleCnt="3">
        <dgm:presLayoutVars>
          <dgm:bulletEnabled val="1"/>
        </dgm:presLayoutVars>
      </dgm:prSet>
      <dgm:spPr/>
    </dgm:pt>
    <dgm:pt modelId="{13AF2D74-7DC9-44E0-8E0B-E78D70EDC151}" type="pres">
      <dgm:prSet presAssocID="{23B50204-B9AF-4C22-A6F8-8388E81F2BB0}" presName="sp" presStyleCnt="0"/>
      <dgm:spPr/>
    </dgm:pt>
    <dgm:pt modelId="{2B8D98B3-959A-4071-9D6B-59267C2A1443}" type="pres">
      <dgm:prSet presAssocID="{EDE49C4C-9B43-41E8-AD16-E89132B838DC}" presName="composite" presStyleCnt="0"/>
      <dgm:spPr/>
    </dgm:pt>
    <dgm:pt modelId="{4985B4C8-0C10-47ED-9FD9-4FBDDF31CBC8}" type="pres">
      <dgm:prSet presAssocID="{EDE49C4C-9B43-41E8-AD16-E89132B838DC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760AF58-AC6C-4306-A803-B72DE4092CD7}" type="pres">
      <dgm:prSet presAssocID="{EDE49C4C-9B43-41E8-AD16-E89132B838DC}" presName="descendantText" presStyleLbl="alignAcc1" presStyleIdx="2" presStyleCnt="3" custLinFactNeighborX="0" custLinFactNeighborY="1333">
        <dgm:presLayoutVars>
          <dgm:bulletEnabled val="1"/>
        </dgm:presLayoutVars>
      </dgm:prSet>
      <dgm:spPr/>
    </dgm:pt>
  </dgm:ptLst>
  <dgm:cxnLst>
    <dgm:cxn modelId="{A7B73906-4669-49DF-8FD3-3DD80457E5E7}" srcId="{8EBC3E71-5301-47A5-BCDE-F837F0474F9D}" destId="{607049DE-886A-4A9C-B8EF-ECB9FCFBFC93}" srcOrd="0" destOrd="0" parTransId="{D8A219FB-BA91-43BF-94E2-59B4E338027E}" sibTransId="{E4FE8195-E4E5-432C-A1DA-7199CBD448AC}"/>
    <dgm:cxn modelId="{85D5C917-EB31-4822-8DD1-7836D43989F1}" srcId="{3A89AEE5-674D-4EAE-B2DA-97F84C0B81A1}" destId="{5027E4A2-6AB3-4D55-B594-361F9BEFFCD8}" srcOrd="0" destOrd="0" parTransId="{D5ED1233-C5BB-432F-8D10-B5F4654F1232}" sibTransId="{DD06E458-9F30-429F-AE19-B72C78EBE048}"/>
    <dgm:cxn modelId="{21A52A1B-7CE0-4574-9EB0-A0912A95E217}" type="presOf" srcId="{8EBC3E71-5301-47A5-BCDE-F837F0474F9D}" destId="{779F285C-23C7-4913-8ACF-8C077B0BBE7F}" srcOrd="0" destOrd="0" presId="urn:microsoft.com/office/officeart/2005/8/layout/chevron2"/>
    <dgm:cxn modelId="{75E3BB21-F260-4847-B860-E3161865B8ED}" type="presOf" srcId="{4371ABEE-DCA7-46CA-AE8D-4C0BF38F3AC6}" destId="{67B3215A-ECC7-4276-AE7B-A09F02A13401}" srcOrd="0" destOrd="0" presId="urn:microsoft.com/office/officeart/2005/8/layout/chevron2"/>
    <dgm:cxn modelId="{844FED40-5484-46E0-8AEE-938083A2B1FC}" type="presOf" srcId="{EDE49C4C-9B43-41E8-AD16-E89132B838DC}" destId="{4985B4C8-0C10-47ED-9FD9-4FBDDF31CBC8}" srcOrd="0" destOrd="0" presId="urn:microsoft.com/office/officeart/2005/8/layout/chevron2"/>
    <dgm:cxn modelId="{17C33A45-78B7-4E89-8135-C3A2E50E1DDB}" type="presOf" srcId="{B3D0E04F-E637-4FA1-BD8C-AE9BDB876A8A}" destId="{B760AF58-AC6C-4306-A803-B72DE4092CD7}" srcOrd="0" destOrd="0" presId="urn:microsoft.com/office/officeart/2005/8/layout/chevron2"/>
    <dgm:cxn modelId="{84414772-505A-4236-977D-B691C5B169FD}" type="presOf" srcId="{607049DE-886A-4A9C-B8EF-ECB9FCFBFC93}" destId="{9FC909F2-91B1-46B6-9F64-25CB1E0BB6F0}" srcOrd="0" destOrd="0" presId="urn:microsoft.com/office/officeart/2005/8/layout/chevron2"/>
    <dgm:cxn modelId="{65E6B584-D355-4053-A037-3385EAD48AA2}" type="presOf" srcId="{D961BCD2-003C-445A-A70B-3F6ED086FA2A}" destId="{9FC909F2-91B1-46B6-9F64-25CB1E0BB6F0}" srcOrd="0" destOrd="1" presId="urn:microsoft.com/office/officeart/2005/8/layout/chevron2"/>
    <dgm:cxn modelId="{C03F2091-971E-4734-AB93-E1DE94EF89E7}" type="presOf" srcId="{5027E4A2-6AB3-4D55-B594-361F9BEFFCD8}" destId="{913FD797-E483-447F-8294-419CD1086AE1}" srcOrd="0" destOrd="0" presId="urn:microsoft.com/office/officeart/2005/8/layout/chevron2"/>
    <dgm:cxn modelId="{48BFCF94-9AC8-478F-A09D-D5949C6ADE3D}" srcId="{EDE49C4C-9B43-41E8-AD16-E89132B838DC}" destId="{B3D0E04F-E637-4FA1-BD8C-AE9BDB876A8A}" srcOrd="0" destOrd="0" parTransId="{CC23F8C5-6B54-40DF-B24D-16C1307D327C}" sibTransId="{47AA0320-D98A-4EF5-857C-1AE1BB914E49}"/>
    <dgm:cxn modelId="{6A73B999-9960-452E-AE33-4AFE499680FC}" srcId="{4371ABEE-DCA7-46CA-AE8D-4C0BF38F3AC6}" destId="{3A89AEE5-674D-4EAE-B2DA-97F84C0B81A1}" srcOrd="1" destOrd="0" parTransId="{5F4B68F7-0B6A-4D1F-BFF6-A6D41C15A327}" sibTransId="{23B50204-B9AF-4C22-A6F8-8388E81F2BB0}"/>
    <dgm:cxn modelId="{97B077B5-0174-4DAC-B56D-912F3DE6B7E4}" srcId="{4371ABEE-DCA7-46CA-AE8D-4C0BF38F3AC6}" destId="{8EBC3E71-5301-47A5-BCDE-F837F0474F9D}" srcOrd="0" destOrd="0" parTransId="{1155BBF0-E866-499E-A4ED-560E8CD314CD}" sibTransId="{BA53CC0A-E02E-4A6B-B30B-23F5694F18CD}"/>
    <dgm:cxn modelId="{E70D25C6-5B58-470F-8040-6A3AA19BF55E}" type="presOf" srcId="{3A89AEE5-674D-4EAE-B2DA-97F84C0B81A1}" destId="{9BC63501-6A43-43D2-9612-0F3F78E579D2}" srcOrd="0" destOrd="0" presId="urn:microsoft.com/office/officeart/2005/8/layout/chevron2"/>
    <dgm:cxn modelId="{DFA840C9-961F-4406-B75B-A5DFD6F1AEB8}" srcId="{4371ABEE-DCA7-46CA-AE8D-4C0BF38F3AC6}" destId="{EDE49C4C-9B43-41E8-AD16-E89132B838DC}" srcOrd="2" destOrd="0" parTransId="{F7A999F0-B25A-4090-B71C-65BA9EF3AD31}" sibTransId="{88CECD91-BDC3-4008-82A8-31E2CCF0204B}"/>
    <dgm:cxn modelId="{35564CD6-E4E4-47FD-AB1B-472D9BC692CA}" srcId="{8EBC3E71-5301-47A5-BCDE-F837F0474F9D}" destId="{D961BCD2-003C-445A-A70B-3F6ED086FA2A}" srcOrd="1" destOrd="0" parTransId="{EC60CF42-05B3-4BBD-89DC-AA48661B69B9}" sibTransId="{D4EA4284-84DE-4834-B1AC-1426ED7172CF}"/>
    <dgm:cxn modelId="{179F02DC-C66C-47D7-A2BD-503EA460537F}" type="presOf" srcId="{BA53CC0A-E02E-4A6B-B30B-23F5694F18CD}" destId="{602176D8-1017-46EC-8F69-53E2777F2D58}" srcOrd="0" destOrd="0" presId="urn:microsoft.com/office/officeart/2005/8/layout/chevron2"/>
    <dgm:cxn modelId="{4775C7F2-F118-4ADA-8AC4-A94EDD169429}" type="presOf" srcId="{23B50204-B9AF-4C22-A6F8-8388E81F2BB0}" destId="{13AF2D74-7DC9-44E0-8E0B-E78D70EDC151}" srcOrd="0" destOrd="0" presId="urn:microsoft.com/office/officeart/2005/8/layout/chevron2"/>
    <dgm:cxn modelId="{7A6B536C-2CFF-4D0B-B28A-2B7453BFB61E}" type="presParOf" srcId="{67B3215A-ECC7-4276-AE7B-A09F02A13401}" destId="{BD233FB5-3BAF-4986-8312-62E3EDC532F5}" srcOrd="0" destOrd="0" presId="urn:microsoft.com/office/officeart/2005/8/layout/chevron2"/>
    <dgm:cxn modelId="{6C61F219-ADC8-48EB-8983-2F2EA8914BB8}" type="presParOf" srcId="{BD233FB5-3BAF-4986-8312-62E3EDC532F5}" destId="{779F285C-23C7-4913-8ACF-8C077B0BBE7F}" srcOrd="0" destOrd="0" presId="urn:microsoft.com/office/officeart/2005/8/layout/chevron2"/>
    <dgm:cxn modelId="{1B526F37-405B-4A21-9EC7-AD9F27FAD38B}" type="presParOf" srcId="{BD233FB5-3BAF-4986-8312-62E3EDC532F5}" destId="{9FC909F2-91B1-46B6-9F64-25CB1E0BB6F0}" srcOrd="1" destOrd="0" presId="urn:microsoft.com/office/officeart/2005/8/layout/chevron2"/>
    <dgm:cxn modelId="{26E45142-8BC1-4ACA-B17F-C307ADFCD819}" type="presParOf" srcId="{67B3215A-ECC7-4276-AE7B-A09F02A13401}" destId="{602176D8-1017-46EC-8F69-53E2777F2D58}" srcOrd="1" destOrd="0" presId="urn:microsoft.com/office/officeart/2005/8/layout/chevron2"/>
    <dgm:cxn modelId="{6B718E40-F626-468C-B8A8-F5AD4BC4BE95}" type="presParOf" srcId="{67B3215A-ECC7-4276-AE7B-A09F02A13401}" destId="{DA2E9518-C072-43F7-B9A2-BA9894A6ABEE}" srcOrd="2" destOrd="0" presId="urn:microsoft.com/office/officeart/2005/8/layout/chevron2"/>
    <dgm:cxn modelId="{19E68505-AA43-485D-8C2E-98D94995E525}" type="presParOf" srcId="{DA2E9518-C072-43F7-B9A2-BA9894A6ABEE}" destId="{9BC63501-6A43-43D2-9612-0F3F78E579D2}" srcOrd="0" destOrd="0" presId="urn:microsoft.com/office/officeart/2005/8/layout/chevron2"/>
    <dgm:cxn modelId="{7AB4D650-1F37-4D98-8CD5-B24A2F3A3220}" type="presParOf" srcId="{DA2E9518-C072-43F7-B9A2-BA9894A6ABEE}" destId="{913FD797-E483-447F-8294-419CD1086AE1}" srcOrd="1" destOrd="0" presId="urn:microsoft.com/office/officeart/2005/8/layout/chevron2"/>
    <dgm:cxn modelId="{A6DBDF40-F953-436F-A662-BDED4DA654B7}" type="presParOf" srcId="{67B3215A-ECC7-4276-AE7B-A09F02A13401}" destId="{13AF2D74-7DC9-44E0-8E0B-E78D70EDC151}" srcOrd="3" destOrd="0" presId="urn:microsoft.com/office/officeart/2005/8/layout/chevron2"/>
    <dgm:cxn modelId="{3969EB4E-36C3-435F-949D-57E6FCCF1216}" type="presParOf" srcId="{67B3215A-ECC7-4276-AE7B-A09F02A13401}" destId="{2B8D98B3-959A-4071-9D6B-59267C2A1443}" srcOrd="4" destOrd="0" presId="urn:microsoft.com/office/officeart/2005/8/layout/chevron2"/>
    <dgm:cxn modelId="{DA0A1CED-B9CD-48F3-8E33-5E4AD3F1344B}" type="presParOf" srcId="{2B8D98B3-959A-4071-9D6B-59267C2A1443}" destId="{4985B4C8-0C10-47ED-9FD9-4FBDDF31CBC8}" srcOrd="0" destOrd="0" presId="urn:microsoft.com/office/officeart/2005/8/layout/chevron2"/>
    <dgm:cxn modelId="{2B09529D-A2A8-40E9-BE30-5FB992753228}" type="presParOf" srcId="{2B8D98B3-959A-4071-9D6B-59267C2A1443}" destId="{B760AF58-AC6C-4306-A803-B72DE4092CD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71ABEE-DCA7-46CA-AE8D-4C0BF38F3AC6}" type="doc">
      <dgm:prSet loTypeId="urn:microsoft.com/office/officeart/2005/8/layout/chevron2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8EBC3E71-5301-47A5-BCDE-F837F0474F9D}">
      <dgm:prSet phldrT="[文本]" phldr="0" custT="1"/>
      <dgm:spPr>
        <a:solidFill>
          <a:srgbClr val="81A7DF"/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创建数据库</a:t>
          </a:r>
        </a:p>
      </dgm:t>
    </dgm:pt>
    <dgm:pt modelId="{1155BBF0-E866-499E-A4ED-560E8CD314CD}" cxnId="{45C7B7E8-9899-4783-9A6A-39163DF27396}" type="parTrans">
      <dgm:prSet/>
      <dgm:spPr/>
      <dgm:t>
        <a:bodyPr/>
        <a:lstStyle/>
        <a:p>
          <a:endParaRPr lang="zh-CN" altLang="en-US"/>
        </a:p>
      </dgm:t>
    </dgm:pt>
    <dgm:pt modelId="{BA53CC0A-E02E-4A6B-B30B-23F5694F18CD}" cxnId="{45C7B7E8-9899-4783-9A6A-39163DF27396}" type="sibTrans">
      <dgm:prSet/>
      <dgm:spPr/>
      <dgm:t>
        <a:bodyPr/>
        <a:lstStyle/>
        <a:p>
          <a:endParaRPr lang="zh-CN" altLang="en-US"/>
        </a:p>
      </dgm:t>
    </dgm:pt>
    <dgm:pt modelId="{607049DE-886A-4A9C-B8EF-ECB9FCFBFC93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CREATE DATABASE IF NOT EXISTS ems  CHARACTER SET utf8mb4;</a:t>
          </a:r>
          <a:endParaRPr lang="zh-CN" altLang="en-US" sz="16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8A219FB-BA91-43BF-94E2-59B4E338027E}" cxnId="{1DF5D7A1-3DE3-4BBF-93C8-7A5FECC4B7B5}" type="parTrans">
      <dgm:prSet/>
      <dgm:spPr/>
      <dgm:t>
        <a:bodyPr/>
        <a:lstStyle/>
        <a:p>
          <a:endParaRPr lang="zh-CN" altLang="en-US"/>
        </a:p>
      </dgm:t>
    </dgm:pt>
    <dgm:pt modelId="{E4FE8195-E4E5-432C-A1DA-7199CBD448AC}" cxnId="{1DF5D7A1-3DE3-4BBF-93C8-7A5FECC4B7B5}" type="sibTrans">
      <dgm:prSet/>
      <dgm:spPr/>
      <dgm:t>
        <a:bodyPr/>
        <a:lstStyle/>
        <a:p>
          <a:endParaRPr lang="zh-CN" altLang="en-US"/>
        </a:p>
      </dgm:t>
    </dgm:pt>
    <dgm:pt modelId="{3A89AEE5-674D-4EAE-B2DA-97F84C0B81A1}">
      <dgm:prSet phldrT="[文本]" phldr="0" custT="1"/>
      <dgm:spPr>
        <a:solidFill>
          <a:srgbClr val="81A7DF"/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选择数据库</a:t>
          </a:r>
        </a:p>
      </dgm:t>
    </dgm:pt>
    <dgm:pt modelId="{5F4B68F7-0B6A-4D1F-BFF6-A6D41C15A327}" cxnId="{A11CE37A-98D5-4030-BEAD-4E084CAE4D62}" type="parTrans">
      <dgm:prSet/>
      <dgm:spPr/>
      <dgm:t>
        <a:bodyPr/>
        <a:lstStyle/>
        <a:p>
          <a:endParaRPr lang="zh-CN" altLang="en-US"/>
        </a:p>
      </dgm:t>
    </dgm:pt>
    <dgm:pt modelId="{23B50204-B9AF-4C22-A6F8-8388E81F2BB0}" cxnId="{A11CE37A-98D5-4030-BEAD-4E084CAE4D62}" type="sibTrans">
      <dgm:prSet/>
      <dgm:spPr/>
      <dgm:t>
        <a:bodyPr/>
        <a:lstStyle/>
        <a:p>
          <a:endParaRPr lang="zh-CN" altLang="en-US"/>
        </a:p>
      </dgm:t>
    </dgm:pt>
    <dgm:pt modelId="{5027E4A2-6AB3-4D55-B594-361F9BEFFCD8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USE ems</a:t>
          </a:r>
          <a:endParaRPr lang="zh-CN" sz="16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5ED1233-C5BB-432F-8D10-B5F4654F1232}" cxnId="{4EA1D5C2-B6FB-493F-9F1E-C36FE3A5EEBC}" type="parTrans">
      <dgm:prSet/>
      <dgm:spPr/>
      <dgm:t>
        <a:bodyPr/>
        <a:lstStyle/>
        <a:p>
          <a:endParaRPr lang="zh-CN" altLang="en-US"/>
        </a:p>
      </dgm:t>
    </dgm:pt>
    <dgm:pt modelId="{DD06E458-9F30-429F-AE19-B72C78EBE048}" cxnId="{4EA1D5C2-B6FB-493F-9F1E-C36FE3A5EEBC}" type="sibTrans">
      <dgm:prSet/>
      <dgm:spPr/>
      <dgm:t>
        <a:bodyPr/>
        <a:lstStyle/>
        <a:p>
          <a:endParaRPr lang="zh-CN" altLang="en-US"/>
        </a:p>
      </dgm:t>
    </dgm:pt>
    <dgm:pt modelId="{EDE49C4C-9B43-41E8-AD16-E89132B838DC}">
      <dgm:prSet phldrT="[文本]" phldr="0" custT="1"/>
      <dgm:spPr>
        <a:solidFill>
          <a:srgbClr val="81A7DF"/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创建数据表</a:t>
          </a:r>
        </a:p>
      </dgm:t>
    </dgm:pt>
    <dgm:pt modelId="{F7A999F0-B25A-4090-B71C-65BA9EF3AD31}" cxnId="{CDEC907E-6338-4AC6-952B-F27DFEF600B4}" type="parTrans">
      <dgm:prSet/>
      <dgm:spPr/>
      <dgm:t>
        <a:bodyPr/>
        <a:lstStyle/>
        <a:p>
          <a:endParaRPr lang="zh-CN" altLang="en-US"/>
        </a:p>
      </dgm:t>
    </dgm:pt>
    <dgm:pt modelId="{88CECD91-BDC3-4008-82A8-31E2CCF0204B}" cxnId="{CDEC907E-6338-4AC6-952B-F27DFEF600B4}" type="sibTrans">
      <dgm:prSet/>
      <dgm:spPr/>
      <dgm:t>
        <a:bodyPr/>
        <a:lstStyle/>
        <a:p>
          <a:endParaRPr lang="zh-CN" altLang="en-US"/>
        </a:p>
      </dgm:t>
    </dgm:pt>
    <dgm:pt modelId="{B3D0E04F-E637-4FA1-BD8C-AE9BDB876A8A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CREATE TABLE tb_dept(deptno INT,dname VARCHAR(14),loc VARCHAR(13));</a:t>
          </a:r>
          <a:endParaRPr lang="zh-CN" altLang="en-US" sz="16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C23F8C5-6B54-40DF-B24D-16C1307D327C}" cxnId="{6A5F17A9-CB87-484B-B39B-2965D11D861E}" type="parTrans">
      <dgm:prSet/>
      <dgm:spPr/>
      <dgm:t>
        <a:bodyPr/>
        <a:lstStyle/>
        <a:p>
          <a:endParaRPr lang="zh-CN" altLang="en-US"/>
        </a:p>
      </dgm:t>
    </dgm:pt>
    <dgm:pt modelId="{47AA0320-D98A-4EF5-857C-1AE1BB914E49}" cxnId="{6A5F17A9-CB87-484B-B39B-2965D11D861E}" type="sibTrans">
      <dgm:prSet/>
      <dgm:spPr/>
      <dgm:t>
        <a:bodyPr/>
        <a:lstStyle/>
        <a:p>
          <a:endParaRPr lang="zh-CN" altLang="en-US"/>
        </a:p>
      </dgm:t>
    </dgm:pt>
    <dgm:pt modelId="{67B3215A-ECC7-4276-AE7B-A09F02A13401}" type="pres">
      <dgm:prSet presAssocID="{4371ABEE-DCA7-46CA-AE8D-4C0BF38F3AC6}" presName="linearFlow" presStyleCnt="0">
        <dgm:presLayoutVars>
          <dgm:dir/>
          <dgm:animLvl val="lvl"/>
          <dgm:resizeHandles val="exact"/>
        </dgm:presLayoutVars>
      </dgm:prSet>
      <dgm:spPr/>
    </dgm:pt>
    <dgm:pt modelId="{BD233FB5-3BAF-4986-8312-62E3EDC532F5}" type="pres">
      <dgm:prSet presAssocID="{8EBC3E71-5301-47A5-BCDE-F837F0474F9D}" presName="composite" presStyleCnt="0"/>
      <dgm:spPr/>
    </dgm:pt>
    <dgm:pt modelId="{779F285C-23C7-4913-8ACF-8C077B0BBE7F}" type="pres">
      <dgm:prSet presAssocID="{8EBC3E71-5301-47A5-BCDE-F837F0474F9D}" presName="parentText" presStyleLbl="alignNode1" presStyleIdx="0" presStyleCnt="3" custLinFactNeighborX="0" custLinFactNeighborY="-122">
        <dgm:presLayoutVars>
          <dgm:chMax val="1"/>
          <dgm:bulletEnabled val="1"/>
        </dgm:presLayoutVars>
      </dgm:prSet>
      <dgm:spPr/>
    </dgm:pt>
    <dgm:pt modelId="{9FC909F2-91B1-46B6-9F64-25CB1E0BB6F0}" type="pres">
      <dgm:prSet presAssocID="{8EBC3E71-5301-47A5-BCDE-F837F0474F9D}" presName="descendantText" presStyleLbl="alignAcc1" presStyleIdx="0" presStyleCnt="3">
        <dgm:presLayoutVars>
          <dgm:bulletEnabled val="1"/>
        </dgm:presLayoutVars>
      </dgm:prSet>
      <dgm:spPr/>
    </dgm:pt>
    <dgm:pt modelId="{602176D8-1017-46EC-8F69-53E2777F2D58}" type="pres">
      <dgm:prSet presAssocID="{BA53CC0A-E02E-4A6B-B30B-23F5694F18CD}" presName="sp" presStyleCnt="0"/>
      <dgm:spPr/>
    </dgm:pt>
    <dgm:pt modelId="{DA2E9518-C072-43F7-B9A2-BA9894A6ABEE}" type="pres">
      <dgm:prSet presAssocID="{3A89AEE5-674D-4EAE-B2DA-97F84C0B81A1}" presName="composite" presStyleCnt="0"/>
      <dgm:spPr/>
    </dgm:pt>
    <dgm:pt modelId="{9BC63501-6A43-43D2-9612-0F3F78E579D2}" type="pres">
      <dgm:prSet presAssocID="{3A89AEE5-674D-4EAE-B2DA-97F84C0B81A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13FD797-E483-447F-8294-419CD1086AE1}" type="pres">
      <dgm:prSet presAssocID="{3A89AEE5-674D-4EAE-B2DA-97F84C0B81A1}" presName="descendantText" presStyleLbl="alignAcc1" presStyleIdx="1" presStyleCnt="3">
        <dgm:presLayoutVars>
          <dgm:bulletEnabled val="1"/>
        </dgm:presLayoutVars>
      </dgm:prSet>
      <dgm:spPr/>
    </dgm:pt>
    <dgm:pt modelId="{13AF2D74-7DC9-44E0-8E0B-E78D70EDC151}" type="pres">
      <dgm:prSet presAssocID="{23B50204-B9AF-4C22-A6F8-8388E81F2BB0}" presName="sp" presStyleCnt="0"/>
      <dgm:spPr/>
    </dgm:pt>
    <dgm:pt modelId="{2B8D98B3-959A-4071-9D6B-59267C2A1443}" type="pres">
      <dgm:prSet presAssocID="{EDE49C4C-9B43-41E8-AD16-E89132B838DC}" presName="composite" presStyleCnt="0"/>
      <dgm:spPr/>
    </dgm:pt>
    <dgm:pt modelId="{4985B4C8-0C10-47ED-9FD9-4FBDDF31CBC8}" type="pres">
      <dgm:prSet presAssocID="{EDE49C4C-9B43-41E8-AD16-E89132B838DC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760AF58-AC6C-4306-A803-B72DE4092CD7}" type="pres">
      <dgm:prSet presAssocID="{EDE49C4C-9B43-41E8-AD16-E89132B838DC}" presName="descendantText" presStyleLbl="alignAcc1" presStyleIdx="2" presStyleCnt="3" custLinFactNeighborX="0" custLinFactNeighborY="1333">
        <dgm:presLayoutVars>
          <dgm:bulletEnabled val="1"/>
        </dgm:presLayoutVars>
      </dgm:prSet>
      <dgm:spPr/>
    </dgm:pt>
  </dgm:ptLst>
  <dgm:cxnLst>
    <dgm:cxn modelId="{852CFB1A-96F8-4D4A-9615-6ABDCB5C5153}" type="presOf" srcId="{607049DE-886A-4A9C-B8EF-ECB9FCFBFC93}" destId="{9FC909F2-91B1-46B6-9F64-25CB1E0BB6F0}" srcOrd="0" destOrd="0" presId="urn:microsoft.com/office/officeart/2005/8/layout/chevron2"/>
    <dgm:cxn modelId="{E0CBC12D-5C96-4035-9BDF-63CCE949A015}" type="presOf" srcId="{8EBC3E71-5301-47A5-BCDE-F837F0474F9D}" destId="{779F285C-23C7-4913-8ACF-8C077B0BBE7F}" srcOrd="0" destOrd="0" presId="urn:microsoft.com/office/officeart/2005/8/layout/chevron2"/>
    <dgm:cxn modelId="{6F60CC40-6D75-427F-8BF0-CA659E2A9F88}" type="presOf" srcId="{3A89AEE5-674D-4EAE-B2DA-97F84C0B81A1}" destId="{9BC63501-6A43-43D2-9612-0F3F78E579D2}" srcOrd="0" destOrd="0" presId="urn:microsoft.com/office/officeart/2005/8/layout/chevron2"/>
    <dgm:cxn modelId="{A11CE37A-98D5-4030-BEAD-4E084CAE4D62}" srcId="{4371ABEE-DCA7-46CA-AE8D-4C0BF38F3AC6}" destId="{3A89AEE5-674D-4EAE-B2DA-97F84C0B81A1}" srcOrd="1" destOrd="0" parTransId="{5F4B68F7-0B6A-4D1F-BFF6-A6D41C15A327}" sibTransId="{23B50204-B9AF-4C22-A6F8-8388E81F2BB0}"/>
    <dgm:cxn modelId="{CDEC907E-6338-4AC6-952B-F27DFEF600B4}" srcId="{4371ABEE-DCA7-46CA-AE8D-4C0BF38F3AC6}" destId="{EDE49C4C-9B43-41E8-AD16-E89132B838DC}" srcOrd="2" destOrd="0" parTransId="{F7A999F0-B25A-4090-B71C-65BA9EF3AD31}" sibTransId="{88CECD91-BDC3-4008-82A8-31E2CCF0204B}"/>
    <dgm:cxn modelId="{2AF57189-5E2F-4D8E-96B8-6415F57D1389}" type="presOf" srcId="{5027E4A2-6AB3-4D55-B594-361F9BEFFCD8}" destId="{913FD797-E483-447F-8294-419CD1086AE1}" srcOrd="0" destOrd="0" presId="urn:microsoft.com/office/officeart/2005/8/layout/chevron2"/>
    <dgm:cxn modelId="{1DF5D7A1-3DE3-4BBF-93C8-7A5FECC4B7B5}" srcId="{8EBC3E71-5301-47A5-BCDE-F837F0474F9D}" destId="{607049DE-886A-4A9C-B8EF-ECB9FCFBFC93}" srcOrd="0" destOrd="0" parTransId="{D8A219FB-BA91-43BF-94E2-59B4E338027E}" sibTransId="{E4FE8195-E4E5-432C-A1DA-7199CBD448AC}"/>
    <dgm:cxn modelId="{6A5F17A9-CB87-484B-B39B-2965D11D861E}" srcId="{EDE49C4C-9B43-41E8-AD16-E89132B838DC}" destId="{B3D0E04F-E637-4FA1-BD8C-AE9BDB876A8A}" srcOrd="0" destOrd="0" parTransId="{CC23F8C5-6B54-40DF-B24D-16C1307D327C}" sibTransId="{47AA0320-D98A-4EF5-857C-1AE1BB914E49}"/>
    <dgm:cxn modelId="{4EA1D5C2-B6FB-493F-9F1E-C36FE3A5EEBC}" srcId="{3A89AEE5-674D-4EAE-B2DA-97F84C0B81A1}" destId="{5027E4A2-6AB3-4D55-B594-361F9BEFFCD8}" srcOrd="0" destOrd="0" parTransId="{D5ED1233-C5BB-432F-8D10-B5F4654F1232}" sibTransId="{DD06E458-9F30-429F-AE19-B72C78EBE048}"/>
    <dgm:cxn modelId="{A0C319D0-D27A-46B8-94C2-675D6893943D}" type="presOf" srcId="{4371ABEE-DCA7-46CA-AE8D-4C0BF38F3AC6}" destId="{67B3215A-ECC7-4276-AE7B-A09F02A13401}" srcOrd="0" destOrd="0" presId="urn:microsoft.com/office/officeart/2005/8/layout/chevron2"/>
    <dgm:cxn modelId="{45C7B7E8-9899-4783-9A6A-39163DF27396}" srcId="{4371ABEE-DCA7-46CA-AE8D-4C0BF38F3AC6}" destId="{8EBC3E71-5301-47A5-BCDE-F837F0474F9D}" srcOrd="0" destOrd="0" parTransId="{1155BBF0-E866-499E-A4ED-560E8CD314CD}" sibTransId="{BA53CC0A-E02E-4A6B-B30B-23F5694F18CD}"/>
    <dgm:cxn modelId="{23338AF0-D0C7-48ED-999F-0C6E63AC944C}" type="presOf" srcId="{23B50204-B9AF-4C22-A6F8-8388E81F2BB0}" destId="{13AF2D74-7DC9-44E0-8E0B-E78D70EDC151}" srcOrd="0" destOrd="0" presId="urn:microsoft.com/office/officeart/2005/8/layout/chevron2"/>
    <dgm:cxn modelId="{3C5FC2F0-586C-4210-BE78-60885935092B}" type="presOf" srcId="{EDE49C4C-9B43-41E8-AD16-E89132B838DC}" destId="{4985B4C8-0C10-47ED-9FD9-4FBDDF31CBC8}" srcOrd="0" destOrd="0" presId="urn:microsoft.com/office/officeart/2005/8/layout/chevron2"/>
    <dgm:cxn modelId="{1E4ED3F2-42E8-4EF8-9453-CCFFC3BFE6AA}" type="presOf" srcId="{B3D0E04F-E637-4FA1-BD8C-AE9BDB876A8A}" destId="{B760AF58-AC6C-4306-A803-B72DE4092CD7}" srcOrd="0" destOrd="0" presId="urn:microsoft.com/office/officeart/2005/8/layout/chevron2"/>
    <dgm:cxn modelId="{9EDF61FF-6694-4DD8-85D7-9209E358CB17}" type="presOf" srcId="{BA53CC0A-E02E-4A6B-B30B-23F5694F18CD}" destId="{602176D8-1017-46EC-8F69-53E2777F2D58}" srcOrd="0" destOrd="0" presId="urn:microsoft.com/office/officeart/2005/8/layout/chevron2"/>
    <dgm:cxn modelId="{93BD8CEC-AADC-4D2C-91D1-CEDDCF2E5C6B}" type="presParOf" srcId="{67B3215A-ECC7-4276-AE7B-A09F02A13401}" destId="{BD233FB5-3BAF-4986-8312-62E3EDC532F5}" srcOrd="0" destOrd="0" presId="urn:microsoft.com/office/officeart/2005/8/layout/chevron2"/>
    <dgm:cxn modelId="{CCC449D5-E349-4DFB-91C6-DB814758C571}" type="presParOf" srcId="{BD233FB5-3BAF-4986-8312-62E3EDC532F5}" destId="{779F285C-23C7-4913-8ACF-8C077B0BBE7F}" srcOrd="0" destOrd="0" presId="urn:microsoft.com/office/officeart/2005/8/layout/chevron2"/>
    <dgm:cxn modelId="{DE235BE0-5FFB-4CF6-BB4C-B42E7C95C6BB}" type="presParOf" srcId="{BD233FB5-3BAF-4986-8312-62E3EDC532F5}" destId="{9FC909F2-91B1-46B6-9F64-25CB1E0BB6F0}" srcOrd="1" destOrd="0" presId="urn:microsoft.com/office/officeart/2005/8/layout/chevron2"/>
    <dgm:cxn modelId="{1A41B414-E0B7-4257-8E21-1240181823C0}" type="presParOf" srcId="{67B3215A-ECC7-4276-AE7B-A09F02A13401}" destId="{602176D8-1017-46EC-8F69-53E2777F2D58}" srcOrd="1" destOrd="0" presId="urn:microsoft.com/office/officeart/2005/8/layout/chevron2"/>
    <dgm:cxn modelId="{BB961646-AE9C-4D3C-B6B5-01EBA691BAAE}" type="presParOf" srcId="{67B3215A-ECC7-4276-AE7B-A09F02A13401}" destId="{DA2E9518-C072-43F7-B9A2-BA9894A6ABEE}" srcOrd="2" destOrd="0" presId="urn:microsoft.com/office/officeart/2005/8/layout/chevron2"/>
    <dgm:cxn modelId="{D91D8410-64D0-46E5-AD72-373DD21EEBC0}" type="presParOf" srcId="{DA2E9518-C072-43F7-B9A2-BA9894A6ABEE}" destId="{9BC63501-6A43-43D2-9612-0F3F78E579D2}" srcOrd="0" destOrd="0" presId="urn:microsoft.com/office/officeart/2005/8/layout/chevron2"/>
    <dgm:cxn modelId="{4338E110-5A4F-4AAD-ACE0-ECF5A4680E12}" type="presParOf" srcId="{DA2E9518-C072-43F7-B9A2-BA9894A6ABEE}" destId="{913FD797-E483-447F-8294-419CD1086AE1}" srcOrd="1" destOrd="0" presId="urn:microsoft.com/office/officeart/2005/8/layout/chevron2"/>
    <dgm:cxn modelId="{39B7DEB4-745D-40F2-B595-465206918F0C}" type="presParOf" srcId="{67B3215A-ECC7-4276-AE7B-A09F02A13401}" destId="{13AF2D74-7DC9-44E0-8E0B-E78D70EDC151}" srcOrd="3" destOrd="0" presId="urn:microsoft.com/office/officeart/2005/8/layout/chevron2"/>
    <dgm:cxn modelId="{C3D74A2E-02EC-4B43-8CB3-8AA2A2CDD10F}" type="presParOf" srcId="{67B3215A-ECC7-4276-AE7B-A09F02A13401}" destId="{2B8D98B3-959A-4071-9D6B-59267C2A1443}" srcOrd="4" destOrd="0" presId="urn:microsoft.com/office/officeart/2005/8/layout/chevron2"/>
    <dgm:cxn modelId="{3F1AC174-BD8D-4D54-AB5F-2157409416DF}" type="presParOf" srcId="{2B8D98B3-959A-4071-9D6B-59267C2A1443}" destId="{4985B4C8-0C10-47ED-9FD9-4FBDDF31CBC8}" srcOrd="0" destOrd="0" presId="urn:microsoft.com/office/officeart/2005/8/layout/chevron2"/>
    <dgm:cxn modelId="{EA03053B-25B2-468E-A44D-BDDF898D3625}" type="presParOf" srcId="{2B8D98B3-959A-4071-9D6B-59267C2A1443}" destId="{B760AF58-AC6C-4306-A803-B72DE4092CD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F285C-23C7-4913-8ACF-8C077B0BBE7F}">
      <dsp:nvSpPr>
        <dsp:cNvPr id="0" name=""/>
        <dsp:cNvSpPr/>
      </dsp:nvSpPr>
      <dsp:spPr>
        <a:xfrm rot="5400000">
          <a:off x="-225082" y="226612"/>
          <a:ext cx="1500548" cy="1050383"/>
        </a:xfrm>
        <a:prstGeom prst="chevron">
          <a:avLst/>
        </a:prstGeom>
        <a:solidFill>
          <a:srgbClr val="81A7DF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创建</a:t>
          </a:r>
        </a:p>
      </dsp:txBody>
      <dsp:txXfrm rot="-5400000">
        <a:off x="1" y="526722"/>
        <a:ext cx="1050383" cy="450165"/>
      </dsp:txXfrm>
    </dsp:sp>
    <dsp:sp modelId="{9FC909F2-91B1-46B6-9F64-25CB1E0BB6F0}">
      <dsp:nvSpPr>
        <dsp:cNvPr id="0" name=""/>
        <dsp:cNvSpPr/>
      </dsp:nvSpPr>
      <dsp:spPr>
        <a:xfrm rot="5400000">
          <a:off x="2779443" y="-1725698"/>
          <a:ext cx="975356" cy="44334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创建数据库</a:t>
          </a:r>
          <a:r>
            <a:rPr lang="en-US" altLang="zh-CN" sz="1600" kern="12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itcast字符集为</a:t>
          </a:r>
          <a:r>
            <a:rPr lang="en-US" altLang="zh-CN" sz="1600" kern="1200" dirty="0" err="1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utf8mb4</a:t>
          </a:r>
          <a:r>
            <a:rPr lang="zh-CN" altLang="en-US" sz="1600" kern="12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rPr>
            <a:t>。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CREATE DATABASE </a:t>
          </a:r>
          <a:r>
            <a:rPr lang="en-US" sz="1600" kern="12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itcast</a:t>
          </a:r>
          <a:r>
            <a:rPr lang="en-US" sz="16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IF NOT EXISTS itcast CHARACTER SET utf8mb4;</a:t>
          </a:r>
          <a:endParaRPr lang="zh-CN" altLang="en-US" sz="1600" kern="1200" dirty="0" err="1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endParaRPr>
        </a:p>
      </dsp:txBody>
      <dsp:txXfrm rot="-5400000">
        <a:off x="1050384" y="50974"/>
        <a:ext cx="4385863" cy="880130"/>
      </dsp:txXfrm>
    </dsp:sp>
    <dsp:sp modelId="{9BC63501-6A43-43D2-9612-0F3F78E579D2}">
      <dsp:nvSpPr>
        <dsp:cNvPr id="0" name=""/>
        <dsp:cNvSpPr/>
      </dsp:nvSpPr>
      <dsp:spPr>
        <a:xfrm rot="5400000">
          <a:off x="-225082" y="1533795"/>
          <a:ext cx="1500548" cy="1050383"/>
        </a:xfrm>
        <a:prstGeom prst="chevron">
          <a:avLst/>
        </a:prstGeom>
        <a:solidFill>
          <a:srgbClr val="81A7DF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执行结果</a:t>
          </a:r>
        </a:p>
      </dsp:txBody>
      <dsp:txXfrm rot="-5400000">
        <a:off x="1" y="1833905"/>
        <a:ext cx="1050383" cy="450165"/>
      </dsp:txXfrm>
    </dsp:sp>
    <dsp:sp modelId="{913FD797-E483-447F-8294-419CD1086AE1}">
      <dsp:nvSpPr>
        <dsp:cNvPr id="0" name=""/>
        <dsp:cNvSpPr/>
      </dsp:nvSpPr>
      <dsp:spPr>
        <a:xfrm rot="5400000">
          <a:off x="2779443" y="-420346"/>
          <a:ext cx="975356" cy="44334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Query OK, 1 row affected (0.01 sec)</a:t>
          </a:r>
        </a:p>
      </dsp:txBody>
      <dsp:txXfrm rot="-5400000">
        <a:off x="1050384" y="1356326"/>
        <a:ext cx="4385863" cy="880130"/>
      </dsp:txXfrm>
    </dsp:sp>
    <dsp:sp modelId="{4985B4C8-0C10-47ED-9FD9-4FBDDF31CBC8}">
      <dsp:nvSpPr>
        <dsp:cNvPr id="0" name=""/>
        <dsp:cNvSpPr/>
      </dsp:nvSpPr>
      <dsp:spPr>
        <a:xfrm rot="5400000">
          <a:off x="-225082" y="2839147"/>
          <a:ext cx="1500548" cy="1050383"/>
        </a:xfrm>
        <a:prstGeom prst="chevron">
          <a:avLst/>
        </a:prstGeom>
        <a:solidFill>
          <a:srgbClr val="81A7DF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查看数据库</a:t>
          </a:r>
        </a:p>
      </dsp:txBody>
      <dsp:txXfrm rot="-5400000">
        <a:off x="1" y="3139257"/>
        <a:ext cx="1050383" cy="450165"/>
      </dsp:txXfrm>
    </dsp:sp>
    <dsp:sp modelId="{B760AF58-AC6C-4306-A803-B72DE4092CD7}">
      <dsp:nvSpPr>
        <dsp:cNvPr id="0" name=""/>
        <dsp:cNvSpPr/>
      </dsp:nvSpPr>
      <dsp:spPr>
        <a:xfrm rot="5400000">
          <a:off x="2779443" y="898007"/>
          <a:ext cx="975356" cy="443347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SHOW DATABASES;</a:t>
          </a:r>
          <a:endParaRPr lang="en-US" altLang="en-US" sz="1600" kern="12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-5400000">
        <a:off x="1050384" y="2674680"/>
        <a:ext cx="4385863" cy="8801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F285C-23C7-4913-8ACF-8C077B0BBE7F}">
      <dsp:nvSpPr>
        <dsp:cNvPr id="0" name=""/>
        <dsp:cNvSpPr/>
      </dsp:nvSpPr>
      <dsp:spPr>
        <a:xfrm rot="5400000">
          <a:off x="-220673" y="221129"/>
          <a:ext cx="1471156" cy="1029809"/>
        </a:xfrm>
        <a:prstGeom prst="chevron">
          <a:avLst/>
        </a:prstGeom>
        <a:solidFill>
          <a:srgbClr val="81A7DF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创建数据库</a:t>
          </a:r>
        </a:p>
      </dsp:txBody>
      <dsp:txXfrm rot="-5400000">
        <a:off x="1" y="515361"/>
        <a:ext cx="1029809" cy="441347"/>
      </dsp:txXfrm>
    </dsp:sp>
    <dsp:sp modelId="{9FC909F2-91B1-46B6-9F64-25CB1E0BB6F0}">
      <dsp:nvSpPr>
        <dsp:cNvPr id="0" name=""/>
        <dsp:cNvSpPr/>
      </dsp:nvSpPr>
      <dsp:spPr>
        <a:xfrm rot="5400000">
          <a:off x="2948002" y="-1915941"/>
          <a:ext cx="956754" cy="47931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6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CREATE DATABASE IF NOT EXISTS ems  CHARACTER SET utf8mb4;</a:t>
          </a:r>
          <a:endParaRPr lang="zh-CN" altLang="en-US" sz="1600" kern="12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-5400000">
        <a:off x="1029810" y="48956"/>
        <a:ext cx="4746435" cy="863344"/>
      </dsp:txXfrm>
    </dsp:sp>
    <dsp:sp modelId="{9BC63501-6A43-43D2-9612-0F3F78E579D2}">
      <dsp:nvSpPr>
        <dsp:cNvPr id="0" name=""/>
        <dsp:cNvSpPr/>
      </dsp:nvSpPr>
      <dsp:spPr>
        <a:xfrm rot="5400000">
          <a:off x="-220673" y="1498362"/>
          <a:ext cx="1471156" cy="1029809"/>
        </a:xfrm>
        <a:prstGeom prst="chevron">
          <a:avLst/>
        </a:prstGeom>
        <a:solidFill>
          <a:srgbClr val="81A7DF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选择数据库</a:t>
          </a:r>
        </a:p>
      </dsp:txBody>
      <dsp:txXfrm rot="-5400000">
        <a:off x="1" y="1792594"/>
        <a:ext cx="1029809" cy="441347"/>
      </dsp:txXfrm>
    </dsp:sp>
    <dsp:sp modelId="{913FD797-E483-447F-8294-419CD1086AE1}">
      <dsp:nvSpPr>
        <dsp:cNvPr id="0" name=""/>
        <dsp:cNvSpPr/>
      </dsp:nvSpPr>
      <dsp:spPr>
        <a:xfrm rot="5400000">
          <a:off x="2948253" y="-640755"/>
          <a:ext cx="956252" cy="47931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USE ems</a:t>
          </a:r>
          <a:endParaRPr lang="zh-CN" sz="1600" kern="12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-5400000">
        <a:off x="1029809" y="1324369"/>
        <a:ext cx="4746460" cy="862892"/>
      </dsp:txXfrm>
    </dsp:sp>
    <dsp:sp modelId="{4985B4C8-0C10-47ED-9FD9-4FBDDF31CBC8}">
      <dsp:nvSpPr>
        <dsp:cNvPr id="0" name=""/>
        <dsp:cNvSpPr/>
      </dsp:nvSpPr>
      <dsp:spPr>
        <a:xfrm rot="5400000">
          <a:off x="-220673" y="2773800"/>
          <a:ext cx="1471156" cy="1029809"/>
        </a:xfrm>
        <a:prstGeom prst="chevron">
          <a:avLst/>
        </a:prstGeom>
        <a:solidFill>
          <a:srgbClr val="81A7DF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创建数据表</a:t>
          </a:r>
        </a:p>
      </dsp:txBody>
      <dsp:txXfrm rot="-5400000">
        <a:off x="1" y="3068032"/>
        <a:ext cx="1029809" cy="441347"/>
      </dsp:txXfrm>
    </dsp:sp>
    <dsp:sp modelId="{B760AF58-AC6C-4306-A803-B72DE4092CD7}">
      <dsp:nvSpPr>
        <dsp:cNvPr id="0" name=""/>
        <dsp:cNvSpPr/>
      </dsp:nvSpPr>
      <dsp:spPr>
        <a:xfrm rot="5400000">
          <a:off x="2948253" y="647429"/>
          <a:ext cx="956252" cy="47931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CREATE TABLE tb_dept(deptno INT,dname VARCHAR(14),loc VARCHAR(13));</a:t>
          </a:r>
          <a:endParaRPr lang="zh-CN" altLang="en-US" sz="1600" kern="12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-5400000">
        <a:off x="1029809" y="2612553"/>
        <a:ext cx="4746460" cy="8628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0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7" Type="http://schemas.openxmlformats.org/officeDocument/2006/relationships/slideLayout" Target="../slideLayouts/slideLayout10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.svg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982345" y="2565400"/>
            <a:ext cx="104178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4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2</a:t>
            </a:r>
            <a:r>
              <a:rPr lang="zh-CN" altLang="en-US" sz="4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章  数据库和表的基本操作</a:t>
            </a:r>
            <a:endParaRPr lang="zh-CN" altLang="en-US" sz="4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5361305" y="3861435"/>
            <a:ext cx="4695825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《MySQL数据库入门（第2版）》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334770" y="1774825"/>
            <a:ext cx="9269730" cy="688340"/>
            <a:chOff x="978872" y="1800500"/>
            <a:chExt cx="5471124" cy="515937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掌握数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据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库的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基本操作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，能够对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数据库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进行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增删改查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操作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334770" y="2658745"/>
            <a:ext cx="9212580" cy="685800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掌握数据表的基本操作，能够对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数据表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进行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增删改查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操作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1334770" y="3540125"/>
            <a:ext cx="9212580" cy="763270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熟悉数据类型，能够说出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SQL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语句中不同类型数据的表示方式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334770" y="4498975"/>
            <a:ext cx="9212580" cy="820420"/>
            <a:chOff x="978872" y="1800500"/>
            <a:chExt cx="5471124" cy="515937"/>
          </a:xfrm>
        </p:grpSpPr>
        <p:sp>
          <p:nvSpPr>
            <p:cNvPr id="5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掌握表的约束，能够在数据表中设置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非空约束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唯一约束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、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主键约束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和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默认值约束</a:t>
              </a:r>
              <a:endPara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334770" y="5514975"/>
            <a:ext cx="9211945" cy="855345"/>
            <a:chOff x="978872" y="2570437"/>
            <a:chExt cx="5437064" cy="514350"/>
          </a:xfrm>
        </p:grpSpPr>
        <p:sp>
          <p:nvSpPr>
            <p:cNvPr id="8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字段自动增长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的设置，能够在创建数据表时为字段设置自动增长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09935" y="1714674"/>
            <a:ext cx="10151132" cy="335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常生活中，如果想要将数据存放在Excel文档中，就需要先创建一个Excel文档，并将数据写入到Excel文档的工作表（Sheet）中；如果想要将不同类型的数据分别存放，例如，员工的信息和部门的信息想要分开存放，可以创建多个工作表，每个工作表中存放相同类型的数据。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MySQL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就相当于Excel文档，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就相当于Excel中的工作表，MySQL安装好之后就可以对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数据库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进行操作，实现对数据的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。本章将对数据库和数据表的基本操作进行讲解。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35810" y="2421255"/>
            <a:ext cx="7973695" cy="2486660"/>
            <a:chOff x="4912" y="3009"/>
            <a:chExt cx="9524" cy="3916"/>
          </a:xfrm>
        </p:grpSpPr>
        <p:grpSp>
          <p:nvGrpSpPr>
            <p:cNvPr id="45" name="组合 44"/>
            <p:cNvGrpSpPr/>
            <p:nvPr/>
          </p:nvGrpSpPr>
          <p:grpSpPr>
            <a:xfrm>
              <a:off x="4912" y="3044"/>
              <a:ext cx="1877" cy="965"/>
              <a:chOff x="2215144" y="982844"/>
              <a:chExt cx="1244730" cy="842780"/>
            </a:xfrm>
          </p:grpSpPr>
          <p:sp>
            <p:nvSpPr>
              <p:cNvPr id="46" name="平行四边形 45"/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9"/>
              <p:cNvSpPr txBox="1"/>
              <p:nvPr/>
            </p:nvSpPr>
            <p:spPr>
              <a:xfrm>
                <a:off x="2393075" y="1005670"/>
                <a:ext cx="1066799" cy="802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01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912" y="4494"/>
              <a:ext cx="1877" cy="974"/>
              <a:chOff x="2215144" y="2026500"/>
              <a:chExt cx="1244730" cy="850129"/>
            </a:xfrm>
          </p:grpSpPr>
          <p:sp>
            <p:nvSpPr>
              <p:cNvPr id="49" name="平行四边形 48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10"/>
              <p:cNvSpPr txBox="1"/>
              <p:nvPr/>
            </p:nvSpPr>
            <p:spPr>
              <a:xfrm>
                <a:off x="2393075" y="2026500"/>
                <a:ext cx="1066799" cy="802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02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912" y="5959"/>
              <a:ext cx="1877" cy="966"/>
              <a:chOff x="2215144" y="3084852"/>
              <a:chExt cx="1244730" cy="843050"/>
            </a:xfrm>
          </p:grpSpPr>
          <p:sp>
            <p:nvSpPr>
              <p:cNvPr id="52" name="平行四边形 51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文本框 11"/>
              <p:cNvSpPr txBox="1"/>
              <p:nvPr/>
            </p:nvSpPr>
            <p:spPr>
              <a:xfrm>
                <a:off x="2393075" y="3125750"/>
                <a:ext cx="1066799" cy="8021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03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38" y="3009"/>
              <a:ext cx="8098" cy="965"/>
              <a:chOff x="4315150" y="953426"/>
              <a:chExt cx="3857250" cy="54005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4841196" y="972850"/>
                <a:ext cx="2827147" cy="467303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Source Han Sans K Bold" panose="020B0800000000000000" pitchFamily="34" charset="-128"/>
                  </a:rPr>
                  <a:t>数据库</a:t>
                </a:r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的基本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Source Han Sans K Bold" panose="020B0800000000000000" pitchFamily="34" charset="-128"/>
                  </a:rPr>
                  <a:t>操作</a:t>
                </a:r>
                <a:endPara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6338" y="4467"/>
              <a:ext cx="8098" cy="965"/>
              <a:chOff x="4315150" y="1647579"/>
              <a:chExt cx="3857250" cy="54005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4841196" y="1667003"/>
                <a:ext cx="2827147" cy="467303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Source Han Sans K Bold" panose="020B0800000000000000" pitchFamily="34" charset="-128"/>
                  </a:rPr>
                  <a:t>数据类型</a:t>
                </a:r>
                <a:endPara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338" y="5925"/>
              <a:ext cx="8098" cy="965"/>
              <a:chOff x="4315150" y="2341731"/>
              <a:chExt cx="3857250" cy="54005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4841197" y="2361155"/>
                <a:ext cx="2827146" cy="467303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pPr algn="just">
                  <a:lnSpc>
                    <a:spcPct val="150000"/>
                  </a:lnSpc>
                  <a:buClrTx/>
                  <a:buSzTx/>
                  <a:buFontTx/>
                </a:pP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Source Han Sans K Bold" panose="020B0800000000000000" pitchFamily="34" charset="-128"/>
                  </a:rPr>
                  <a:t>数据表</a:t>
                </a:r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的基本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Source Han Sans K Bold" panose="020B0800000000000000" pitchFamily="34" charset="-128"/>
                  </a:rPr>
                  <a:t>操作</a:t>
                </a:r>
                <a:endPara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40890" y="2421255"/>
            <a:ext cx="7790180" cy="2486568"/>
            <a:chOff x="4912" y="3009"/>
            <a:chExt cx="9524" cy="3916"/>
          </a:xfrm>
        </p:grpSpPr>
        <p:grpSp>
          <p:nvGrpSpPr>
            <p:cNvPr id="45" name="组合 44"/>
            <p:cNvGrpSpPr/>
            <p:nvPr/>
          </p:nvGrpSpPr>
          <p:grpSpPr>
            <a:xfrm>
              <a:off x="4912" y="3044"/>
              <a:ext cx="1877" cy="965"/>
              <a:chOff x="2215144" y="982844"/>
              <a:chExt cx="1244730" cy="842780"/>
            </a:xfrm>
          </p:grpSpPr>
          <p:sp>
            <p:nvSpPr>
              <p:cNvPr id="46" name="平行四边形 45"/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9"/>
              <p:cNvSpPr txBox="1"/>
              <p:nvPr/>
            </p:nvSpPr>
            <p:spPr>
              <a:xfrm>
                <a:off x="2393075" y="1005670"/>
                <a:ext cx="1066799" cy="802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04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4912" y="4494"/>
              <a:ext cx="1877" cy="974"/>
              <a:chOff x="2215144" y="2026500"/>
              <a:chExt cx="1244730" cy="850129"/>
            </a:xfrm>
          </p:grpSpPr>
          <p:sp>
            <p:nvSpPr>
              <p:cNvPr id="49" name="平行四边形 48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10"/>
              <p:cNvSpPr txBox="1"/>
              <p:nvPr/>
            </p:nvSpPr>
            <p:spPr>
              <a:xfrm>
                <a:off x="2393075" y="2026500"/>
                <a:ext cx="1066799" cy="802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05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912" y="5959"/>
              <a:ext cx="1877" cy="966"/>
              <a:chOff x="2215144" y="3084852"/>
              <a:chExt cx="1244730" cy="843007"/>
            </a:xfrm>
          </p:grpSpPr>
          <p:sp>
            <p:nvSpPr>
              <p:cNvPr id="52" name="平行四边形 51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文本框 11"/>
              <p:cNvSpPr txBox="1"/>
              <p:nvPr/>
            </p:nvSpPr>
            <p:spPr>
              <a:xfrm>
                <a:off x="2393075" y="3125750"/>
                <a:ext cx="1066799" cy="802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06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6338" y="3009"/>
              <a:ext cx="8098" cy="965"/>
              <a:chOff x="4315150" y="953426"/>
              <a:chExt cx="3857250" cy="54005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4841196" y="1036090"/>
                <a:ext cx="2827147" cy="331322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表的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Source Han Sans K Bold" panose="020B0800000000000000" pitchFamily="34" charset="-128"/>
                  </a:rPr>
                  <a:t>约束</a:t>
                </a:r>
                <a:endParaRPr lang="zh-CN" altLang="en-GB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6338" y="4467"/>
              <a:ext cx="8098" cy="965"/>
              <a:chOff x="4315150" y="1647579"/>
              <a:chExt cx="3857250" cy="54005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4841196" y="1730243"/>
                <a:ext cx="2827147" cy="331322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自动增长</a:t>
                </a:r>
                <a:endParaRPr lang="en-GB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6338" y="5925"/>
              <a:ext cx="8098" cy="965"/>
              <a:chOff x="4315150" y="2341731"/>
              <a:chExt cx="3857250" cy="54005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4405377" y="2424558"/>
                <a:ext cx="3698928" cy="331322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zh-CN" altLang="en-US" sz="20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上机实践：图书管理系统的</a:t>
                </a:r>
                <a:r>
                  <a:rPr lang="zh-CN" altLang="en-US" sz="20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Source Han Sans K Bold" panose="020B0800000000000000" pitchFamily="34" charset="-128"/>
                  </a:rPr>
                  <a:t>数据库及相关数据表的创建</a:t>
                </a:r>
                <a:endPara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Source Han Sans K Bold" panose="020B0800000000000000" pitchFamily="34" charset="-128"/>
                </a:endParaRPr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数据库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的基本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操作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44270" y="1059180"/>
            <a:ext cx="9946005" cy="493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MySQL安装完成后，要想将数据存储到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中，首先得先创建一个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。创建数据库就是在数据库系统中划分一块存储数据的空间。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在MySQL中，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创建数据库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的基本语法格式如下所示。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ct val="100000"/>
              </a:lnSpc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{DATABASE | SCHEMA}：在MySQL中，DATABASE 和SCHEMA都代表数据库，可以使用 CREATE DATABASE或者CREATE SCHEMA创建指定名称的数据库。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NOT EXISTS：可选项，用于判断当前创建的数据库是否存在，如果不存在，才会执行创建数据库的操作。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db_name：创建数据库的名称，不能和当前已经存在的数据库的名称重名。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create_option：可选项，用于设置所创建的数据库的特征。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创建数据库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74445" y="2592705"/>
            <a:ext cx="7950835" cy="556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lstStyle/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{DATABASE | SCHEMA} [IF NOT EXISTS] db_name [create_option];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创建数据库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22" name="内容占位符 21"/>
          <p:cNvGraphicFramePr>
            <a:graphicFrameLocks noGrp="1"/>
          </p:cNvGraphicFramePr>
          <p:nvPr>
            <p:ph idx="1"/>
          </p:nvPr>
        </p:nvGraphicFramePr>
        <p:xfrm>
          <a:off x="910590" y="1963420"/>
          <a:ext cx="5483860" cy="411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3" name="圆角矩形标注 42"/>
          <p:cNvSpPr/>
          <p:nvPr/>
        </p:nvSpPr>
        <p:spPr bwMode="auto">
          <a:xfrm>
            <a:off x="7031355" y="1963420"/>
            <a:ext cx="4667885" cy="3550920"/>
          </a:xfrm>
          <a:prstGeom prst="wedgeRoundRectCallout">
            <a:avLst>
              <a:gd name="adj1" fmla="val -60005"/>
              <a:gd name="adj2" fmla="val 11569"/>
              <a:gd name="adj3" fmla="val 16667"/>
            </a:avLst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  <p:txBody>
          <a:bodyPr tIns="0" anchor="ctr">
            <a:scene3d>
              <a:camera prst="orthographicFront"/>
              <a:lightRig rig="threePt" dir="t"/>
            </a:scene3d>
            <a:sp3d contourW="12700"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347585" y="4077335"/>
            <a:ext cx="4035425" cy="783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23850" anchor="ctr"/>
          <a:lstStyle/>
          <a:p>
            <a:pPr>
              <a:defRPr/>
            </a:pPr>
            <a:r>
              <a:rPr lang="zh-CN" altLang="zh-CN" sz="180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ERROR 1007 (HY000): Can't create database itcast; database exists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defRPr/>
            </a:pP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19010" y="2349500"/>
            <a:ext cx="4027170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zh-CN" sz="200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如果执行</a:t>
            </a:r>
            <a:r>
              <a:rPr lang="zh-CN" altLang="zh-CN" sz="200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CREATE DATABASE</a:t>
            </a:r>
            <a:r>
              <a:rPr lang="zh-CN" altLang="zh-CN" sz="200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语句时，创建的数据库</a:t>
            </a:r>
            <a:r>
              <a:rPr lang="zh-CN" altLang="zh-CN" sz="200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已经存在</a:t>
            </a:r>
            <a:r>
              <a:rPr lang="zh-CN" altLang="zh-CN" sz="200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，会出现错误提示信息，具体如下所示。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350770" y="2155190"/>
            <a:ext cx="8129270" cy="3469005"/>
            <a:chOff x="4042" y="7127"/>
            <a:chExt cx="12802" cy="5463"/>
          </a:xfrm>
        </p:grpSpPr>
        <p:sp>
          <p:nvSpPr>
            <p:cNvPr id="5" name="流程图: 过程 4"/>
            <p:cNvSpPr/>
            <p:nvPr/>
          </p:nvSpPr>
          <p:spPr>
            <a:xfrm>
              <a:off x="5176" y="7127"/>
              <a:ext cx="11668" cy="5463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231" y="7546"/>
              <a:ext cx="9671" cy="4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为了更好的理解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SQL语句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中语法格式，本书对SQL语句语法格式中的符号进行如下约定。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（1）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中括号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（[]）中的内容为可选项。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（2）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[,...]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表示，前面的内容可以重复。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（3）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大括号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（{}）和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竖线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（|）表示选择项，在选择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项中仅需选择其中一项。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4042" y="8907"/>
              <a:ext cx="2416" cy="1474"/>
              <a:chOff x="2141" y="8967"/>
              <a:chExt cx="2416" cy="1474"/>
            </a:xfrm>
          </p:grpSpPr>
          <p:sp>
            <p:nvSpPr>
              <p:cNvPr id="7" name="七角星 6"/>
              <p:cNvSpPr/>
              <p:nvPr/>
            </p:nvSpPr>
            <p:spPr>
              <a:xfrm>
                <a:off x="2141" y="8967"/>
                <a:ext cx="2042" cy="1474"/>
              </a:xfrm>
              <a:prstGeom prst="star7">
                <a:avLst/>
              </a:prstGeom>
              <a:solidFill>
                <a:srgbClr val="1369B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1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2481" y="9080"/>
                <a:ext cx="2076" cy="10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kern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提示</a:t>
                </a:r>
                <a:endPara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982345" y="909320"/>
            <a:ext cx="2449195" cy="676275"/>
            <a:chOff x="1547" y="1432"/>
            <a:chExt cx="4780" cy="1065"/>
          </a:xfrm>
        </p:grpSpPr>
        <p:sp>
          <p:nvSpPr>
            <p:cNvPr id="2" name="五边形 1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1"/>
            <p:cNvSpPr txBox="1"/>
            <p:nvPr>
              <p:custDataLst>
                <p:tags r:id="rId2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创建数据库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创建数据库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121535" y="2579370"/>
            <a:ext cx="8348345" cy="3923030"/>
            <a:chOff x="3362" y="3059"/>
            <a:chExt cx="13147" cy="3124"/>
          </a:xfrm>
        </p:grpSpPr>
        <p:sp>
          <p:nvSpPr>
            <p:cNvPr id="5" name="流程图: 过程 4"/>
            <p:cNvSpPr/>
            <p:nvPr/>
          </p:nvSpPr>
          <p:spPr>
            <a:xfrm>
              <a:off x="3362" y="3059"/>
              <a:ext cx="13147" cy="3124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156" y="3101"/>
              <a:ext cx="12240" cy="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根据上述语法格式，查看数据库系统中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已经创建的数据库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，具体的SQL语句及执行结果如下所示。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156" y="3848"/>
              <a:ext cx="11991" cy="21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1755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mysql&gt; SHOW DATABASES;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Database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information_schema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itcast  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mysql   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performance_schema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sys     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5 rows in set (0.03 sec)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查看数据库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32305" y="1056640"/>
            <a:ext cx="907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可以使用语句查看数据库系统中已经创建的数据库，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查看语句的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65325" y="1776730"/>
            <a:ext cx="6414135" cy="387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SHOW {DATABASES | SCHEMAS} [LIKE 'pattern' | WHERE expr];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134870" y="2536190"/>
            <a:ext cx="8348345" cy="3829685"/>
            <a:chOff x="3362" y="3059"/>
            <a:chExt cx="13147" cy="3124"/>
          </a:xfrm>
        </p:grpSpPr>
        <p:sp>
          <p:nvSpPr>
            <p:cNvPr id="4" name="流程图: 过程 3"/>
            <p:cNvSpPr/>
            <p:nvPr/>
          </p:nvSpPr>
          <p:spPr>
            <a:xfrm>
              <a:off x="3362" y="3059"/>
              <a:ext cx="13147" cy="3124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930" y="3171"/>
              <a:ext cx="11519" cy="7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根据上述语法格式，对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数据库itcast创建的语句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进行显示，具体的SQL语句如下所示。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930" y="4011"/>
              <a:ext cx="12084" cy="19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7950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mysql&gt; SHOW CREATE DATABASE itcast;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+----------+-----------------------------------------------------------+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Database | Create Database                                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+----------+-----------------------------------------------------------+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itcast   | CREATE DATABASE `itcast` 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/*!40100 DEFAULT CHARACTER SET utf8mb4 COLLATE utf8mb4_0900_ai_ci */ 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/*!80016 DEFAULT ENCRYPTION='N' */                          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+----------+-----------------------------------------------------------+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1 row in set (0.00 sec)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查看数据库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8540" y="1065530"/>
            <a:ext cx="907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可以使用语句查看数据库创建的语句，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查看数据库创建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的语句的语法格式如下。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57120" y="1713230"/>
            <a:ext cx="6414135" cy="387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SHOW CREATE {DATABASE | SCHEMA} [IF NOT EXISTS] db_name;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图: 过程 2"/>
          <p:cNvSpPr/>
          <p:nvPr/>
        </p:nvSpPr>
        <p:spPr>
          <a:xfrm>
            <a:off x="1744345" y="2061845"/>
            <a:ext cx="8979535" cy="3332480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50770" y="2566035"/>
            <a:ext cx="79089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数据库创建后，不会将当前创建的数据库作为后续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操作的默认数据库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，如果需要在数据库中创建数据表并插入数据，需要先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选择操作哪个数据库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。在MySQL中，可以使用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语句选择某个数据库为后续操作的默认数据库。USE语句具体语法格式如下。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94915" y="4509770"/>
            <a:ext cx="7573645" cy="5562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lstStyle/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 &lt;数据库名&gt;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选择数据库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选择数据库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782570" y="2514600"/>
            <a:ext cx="7068820" cy="2423795"/>
            <a:chOff x="6022" y="2691"/>
            <a:chExt cx="11132" cy="2369"/>
          </a:xfrm>
        </p:grpSpPr>
        <p:sp>
          <p:nvSpPr>
            <p:cNvPr id="16" name="流程图: 过程 15"/>
            <p:cNvSpPr/>
            <p:nvPr/>
          </p:nvSpPr>
          <p:spPr>
            <a:xfrm>
              <a:off x="6022" y="2691"/>
              <a:ext cx="11132" cy="2369"/>
            </a:xfrm>
            <a:prstGeom prst="flowChartProcess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703" y="3864"/>
              <a:ext cx="9755" cy="9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88290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mysql&gt; USE itcast;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Database changed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213100" y="2563495"/>
            <a:ext cx="63392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选择数据库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itcast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作为后续操作的默认数据库，具体SQL语句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及执行结果如下所示。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134870" y="1468120"/>
            <a:ext cx="8348345" cy="4463415"/>
            <a:chOff x="3362" y="3059"/>
            <a:chExt cx="13147" cy="3124"/>
          </a:xfrm>
        </p:grpSpPr>
        <p:sp>
          <p:nvSpPr>
            <p:cNvPr id="4" name="流程图: 过程 3"/>
            <p:cNvSpPr/>
            <p:nvPr/>
          </p:nvSpPr>
          <p:spPr>
            <a:xfrm>
              <a:off x="3362" y="3059"/>
              <a:ext cx="13147" cy="3124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269" y="3513"/>
              <a:ext cx="11519" cy="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如果想要查看当前选择的是哪个数据库，可以使用语句“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SELECT DATABASE();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”实现，具体SQL语句及执行结果如下所示。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382" y="4345"/>
              <a:ext cx="10101" cy="15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7950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mysql&gt; SELECT DATABASE();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DATABASE()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itcast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1 row in set (0.00 sec)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选择数据库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350" y="4250"/>
              <a:ext cx="8993" cy="2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数据库一旦被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，数据库的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也就确定了。如果后续想修改数据库的特征，可以使用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ALTER DATABASE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语句实现。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修改数据库特征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066290" y="1057596"/>
            <a:ext cx="6515100" cy="1008092"/>
            <a:chOff x="6589" y="2833"/>
            <a:chExt cx="10260" cy="664"/>
          </a:xfrm>
        </p:grpSpPr>
        <p:sp>
          <p:nvSpPr>
            <p:cNvPr id="17" name="文本框 16"/>
            <p:cNvSpPr txBox="1"/>
            <p:nvPr/>
          </p:nvSpPr>
          <p:spPr>
            <a:xfrm>
              <a:off x="6596" y="2833"/>
              <a:ext cx="5926" cy="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8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修改数据库特征</a:t>
              </a:r>
              <a:r>
                <a:rPr lang="zh-CN" altLang="en-US" sz="18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的基本语法格式</a:t>
              </a:r>
              <a:endPara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589" y="3118"/>
              <a:ext cx="10260" cy="3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88290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ALTER {DATABASE | SCHEMA} [db_name] alter_option;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l"/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994535" y="2066925"/>
            <a:ext cx="83013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在上述格式中，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db_name可选项，是数据库名称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alter_option为要修改的特征，可修改的特征如下所示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修改数据库特征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58340" y="3041650"/>
            <a:ext cx="6515100" cy="17208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[DEFAULT] CHARACTER SET [=] charset_name 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| [DEFAULT] COLLATE [=] collation_name 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| [DEFAULT] ENCRYPTION [=] {'Y' | 'N'} 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| READ ONLY [=] {DEFAULT | 0 | 1}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 fontAlgn="auto">
              <a:lnSpc>
                <a:spcPct val="150000"/>
              </a:lnSpc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44370" y="4938395"/>
            <a:ext cx="83013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buFont typeface="Wingdings" panose="05000000000000000000" charset="0"/>
              <a:buChar char="l"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CHARACTER SET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数据库字符集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COLLATE 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数据库校对集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ENCRYPTION 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数据库加密选项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 algn="l">
              <a:buFont typeface="Wingdings" panose="05000000000000000000" charset="0"/>
              <a:buChar char="l"/>
            </a:pP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READ ONLY</a:t>
            </a:r>
            <a:r>
              <a:rPr 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r>
              <a:rPr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MySQL 8.0.22 中引入的选项，用于控制是否允许修改数据库及其中的对象，允许的值为 DEFAULT、 0（非只读）和1（只读）</a:t>
            </a:r>
            <a:endParaRPr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705610" y="2252345"/>
            <a:ext cx="8597900" cy="4310380"/>
            <a:chOff x="3362" y="3059"/>
            <a:chExt cx="13147" cy="3338"/>
          </a:xfrm>
        </p:grpSpPr>
        <p:sp>
          <p:nvSpPr>
            <p:cNvPr id="4" name="流程图: 过程 3"/>
            <p:cNvSpPr/>
            <p:nvPr/>
          </p:nvSpPr>
          <p:spPr>
            <a:xfrm>
              <a:off x="3362" y="3059"/>
              <a:ext cx="13147" cy="3338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176" y="3071"/>
              <a:ext cx="11923" cy="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为了验证数据库的字符集是否修改成功，使用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SHOW CREATE DATABASE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语句显示创建itcast数据库的语句，具体SQL语句及执行结果如下所示。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176" y="4016"/>
              <a:ext cx="12092" cy="20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7950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mysql&gt; SHOW CREATE DATABASE itcast;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+----------+------------------------------------------------------+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|Database  | Create Database                           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+----------+------------------------------------------------------+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itcast   | CREATE DATABASE `itcast`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/*!40100 DEFAULT CHARACTER SET gbk */ 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/*!80016 DEFAULT ENCRYPTION='N' */                             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+----------+------------------------------------------------------+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1 row in set (0.00 sec)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修改数据库特征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17040" y="1062355"/>
            <a:ext cx="87706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编写一个修改数据库字符集的SQL语句，将数据库itcast的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字符集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gbk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7675" y="1517650"/>
            <a:ext cx="7940040" cy="4959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39750" anchor="ctr"/>
          <a:p>
            <a:pPr algn="l">
              <a:lnSpc>
                <a:spcPct val="13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ALTER DATABASE itcast DEFAULT CHARACTER SET gbk;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/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/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385" y="3813"/>
              <a:ext cx="8993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当数据库不再使用时应该将其删除，以确保数据库存储空间中存放的是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删除数据库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是将已经创建的数据库从磁盘空间上清除，数据库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清除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之后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数据库中的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所有数据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也将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一同被删除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352040" y="1703070"/>
            <a:ext cx="7925435" cy="3909695"/>
            <a:chOff x="6022" y="2691"/>
            <a:chExt cx="11132" cy="2575"/>
          </a:xfrm>
        </p:grpSpPr>
        <p:sp>
          <p:nvSpPr>
            <p:cNvPr id="16" name="流程图: 过程 15"/>
            <p:cNvSpPr/>
            <p:nvPr/>
          </p:nvSpPr>
          <p:spPr>
            <a:xfrm>
              <a:off x="6022" y="2691"/>
              <a:ext cx="11132" cy="2575"/>
            </a:xfrm>
            <a:prstGeom prst="flowChartProcess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534" y="2786"/>
              <a:ext cx="5926" cy="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删除数据库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的基本语法格式</a:t>
              </a: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589" y="3118"/>
              <a:ext cx="10260" cy="3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88290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ALTER {DATABASE | SCHEMA} [db_name] alter_option;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l"/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784475" y="3086735"/>
            <a:ext cx="67964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编写一个删除数据库的SQL语句，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名称为itcast的数据库，具体SQL语句及执行结果如下所示。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712085" y="4367530"/>
            <a:ext cx="7305040" cy="776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lstStyle/>
          <a:p>
            <a:pPr algn="l">
              <a:lnSpc>
                <a:spcPct val="13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mysql&gt; DROP DATABASE IF EXISTS itcast;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>
              <a:lnSpc>
                <a:spcPct val="13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OK, 0 rows affected (0.03 sec)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/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551940" y="1475105"/>
            <a:ext cx="8717280" cy="4679315"/>
            <a:chOff x="3362" y="3059"/>
            <a:chExt cx="13147" cy="3338"/>
          </a:xfrm>
        </p:grpSpPr>
        <p:sp>
          <p:nvSpPr>
            <p:cNvPr id="4" name="流程图: 过程 3"/>
            <p:cNvSpPr/>
            <p:nvPr/>
          </p:nvSpPr>
          <p:spPr>
            <a:xfrm>
              <a:off x="3362" y="3059"/>
              <a:ext cx="13147" cy="3338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176" y="3237"/>
              <a:ext cx="11519" cy="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为了验证数据库是否真正删除成功，可以使用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SHOW DATABASES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语句查看数据库系统中当前存在的数据库，具体SQL语句及执行结果如下所示。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176" y="4072"/>
              <a:ext cx="10101" cy="19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7950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mysql&gt; SHOW DATABASES;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Database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information_schema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mysql   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performance_schema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sys     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4 rows in set (0.00 sec)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2.1.5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删除数据库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数据类型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385" y="3813"/>
              <a:ext cx="8993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在数据库中，经常需要存储一些数值，例如员工的工资、员工的工号、员工的年龄等，适合用数字类型来保存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，数值类型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包括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整数类型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浮点类型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定点类型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BIT类型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等，下面分别进行讲解。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数值类型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数值类型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198245" y="1558925"/>
            <a:ext cx="9991725" cy="4483550"/>
            <a:chOff x="1661" y="3139"/>
            <a:chExt cx="15735" cy="5953"/>
          </a:xfrm>
        </p:grpSpPr>
        <p:sp>
          <p:nvSpPr>
            <p:cNvPr id="2" name="MH_SubTitle_1"/>
            <p:cNvSpPr txBox="1"/>
            <p:nvPr>
              <p:custDataLst>
                <p:tags r:id="rId1"/>
              </p:custDataLst>
            </p:nvPr>
          </p:nvSpPr>
          <p:spPr>
            <a:xfrm>
              <a:off x="3589" y="4110"/>
              <a:ext cx="3233" cy="648"/>
            </a:xfrm>
            <a:prstGeom prst="rect">
              <a:avLst/>
            </a:prstGeom>
            <a:noFill/>
          </p:spPr>
          <p:txBody>
            <a:bodyPr anchor="ctr">
              <a:norm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8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整数类型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" name="MH_Text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661" y="4798"/>
              <a:ext cx="5145" cy="1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508000" rtl="0" eaLnBrk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根据整数的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取值范围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存储方式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的不同，将整数类型分为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种。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cxnSp>
          <p:nvCxnSpPr>
            <p:cNvPr id="5" name="MH_Other_1"/>
            <p:cNvCxnSpPr>
              <a:cxnSpLocks noChangeShapeType="1"/>
            </p:cNvCxnSpPr>
            <p:nvPr>
              <p:custDataLst>
                <p:tags r:id="rId3"/>
              </p:custDataLst>
            </p:nvPr>
          </p:nvCxnSpPr>
          <p:spPr bwMode="auto">
            <a:xfrm rot="10800000">
              <a:off x="4385" y="7261"/>
              <a:ext cx="3942" cy="468"/>
            </a:xfrm>
            <a:prstGeom prst="bentConnector3">
              <a:avLst>
                <a:gd name="adj1" fmla="val 33894"/>
              </a:avLst>
            </a:prstGeom>
            <a:noFill/>
            <a:ln w="3175" algn="ctr">
              <a:solidFill>
                <a:srgbClr val="014076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" name="MH_Other_2"/>
            <p:cNvSpPr>
              <a:spLocks noEditPoints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9417" y="3139"/>
              <a:ext cx="2108" cy="2585"/>
            </a:xfrm>
            <a:custGeom>
              <a:avLst/>
              <a:gdLst>
                <a:gd name="T0" fmla="*/ 10391 w 21600"/>
                <a:gd name="T1" fmla="*/ 15806 h 21600"/>
                <a:gd name="T2" fmla="*/ 20551 w 21600"/>
                <a:gd name="T3" fmla="*/ 21088 h 21600"/>
                <a:gd name="T4" fmla="*/ 13180 w 21600"/>
                <a:gd name="T5" fmla="*/ 13801 h 21600"/>
                <a:gd name="T6" fmla="*/ 20551 w 21600"/>
                <a:gd name="T7" fmla="*/ 7025 h 21600"/>
                <a:gd name="T8" fmla="*/ 10500 w 21600"/>
                <a:gd name="T9" fmla="*/ 52 h 21600"/>
                <a:gd name="T10" fmla="*/ 692 w 21600"/>
                <a:gd name="T11" fmla="*/ 6802 h 21600"/>
                <a:gd name="T12" fmla="*/ 8064 w 21600"/>
                <a:gd name="T13" fmla="*/ 13526 h 21600"/>
                <a:gd name="T14" fmla="*/ 692 w 21600"/>
                <a:gd name="T15" fmla="*/ 21088 h 21600"/>
                <a:gd name="T16" fmla="*/ 2273 w 21600"/>
                <a:gd name="T17" fmla="*/ 7719 h 21600"/>
                <a:gd name="T18" fmla="*/ 19149 w 21600"/>
                <a:gd name="T19" fmla="*/ 202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0070C0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7" name="MH_Other_3"/>
            <p:cNvSpPr>
              <a:spLocks noEditPoints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805" y="5021"/>
              <a:ext cx="3362" cy="2355"/>
            </a:xfrm>
            <a:custGeom>
              <a:avLst/>
              <a:gdLst>
                <a:gd name="T0" fmla="*/ 11 w 21600"/>
                <a:gd name="T1" fmla="*/ 13386 h 21600"/>
                <a:gd name="T2" fmla="*/ 4202 w 21600"/>
                <a:gd name="T3" fmla="*/ 21161 h 21600"/>
                <a:gd name="T4" fmla="*/ 10400 w 21600"/>
                <a:gd name="T5" fmla="*/ 13909 h 21600"/>
                <a:gd name="T6" fmla="*/ 16821 w 21600"/>
                <a:gd name="T7" fmla="*/ 21190 h 21600"/>
                <a:gd name="T8" fmla="*/ 21600 w 21600"/>
                <a:gd name="T9" fmla="*/ 15083 h 21600"/>
                <a:gd name="T10" fmla="*/ 16889 w 21600"/>
                <a:gd name="T11" fmla="*/ 5739 h 21600"/>
                <a:gd name="T12" fmla="*/ 10800 w 21600"/>
                <a:gd name="T13" fmla="*/ 28 h 21600"/>
                <a:gd name="T14" fmla="*/ 4202 w 21600"/>
                <a:gd name="T15" fmla="*/ 5894 h 21600"/>
                <a:gd name="T16" fmla="*/ 5388 w 21600"/>
                <a:gd name="T17" fmla="*/ 6742 h 21600"/>
                <a:gd name="T18" fmla="*/ 16177 w 21600"/>
                <a:gd name="T19" fmla="*/ 20441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0070C0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8" name="MH_Other_4"/>
            <p:cNvSpPr>
              <a:spLocks noEditPoints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502" y="4994"/>
              <a:ext cx="2028" cy="3007"/>
            </a:xfrm>
            <a:custGeom>
              <a:avLst/>
              <a:gdLst>
                <a:gd name="T0" fmla="*/ 8307 w 21600"/>
                <a:gd name="T1" fmla="*/ 11593 h 21600"/>
                <a:gd name="T2" fmla="*/ 453 w 21600"/>
                <a:gd name="T3" fmla="*/ 16938 h 21600"/>
                <a:gd name="T4" fmla="*/ 11500 w 21600"/>
                <a:gd name="T5" fmla="*/ 21600 h 21600"/>
                <a:gd name="T6" fmla="*/ 20920 w 21600"/>
                <a:gd name="T7" fmla="*/ 16751 h 21600"/>
                <a:gd name="T8" fmla="*/ 13972 w 21600"/>
                <a:gd name="T9" fmla="*/ 10888 h 21600"/>
                <a:gd name="T10" fmla="*/ 21033 w 21600"/>
                <a:gd name="T11" fmla="*/ 4716 h 21600"/>
                <a:gd name="T12" fmla="*/ 11102 w 21600"/>
                <a:gd name="T13" fmla="*/ 11 h 21600"/>
                <a:gd name="T14" fmla="*/ 453 w 21600"/>
                <a:gd name="T15" fmla="*/ 4716 h 21600"/>
                <a:gd name="T16" fmla="*/ 2076 w 21600"/>
                <a:gd name="T17" fmla="*/ 5664 h 21600"/>
                <a:gd name="T18" fmla="*/ 20203 w 21600"/>
                <a:gd name="T19" fmla="*/ 1598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0070C0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9" name="MH_Other_5"/>
            <p:cNvSpPr>
              <a:spLocks noEditPoints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07" y="3921"/>
              <a:ext cx="3403" cy="1793"/>
            </a:xfrm>
            <a:custGeom>
              <a:avLst/>
              <a:gdLst>
                <a:gd name="T0" fmla="*/ 16740 w 21600"/>
                <a:gd name="T1" fmla="*/ 21078 h 21600"/>
                <a:gd name="T2" fmla="*/ 16976 w 21600"/>
                <a:gd name="T3" fmla="*/ 521 h 21600"/>
                <a:gd name="T4" fmla="*/ 4725 w 21600"/>
                <a:gd name="T5" fmla="*/ 856 h 21600"/>
                <a:gd name="T6" fmla="*/ 5040 w 21600"/>
                <a:gd name="T7" fmla="*/ 21004 h 21600"/>
                <a:gd name="T8" fmla="*/ 10811 w 21600"/>
                <a:gd name="T9" fmla="*/ 12885 h 21600"/>
                <a:gd name="T10" fmla="*/ 10845 w 21600"/>
                <a:gd name="T11" fmla="*/ 8714 h 21600"/>
                <a:gd name="T12" fmla="*/ 21600 w 21600"/>
                <a:gd name="T13" fmla="*/ 10000 h 21600"/>
                <a:gd name="T14" fmla="*/ 56 w 21600"/>
                <a:gd name="T15" fmla="*/ 10000 h 21600"/>
                <a:gd name="T16" fmla="*/ 6086 w 21600"/>
                <a:gd name="T17" fmla="*/ 2569 h 21600"/>
                <a:gd name="T18" fmla="*/ 16132 w 21600"/>
                <a:gd name="T19" fmla="*/ 19552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0070C0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cxnSp>
          <p:nvCxnSpPr>
            <p:cNvPr id="10" name="MH_Other_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>
              <a:off x="10697" y="3474"/>
              <a:ext cx="4048" cy="447"/>
            </a:xfrm>
            <a:prstGeom prst="bentConnector3">
              <a:avLst>
                <a:gd name="adj1" fmla="val 34458"/>
              </a:avLst>
            </a:prstGeom>
            <a:noFill/>
            <a:ln w="3175" algn="ctr">
              <a:solidFill>
                <a:srgbClr val="014076"/>
              </a:solidFill>
              <a:prstDash val="sys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MH_SubTitle_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1652" y="3264"/>
              <a:ext cx="3543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508000" rtl="0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浮点数类型</a:t>
              </a:r>
              <a:endParaRPr lang="zh-CN" altLang="en-US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2" name="MH_Text_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2430" y="4053"/>
              <a:ext cx="4966" cy="1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lvl="0" algn="l" defTabSz="508000" ea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浮点数类型分为两种，分别是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单精度浮点数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类型和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双精度浮点数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3" name="MH_SubTitle_4"/>
            <p:cNvSpPr txBox="1"/>
            <p:nvPr>
              <p:custDataLst>
                <p:tags r:id="rId11"/>
              </p:custDataLst>
            </p:nvPr>
          </p:nvSpPr>
          <p:spPr>
            <a:xfrm>
              <a:off x="3742" y="6611"/>
              <a:ext cx="3233" cy="650"/>
            </a:xfrm>
            <a:prstGeom prst="rect">
              <a:avLst/>
            </a:prstGeom>
            <a:noFill/>
          </p:spPr>
          <p:txBody>
            <a:bodyPr wrap="none" anchor="ctr"/>
            <a:lstStyle>
              <a:defPPr>
                <a:defRPr lang="zh-CN"/>
              </a:defPPr>
              <a:lvl1pPr>
                <a:defRPr sz="200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defRPr>
              </a:lvl1pPr>
            </a:lstStyle>
            <a:p>
              <a:pPr marL="0" marR="0" lvl="0" indent="0" algn="ctr" defTabSz="508000" rtl="0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800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定点数类型</a:t>
              </a:r>
              <a:endParaRPr lang="zh-CN" altLang="en-US" sz="1800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4" name="MH_Text_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147" y="7385"/>
              <a:ext cx="4828" cy="1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lvl="0" algn="l" defTabSz="508000" ea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定点数类型表示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精度确定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的小数类型，适合用来于对精度要求比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较高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的数据。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sp>
          <p:nvSpPr>
            <p:cNvPr id="15" name="MH_SubTitle_3"/>
            <p:cNvSpPr txBox="1"/>
            <p:nvPr>
              <p:custDataLst>
                <p:tags r:id="rId13"/>
              </p:custDataLst>
            </p:nvPr>
          </p:nvSpPr>
          <p:spPr>
            <a:xfrm>
              <a:off x="11672" y="6001"/>
              <a:ext cx="3543" cy="648"/>
            </a:xfrm>
            <a:prstGeom prst="rect">
              <a:avLst/>
            </a:prstGeom>
            <a:noFill/>
          </p:spPr>
          <p:txBody>
            <a:bodyPr wrap="none" anchor="ctr"/>
            <a:lstStyle>
              <a:defPPr>
                <a:defRPr lang="zh-CN"/>
              </a:defPPr>
              <a:lvl1pPr>
                <a:defRPr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defRPr>
              </a:lvl1pPr>
            </a:lstStyle>
            <a:p>
              <a:pPr marL="0" marR="0" lvl="0" indent="0" algn="ctr" defTabSz="508000" rtl="0" eaLnBrk="0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BIT类型</a:t>
              </a:r>
              <a:endParaRPr lang="zh-CN" altLang="en-US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MH_Text_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2483" y="6884"/>
              <a:ext cx="4828" cy="1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>
              <a:lvl1pPr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 Narrow" panose="020B0606020202030204" pitchFamily="34" charset="0"/>
                  <a:ea typeface="微软雅黑" panose="020B0503020204020204" pitchFamily="34" charset="-122"/>
                </a:defRPr>
              </a:lvl9pPr>
            </a:lstStyle>
            <a:p>
              <a:pPr lvl="0" algn="l" defTabSz="508000" ea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BIT（位）类型的字段通常用于存储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bit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值。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  <p:cxnSp>
          <p:nvCxnSpPr>
            <p:cNvPr id="17" name="MH_Other_7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>
              <a:off x="12167" y="6679"/>
              <a:ext cx="2238" cy="0"/>
            </a:xfrm>
            <a:prstGeom prst="line">
              <a:avLst/>
            </a:prstGeom>
            <a:noFill/>
            <a:ln w="3175" algn="ctr">
              <a:solidFill>
                <a:srgbClr val="014076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MH_Other_8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187" y="4735"/>
              <a:ext cx="2635" cy="0"/>
            </a:xfrm>
            <a:prstGeom prst="line">
              <a:avLst/>
            </a:prstGeom>
            <a:noFill/>
            <a:ln w="3175" algn="ctr">
              <a:solidFill>
                <a:srgbClr val="014076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日期和时间类型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512570" y="1031875"/>
            <a:ext cx="91655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为了方便在数据库中存储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日期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，MySQL提供了表示日期和时间的数据类型。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82345" y="1797981"/>
            <a:ext cx="10184582" cy="4182827"/>
            <a:chOff x="1242" y="4043"/>
            <a:chExt cx="16039" cy="6159"/>
          </a:xfrm>
        </p:grpSpPr>
        <p:grpSp>
          <p:nvGrpSpPr>
            <p:cNvPr id="2" name="组合 1"/>
            <p:cNvGrpSpPr/>
            <p:nvPr/>
          </p:nvGrpSpPr>
          <p:grpSpPr>
            <a:xfrm>
              <a:off x="2750" y="4043"/>
              <a:ext cx="6473" cy="3806"/>
              <a:chOff x="-2958" y="7406"/>
              <a:chExt cx="6782" cy="3806"/>
            </a:xfrm>
          </p:grpSpPr>
          <p:sp>
            <p:nvSpPr>
              <p:cNvPr id="12" name="TextBox 35"/>
              <p:cNvSpPr txBox="1"/>
              <p:nvPr/>
            </p:nvSpPr>
            <p:spPr>
              <a:xfrm>
                <a:off x="-2814" y="8034"/>
                <a:ext cx="6638" cy="1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YEAR类型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用于存储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年份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数据。只需要记录年份时，使用YEAR更为方便和节省空间。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-2706" y="7406"/>
                <a:ext cx="3645" cy="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913765"/>
                <a:r>
                  <a:rPr lang="zh-CN" altLang="en-US" b="1" noProof="0" dirty="0">
                    <a:ln>
                      <a:noFill/>
                    </a:ln>
                    <a:solidFill>
                      <a:srgbClr val="59595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YEAR类型</a:t>
                </a:r>
                <a:endPara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4" name="TextBox 35"/>
              <p:cNvSpPr txBox="1"/>
              <p:nvPr/>
            </p:nvSpPr>
            <p:spPr>
              <a:xfrm>
                <a:off x="-2958" y="10115"/>
                <a:ext cx="6338" cy="1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DATE类型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用于存储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日期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数据。如果数据要用来记录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年月日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，通常使用DATE类型。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9598" y="4396"/>
              <a:ext cx="7683" cy="5659"/>
              <a:chOff x="4609" y="3579"/>
              <a:chExt cx="8050" cy="5659"/>
            </a:xfrm>
          </p:grpSpPr>
          <p:sp>
            <p:nvSpPr>
              <p:cNvPr id="5" name="Line 7"/>
              <p:cNvSpPr>
                <a:spLocks noChangeShapeType="1"/>
              </p:cNvSpPr>
              <p:nvPr/>
            </p:nvSpPr>
            <p:spPr bwMode="auto">
              <a:xfrm flipH="1">
                <a:off x="4609" y="4267"/>
                <a:ext cx="0" cy="3636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AutoShape 9"/>
              <p:cNvSpPr>
                <a:spLocks noChangeArrowheads="1"/>
              </p:cNvSpPr>
              <p:nvPr/>
            </p:nvSpPr>
            <p:spPr bwMode="auto">
              <a:xfrm>
                <a:off x="5001" y="4069"/>
                <a:ext cx="1122" cy="1424"/>
              </a:xfrm>
              <a:custGeom>
                <a:avLst/>
                <a:gdLst>
                  <a:gd name="T0" fmla="*/ 13440833 w 21600"/>
                  <a:gd name="T1" fmla="*/ 23374974 h 21600"/>
                  <a:gd name="T2" fmla="*/ 13440833 w 21600"/>
                  <a:gd name="T3" fmla="*/ 23374974 h 21600"/>
                  <a:gd name="T4" fmla="*/ 13440833 w 21600"/>
                  <a:gd name="T5" fmla="*/ 23374974 h 21600"/>
                  <a:gd name="T6" fmla="*/ 13440833 w 21600"/>
                  <a:gd name="T7" fmla="*/ 23374974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216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9" tIns="45719" rIns="45719" bIns="45719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es-ES" sz="6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Arial" panose="020B0604020202020204" pitchFamily="34" charset="0"/>
                  </a:rPr>
                  <a:t>4</a:t>
                </a:r>
                <a:endParaRPr kumimoji="0" lang="en-US" altLang="es-ES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7" name="AutoShape 12"/>
              <p:cNvSpPr>
                <a:spLocks noChangeArrowheads="1"/>
              </p:cNvSpPr>
              <p:nvPr/>
            </p:nvSpPr>
            <p:spPr bwMode="auto">
              <a:xfrm>
                <a:off x="5025" y="6012"/>
                <a:ext cx="1122" cy="1427"/>
              </a:xfrm>
              <a:custGeom>
                <a:avLst/>
                <a:gdLst>
                  <a:gd name="T0" fmla="*/ 13440833 w 21600"/>
                  <a:gd name="T1" fmla="*/ 23448910 h 21600"/>
                  <a:gd name="T2" fmla="*/ 13440833 w 21600"/>
                  <a:gd name="T3" fmla="*/ 23448910 h 21600"/>
                  <a:gd name="T4" fmla="*/ 13440833 w 21600"/>
                  <a:gd name="T5" fmla="*/ 23448910 h 21600"/>
                  <a:gd name="T6" fmla="*/ 13440833 w 21600"/>
                  <a:gd name="T7" fmla="*/ 2344891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216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9" tIns="45719" rIns="45719" bIns="45719"/>
              <a:lstStyle/>
              <a:p>
                <a:pPr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:r>
                  <a:rPr lang="en-US" altLang="es-ES" sz="60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Arial" panose="020B0604020202020204" pitchFamily="34" charset="0"/>
                  </a:rPr>
                  <a:t>5</a:t>
                </a:r>
                <a:endParaRPr lang="en-US" altLang="es-ES" sz="6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18" name="TextBox 35"/>
              <p:cNvSpPr txBox="1"/>
              <p:nvPr/>
            </p:nvSpPr>
            <p:spPr>
              <a:xfrm>
                <a:off x="6666" y="7235"/>
                <a:ext cx="5993" cy="2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fontAlgn="auto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TIME类型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TIMESTAMP类型用于表示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日期和时间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，它的显示形式和DATETIME类似。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6563" y="6371"/>
                <a:ext cx="4611" cy="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913765"/>
                <a:r>
                  <a:rPr lang="zh-CN" altLang="en-US" b="1" noProof="0" dirty="0">
                    <a:ln>
                      <a:noFill/>
                    </a:ln>
                    <a:solidFill>
                      <a:srgbClr val="595959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TIMESTAMP类型</a:t>
                </a:r>
                <a:endPara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21" name="TextBox 35"/>
              <p:cNvSpPr txBox="1"/>
              <p:nvPr/>
            </p:nvSpPr>
            <p:spPr>
              <a:xfrm>
                <a:off x="6547" y="4407"/>
                <a:ext cx="5892" cy="1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defRPr/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DATETIME类型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用于存储日期和时间的数据。如果数据要用来记录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年月日时分秒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+mn-ea"/>
                  </a:rPr>
                  <a:t>，可以使用DATETIME类型。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6429" y="3579"/>
                <a:ext cx="4546" cy="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defTabSz="913765">
                  <a:defRPr b="1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595959"/>
                    </a:solidFill>
                    <a:sym typeface="+mn-ea"/>
                  </a:rPr>
                  <a:t>DATETIME类型</a:t>
                </a:r>
                <a:endParaRPr lang="zh-CN" altLang="en-US" dirty="0">
                  <a:solidFill>
                    <a:srgbClr val="595959"/>
                  </a:solidFill>
                  <a:sym typeface="+mn-ea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242" y="4211"/>
              <a:ext cx="1512" cy="5944"/>
              <a:chOff x="8067" y="2661"/>
              <a:chExt cx="1731" cy="5944"/>
            </a:xfrm>
          </p:grpSpPr>
          <p:sp>
            <p:nvSpPr>
              <p:cNvPr id="36" name="Line 7"/>
              <p:cNvSpPr>
                <a:spLocks noChangeShapeType="1"/>
              </p:cNvSpPr>
              <p:nvPr/>
            </p:nvSpPr>
            <p:spPr bwMode="auto">
              <a:xfrm flipH="1">
                <a:off x="8067" y="3703"/>
                <a:ext cx="0" cy="4040"/>
              </a:xfrm>
              <a:prstGeom prst="line">
                <a:avLst/>
              </a:prstGeom>
              <a:noFill/>
              <a:ln w="12700">
                <a:solidFill>
                  <a:schemeClr val="accent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AutoShape 9"/>
              <p:cNvSpPr>
                <a:spLocks noChangeArrowheads="1"/>
              </p:cNvSpPr>
              <p:nvPr/>
            </p:nvSpPr>
            <p:spPr bwMode="auto">
              <a:xfrm>
                <a:off x="8519" y="2661"/>
                <a:ext cx="1200" cy="1582"/>
              </a:xfrm>
              <a:custGeom>
                <a:avLst/>
                <a:gdLst>
                  <a:gd name="T0" fmla="*/ 13440833 w 21600"/>
                  <a:gd name="T1" fmla="*/ 23374974 h 21600"/>
                  <a:gd name="T2" fmla="*/ 13440833 w 21600"/>
                  <a:gd name="T3" fmla="*/ 23374974 h 21600"/>
                  <a:gd name="T4" fmla="*/ 13440833 w 21600"/>
                  <a:gd name="T5" fmla="*/ 23374974 h 21600"/>
                  <a:gd name="T6" fmla="*/ 13440833 w 21600"/>
                  <a:gd name="T7" fmla="*/ 23374974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216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9" tIns="45719" rIns="45719" bIns="45719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s-ES" altLang="en-US" sz="6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Arial" panose="020B0604020202020204" pitchFamily="34" charset="0"/>
                  </a:rPr>
                  <a:t>1</a:t>
                </a:r>
                <a:endParaRPr kumimoji="0" lang="es-ES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38" name="AutoShape 12"/>
              <p:cNvSpPr>
                <a:spLocks noChangeArrowheads="1"/>
              </p:cNvSpPr>
              <p:nvPr/>
            </p:nvSpPr>
            <p:spPr bwMode="auto">
              <a:xfrm>
                <a:off x="8545" y="4820"/>
                <a:ext cx="1200" cy="1585"/>
              </a:xfrm>
              <a:custGeom>
                <a:avLst/>
                <a:gdLst>
                  <a:gd name="T0" fmla="*/ 13440833 w 21600"/>
                  <a:gd name="T1" fmla="*/ 23448910 h 21600"/>
                  <a:gd name="T2" fmla="*/ 13440833 w 21600"/>
                  <a:gd name="T3" fmla="*/ 23448910 h 21600"/>
                  <a:gd name="T4" fmla="*/ 13440833 w 21600"/>
                  <a:gd name="T5" fmla="*/ 23448910 h 21600"/>
                  <a:gd name="T6" fmla="*/ 13440833 w 21600"/>
                  <a:gd name="T7" fmla="*/ 2344891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216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9" tIns="45719" rIns="45719" bIns="45719"/>
              <a:lstStyle/>
              <a:p>
                <a:pPr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None/>
                </a:pPr>
                <a:r>
                  <a:rPr lang="es-ES" altLang="en-US" sz="6000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Arial" panose="020B0604020202020204" pitchFamily="34" charset="0"/>
                  </a:rPr>
                  <a:t>2</a:t>
                </a:r>
                <a:endParaRPr lang="es-ES" altLang="en-US" sz="60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Arial" panose="020B0604020202020204" pitchFamily="34" charset="0"/>
                </a:endParaRPr>
              </a:p>
            </p:txBody>
          </p:sp>
          <p:sp>
            <p:nvSpPr>
              <p:cNvPr id="39" name="AutoShape 15"/>
              <p:cNvSpPr>
                <a:spLocks noChangeArrowheads="1"/>
              </p:cNvSpPr>
              <p:nvPr/>
            </p:nvSpPr>
            <p:spPr bwMode="auto">
              <a:xfrm>
                <a:off x="8598" y="7020"/>
                <a:ext cx="1200" cy="1585"/>
              </a:xfrm>
              <a:custGeom>
                <a:avLst/>
                <a:gdLst>
                  <a:gd name="T0" fmla="*/ 13440833 w 21600"/>
                  <a:gd name="T1" fmla="*/ 23448910 h 21600"/>
                  <a:gd name="T2" fmla="*/ 13440833 w 21600"/>
                  <a:gd name="T3" fmla="*/ 23448910 h 21600"/>
                  <a:gd name="T4" fmla="*/ 13440833 w 21600"/>
                  <a:gd name="T5" fmla="*/ 23448910 h 21600"/>
                  <a:gd name="T6" fmla="*/ 13440833 w 21600"/>
                  <a:gd name="T7" fmla="*/ 2344891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216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45719" tIns="45719" rIns="45719" bIns="45719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s-ES" altLang="en-US" sz="6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lt"/>
                    <a:sym typeface="Arial" panose="020B0604020202020204" pitchFamily="34" charset="0"/>
                  </a:rPr>
                  <a:t>3</a:t>
                </a:r>
                <a:endParaRPr kumimoji="0" lang="es-ES" altLang="en-US" sz="6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6" name="文本框 45"/>
            <p:cNvSpPr txBox="1"/>
            <p:nvPr/>
          </p:nvSpPr>
          <p:spPr>
            <a:xfrm>
              <a:off x="2888" y="6010"/>
              <a:ext cx="3537" cy="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defTabSz="913765">
                <a:defRPr b="1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solidFill>
                    <a:srgbClr val="595959"/>
                  </a:solidFill>
                  <a:sym typeface="+mn-ea"/>
                </a:rPr>
                <a:t>DATE类型</a:t>
              </a:r>
              <a:endParaRPr lang="zh-CN" altLang="en-US" dirty="0">
                <a:solidFill>
                  <a:srgbClr val="595959"/>
                </a:solidFill>
                <a:sym typeface="+mn-ea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943" y="8237"/>
              <a:ext cx="3805" cy="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defTabSz="913765"/>
              <a:r>
                <a:rPr lang="zh-CN" altLang="en-US" b="1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TIME类型</a:t>
              </a:r>
              <a:endParaRPr lang="zh-CN" altLang="en-US" b="1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8" name="TextBox 35"/>
            <p:cNvSpPr txBox="1"/>
            <p:nvPr/>
          </p:nvSpPr>
          <p:spPr>
            <a:xfrm>
              <a:off x="2685" y="8980"/>
              <a:ext cx="6046" cy="1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TIME类型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用于存储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时间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数据。如果数据要用来记录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时分秒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lt"/>
                  <a:sym typeface="+mn-ea"/>
                </a:rPr>
                <a:t>，通常使用TIME类型。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2.2.3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字符串类型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90725" y="984250"/>
            <a:ext cx="888238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MySQL中的字符串类型分为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CHAR、VARCHAR、TEXT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等多种类型，不同的数据类型具有不同的特点。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18335" y="2277745"/>
          <a:ext cx="8491855" cy="374332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47900"/>
                <a:gridCol w="6243955"/>
              </a:tblGrid>
              <a:tr h="415925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类型说明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CHAR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固定长度的字符串 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VARCHAR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可变长度的字符串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BINARY</a:t>
                      </a:r>
                      <a:endParaRPr 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固定长度的二进制数据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VARBINARY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可变长度的二进制数据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BOLB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二进制大数据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TEXT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大文本数据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ENUM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枚举类型值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en-US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SET</a:t>
                      </a:r>
                      <a:endParaRPr lang="en-US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字符串对象，可以有零或多个值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511040" y="1701800"/>
            <a:ext cx="30035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endParaRPr lang="zh-CN" altLang="en-US" sz="20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数据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表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基本操作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1629410"/>
            <a:ext cx="7434580" cy="3591560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767" y="3813"/>
              <a:ext cx="10230" cy="26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在MySQL中，所有的数据都存储在数据表中，因此在学习数据表中的数据操作之前，有必要先了解数据库表的基本操作。本节将介绍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数据表的基本操作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，数据表的基本操作主要包括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数据表、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查看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数据表结构、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数据表结构和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数据表。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内容占位符 21"/>
          <p:cNvGraphicFramePr>
            <a:graphicFrameLocks noGrp="1"/>
          </p:cNvGraphicFramePr>
          <p:nvPr>
            <p:ph idx="1"/>
          </p:nvPr>
        </p:nvGraphicFramePr>
        <p:xfrm>
          <a:off x="5431155" y="1917700"/>
          <a:ext cx="5822950" cy="40265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3" name="圆角矩形标注 42"/>
          <p:cNvSpPr/>
          <p:nvPr/>
        </p:nvSpPr>
        <p:spPr bwMode="auto">
          <a:xfrm>
            <a:off x="718185" y="1990090"/>
            <a:ext cx="4124325" cy="3954145"/>
          </a:xfrm>
          <a:prstGeom prst="wedgeRoundRectCallout">
            <a:avLst>
              <a:gd name="adj1" fmla="val 58329"/>
              <a:gd name="adj2" fmla="val 19687"/>
              <a:gd name="adj3" fmla="val 16667"/>
            </a:avLst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  <p:txBody>
          <a:bodyPr tIns="0" anchor="ctr">
            <a:scene3d>
              <a:camera prst="orthographicFront"/>
              <a:lightRig rig="threePt" dir="t"/>
            </a:scene3d>
            <a:sp3d contourW="12700"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05840" y="2277745"/>
            <a:ext cx="35179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在MySQL中使用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CREATE TABLE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语句创建数据表，其基本语法格式如下所示。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6480" y="3181985"/>
            <a:ext cx="3560445" cy="23228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23850" anchor="ctr"/>
          <a:lstStyle/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CREATE [TEMPORARY] TABLE [IF NOT EXISTS] tbl_name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(字段名1 数据类型1 [列级约束1] 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[字段名2 数据类型2 [列级约束2]][,...]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[,表级约束(字段名3[,字段名4][,...])] [,...])  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[table_options]  [partition_options];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/>
        </p:nvSpPr>
        <p:spPr>
          <a:xfrm>
            <a:off x="2854960" y="2205355"/>
            <a:ext cx="6889750" cy="3529965"/>
          </a:xfrm>
          <a:prstGeom prst="plaqu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91230" y="3141345"/>
            <a:ext cx="561721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需要注意的是，如果是使用非图形化工具操作数据表，操作之前应该先使用“USE 数据库名”命令指定操作是在哪个数据库中进行，否则会抛出“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 database selected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”错误。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552065"/>
            <a:chOff x="4042" y="3473"/>
            <a:chExt cx="11680" cy="4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949" y="4040"/>
              <a:ext cx="9888" cy="2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数据表创建成功后，可以通过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SQL语句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对数据表进行查看，以确认数据表是否创建成功和数据表的定义是否正确。在MySQL中，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查看数据表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的SQL有3种。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查看数据表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查看数据表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070860" y="1629410"/>
            <a:ext cx="8393410" cy="4519295"/>
            <a:chOff x="6091" y="2418"/>
            <a:chExt cx="11999" cy="7117"/>
          </a:xfrm>
        </p:grpSpPr>
        <p:cxnSp>
          <p:nvCxnSpPr>
            <p:cNvPr id="3" name="直接连接符 41"/>
            <p:cNvCxnSpPr/>
            <p:nvPr/>
          </p:nvCxnSpPr>
          <p:spPr>
            <a:xfrm flipH="1">
              <a:off x="6091" y="3255"/>
              <a:ext cx="2983" cy="0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ysDash"/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" name="直接连接符 42"/>
            <p:cNvCxnSpPr/>
            <p:nvPr/>
          </p:nvCxnSpPr>
          <p:spPr>
            <a:xfrm flipH="1">
              <a:off x="6091" y="5997"/>
              <a:ext cx="2983" cy="0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ysDash"/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" name="直接连接符 43"/>
            <p:cNvCxnSpPr/>
            <p:nvPr/>
          </p:nvCxnSpPr>
          <p:spPr>
            <a:xfrm flipH="1">
              <a:off x="6091" y="8694"/>
              <a:ext cx="2983" cy="0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ysDash"/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" name="直接连接符 44"/>
            <p:cNvCxnSpPr/>
            <p:nvPr/>
          </p:nvCxnSpPr>
          <p:spPr>
            <a:xfrm>
              <a:off x="6091" y="3255"/>
              <a:ext cx="0" cy="5408"/>
            </a:xfrm>
            <a:prstGeom prst="line">
              <a:avLst/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ysDash"/>
              <a:headEnd type="oval" w="med" len="med"/>
              <a:tailEnd type="oval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" name="椭圆 6"/>
            <p:cNvSpPr/>
            <p:nvPr/>
          </p:nvSpPr>
          <p:spPr>
            <a:xfrm>
              <a:off x="8096" y="2418"/>
              <a:ext cx="1861" cy="174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3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8096" y="5124"/>
              <a:ext cx="1861" cy="174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3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8096" y="7791"/>
              <a:ext cx="1861" cy="174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>
              <a:solidFill>
                <a:schemeClr val="bg1"/>
              </a:solidFill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3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8234" y="5269"/>
              <a:ext cx="1552" cy="14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176"/>
            <p:cNvSpPr>
              <a:spLocks noEditPoints="1"/>
            </p:cNvSpPr>
            <p:nvPr/>
          </p:nvSpPr>
          <p:spPr bwMode="auto">
            <a:xfrm>
              <a:off x="8562" y="5608"/>
              <a:ext cx="1017" cy="907"/>
            </a:xfrm>
            <a:custGeom>
              <a:avLst/>
              <a:gdLst>
                <a:gd name="T0" fmla="*/ 93 w 121"/>
                <a:gd name="T1" fmla="*/ 56 h 115"/>
                <a:gd name="T2" fmla="*/ 90 w 121"/>
                <a:gd name="T3" fmla="*/ 60 h 115"/>
                <a:gd name="T4" fmla="*/ 86 w 121"/>
                <a:gd name="T5" fmla="*/ 40 h 115"/>
                <a:gd name="T6" fmla="*/ 82 w 121"/>
                <a:gd name="T7" fmla="*/ 82 h 115"/>
                <a:gd name="T8" fmla="*/ 75 w 121"/>
                <a:gd name="T9" fmla="*/ 89 h 115"/>
                <a:gd name="T10" fmla="*/ 69 w 121"/>
                <a:gd name="T11" fmla="*/ 44 h 115"/>
                <a:gd name="T12" fmla="*/ 59 w 121"/>
                <a:gd name="T13" fmla="*/ 28 h 115"/>
                <a:gd name="T14" fmla="*/ 82 w 121"/>
                <a:gd name="T15" fmla="*/ 13 h 115"/>
                <a:gd name="T16" fmla="*/ 59 w 121"/>
                <a:gd name="T17" fmla="*/ 10 h 115"/>
                <a:gd name="T18" fmla="*/ 116 w 121"/>
                <a:gd name="T19" fmla="*/ 0 h 115"/>
                <a:gd name="T20" fmla="*/ 113 w 121"/>
                <a:gd name="T21" fmla="*/ 21 h 115"/>
                <a:gd name="T22" fmla="*/ 121 w 121"/>
                <a:gd name="T23" fmla="*/ 23 h 115"/>
                <a:gd name="T24" fmla="*/ 121 w 121"/>
                <a:gd name="T25" fmla="*/ 28 h 115"/>
                <a:gd name="T26" fmla="*/ 110 w 121"/>
                <a:gd name="T27" fmla="*/ 39 h 115"/>
                <a:gd name="T28" fmla="*/ 93 w 121"/>
                <a:gd name="T29" fmla="*/ 42 h 115"/>
                <a:gd name="T30" fmla="*/ 5 w 121"/>
                <a:gd name="T31" fmla="*/ 40 h 115"/>
                <a:gd name="T32" fmla="*/ 56 w 121"/>
                <a:gd name="T33" fmla="*/ 37 h 115"/>
                <a:gd name="T34" fmla="*/ 5 w 121"/>
                <a:gd name="T35" fmla="*/ 40 h 115"/>
                <a:gd name="T36" fmla="*/ 7 w 121"/>
                <a:gd name="T37" fmla="*/ 49 h 115"/>
                <a:gd name="T38" fmla="*/ 29 w 121"/>
                <a:gd name="T39" fmla="*/ 64 h 115"/>
                <a:gd name="T40" fmla="*/ 52 w 121"/>
                <a:gd name="T41" fmla="*/ 108 h 115"/>
                <a:gd name="T42" fmla="*/ 58 w 121"/>
                <a:gd name="T43" fmla="*/ 46 h 115"/>
                <a:gd name="T44" fmla="*/ 42 w 121"/>
                <a:gd name="T45" fmla="*/ 98 h 115"/>
                <a:gd name="T46" fmla="*/ 44 w 121"/>
                <a:gd name="T47" fmla="*/ 107 h 115"/>
                <a:gd name="T48" fmla="*/ 42 w 121"/>
                <a:gd name="T49" fmla="*/ 98 h 115"/>
                <a:gd name="T50" fmla="*/ 51 w 121"/>
                <a:gd name="T51" fmla="*/ 11 h 115"/>
                <a:gd name="T52" fmla="*/ 39 w 121"/>
                <a:gd name="T53" fmla="*/ 7 h 115"/>
                <a:gd name="T54" fmla="*/ 36 w 121"/>
                <a:gd name="T55" fmla="*/ 8 h 115"/>
                <a:gd name="T56" fmla="*/ 16 w 121"/>
                <a:gd name="T57" fmla="*/ 25 h 115"/>
                <a:gd name="T58" fmla="*/ 12 w 121"/>
                <a:gd name="T59" fmla="*/ 12 h 115"/>
                <a:gd name="T60" fmla="*/ 12 w 121"/>
                <a:gd name="T61" fmla="*/ 26 h 115"/>
                <a:gd name="T62" fmla="*/ 7 w 121"/>
                <a:gd name="T63" fmla="*/ 13 h 115"/>
                <a:gd name="T64" fmla="*/ 4 w 121"/>
                <a:gd name="T65" fmla="*/ 36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1" h="115">
                  <a:moveTo>
                    <a:pt x="93" y="42"/>
                  </a:moveTo>
                  <a:cubicBezTo>
                    <a:pt x="93" y="56"/>
                    <a:pt x="93" y="56"/>
                    <a:pt x="93" y="56"/>
                  </a:cubicBezTo>
                  <a:cubicBezTo>
                    <a:pt x="93" y="58"/>
                    <a:pt x="92" y="60"/>
                    <a:pt x="90" y="60"/>
                  </a:cubicBezTo>
                  <a:cubicBezTo>
                    <a:pt x="90" y="60"/>
                    <a:pt x="90" y="60"/>
                    <a:pt x="90" y="60"/>
                  </a:cubicBezTo>
                  <a:cubicBezTo>
                    <a:pt x="88" y="60"/>
                    <a:pt x="86" y="58"/>
                    <a:pt x="86" y="56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2"/>
                    <a:pt x="84" y="43"/>
                    <a:pt x="82" y="44"/>
                  </a:cubicBezTo>
                  <a:cubicBezTo>
                    <a:pt x="82" y="82"/>
                    <a:pt x="82" y="82"/>
                    <a:pt x="82" y="82"/>
                  </a:cubicBezTo>
                  <a:cubicBezTo>
                    <a:pt x="82" y="86"/>
                    <a:pt x="79" y="89"/>
                    <a:pt x="75" y="89"/>
                  </a:cubicBezTo>
                  <a:cubicBezTo>
                    <a:pt x="75" y="89"/>
                    <a:pt x="75" y="89"/>
                    <a:pt x="75" y="89"/>
                  </a:cubicBezTo>
                  <a:cubicBezTo>
                    <a:pt x="72" y="89"/>
                    <a:pt x="69" y="86"/>
                    <a:pt x="69" y="82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63" y="42"/>
                    <a:pt x="59" y="36"/>
                    <a:pt x="59" y="29"/>
                  </a:cubicBezTo>
                  <a:cubicBezTo>
                    <a:pt x="59" y="29"/>
                    <a:pt x="59" y="28"/>
                    <a:pt x="59" y="28"/>
                  </a:cubicBezTo>
                  <a:cubicBezTo>
                    <a:pt x="59" y="16"/>
                    <a:pt x="59" y="16"/>
                    <a:pt x="59" y="16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59" y="6"/>
                    <a:pt x="59" y="6"/>
                    <a:pt x="59" y="6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21" y="16"/>
                    <a:pt x="121" y="16"/>
                    <a:pt x="121" y="16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2" y="24"/>
                    <a:pt x="112" y="24"/>
                    <a:pt x="112" y="24"/>
                  </a:cubicBezTo>
                  <a:cubicBezTo>
                    <a:pt x="121" y="23"/>
                    <a:pt x="121" y="23"/>
                    <a:pt x="121" y="23"/>
                  </a:cubicBezTo>
                  <a:cubicBezTo>
                    <a:pt x="121" y="28"/>
                    <a:pt x="121" y="28"/>
                    <a:pt x="121" y="28"/>
                  </a:cubicBezTo>
                  <a:cubicBezTo>
                    <a:pt x="121" y="28"/>
                    <a:pt x="121" y="28"/>
                    <a:pt x="121" y="28"/>
                  </a:cubicBezTo>
                  <a:cubicBezTo>
                    <a:pt x="121" y="28"/>
                    <a:pt x="121" y="28"/>
                    <a:pt x="121" y="28"/>
                  </a:cubicBezTo>
                  <a:cubicBezTo>
                    <a:pt x="121" y="34"/>
                    <a:pt x="116" y="39"/>
                    <a:pt x="110" y="39"/>
                  </a:cubicBezTo>
                  <a:cubicBezTo>
                    <a:pt x="107" y="39"/>
                    <a:pt x="105" y="38"/>
                    <a:pt x="103" y="37"/>
                  </a:cubicBezTo>
                  <a:cubicBezTo>
                    <a:pt x="101" y="40"/>
                    <a:pt x="97" y="42"/>
                    <a:pt x="93" y="42"/>
                  </a:cubicBezTo>
                  <a:cubicBezTo>
                    <a:pt x="93" y="42"/>
                    <a:pt x="93" y="42"/>
                    <a:pt x="93" y="42"/>
                  </a:cubicBezTo>
                  <a:close/>
                  <a:moveTo>
                    <a:pt x="5" y="40"/>
                  </a:moveTo>
                  <a:cubicBezTo>
                    <a:pt x="54" y="30"/>
                    <a:pt x="54" y="30"/>
                    <a:pt x="54" y="30"/>
                  </a:cubicBezTo>
                  <a:cubicBezTo>
                    <a:pt x="56" y="37"/>
                    <a:pt x="56" y="37"/>
                    <a:pt x="56" y="37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5" y="40"/>
                    <a:pt x="5" y="40"/>
                    <a:pt x="5" y="40"/>
                  </a:cubicBezTo>
                  <a:close/>
                  <a:moveTo>
                    <a:pt x="56" y="40"/>
                  </a:moveTo>
                  <a:cubicBezTo>
                    <a:pt x="7" y="49"/>
                    <a:pt x="7" y="49"/>
                    <a:pt x="7" y="49"/>
                  </a:cubicBezTo>
                  <a:cubicBezTo>
                    <a:pt x="7" y="52"/>
                    <a:pt x="7" y="54"/>
                    <a:pt x="8" y="56"/>
                  </a:cubicBezTo>
                  <a:cubicBezTo>
                    <a:pt x="16" y="56"/>
                    <a:pt x="23" y="59"/>
                    <a:pt x="29" y="64"/>
                  </a:cubicBezTo>
                  <a:cubicBezTo>
                    <a:pt x="32" y="79"/>
                    <a:pt x="28" y="104"/>
                    <a:pt x="37" y="111"/>
                  </a:cubicBezTo>
                  <a:cubicBezTo>
                    <a:pt x="42" y="115"/>
                    <a:pt x="49" y="114"/>
                    <a:pt x="52" y="108"/>
                  </a:cubicBezTo>
                  <a:cubicBezTo>
                    <a:pt x="57" y="97"/>
                    <a:pt x="44" y="76"/>
                    <a:pt x="42" y="62"/>
                  </a:cubicBezTo>
                  <a:cubicBezTo>
                    <a:pt x="45" y="54"/>
                    <a:pt x="51" y="49"/>
                    <a:pt x="58" y="46"/>
                  </a:cubicBezTo>
                  <a:cubicBezTo>
                    <a:pt x="57" y="44"/>
                    <a:pt x="57" y="42"/>
                    <a:pt x="56" y="40"/>
                  </a:cubicBezTo>
                  <a:close/>
                  <a:moveTo>
                    <a:pt x="42" y="98"/>
                  </a:moveTo>
                  <a:cubicBezTo>
                    <a:pt x="45" y="98"/>
                    <a:pt x="47" y="99"/>
                    <a:pt x="48" y="102"/>
                  </a:cubicBezTo>
                  <a:cubicBezTo>
                    <a:pt x="48" y="104"/>
                    <a:pt x="47" y="107"/>
                    <a:pt x="44" y="107"/>
                  </a:cubicBezTo>
                  <a:cubicBezTo>
                    <a:pt x="42" y="108"/>
                    <a:pt x="39" y="106"/>
                    <a:pt x="39" y="104"/>
                  </a:cubicBezTo>
                  <a:cubicBezTo>
                    <a:pt x="38" y="101"/>
                    <a:pt x="40" y="99"/>
                    <a:pt x="42" y="98"/>
                  </a:cubicBezTo>
                  <a:close/>
                  <a:moveTo>
                    <a:pt x="54" y="26"/>
                  </a:moveTo>
                  <a:cubicBezTo>
                    <a:pt x="51" y="11"/>
                    <a:pt x="51" y="11"/>
                    <a:pt x="51" y="11"/>
                  </a:cubicBezTo>
                  <a:cubicBezTo>
                    <a:pt x="50" y="8"/>
                    <a:pt x="46" y="6"/>
                    <a:pt x="42" y="6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3" y="14"/>
                    <a:pt x="0" y="18"/>
                    <a:pt x="1" y="21"/>
                  </a:cubicBezTo>
                  <a:cubicBezTo>
                    <a:pt x="4" y="36"/>
                    <a:pt x="4" y="36"/>
                    <a:pt x="4" y="36"/>
                  </a:cubicBezTo>
                  <a:lnTo>
                    <a:pt x="5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E93F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8251" y="2563"/>
              <a:ext cx="1552" cy="145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8234" y="7967"/>
              <a:ext cx="1552" cy="1455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175"/>
            <p:cNvSpPr>
              <a:spLocks noEditPoints="1"/>
            </p:cNvSpPr>
            <p:nvPr/>
          </p:nvSpPr>
          <p:spPr bwMode="auto">
            <a:xfrm>
              <a:off x="8612" y="8167"/>
              <a:ext cx="968" cy="993"/>
            </a:xfrm>
            <a:custGeom>
              <a:avLst/>
              <a:gdLst>
                <a:gd name="T0" fmla="*/ 165 w 272"/>
                <a:gd name="T1" fmla="*/ 0 h 298"/>
                <a:gd name="T2" fmla="*/ 246 w 272"/>
                <a:gd name="T3" fmla="*/ 47 h 298"/>
                <a:gd name="T4" fmla="*/ 153 w 272"/>
                <a:gd name="T5" fmla="*/ 201 h 298"/>
                <a:gd name="T6" fmla="*/ 108 w 272"/>
                <a:gd name="T7" fmla="*/ 229 h 298"/>
                <a:gd name="T8" fmla="*/ 66 w 272"/>
                <a:gd name="T9" fmla="*/ 232 h 298"/>
                <a:gd name="T10" fmla="*/ 71 w 272"/>
                <a:gd name="T11" fmla="*/ 153 h 298"/>
                <a:gd name="T12" fmla="*/ 165 w 272"/>
                <a:gd name="T13" fmla="*/ 0 h 298"/>
                <a:gd name="T14" fmla="*/ 165 w 272"/>
                <a:gd name="T15" fmla="*/ 0 h 298"/>
                <a:gd name="T16" fmla="*/ 243 w 272"/>
                <a:gd name="T17" fmla="*/ 293 h 298"/>
                <a:gd name="T18" fmla="*/ 248 w 272"/>
                <a:gd name="T19" fmla="*/ 262 h 298"/>
                <a:gd name="T20" fmla="*/ 158 w 272"/>
                <a:gd name="T21" fmla="*/ 260 h 298"/>
                <a:gd name="T22" fmla="*/ 272 w 272"/>
                <a:gd name="T23" fmla="*/ 253 h 298"/>
                <a:gd name="T24" fmla="*/ 272 w 272"/>
                <a:gd name="T25" fmla="*/ 241 h 298"/>
                <a:gd name="T26" fmla="*/ 239 w 272"/>
                <a:gd name="T27" fmla="*/ 239 h 298"/>
                <a:gd name="T28" fmla="*/ 269 w 272"/>
                <a:gd name="T29" fmla="*/ 234 h 298"/>
                <a:gd name="T30" fmla="*/ 257 w 272"/>
                <a:gd name="T31" fmla="*/ 210 h 298"/>
                <a:gd name="T32" fmla="*/ 175 w 272"/>
                <a:gd name="T33" fmla="*/ 201 h 298"/>
                <a:gd name="T34" fmla="*/ 172 w 272"/>
                <a:gd name="T35" fmla="*/ 224 h 298"/>
                <a:gd name="T36" fmla="*/ 208 w 272"/>
                <a:gd name="T37" fmla="*/ 232 h 298"/>
                <a:gd name="T38" fmla="*/ 0 w 272"/>
                <a:gd name="T39" fmla="*/ 243 h 298"/>
                <a:gd name="T40" fmla="*/ 2 w 272"/>
                <a:gd name="T41" fmla="*/ 265 h 298"/>
                <a:gd name="T42" fmla="*/ 137 w 272"/>
                <a:gd name="T43" fmla="*/ 279 h 298"/>
                <a:gd name="T44" fmla="*/ 85 w 272"/>
                <a:gd name="T45" fmla="*/ 281 h 298"/>
                <a:gd name="T46" fmla="*/ 87 w 272"/>
                <a:gd name="T47" fmla="*/ 298 h 298"/>
                <a:gd name="T48" fmla="*/ 243 w 272"/>
                <a:gd name="T49" fmla="*/ 293 h 298"/>
                <a:gd name="T50" fmla="*/ 243 w 272"/>
                <a:gd name="T51" fmla="*/ 293 h 298"/>
                <a:gd name="T52" fmla="*/ 106 w 272"/>
                <a:gd name="T53" fmla="*/ 213 h 298"/>
                <a:gd name="T54" fmla="*/ 137 w 272"/>
                <a:gd name="T55" fmla="*/ 191 h 298"/>
                <a:gd name="T56" fmla="*/ 87 w 272"/>
                <a:gd name="T57" fmla="*/ 163 h 298"/>
                <a:gd name="T58" fmla="*/ 85 w 272"/>
                <a:gd name="T59" fmla="*/ 198 h 298"/>
                <a:gd name="T60" fmla="*/ 106 w 272"/>
                <a:gd name="T61" fmla="*/ 213 h 298"/>
                <a:gd name="T62" fmla="*/ 106 w 272"/>
                <a:gd name="T63" fmla="*/ 213 h 298"/>
                <a:gd name="T64" fmla="*/ 217 w 272"/>
                <a:gd name="T65" fmla="*/ 47 h 298"/>
                <a:gd name="T66" fmla="*/ 142 w 272"/>
                <a:gd name="T67" fmla="*/ 172 h 298"/>
                <a:gd name="T68" fmla="*/ 151 w 272"/>
                <a:gd name="T69" fmla="*/ 177 h 298"/>
                <a:gd name="T70" fmla="*/ 224 w 272"/>
                <a:gd name="T71" fmla="*/ 52 h 298"/>
                <a:gd name="T72" fmla="*/ 217 w 272"/>
                <a:gd name="T73" fmla="*/ 47 h 298"/>
                <a:gd name="T74" fmla="*/ 217 w 272"/>
                <a:gd name="T75" fmla="*/ 47 h 298"/>
                <a:gd name="T76" fmla="*/ 170 w 272"/>
                <a:gd name="T77" fmla="*/ 19 h 298"/>
                <a:gd name="T78" fmla="*/ 97 w 272"/>
                <a:gd name="T79" fmla="*/ 144 h 298"/>
                <a:gd name="T80" fmla="*/ 111 w 272"/>
                <a:gd name="T81" fmla="*/ 153 h 298"/>
                <a:gd name="T82" fmla="*/ 186 w 272"/>
                <a:gd name="T83" fmla="*/ 28 h 298"/>
                <a:gd name="T84" fmla="*/ 170 w 272"/>
                <a:gd name="T85" fmla="*/ 1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2" h="298">
                  <a:moveTo>
                    <a:pt x="165" y="0"/>
                  </a:moveTo>
                  <a:lnTo>
                    <a:pt x="246" y="47"/>
                  </a:lnTo>
                  <a:lnTo>
                    <a:pt x="153" y="201"/>
                  </a:lnTo>
                  <a:lnTo>
                    <a:pt x="108" y="229"/>
                  </a:lnTo>
                  <a:lnTo>
                    <a:pt x="66" y="232"/>
                  </a:lnTo>
                  <a:lnTo>
                    <a:pt x="71" y="153"/>
                  </a:lnTo>
                  <a:lnTo>
                    <a:pt x="165" y="0"/>
                  </a:lnTo>
                  <a:lnTo>
                    <a:pt x="165" y="0"/>
                  </a:lnTo>
                  <a:close/>
                  <a:moveTo>
                    <a:pt x="243" y="293"/>
                  </a:moveTo>
                  <a:lnTo>
                    <a:pt x="248" y="262"/>
                  </a:lnTo>
                  <a:lnTo>
                    <a:pt x="158" y="260"/>
                  </a:lnTo>
                  <a:lnTo>
                    <a:pt x="272" y="253"/>
                  </a:lnTo>
                  <a:lnTo>
                    <a:pt x="272" y="241"/>
                  </a:lnTo>
                  <a:lnTo>
                    <a:pt x="239" y="239"/>
                  </a:lnTo>
                  <a:lnTo>
                    <a:pt x="269" y="234"/>
                  </a:lnTo>
                  <a:lnTo>
                    <a:pt x="257" y="210"/>
                  </a:lnTo>
                  <a:lnTo>
                    <a:pt x="175" y="201"/>
                  </a:lnTo>
                  <a:lnTo>
                    <a:pt x="172" y="224"/>
                  </a:lnTo>
                  <a:lnTo>
                    <a:pt x="208" y="232"/>
                  </a:lnTo>
                  <a:lnTo>
                    <a:pt x="0" y="243"/>
                  </a:lnTo>
                  <a:lnTo>
                    <a:pt x="2" y="265"/>
                  </a:lnTo>
                  <a:lnTo>
                    <a:pt x="137" y="279"/>
                  </a:lnTo>
                  <a:lnTo>
                    <a:pt x="85" y="281"/>
                  </a:lnTo>
                  <a:lnTo>
                    <a:pt x="87" y="298"/>
                  </a:lnTo>
                  <a:lnTo>
                    <a:pt x="243" y="293"/>
                  </a:lnTo>
                  <a:lnTo>
                    <a:pt x="243" y="293"/>
                  </a:lnTo>
                  <a:close/>
                  <a:moveTo>
                    <a:pt x="106" y="213"/>
                  </a:moveTo>
                  <a:lnTo>
                    <a:pt x="137" y="191"/>
                  </a:lnTo>
                  <a:lnTo>
                    <a:pt x="87" y="163"/>
                  </a:lnTo>
                  <a:lnTo>
                    <a:pt x="85" y="198"/>
                  </a:lnTo>
                  <a:lnTo>
                    <a:pt x="106" y="213"/>
                  </a:lnTo>
                  <a:lnTo>
                    <a:pt x="106" y="213"/>
                  </a:lnTo>
                  <a:close/>
                  <a:moveTo>
                    <a:pt x="217" y="47"/>
                  </a:moveTo>
                  <a:lnTo>
                    <a:pt x="142" y="172"/>
                  </a:lnTo>
                  <a:lnTo>
                    <a:pt x="151" y="177"/>
                  </a:lnTo>
                  <a:lnTo>
                    <a:pt x="224" y="52"/>
                  </a:lnTo>
                  <a:lnTo>
                    <a:pt x="217" y="47"/>
                  </a:lnTo>
                  <a:lnTo>
                    <a:pt x="217" y="47"/>
                  </a:lnTo>
                  <a:close/>
                  <a:moveTo>
                    <a:pt x="170" y="19"/>
                  </a:moveTo>
                  <a:lnTo>
                    <a:pt x="97" y="144"/>
                  </a:lnTo>
                  <a:lnTo>
                    <a:pt x="111" y="153"/>
                  </a:lnTo>
                  <a:lnTo>
                    <a:pt x="186" y="28"/>
                  </a:lnTo>
                  <a:lnTo>
                    <a:pt x="170" y="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E93F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168"/>
            <p:cNvSpPr>
              <a:spLocks noEditPoints="1"/>
            </p:cNvSpPr>
            <p:nvPr/>
          </p:nvSpPr>
          <p:spPr bwMode="auto">
            <a:xfrm>
              <a:off x="8562" y="2770"/>
              <a:ext cx="928" cy="970"/>
            </a:xfrm>
            <a:custGeom>
              <a:avLst/>
              <a:gdLst>
                <a:gd name="T0" fmla="*/ 55 w 110"/>
                <a:gd name="T1" fmla="*/ 41 h 123"/>
                <a:gd name="T2" fmla="*/ 75 w 110"/>
                <a:gd name="T3" fmla="*/ 31 h 123"/>
                <a:gd name="T4" fmla="*/ 99 w 110"/>
                <a:gd name="T5" fmla="*/ 86 h 123"/>
                <a:gd name="T6" fmla="*/ 97 w 110"/>
                <a:gd name="T7" fmla="*/ 88 h 123"/>
                <a:gd name="T8" fmla="*/ 101 w 110"/>
                <a:gd name="T9" fmla="*/ 96 h 123"/>
                <a:gd name="T10" fmla="*/ 94 w 110"/>
                <a:gd name="T11" fmla="*/ 99 h 123"/>
                <a:gd name="T12" fmla="*/ 90 w 110"/>
                <a:gd name="T13" fmla="*/ 91 h 123"/>
                <a:gd name="T14" fmla="*/ 87 w 110"/>
                <a:gd name="T15" fmla="*/ 93 h 123"/>
                <a:gd name="T16" fmla="*/ 55 w 110"/>
                <a:gd name="T17" fmla="*/ 41 h 123"/>
                <a:gd name="T18" fmla="*/ 0 w 110"/>
                <a:gd name="T19" fmla="*/ 108 h 123"/>
                <a:gd name="T20" fmla="*/ 3 w 110"/>
                <a:gd name="T21" fmla="*/ 115 h 123"/>
                <a:gd name="T22" fmla="*/ 31 w 110"/>
                <a:gd name="T23" fmla="*/ 105 h 123"/>
                <a:gd name="T24" fmla="*/ 30 w 110"/>
                <a:gd name="T25" fmla="*/ 121 h 123"/>
                <a:gd name="T26" fmla="*/ 110 w 110"/>
                <a:gd name="T27" fmla="*/ 105 h 123"/>
                <a:gd name="T28" fmla="*/ 108 w 110"/>
                <a:gd name="T29" fmla="*/ 98 h 123"/>
                <a:gd name="T30" fmla="*/ 36 w 110"/>
                <a:gd name="T31" fmla="*/ 113 h 123"/>
                <a:gd name="T32" fmla="*/ 55 w 110"/>
                <a:gd name="T33" fmla="*/ 96 h 123"/>
                <a:gd name="T34" fmla="*/ 52 w 110"/>
                <a:gd name="T35" fmla="*/ 89 h 123"/>
                <a:gd name="T36" fmla="*/ 0 w 110"/>
                <a:gd name="T37" fmla="*/ 108 h 123"/>
                <a:gd name="T38" fmla="*/ 60 w 110"/>
                <a:gd name="T39" fmla="*/ 9 h 123"/>
                <a:gd name="T40" fmla="*/ 53 w 110"/>
                <a:gd name="T41" fmla="*/ 36 h 123"/>
                <a:gd name="T42" fmla="*/ 72 w 110"/>
                <a:gd name="T43" fmla="*/ 26 h 123"/>
                <a:gd name="T44" fmla="*/ 66 w 110"/>
                <a:gd name="T45" fmla="*/ 15 h 123"/>
                <a:gd name="T46" fmla="*/ 71 w 110"/>
                <a:gd name="T47" fmla="*/ 12 h 123"/>
                <a:gd name="T48" fmla="*/ 86 w 110"/>
                <a:gd name="T49" fmla="*/ 51 h 123"/>
                <a:gd name="T50" fmla="*/ 93 w 110"/>
                <a:gd name="T51" fmla="*/ 48 h 123"/>
                <a:gd name="T52" fmla="*/ 77 w 110"/>
                <a:gd name="T53" fmla="*/ 5 h 123"/>
                <a:gd name="T54" fmla="*/ 75 w 110"/>
                <a:gd name="T55" fmla="*/ 2 h 123"/>
                <a:gd name="T56" fmla="*/ 72 w 110"/>
                <a:gd name="T57" fmla="*/ 3 h 123"/>
                <a:gd name="T58" fmla="*/ 60 w 110"/>
                <a:gd name="T59" fmla="*/ 9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0" h="123">
                  <a:moveTo>
                    <a:pt x="55" y="4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99" y="86"/>
                    <a:pt x="99" y="86"/>
                    <a:pt x="99" y="86"/>
                  </a:cubicBezTo>
                  <a:cubicBezTo>
                    <a:pt x="97" y="88"/>
                    <a:pt x="97" y="88"/>
                    <a:pt x="97" y="88"/>
                  </a:cubicBezTo>
                  <a:cubicBezTo>
                    <a:pt x="101" y="96"/>
                    <a:pt x="101" y="96"/>
                    <a:pt x="101" y="96"/>
                  </a:cubicBezTo>
                  <a:cubicBezTo>
                    <a:pt x="94" y="99"/>
                    <a:pt x="94" y="99"/>
                    <a:pt x="94" y="99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87" y="93"/>
                    <a:pt x="87" y="93"/>
                    <a:pt x="87" y="93"/>
                  </a:cubicBezTo>
                  <a:cubicBezTo>
                    <a:pt x="55" y="41"/>
                    <a:pt x="55" y="41"/>
                    <a:pt x="55" y="41"/>
                  </a:cubicBezTo>
                  <a:close/>
                  <a:moveTo>
                    <a:pt x="0" y="108"/>
                  </a:moveTo>
                  <a:cubicBezTo>
                    <a:pt x="3" y="115"/>
                    <a:pt x="3" y="115"/>
                    <a:pt x="3" y="11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23" y="112"/>
                    <a:pt x="19" y="119"/>
                    <a:pt x="30" y="121"/>
                  </a:cubicBezTo>
                  <a:cubicBezTo>
                    <a:pt x="44" y="123"/>
                    <a:pt x="110" y="105"/>
                    <a:pt x="110" y="105"/>
                  </a:cubicBezTo>
                  <a:cubicBezTo>
                    <a:pt x="108" y="98"/>
                    <a:pt x="108" y="98"/>
                    <a:pt x="108" y="98"/>
                  </a:cubicBezTo>
                  <a:cubicBezTo>
                    <a:pt x="108" y="98"/>
                    <a:pt x="49" y="115"/>
                    <a:pt x="36" y="113"/>
                  </a:cubicBezTo>
                  <a:cubicBezTo>
                    <a:pt x="33" y="112"/>
                    <a:pt x="55" y="96"/>
                    <a:pt x="55" y="96"/>
                  </a:cubicBezTo>
                  <a:cubicBezTo>
                    <a:pt x="52" y="89"/>
                    <a:pt x="52" y="89"/>
                    <a:pt x="52" y="89"/>
                  </a:cubicBezTo>
                  <a:cubicBezTo>
                    <a:pt x="0" y="108"/>
                    <a:pt x="0" y="108"/>
                    <a:pt x="0" y="108"/>
                  </a:cubicBezTo>
                  <a:close/>
                  <a:moveTo>
                    <a:pt x="60" y="9"/>
                  </a:moveTo>
                  <a:cubicBezTo>
                    <a:pt x="48" y="0"/>
                    <a:pt x="40" y="12"/>
                    <a:pt x="53" y="36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0" y="21"/>
                    <a:pt x="68" y="18"/>
                    <a:pt x="66" y="15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86" y="51"/>
                    <a:pt x="86" y="51"/>
                    <a:pt x="86" y="51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77" y="5"/>
                    <a:pt x="77" y="5"/>
                    <a:pt x="77" y="5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2" y="3"/>
                    <a:pt x="72" y="3"/>
                    <a:pt x="72" y="3"/>
                  </a:cubicBezTo>
                  <a:lnTo>
                    <a:pt x="6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E93F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9"/>
            <p:cNvSpPr txBox="1"/>
            <p:nvPr/>
          </p:nvSpPr>
          <p:spPr>
            <a:xfrm>
              <a:off x="10480" y="2563"/>
              <a:ext cx="7043" cy="499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t">
              <a:noAutofit/>
            </a:bodyPr>
            <a:lstStyle>
              <a:defPPr>
                <a:defRPr lang="zh-CN"/>
              </a:defPPr>
              <a:lvl1pPr defTabSz="1218565">
                <a:spcBef>
                  <a:spcPct val="0"/>
                </a:spcBef>
                <a:defRPr cap="all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  <a:lvl2pPr marL="0" lvl="1" defTabSz="1218565">
                <a:defRPr sz="2055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219200" defTabSz="1218565">
                <a:defRPr sz="2400"/>
              </a:lvl3pPr>
              <a:lvl4pPr marL="1828800" defTabSz="1218565">
                <a:defRPr sz="2400"/>
              </a:lvl4pPr>
              <a:lvl5pPr marL="2438400" defTabSz="1218565">
                <a:defRPr sz="2400"/>
              </a:lvl5pPr>
              <a:lvl6pPr marL="3048000" defTabSz="1218565">
                <a:defRPr sz="2400"/>
              </a:lvl6pPr>
              <a:lvl7pPr marL="3657600" defTabSz="1218565">
                <a:defRPr sz="2400"/>
              </a:lvl7pPr>
              <a:lvl8pPr marL="4267200" defTabSz="1218565">
                <a:defRPr sz="2400"/>
              </a:lvl8pPr>
              <a:lvl9pPr marL="4876800" defTabSz="1218565">
                <a:defRPr sz="2400"/>
              </a:lvl9pPr>
            </a:lstStyle>
            <a:p>
              <a:pPr lvl="1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SHOW TABLES</a:t>
              </a:r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语句查看数据表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9"/>
            <p:cNvSpPr txBox="1"/>
            <p:nvPr/>
          </p:nvSpPr>
          <p:spPr>
            <a:xfrm>
              <a:off x="10480" y="5124"/>
              <a:ext cx="7610" cy="58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t">
              <a:noAutofit/>
            </a:bodyPr>
            <a:lstStyle>
              <a:defPPr>
                <a:defRPr lang="zh-CN"/>
              </a:defPPr>
              <a:lvl1pPr defTabSz="1218565">
                <a:spcBef>
                  <a:spcPct val="0"/>
                </a:spcBef>
                <a:defRPr cap="all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  <a:lvl2pPr marL="0" lvl="1" defTabSz="1218565">
                <a:defRPr sz="2055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219200" defTabSz="1218565">
                <a:defRPr sz="2400"/>
              </a:lvl3pPr>
              <a:lvl4pPr marL="1828800" defTabSz="1218565">
                <a:defRPr sz="2400"/>
              </a:lvl4pPr>
              <a:lvl5pPr marL="2438400" defTabSz="1218565">
                <a:defRPr sz="2400"/>
              </a:lvl5pPr>
              <a:lvl6pPr marL="3048000" defTabSz="1218565">
                <a:defRPr sz="2400"/>
              </a:lvl6pPr>
              <a:lvl7pPr marL="3657600" defTabSz="1218565">
                <a:defRPr sz="2400"/>
              </a:lvl7pPr>
              <a:lvl8pPr marL="4267200" defTabSz="1218565">
                <a:defRPr sz="2400"/>
              </a:lvl8pPr>
              <a:lvl9pPr marL="4876800" defTabSz="1218565">
                <a:defRPr sz="2400"/>
              </a:lvl9pPr>
            </a:lstStyle>
            <a:p>
              <a:pPr lvl="1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SHOW CREATE TABLE</a:t>
              </a:r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查看数据表创建语句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9"/>
            <p:cNvSpPr txBox="1"/>
            <p:nvPr/>
          </p:nvSpPr>
          <p:spPr>
            <a:xfrm>
              <a:off x="10517" y="7774"/>
              <a:ext cx="7437" cy="542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t">
              <a:noAutofit/>
            </a:bodyPr>
            <a:lstStyle>
              <a:defPPr>
                <a:defRPr lang="zh-CN"/>
              </a:defPPr>
              <a:lvl1pPr defTabSz="1218565">
                <a:spcBef>
                  <a:spcPct val="0"/>
                </a:spcBef>
                <a:defRPr cap="all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  <a:lvl2pPr marL="0" lvl="1" defTabSz="1218565">
                <a:defRPr sz="2055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2pPr>
              <a:lvl3pPr marL="1219200" defTabSz="1218565">
                <a:defRPr sz="2400"/>
              </a:lvl3pPr>
              <a:lvl4pPr marL="1828800" defTabSz="1218565">
                <a:defRPr sz="2400"/>
              </a:lvl4pPr>
              <a:lvl5pPr marL="2438400" defTabSz="1218565">
                <a:defRPr sz="2400"/>
              </a:lvl5pPr>
              <a:lvl6pPr marL="3048000" defTabSz="1218565">
                <a:defRPr sz="2400"/>
              </a:lvl6pPr>
              <a:lvl7pPr marL="3657600" defTabSz="1218565">
                <a:defRPr sz="2400"/>
              </a:lvl7pPr>
              <a:lvl8pPr marL="4267200" defTabSz="1218565">
                <a:defRPr sz="2400"/>
              </a:lvl8pPr>
              <a:lvl9pPr marL="4876800" defTabSz="1218565">
                <a:defRPr sz="2400"/>
              </a:lvl9pPr>
            </a:lstStyle>
            <a:p>
              <a:pPr lvl="1"/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zh-CN" altLang="en-US" sz="20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DESCRIBE</a:t>
              </a:r>
              <a:r>
                <a:rPr lang="zh-CN" altLang="en-US" sz="2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语句查看数据表结构信息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文本框 9"/>
          <p:cNvSpPr txBox="1"/>
          <p:nvPr/>
        </p:nvSpPr>
        <p:spPr>
          <a:xfrm>
            <a:off x="1031875" y="3590925"/>
            <a:ext cx="2513965" cy="328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查看数据表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141085" y="2421890"/>
            <a:ext cx="4733925" cy="427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SHOW  TABLES  [LIKE 'pattern' | WHERE expr];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141085" y="4077970"/>
            <a:ext cx="4733925" cy="427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SHOW CREATE TABLE tbl_name;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141085" y="5662295"/>
            <a:ext cx="4733925" cy="4273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DESCRIBE 数据表名;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134870" y="1368425"/>
            <a:ext cx="8348345" cy="4279265"/>
            <a:chOff x="3362" y="3059"/>
            <a:chExt cx="13147" cy="3124"/>
          </a:xfrm>
        </p:grpSpPr>
        <p:sp>
          <p:nvSpPr>
            <p:cNvPr id="5" name="流程图: 过程 4"/>
            <p:cNvSpPr/>
            <p:nvPr/>
          </p:nvSpPr>
          <p:spPr>
            <a:xfrm>
              <a:off x="3362" y="3059"/>
              <a:ext cx="13147" cy="3124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269" y="3473"/>
              <a:ext cx="11519" cy="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SHOW TABLES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语句查看当前数据库中所有的数据表，具体SQL语句如下所示。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382" y="4302"/>
              <a:ext cx="10101" cy="15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1755" anchor="ctr"/>
            <a:lstStyle/>
            <a:p>
              <a:pPr algn="l"/>
              <a:r>
                <a:rPr lang="zh-CN" altLang="en-US" sz="18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mysql&gt; SHOW  TABLES;</a:t>
              </a:r>
              <a:endParaRPr lang="zh-CN" altLang="en-US" sz="18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8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+---------------+</a:t>
              </a:r>
              <a:endParaRPr lang="zh-CN" altLang="en-US" sz="18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8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Tables_in_ems |</a:t>
              </a:r>
              <a:endParaRPr lang="zh-CN" altLang="en-US" sz="18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8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+---------------+</a:t>
              </a:r>
              <a:endParaRPr lang="zh-CN" altLang="en-US" sz="18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8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tb_dept       |</a:t>
              </a:r>
              <a:endParaRPr lang="zh-CN" altLang="en-US" sz="18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8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+---------------+</a:t>
              </a:r>
              <a:endParaRPr lang="zh-CN" altLang="en-US" sz="18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8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1 row in set (0.01 sec)</a:t>
              </a:r>
              <a:endParaRPr lang="zh-CN" altLang="en-US" sz="18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查看数据表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991360" y="1445260"/>
            <a:ext cx="8348345" cy="4845685"/>
            <a:chOff x="3362" y="3059"/>
            <a:chExt cx="13147" cy="3124"/>
          </a:xfrm>
        </p:grpSpPr>
        <p:sp>
          <p:nvSpPr>
            <p:cNvPr id="4" name="流程图: 过程 3"/>
            <p:cNvSpPr/>
            <p:nvPr/>
          </p:nvSpPr>
          <p:spPr>
            <a:xfrm>
              <a:off x="3362" y="3059"/>
              <a:ext cx="13147" cy="3124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269" y="3207"/>
              <a:ext cx="11519" cy="5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SHOW CREATE TABLE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语句查看数据tb_dept的创建语句，具体SQL语句如下所示。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382" y="3935"/>
              <a:ext cx="11405" cy="21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7950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mysql&gt; SHOW CREATE TABLE tb_dept;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+---------+--------------------------------------------------------+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Table   | Create Table                                    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+---------+--------------------------------------------------------+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tb_dept | CREATE TABLE `tb_dept` (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 `deptno` int DEFAULT NULL,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 `dname` varchar(14) DEFAULT NULL,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 `loc` varchar(13) DEFAULT NULL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) ENGINE=InnoDB DEFAULT CHARSET=utf8mb4 COLLATE=utf8mb4_0900_ai_ci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+---------+--------------------------------------------------------+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1 row in set (0.00 sec)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查看数据表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110" y="1428750"/>
            <a:ext cx="7637780" cy="4542155"/>
            <a:chOff x="3362" y="3059"/>
            <a:chExt cx="13147" cy="2793"/>
          </a:xfrm>
        </p:grpSpPr>
        <p:sp>
          <p:nvSpPr>
            <p:cNvPr id="4" name="流程图: 过程 3"/>
            <p:cNvSpPr/>
            <p:nvPr/>
          </p:nvSpPr>
          <p:spPr>
            <a:xfrm>
              <a:off x="3362" y="3059"/>
              <a:ext cx="13147" cy="2793"/>
            </a:xfrm>
            <a:prstGeom prst="flowChartProcess">
              <a:avLst/>
            </a:prstGeom>
            <a:ln>
              <a:solidFill>
                <a:schemeClr val="accent1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176" y="3143"/>
              <a:ext cx="11519" cy="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zh-CN" altLang="en-US" sz="17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DESC</a:t>
              </a:r>
              <a:r>
                <a:rPr lang="zh-CN" altLang="en-US" sz="17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语句查看数据表tb_dept的表结构信息，具体SQL语句如下所示。</a:t>
              </a:r>
              <a:endParaRPr lang="zh-CN" altLang="en-US" sz="17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266" y="3812"/>
              <a:ext cx="10101" cy="18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07950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mysql&gt; DESC tb_dept;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+--------+-------------+------+-----+---------+-------+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Field  | Type        | Null | Key | Default | Extra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+--------+-------------+------+-----+---------+-------+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deptno | int         | YES  |     | NULL    |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dname  | varchar(14) | YES  |     | NULL    |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| loc    | varchar(13) | YES  |     | NULL    |       |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+--------+-------------+------+-----+---------+-------+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3 rows in set (0.00 sec)</a:t>
              </a:r>
              <a:endPara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查看数据表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3" name="圆角矩形标注 42"/>
          <p:cNvSpPr/>
          <p:nvPr/>
        </p:nvSpPr>
        <p:spPr bwMode="auto">
          <a:xfrm>
            <a:off x="8623935" y="1313815"/>
            <a:ext cx="2950210" cy="5249545"/>
          </a:xfrm>
          <a:prstGeom prst="wedgeRoundRectCallout">
            <a:avLst>
              <a:gd name="adj1" fmla="val -62240"/>
              <a:gd name="adj2" fmla="val 15007"/>
              <a:gd name="adj3" fmla="val 16667"/>
            </a:avLst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schemeClr val="bg1">
                <a:alpha val="40000"/>
              </a:schemeClr>
            </a:outerShdw>
          </a:effectLst>
        </p:spPr>
        <p:txBody>
          <a:bodyPr tIns="0" anchor="ctr">
            <a:scene3d>
              <a:camera prst="orthographicFront"/>
              <a:lightRig rig="threePt" dir="t"/>
            </a:scene3d>
            <a:sp3d contourW="12700">
              <a:contourClr>
                <a:schemeClr val="bg1"/>
              </a:contourClr>
            </a:sp3d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832215" y="1554480"/>
            <a:ext cx="2684780" cy="48926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Field</a:t>
            </a:r>
            <a:r>
              <a:rPr lang="zh-CN" altLang="en-US" sz="16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：表示数据表中字段的名称，即列的名称。</a:t>
            </a:r>
            <a:endParaRPr lang="zh-CN" altLang="en-US" sz="16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</a:t>
            </a:r>
            <a:r>
              <a:rPr lang="zh-CN" altLang="en-US" sz="16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：表示数据表中字段对应的数据类型。</a:t>
            </a:r>
            <a:endParaRPr lang="zh-CN" altLang="en-US" sz="16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r>
              <a:rPr lang="zh-CN" altLang="en-US" sz="16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：表示该字段是否可以存储NULL值。</a:t>
            </a:r>
            <a:endParaRPr lang="zh-CN" altLang="en-US" sz="16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6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：表示该字段是否已经建立索引。</a:t>
            </a:r>
            <a:endParaRPr lang="zh-CN" altLang="en-US" sz="16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Default</a:t>
            </a:r>
            <a:r>
              <a:rPr lang="zh-CN" altLang="en-US" sz="16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：表示该字段是否有默认值，如果有，将显示对应的默认值。</a:t>
            </a:r>
            <a:endParaRPr lang="zh-CN" altLang="en-US" sz="16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Extra</a:t>
            </a:r>
            <a:r>
              <a:rPr lang="zh-CN" altLang="en-US" sz="16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：表示与字段相关的附加信息。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多学一招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12470" y="967740"/>
            <a:ext cx="4326890" cy="1016000"/>
            <a:chOff x="1122" y="1524"/>
            <a:chExt cx="6814" cy="1600"/>
          </a:xfrm>
        </p:grpSpPr>
        <p:pic>
          <p:nvPicPr>
            <p:cNvPr id="23" name="图形 22" descr="讲故事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22" y="1524"/>
              <a:ext cx="1600" cy="1600"/>
            </a:xfrm>
            <a:prstGeom prst="rect">
              <a:avLst/>
            </a:prstGeom>
          </p:spPr>
        </p:pic>
        <p:sp>
          <p:nvSpPr>
            <p:cNvPr id="25" name="矩形 24"/>
            <p:cNvSpPr/>
            <p:nvPr/>
          </p:nvSpPr>
          <p:spPr>
            <a:xfrm>
              <a:off x="3386" y="1854"/>
              <a:ext cx="3959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59" y="2010"/>
              <a:ext cx="361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dirty="0">
                  <a:solidFill>
                    <a:schemeClr val="bg1"/>
                  </a:solidFill>
                  <a:latin typeface="Arial" panose="020B0604020202020204" pitchFamily="34" charset="0"/>
                  <a:ea typeface="思源黑体 CN Regular" panose="020B0500000000000000" pitchFamily="34" charset="-122"/>
                  <a:sym typeface="Arial" panose="020B0604020202020204" pitchFamily="34" charset="0"/>
                </a:rPr>
                <a:t>多学一招</a:t>
              </a:r>
              <a:endPara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510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05" y="1854"/>
              <a:ext cx="131" cy="10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" name="圆角矩形标注 2"/>
          <p:cNvSpPr/>
          <p:nvPr/>
        </p:nvSpPr>
        <p:spPr>
          <a:xfrm>
            <a:off x="1482090" y="2087880"/>
            <a:ext cx="9577705" cy="2316480"/>
          </a:xfrm>
          <a:prstGeom prst="wedgeRoundRectCallou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69415" y="2251075"/>
            <a:ext cx="92024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在执行SQL语句时，有时候返回的数据中字段非常多，无法在CMD窗口的一行全部展示，而将字段名称显示在多行，导致字段下的数据不能和字段名称展示在同一列，显示的结果非常混乱。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MySQL客户端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中提供了一种结束符“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\G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”，可以将结果以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纵向结构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显示，在结果的字段非常多时，让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显示结果整齐美观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131060" y="1532890"/>
            <a:ext cx="7852410" cy="3598978"/>
            <a:chOff x="4042" y="3473"/>
            <a:chExt cx="11680" cy="466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66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560" y="3793"/>
              <a:ext cx="10430" cy="3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如果想对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已经创建好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了的数据表做一些结构上的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修改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，比如，修改数据表名、修改字段类型或字段名、修改字段的排列位置、增加或删除字段、修改或删除表的约束等，可以选择删除原有的数据表，根据新的要求重新创建数据表。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但如果原有的数据表中已经存在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大量的数据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，此时选择删除再重新创建数据表，必然会要做一些额外的工作，比如将原有的数据重新导入数据库、解决用户访问原来数据表造成的影响等。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782570" y="1990090"/>
            <a:ext cx="7068820" cy="2948364"/>
            <a:chOff x="6022" y="2691"/>
            <a:chExt cx="11132" cy="1942"/>
          </a:xfrm>
        </p:grpSpPr>
        <p:sp>
          <p:nvSpPr>
            <p:cNvPr id="16" name="流程图: 过程 15"/>
            <p:cNvSpPr/>
            <p:nvPr/>
          </p:nvSpPr>
          <p:spPr>
            <a:xfrm>
              <a:off x="6022" y="2691"/>
              <a:ext cx="11132" cy="1942"/>
            </a:xfrm>
            <a:prstGeom prst="flowChartProcess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488" y="2786"/>
              <a:ext cx="1021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在MySQL中，可以通过ALTER TABLE语句实现数据表结构的修改。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ALTER TABLE</a:t>
              </a: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语句的基本语法格式如下所示。</a:t>
              </a:r>
              <a:endPara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702" y="3640"/>
              <a:ext cx="9570" cy="7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88290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ALTER TABLE tbl_name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[alter_option [, alter_option] ...] 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[partition_options]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l"/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340995" y="1942465"/>
            <a:ext cx="5660390" cy="389763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58165" y="2279650"/>
            <a:ext cx="54425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将数据库ems中的数据表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tb_dept的名称修改为dept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1010" y="3685540"/>
            <a:ext cx="5447030" cy="628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tb_dept RENAME TO dept;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(0.06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6871335" y="1916430"/>
            <a:ext cx="4918710" cy="392366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022465" y="2253615"/>
            <a:ext cx="43097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 TABLES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语句查看当前数据库中所有的数据表，以验证数据表tb_dept的名称是否被修改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92950" y="3836035"/>
            <a:ext cx="4102735" cy="18459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SHOW TABLES;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+-------------------+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Tables_in_ems 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+-------------------+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dept          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+-------------------+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6022975" y="4006215"/>
            <a:ext cx="792480" cy="36004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33305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207895"/>
            <a:ext cx="73145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数据表中的表选项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校对集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存储引擎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也可以通过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语句进行修改。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修改数据表dept的字符集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为例演示数据表选项的修改，具体SQL语句及执行结果如下所示。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54960" y="4005580"/>
            <a:ext cx="6962775" cy="951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dept CHARACTER SET=gbk;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(0.02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581785" y="1191260"/>
            <a:ext cx="9626600" cy="492950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017395" y="1275080"/>
            <a:ext cx="91109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 CREATE TABLE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查看数据表dept的创建语句，以验证数据表dept的字符集是否被修改成功。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17395" y="2663190"/>
            <a:ext cx="9111615" cy="32416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mysql&gt; SHOW CREATE TABLE dept ;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+-------+------------------------------------------------------+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Table | Create Table                                     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+-------+------------------------------------------------------+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| dept  | CREATE TABLE `dept` (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`deptno` int DEFAULT NULL,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`dname` varchar(14) CHARACTER SET utf8mb4 COLLATE utf8mb4_0900_ai_ci DEFAULT NULL,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  `loc` varchar(13) CHARACTER SET utf8mb4 COLLATE utf8mb4_0900_ai_ci  DEFAULT NULL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) ENGINE=InnoDB DEFAULT CHARSET=gbk                             |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+-------+-------------------------------------------------------+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  <a:sym typeface="+mn-ea"/>
              </a:rPr>
              <a:t>1 row in set (0.00 sec)</a:t>
            </a:r>
            <a:endParaRPr lang="zh-CN" altLang="en-US" sz="160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33305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279650"/>
            <a:ext cx="731456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语句对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修改字段名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提供了2种方式，分别为使用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RENAME COLUMN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CHANGE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。这两种方式的区别主要在于，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RENAME COLUMN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仅可以修改字段名，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CHANGE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子句不仅可以修改字段名称，还可以重新定义字段的数据类型、约束、排列位置。如果仅修改字段名称的话，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RENAME COLUMN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子句则更加方便。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82345" y="909320"/>
            <a:ext cx="3438525" cy="676275"/>
            <a:chOff x="1547" y="1432"/>
            <a:chExt cx="4780" cy="1065"/>
          </a:xfrm>
        </p:grpSpPr>
        <p:sp>
          <p:nvSpPr>
            <p:cNvPr id="3" name="五边形 2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修改字段名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31337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279650"/>
            <a:ext cx="73145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以将部门表dept中的字段名loc改为local_name为例，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演示使用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RENAME COLUMN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修改字段名，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具体SQL语句及执行结果如下所示。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27655" y="3789680"/>
            <a:ext cx="6962775" cy="935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 ALTER TABLE dept RENAME COLUMN loc TO local_name 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(0.02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3438525" cy="676275"/>
            <a:chOff x="1547" y="1432"/>
            <a:chExt cx="4780" cy="1065"/>
          </a:xfrm>
        </p:grpSpPr>
        <p:sp>
          <p:nvSpPr>
            <p:cNvPr id="4" name="五边形 3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修改字段名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40068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279650"/>
            <a:ext cx="731456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创建完数据表时，字段的数据类型就已经确定，如果需要对创建好的数据表中字段的数据类型进行修改，可以通过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语句中的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MODIFY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CHANGE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完成。其中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MODIFY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仅可以对字段的数据类型和排列位置重新定义，而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CHANGE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不仅可以对字段的数据类型和排列位置重新定义，还可以修改字段名称。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使用MODIFY和CHANGE修改字段数据类型的效果一样，但是使用MODIFY的语法相对简洁。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82345" y="909320"/>
            <a:ext cx="3438525" cy="676275"/>
            <a:chOff x="1547" y="1432"/>
            <a:chExt cx="4780" cy="1065"/>
          </a:xfrm>
        </p:grpSpPr>
        <p:sp>
          <p:nvSpPr>
            <p:cNvPr id="27" name="五边形 2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修改字段的数据类型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2279650"/>
            <a:ext cx="8348345" cy="323659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423160"/>
            <a:ext cx="73145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以将部门表dept中字段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的数据类型由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VARCHAR(14)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CHAR(16)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使用MODIFY修改字段的数据类型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27655" y="4003675"/>
            <a:ext cx="6962775" cy="935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dept MODIFY dname CHAR(16);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(0.11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982345" y="909320"/>
            <a:ext cx="3438525" cy="676275"/>
            <a:chOff x="1547" y="1432"/>
            <a:chExt cx="4780" cy="1065"/>
          </a:xfrm>
        </p:grpSpPr>
        <p:sp>
          <p:nvSpPr>
            <p:cNvPr id="4" name="五边形 3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修改字段的数据类型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28225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279650"/>
            <a:ext cx="731456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字段在数据表中的排列位置可以在创建数据表时进行指定，数据表创建之后如果想要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修改字段的排列位置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语句中也提供了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MODIFY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CHANGE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两种方式。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82345" y="909320"/>
            <a:ext cx="3438525" cy="676275"/>
            <a:chOff x="1547" y="1432"/>
            <a:chExt cx="4780" cy="1065"/>
          </a:xfrm>
        </p:grpSpPr>
        <p:sp>
          <p:nvSpPr>
            <p:cNvPr id="27" name="五边形 2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修改字段的排列位置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28225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51760" y="2061845"/>
            <a:ext cx="731456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（1）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使用CHANGE修改字段的排列位置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将部门表dept中字段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local_name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的位置修改为数据表的第一个字段，具体SQL语句及执行结果如下所示。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82345" y="909320"/>
            <a:ext cx="3438525" cy="676275"/>
            <a:chOff x="1547" y="1432"/>
            <a:chExt cx="4780" cy="1065"/>
          </a:xfrm>
        </p:grpSpPr>
        <p:sp>
          <p:nvSpPr>
            <p:cNvPr id="27" name="五边形 2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修改字段的排列位置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651760" y="3488690"/>
            <a:ext cx="7701280" cy="10934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 ALTER TABLE dept CHANGE local_name local_name CHAR(20) FIRST;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(0.21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35483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279650"/>
            <a:ext cx="731456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（2）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使用MODIFY方式修改字段的排列位置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将部门表dept中字段deptno修改到字段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dname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后面，具体SQL语句及执行结果如下所示。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82345" y="909320"/>
            <a:ext cx="3438525" cy="676275"/>
            <a:chOff x="1547" y="1432"/>
            <a:chExt cx="4780" cy="1065"/>
          </a:xfrm>
        </p:grpSpPr>
        <p:sp>
          <p:nvSpPr>
            <p:cNvPr id="27" name="五边形 2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修改字段的排列位置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827655" y="3862070"/>
            <a:ext cx="6962775" cy="935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dept MODIFY deptno INT AFTER dname;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(0.10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35483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279650"/>
            <a:ext cx="731456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开发过程中，随着业务的变化，可能需要在已有的数据表中添加新的字段，例如因公司新规定，如果新招聘人员属于返聘人员，则需要业务负责人特批后才能办理入职。对此员工管理系统中，需要在已有的待入职员工表中新增是否返聘人员的字段。此时可以通过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语句对数据表添加字段。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82345" y="909320"/>
            <a:ext cx="1991995" cy="676275"/>
            <a:chOff x="1547" y="1432"/>
            <a:chExt cx="4780" cy="1065"/>
          </a:xfrm>
        </p:grpSpPr>
        <p:sp>
          <p:nvSpPr>
            <p:cNvPr id="27" name="五边形 2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添加字段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29305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279650"/>
            <a:ext cx="73145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语句的语法格式，在数据表dept的第一列添加一个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类型的字段id。具体SQL语句及执行结果如下所示。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82345" y="909320"/>
            <a:ext cx="1991995" cy="676275"/>
            <a:chOff x="1547" y="1432"/>
            <a:chExt cx="4780" cy="1065"/>
          </a:xfrm>
        </p:grpSpPr>
        <p:sp>
          <p:nvSpPr>
            <p:cNvPr id="27" name="五边形 2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添加字段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827655" y="3502025"/>
            <a:ext cx="6962775" cy="935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dept ADD id INT FIRST;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(0.09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35312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136140"/>
            <a:ext cx="73145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数据表创建成功后，不仅可以修改字段，还可以删除字段。所谓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删除字段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指的是将某个字段从数据表中删除。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语句的语法格式，编写一个删除字段的SQL语句，删除数据表dept的id字段，具体SQL语句及执行结果如下所示。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修改数据表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82345" y="909320"/>
            <a:ext cx="1991995" cy="676275"/>
            <a:chOff x="1547" y="1432"/>
            <a:chExt cx="4780" cy="1065"/>
          </a:xfrm>
        </p:grpSpPr>
        <p:sp>
          <p:nvSpPr>
            <p:cNvPr id="27" name="五边形 2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删除字段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827655" y="4149725"/>
            <a:ext cx="6962775" cy="935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dept DROP id;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(0.11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144395"/>
            <a:chOff x="4042" y="3473"/>
            <a:chExt cx="11680" cy="466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66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630" y="4570"/>
              <a:ext cx="9474" cy="2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删除数据表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是指删除数据库中已存在的表。在删除数据表的同时，数据表中存储的数据也将被删除。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2.3.4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删除数据表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782570" y="2009140"/>
            <a:ext cx="7068820" cy="3890010"/>
            <a:chOff x="6022" y="2691"/>
            <a:chExt cx="11132" cy="2369"/>
          </a:xfrm>
        </p:grpSpPr>
        <p:sp>
          <p:nvSpPr>
            <p:cNvPr id="16" name="流程图: 过程 15"/>
            <p:cNvSpPr/>
            <p:nvPr/>
          </p:nvSpPr>
          <p:spPr>
            <a:xfrm>
              <a:off x="6022" y="2691"/>
              <a:ext cx="11132" cy="2369"/>
            </a:xfrm>
            <a:prstGeom prst="flowChartProcess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816" y="2691"/>
              <a:ext cx="9784" cy="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在MySQL中，可以使用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DROP TABLE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语句删除数据表，其基本的语法格式如下所示。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6703" y="3251"/>
              <a:ext cx="9911" cy="6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88290" anchor="ctr"/>
            <a:lstStyle/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DROP [TEMPORARY] TABLE [IF EXISTS]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    tbl_name [, tbl_name] ...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l"/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     [RESTRICT | CASCADE];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l"/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982345" y="909320"/>
            <a:ext cx="2449195" cy="676275"/>
            <a:chOff x="1547" y="1432"/>
            <a:chExt cx="4780" cy="1065"/>
          </a:xfrm>
        </p:grpSpPr>
        <p:sp>
          <p:nvSpPr>
            <p:cNvPr id="27" name="五边形 26"/>
            <p:cNvSpPr/>
            <p:nvPr/>
          </p:nvSpPr>
          <p:spPr>
            <a:xfrm>
              <a:off x="1547" y="1545"/>
              <a:ext cx="4780" cy="952"/>
            </a:xfrm>
            <a:prstGeom prst="homePlat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1"/>
            <p:cNvSpPr txBox="1"/>
            <p:nvPr>
              <p:custDataLst>
                <p:tags r:id="rId1"/>
              </p:custDataLst>
            </p:nvPr>
          </p:nvSpPr>
          <p:spPr>
            <a:xfrm>
              <a:off x="1732" y="1432"/>
              <a:ext cx="4409" cy="10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kern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删除数据表</a:t>
              </a:r>
              <a:endParaRPr lang="zh-CN" altLang="en-US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286760" y="4122420"/>
            <a:ext cx="5993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根据上述语法格式，编写一个删除数据表的SQL语句，演示部门表dept的删除，具体SQL语句及执行结果如下所示。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15005" y="5013960"/>
            <a:ext cx="6293485" cy="7118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195" anchor="ctr"/>
          <a:lstStyle/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mysql&gt; DROP TABLE IF EXISTS dept;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l"/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Query OK, 0 rows affected (0.09 sec)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表的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约束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2442845"/>
            <a:chOff x="4042" y="3473"/>
            <a:chExt cx="11680" cy="466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66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629" y="3699"/>
              <a:ext cx="9474" cy="3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为了防止数据表中插入错误的数据，MySQL定义了一些规则维护数据库中数据的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完整性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有效性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，这些规则即表的约束。常见的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非空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唯一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约束、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外键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默认值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约束，其中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FOREIGN KEY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约束涉及到多表操作，将在第5章进行讲解。接下来针对FOREIGN KEY之外的其他约束进行讲解。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非空约束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7305" y="2205355"/>
            <a:ext cx="7416165" cy="3404235"/>
            <a:chOff x="4042" y="3473"/>
            <a:chExt cx="11680" cy="466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466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948" y="3868"/>
              <a:ext cx="10194" cy="3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非空约束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用于确保插入到字段中值的非空性。如果没有对字段设置约束，字段默认允许插入NULL值。如果数据表中的字段设置了非空约束，那该字段中存放的值必须是NULL值之外的其他的具体值。接下来，对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设置非空约束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删除非空约束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进行讲解。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非空约束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558290" y="1537970"/>
            <a:ext cx="9448165" cy="3594769"/>
            <a:chOff x="2454" y="3814"/>
            <a:chExt cx="14879" cy="5512"/>
          </a:xfrm>
        </p:grpSpPr>
        <p:grpSp>
          <p:nvGrpSpPr>
            <p:cNvPr id="24" name="组合 23"/>
            <p:cNvGrpSpPr/>
            <p:nvPr/>
          </p:nvGrpSpPr>
          <p:grpSpPr>
            <a:xfrm>
              <a:off x="2454" y="3814"/>
              <a:ext cx="7026" cy="5512"/>
              <a:chOff x="2454" y="3814"/>
              <a:chExt cx="7026" cy="5512"/>
            </a:xfrm>
          </p:grpSpPr>
          <p:sp>
            <p:nvSpPr>
              <p:cNvPr id="2" name="Shape 1452"/>
              <p:cNvSpPr/>
              <p:nvPr/>
            </p:nvSpPr>
            <p:spPr>
              <a:xfrm>
                <a:off x="2454" y="4967"/>
                <a:ext cx="7026" cy="4359"/>
              </a:xfrm>
              <a:prstGeom prst="roundRect">
                <a:avLst>
                  <a:gd name="adj" fmla="val 6924"/>
                </a:avLst>
              </a:prstGeom>
              <a:ln w="12700">
                <a:solidFill>
                  <a:srgbClr val="A6AAA9"/>
                </a:solidFill>
                <a:miter lim="400000"/>
              </a:ln>
            </p:spPr>
            <p:txBody>
              <a:bodyPr lIns="19051" tIns="19051" rIns="19051" bIns="19051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Text Placeholder 6"/>
              <p:cNvSpPr txBox="1"/>
              <p:nvPr/>
            </p:nvSpPr>
            <p:spPr>
              <a:xfrm>
                <a:off x="2817" y="5514"/>
                <a:ext cx="6329" cy="3273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（1）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创建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数据表时设置非空约束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在字段的数据类型后面追加NOT NULL。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（2）</a:t>
                </a:r>
                <a:r>
                  <a:rPr lang="en-US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修改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数据表时添加非空约束</a:t>
                </a:r>
                <a:endPara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在ALTER TABLE语句中通过</a:t>
                </a:r>
                <a:r>
                  <a:rPr lang="en-US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MODIFY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或</a:t>
                </a:r>
                <a:r>
                  <a:rPr lang="en-US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CHANGE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重新定义字段的方式添加非空约束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4155" y="4153"/>
                <a:ext cx="3402" cy="908"/>
              </a:xfrm>
              <a:prstGeom prst="rect">
                <a:avLst/>
              </a:prstGeom>
              <a:solidFill>
                <a:srgbClr val="1369B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1">
                  <a:lnSpc>
                    <a:spcPct val="150000"/>
                  </a:lnSpc>
                </a:pPr>
                <a:endPara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endParaRPr>
              </a:p>
            </p:txBody>
          </p:sp>
          <p:grpSp>
            <p:nvGrpSpPr>
              <p:cNvPr id="7" name="Group 20"/>
              <p:cNvGrpSpPr/>
              <p:nvPr/>
            </p:nvGrpSpPr>
            <p:grpSpPr>
              <a:xfrm>
                <a:off x="3871" y="3814"/>
                <a:ext cx="746" cy="746"/>
                <a:chOff x="1369087" y="2088729"/>
                <a:chExt cx="474017" cy="474016"/>
              </a:xfrm>
            </p:grpSpPr>
            <p:sp>
              <p:nvSpPr>
                <p:cNvPr id="8" name="Shape 1463"/>
                <p:cNvSpPr/>
                <p:nvPr/>
              </p:nvSpPr>
              <p:spPr>
                <a:xfrm>
                  <a:off x="1369087" y="2088729"/>
                  <a:ext cx="474017" cy="4740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25400" tIns="25400" rIns="25400" bIns="2540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Shape 1464"/>
                <p:cNvSpPr/>
                <p:nvPr/>
              </p:nvSpPr>
              <p:spPr>
                <a:xfrm>
                  <a:off x="1477567" y="2232573"/>
                  <a:ext cx="231656" cy="1863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00" h="21363" extrusionOk="0">
                      <a:moveTo>
                        <a:pt x="7274" y="21020"/>
                      </a:moveTo>
                      <a:cubicBezTo>
                        <a:pt x="7274" y="21376"/>
                        <a:pt x="7435" y="21475"/>
                        <a:pt x="7659" y="21222"/>
                      </a:cubicBezTo>
                      <a:cubicBezTo>
                        <a:pt x="7951" y="20894"/>
                        <a:pt x="10973" y="17529"/>
                        <a:pt x="10973" y="17529"/>
                      </a:cubicBezTo>
                      <a:lnTo>
                        <a:pt x="7274" y="15153"/>
                      </a:lnTo>
                      <a:cubicBezTo>
                        <a:pt x="7274" y="15153"/>
                        <a:pt x="7274" y="21020"/>
                        <a:pt x="7274" y="21020"/>
                      </a:cubicBezTo>
                      <a:close/>
                      <a:moveTo>
                        <a:pt x="20812" y="50"/>
                      </a:moveTo>
                      <a:cubicBezTo>
                        <a:pt x="20412" y="224"/>
                        <a:pt x="667" y="8860"/>
                        <a:pt x="277" y="9030"/>
                      </a:cubicBezTo>
                      <a:cubicBezTo>
                        <a:pt x="-53" y="9174"/>
                        <a:pt x="-126" y="9528"/>
                        <a:pt x="266" y="9723"/>
                      </a:cubicBezTo>
                      <a:cubicBezTo>
                        <a:pt x="733" y="9955"/>
                        <a:pt x="4681" y="11919"/>
                        <a:pt x="4681" y="11919"/>
                      </a:cubicBezTo>
                      <a:lnTo>
                        <a:pt x="4681" y="11919"/>
                      </a:lnTo>
                      <a:lnTo>
                        <a:pt x="7298" y="13221"/>
                      </a:lnTo>
                      <a:cubicBezTo>
                        <a:pt x="7298" y="13221"/>
                        <a:pt x="19903" y="1732"/>
                        <a:pt x="20073" y="1577"/>
                      </a:cubicBezTo>
                      <a:cubicBezTo>
                        <a:pt x="20246" y="1420"/>
                        <a:pt x="20443" y="1713"/>
                        <a:pt x="20319" y="1881"/>
                      </a:cubicBezTo>
                      <a:cubicBezTo>
                        <a:pt x="20194" y="2050"/>
                        <a:pt x="11163" y="14170"/>
                        <a:pt x="11163" y="14170"/>
                      </a:cubicBezTo>
                      <a:cubicBezTo>
                        <a:pt x="11163" y="14170"/>
                        <a:pt x="11163" y="14170"/>
                        <a:pt x="11163" y="14171"/>
                      </a:cubicBezTo>
                      <a:lnTo>
                        <a:pt x="10637" y="14898"/>
                      </a:lnTo>
                      <a:lnTo>
                        <a:pt x="11333" y="15363"/>
                      </a:lnTo>
                      <a:lnTo>
                        <a:pt x="11333" y="15363"/>
                      </a:lnTo>
                      <a:cubicBezTo>
                        <a:pt x="11333" y="15363"/>
                        <a:pt x="16742" y="18976"/>
                        <a:pt x="17127" y="19234"/>
                      </a:cubicBezTo>
                      <a:cubicBezTo>
                        <a:pt x="17464" y="19459"/>
                        <a:pt x="17904" y="19272"/>
                        <a:pt x="18001" y="18750"/>
                      </a:cubicBezTo>
                      <a:cubicBezTo>
                        <a:pt x="18117" y="18135"/>
                        <a:pt x="21310" y="1052"/>
                        <a:pt x="21382" y="671"/>
                      </a:cubicBezTo>
                      <a:cubicBezTo>
                        <a:pt x="21474" y="177"/>
                        <a:pt x="21211" y="-125"/>
                        <a:pt x="20812" y="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5" name="组合 34"/>
            <p:cNvGrpSpPr/>
            <p:nvPr/>
          </p:nvGrpSpPr>
          <p:grpSpPr>
            <a:xfrm>
              <a:off x="10307" y="3814"/>
              <a:ext cx="7026" cy="5511"/>
              <a:chOff x="10307" y="3814"/>
              <a:chExt cx="7026" cy="5511"/>
            </a:xfrm>
          </p:grpSpPr>
          <p:sp>
            <p:nvSpPr>
              <p:cNvPr id="27" name="Shape 1452"/>
              <p:cNvSpPr/>
              <p:nvPr/>
            </p:nvSpPr>
            <p:spPr>
              <a:xfrm>
                <a:off x="10307" y="4966"/>
                <a:ext cx="7026" cy="4359"/>
              </a:xfrm>
              <a:prstGeom prst="roundRect">
                <a:avLst>
                  <a:gd name="adj" fmla="val 6924"/>
                </a:avLst>
              </a:prstGeom>
              <a:ln w="12700">
                <a:solidFill>
                  <a:srgbClr val="A6AAA9"/>
                </a:solidFill>
                <a:miter lim="400000"/>
              </a:ln>
            </p:spPr>
            <p:txBody>
              <a:bodyPr lIns="19051" tIns="19051" rIns="19051" bIns="19051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Text Placeholder 6"/>
              <p:cNvSpPr txBox="1"/>
              <p:nvPr/>
            </p:nvSpPr>
            <p:spPr>
              <a:xfrm>
                <a:off x="10656" y="5835"/>
                <a:ext cx="6329" cy="2372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非空约束的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删除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，可以通过ALTER TABLE语句中的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MODIFY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或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CHANGE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重新定义字段的方式实现。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2008" y="4152"/>
                <a:ext cx="3402" cy="908"/>
              </a:xfrm>
              <a:prstGeom prst="rect">
                <a:avLst/>
              </a:prstGeom>
              <a:solidFill>
                <a:srgbClr val="1369B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1">
                  <a:lnSpc>
                    <a:spcPct val="150000"/>
                  </a:lnSpc>
                </a:pPr>
                <a:endPara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endParaRPr>
              </a:p>
            </p:txBody>
          </p:sp>
          <p:grpSp>
            <p:nvGrpSpPr>
              <p:cNvPr id="13" name="Group 32"/>
              <p:cNvGrpSpPr/>
              <p:nvPr/>
            </p:nvGrpSpPr>
            <p:grpSpPr>
              <a:xfrm>
                <a:off x="11640" y="3814"/>
                <a:ext cx="746" cy="746"/>
                <a:chOff x="3906591" y="2088732"/>
                <a:chExt cx="474017" cy="474017"/>
              </a:xfrm>
            </p:grpSpPr>
            <p:sp>
              <p:nvSpPr>
                <p:cNvPr id="14" name="Shape 1474"/>
                <p:cNvSpPr/>
                <p:nvPr/>
              </p:nvSpPr>
              <p:spPr>
                <a:xfrm>
                  <a:off x="3906591" y="2088732"/>
                  <a:ext cx="474017" cy="4740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12700">
                  <a:miter lim="400000"/>
                </a:ln>
              </p:spPr>
              <p:txBody>
                <a:bodyPr lIns="25400" tIns="25400" rIns="25400" bIns="2540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grpSp>
              <p:nvGrpSpPr>
                <p:cNvPr id="15" name="Group 1479"/>
                <p:cNvGrpSpPr/>
                <p:nvPr/>
              </p:nvGrpSpPr>
              <p:grpSpPr>
                <a:xfrm>
                  <a:off x="4031314" y="2211790"/>
                  <a:ext cx="199171" cy="186335"/>
                  <a:chOff x="0" y="0"/>
                  <a:chExt cx="398340" cy="372667"/>
                </a:xfrm>
              </p:grpSpPr>
              <p:sp>
                <p:nvSpPr>
                  <p:cNvPr id="16" name="Shape 1477"/>
                  <p:cNvSpPr/>
                  <p:nvPr/>
                </p:nvSpPr>
                <p:spPr>
                  <a:xfrm>
                    <a:off x="0" y="0"/>
                    <a:ext cx="346395" cy="24198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474" h="21420" extrusionOk="0">
                        <a:moveTo>
                          <a:pt x="21474" y="11049"/>
                        </a:moveTo>
                        <a:lnTo>
                          <a:pt x="18909" y="958"/>
                        </a:lnTo>
                        <a:cubicBezTo>
                          <a:pt x="18720" y="217"/>
                          <a:pt x="18164" y="-180"/>
                          <a:pt x="17669" y="79"/>
                        </a:cubicBezTo>
                        <a:lnTo>
                          <a:pt x="618" y="8962"/>
                        </a:lnTo>
                        <a:cubicBezTo>
                          <a:pt x="123" y="9221"/>
                          <a:pt x="-126" y="10036"/>
                          <a:pt x="64" y="10782"/>
                        </a:cubicBezTo>
                        <a:lnTo>
                          <a:pt x="2769" y="21420"/>
                        </a:lnTo>
                        <a:lnTo>
                          <a:pt x="2769" y="15715"/>
                        </a:lnTo>
                        <a:cubicBezTo>
                          <a:pt x="2769" y="13145"/>
                          <a:pt x="4209" y="11049"/>
                          <a:pt x="5979" y="11049"/>
                        </a:cubicBezTo>
                        <a:lnTo>
                          <a:pt x="10484" y="11049"/>
                        </a:lnTo>
                        <a:lnTo>
                          <a:pt x="15858" y="5663"/>
                        </a:lnTo>
                        <a:lnTo>
                          <a:pt x="18967" y="11049"/>
                        </a:lnTo>
                        <a:cubicBezTo>
                          <a:pt x="18967" y="11049"/>
                          <a:pt x="21474" y="11049"/>
                          <a:pt x="21474" y="1104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/>
                    <a:endParaRPr sz="1735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" name="Shape 1478"/>
                  <p:cNvSpPr/>
                  <p:nvPr/>
                </p:nvSpPr>
                <p:spPr>
                  <a:xfrm>
                    <a:off x="74826" y="149651"/>
                    <a:ext cx="323515" cy="22301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0571" y="0"/>
                        </a:moveTo>
                        <a:lnTo>
                          <a:pt x="1028" y="0"/>
                        </a:lnTo>
                        <a:cubicBezTo>
                          <a:pt x="460" y="0"/>
                          <a:pt x="0" y="708"/>
                          <a:pt x="0" y="1571"/>
                        </a:cubicBezTo>
                        <a:lnTo>
                          <a:pt x="0" y="20029"/>
                        </a:lnTo>
                        <a:cubicBezTo>
                          <a:pt x="0" y="20897"/>
                          <a:pt x="460" y="21600"/>
                          <a:pt x="1028" y="21600"/>
                        </a:cubicBezTo>
                        <a:lnTo>
                          <a:pt x="20571" y="21600"/>
                        </a:lnTo>
                        <a:cubicBezTo>
                          <a:pt x="21140" y="21600"/>
                          <a:pt x="21600" y="20897"/>
                          <a:pt x="21600" y="20029"/>
                        </a:cubicBezTo>
                        <a:lnTo>
                          <a:pt x="21600" y="1571"/>
                        </a:lnTo>
                        <a:cubicBezTo>
                          <a:pt x="21600" y="708"/>
                          <a:pt x="21140" y="0"/>
                          <a:pt x="20571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/>
                    <a:endParaRPr sz="1735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</p:grp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非空约束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 Placeholder 5"/>
          <p:cNvSpPr txBox="1"/>
          <p:nvPr/>
        </p:nvSpPr>
        <p:spPr>
          <a:xfrm>
            <a:off x="2269338" y="1788014"/>
            <a:ext cx="3038671" cy="5836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设置非空约束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Text Placeholder 5"/>
          <p:cNvSpPr txBox="1"/>
          <p:nvPr/>
        </p:nvSpPr>
        <p:spPr>
          <a:xfrm>
            <a:off x="7319164" y="1767694"/>
            <a:ext cx="2826248" cy="5836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删除非空约束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403225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061845"/>
            <a:ext cx="73145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创建数据表时设置非空约束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例如，在数据库中创建一个用于存放部门信息的数据表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tb_dept01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，部门信息中部门地址不允许为NULL值，数据表tb_dept01的表结构信息如下所示。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10815" y="3933825"/>
          <a:ext cx="7101205" cy="176212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22730"/>
                <a:gridCol w="1764030"/>
                <a:gridCol w="1701165"/>
                <a:gridCol w="2113280"/>
              </a:tblGrid>
              <a:tr h="48768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字段名称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数据类型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约束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备注说明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2481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deptno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部门编号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2481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dname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VARCHAR(14)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部门名称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2481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local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VARCHAR(13)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部门地址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非空约束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2372995"/>
            <a:ext cx="8348345" cy="29305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710180"/>
            <a:ext cx="73145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创建数据表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tb_dept01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27655" y="3386455"/>
            <a:ext cx="6962775" cy="16230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tb_dept01(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deptno INT,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dname VARCHAR(14),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local VARCHAR(13) NOT NULL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非空约束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8322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27910" y="2279650"/>
            <a:ext cx="81248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修改数据表时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MODIFY添加非空约束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例如，将数据表tb_dept01中的dname字段添加非空约束，具体SQL语句及执行结果如下所示。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94915" y="4005580"/>
            <a:ext cx="7842250" cy="1240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tb_dept01 MODIFY dname VARCHAR(14) NOT NULL;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(0.09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非空约束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8322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27910" y="2279650"/>
            <a:ext cx="81248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修改数据表时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CHANGE删除非空约束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例如，删除tb_dept01数据表中dname字段的非空约束。具体SQL语句及执行结果如下所示。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94915" y="4005580"/>
            <a:ext cx="7842250" cy="1240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tb_dept01 CHANGE COLUMN dname dname varchar(14);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(0.10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2.4.1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非空约束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6670" y="2205355"/>
            <a:ext cx="7416800" cy="3223711"/>
            <a:chOff x="4042" y="3473"/>
            <a:chExt cx="11680" cy="701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701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485" y="4101"/>
              <a:ext cx="10813" cy="4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数据表中默认可以保存相同的值，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唯一约束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用于确保字段中值的唯一性。如果数据表中的字段设置了唯一约束，那该字段中存放的值不能重复出现。需要注意的是数据表中可以有。接下来，对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设置唯一约束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删除唯一约束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进行讲解。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唯一约束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唯一约束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58290" y="1921510"/>
            <a:ext cx="9448165" cy="3896360"/>
            <a:chOff x="2454" y="3814"/>
            <a:chExt cx="14879" cy="5512"/>
          </a:xfrm>
        </p:grpSpPr>
        <p:grpSp>
          <p:nvGrpSpPr>
            <p:cNvPr id="24" name="组合 23"/>
            <p:cNvGrpSpPr/>
            <p:nvPr/>
          </p:nvGrpSpPr>
          <p:grpSpPr>
            <a:xfrm>
              <a:off x="2454" y="3814"/>
              <a:ext cx="7026" cy="5512"/>
              <a:chOff x="2454" y="3814"/>
              <a:chExt cx="7026" cy="5512"/>
            </a:xfrm>
          </p:grpSpPr>
          <p:sp>
            <p:nvSpPr>
              <p:cNvPr id="2" name="Shape 1452"/>
              <p:cNvSpPr/>
              <p:nvPr/>
            </p:nvSpPr>
            <p:spPr>
              <a:xfrm>
                <a:off x="2454" y="4967"/>
                <a:ext cx="7026" cy="4359"/>
              </a:xfrm>
              <a:prstGeom prst="roundRect">
                <a:avLst>
                  <a:gd name="adj" fmla="val 6924"/>
                </a:avLst>
              </a:prstGeom>
              <a:ln w="12700">
                <a:solidFill>
                  <a:srgbClr val="A6AAA9"/>
                </a:solidFill>
                <a:miter lim="400000"/>
              </a:ln>
            </p:spPr>
            <p:txBody>
              <a:bodyPr lIns="19051" tIns="19051" rIns="19051" bIns="19051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Text Placeholder 6"/>
              <p:cNvSpPr txBox="1"/>
              <p:nvPr/>
            </p:nvSpPr>
            <p:spPr>
              <a:xfrm>
                <a:off x="2649" y="5135"/>
                <a:ext cx="6637" cy="4050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（1）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创建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数据表时设置唯一约束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方式有两种，一种是设置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列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级约束，一种是设置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表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级约束。</a:t>
                </a:r>
                <a:endPara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（2）</a:t>
                </a:r>
                <a:r>
                  <a:rPr lang="en-US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修改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数据表时添加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唯一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约束</a:t>
                </a:r>
                <a:endPara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在ALTER TABLE语句中通过</a:t>
                </a:r>
                <a:r>
                  <a:rPr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MODIFY</a:t>
                </a:r>
                <a:r>
                  <a:rPr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或</a:t>
                </a:r>
                <a:r>
                  <a:rPr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CHANGE</a:t>
                </a:r>
                <a:r>
                  <a:rPr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重新定义字段的方式添加，也可以通过ALTER TABLE语句中的</a:t>
                </a:r>
                <a:r>
                  <a:rPr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ADD</a:t>
                </a:r>
                <a:r>
                  <a:rPr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添加。</a:t>
                </a:r>
                <a:endParaRPr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4155" y="4153"/>
                <a:ext cx="3402" cy="908"/>
              </a:xfrm>
              <a:prstGeom prst="rect">
                <a:avLst/>
              </a:prstGeom>
              <a:solidFill>
                <a:srgbClr val="1369B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1">
                  <a:lnSpc>
                    <a:spcPct val="150000"/>
                  </a:lnSpc>
                </a:pPr>
                <a:endPara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endParaRPr>
              </a:p>
            </p:txBody>
          </p:sp>
          <p:grpSp>
            <p:nvGrpSpPr>
              <p:cNvPr id="7" name="Group 20"/>
              <p:cNvGrpSpPr/>
              <p:nvPr/>
            </p:nvGrpSpPr>
            <p:grpSpPr>
              <a:xfrm>
                <a:off x="3871" y="3814"/>
                <a:ext cx="746" cy="746"/>
                <a:chOff x="1369087" y="2088729"/>
                <a:chExt cx="474017" cy="474016"/>
              </a:xfrm>
            </p:grpSpPr>
            <p:sp>
              <p:nvSpPr>
                <p:cNvPr id="8" name="Shape 1463"/>
                <p:cNvSpPr/>
                <p:nvPr/>
              </p:nvSpPr>
              <p:spPr>
                <a:xfrm>
                  <a:off x="1369087" y="2088729"/>
                  <a:ext cx="474017" cy="4740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25400" tIns="25400" rIns="25400" bIns="2540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Shape 1464"/>
                <p:cNvSpPr/>
                <p:nvPr/>
              </p:nvSpPr>
              <p:spPr>
                <a:xfrm>
                  <a:off x="1477567" y="2232573"/>
                  <a:ext cx="231656" cy="1863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00" h="21363" extrusionOk="0">
                      <a:moveTo>
                        <a:pt x="7274" y="21020"/>
                      </a:moveTo>
                      <a:cubicBezTo>
                        <a:pt x="7274" y="21376"/>
                        <a:pt x="7435" y="21475"/>
                        <a:pt x="7659" y="21222"/>
                      </a:cubicBezTo>
                      <a:cubicBezTo>
                        <a:pt x="7951" y="20894"/>
                        <a:pt x="10973" y="17529"/>
                        <a:pt x="10973" y="17529"/>
                      </a:cubicBezTo>
                      <a:lnTo>
                        <a:pt x="7274" y="15153"/>
                      </a:lnTo>
                      <a:cubicBezTo>
                        <a:pt x="7274" y="15153"/>
                        <a:pt x="7274" y="21020"/>
                        <a:pt x="7274" y="21020"/>
                      </a:cubicBezTo>
                      <a:close/>
                      <a:moveTo>
                        <a:pt x="20812" y="50"/>
                      </a:moveTo>
                      <a:cubicBezTo>
                        <a:pt x="20412" y="224"/>
                        <a:pt x="667" y="8860"/>
                        <a:pt x="277" y="9030"/>
                      </a:cubicBezTo>
                      <a:cubicBezTo>
                        <a:pt x="-53" y="9174"/>
                        <a:pt x="-126" y="9528"/>
                        <a:pt x="266" y="9723"/>
                      </a:cubicBezTo>
                      <a:cubicBezTo>
                        <a:pt x="733" y="9955"/>
                        <a:pt x="4681" y="11919"/>
                        <a:pt x="4681" y="11919"/>
                      </a:cubicBezTo>
                      <a:lnTo>
                        <a:pt x="4681" y="11919"/>
                      </a:lnTo>
                      <a:lnTo>
                        <a:pt x="7298" y="13221"/>
                      </a:lnTo>
                      <a:cubicBezTo>
                        <a:pt x="7298" y="13221"/>
                        <a:pt x="19903" y="1732"/>
                        <a:pt x="20073" y="1577"/>
                      </a:cubicBezTo>
                      <a:cubicBezTo>
                        <a:pt x="20246" y="1420"/>
                        <a:pt x="20443" y="1713"/>
                        <a:pt x="20319" y="1881"/>
                      </a:cubicBezTo>
                      <a:cubicBezTo>
                        <a:pt x="20194" y="2050"/>
                        <a:pt x="11163" y="14170"/>
                        <a:pt x="11163" y="14170"/>
                      </a:cubicBezTo>
                      <a:cubicBezTo>
                        <a:pt x="11163" y="14170"/>
                        <a:pt x="11163" y="14170"/>
                        <a:pt x="11163" y="14171"/>
                      </a:cubicBezTo>
                      <a:lnTo>
                        <a:pt x="10637" y="14898"/>
                      </a:lnTo>
                      <a:lnTo>
                        <a:pt x="11333" y="15363"/>
                      </a:lnTo>
                      <a:lnTo>
                        <a:pt x="11333" y="15363"/>
                      </a:lnTo>
                      <a:cubicBezTo>
                        <a:pt x="11333" y="15363"/>
                        <a:pt x="16742" y="18976"/>
                        <a:pt x="17127" y="19234"/>
                      </a:cubicBezTo>
                      <a:cubicBezTo>
                        <a:pt x="17464" y="19459"/>
                        <a:pt x="17904" y="19272"/>
                        <a:pt x="18001" y="18750"/>
                      </a:cubicBezTo>
                      <a:cubicBezTo>
                        <a:pt x="18117" y="18135"/>
                        <a:pt x="21310" y="1052"/>
                        <a:pt x="21382" y="671"/>
                      </a:cubicBezTo>
                      <a:cubicBezTo>
                        <a:pt x="21474" y="177"/>
                        <a:pt x="21211" y="-125"/>
                        <a:pt x="20812" y="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5" name="组合 34"/>
            <p:cNvGrpSpPr/>
            <p:nvPr/>
          </p:nvGrpSpPr>
          <p:grpSpPr>
            <a:xfrm>
              <a:off x="10307" y="3814"/>
              <a:ext cx="7026" cy="5511"/>
              <a:chOff x="10307" y="3814"/>
              <a:chExt cx="7026" cy="5511"/>
            </a:xfrm>
          </p:grpSpPr>
          <p:sp>
            <p:nvSpPr>
              <p:cNvPr id="27" name="Shape 1452"/>
              <p:cNvSpPr/>
              <p:nvPr/>
            </p:nvSpPr>
            <p:spPr>
              <a:xfrm>
                <a:off x="10307" y="4966"/>
                <a:ext cx="7026" cy="4359"/>
              </a:xfrm>
              <a:prstGeom prst="roundRect">
                <a:avLst>
                  <a:gd name="adj" fmla="val 6924"/>
                </a:avLst>
              </a:prstGeom>
              <a:ln w="12700">
                <a:solidFill>
                  <a:srgbClr val="A6AAA9"/>
                </a:solidFill>
                <a:miter lim="400000"/>
              </a:ln>
            </p:spPr>
            <p:txBody>
              <a:bodyPr lIns="19051" tIns="19051" rIns="19051" bIns="19051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Text Placeholder 6"/>
              <p:cNvSpPr txBox="1"/>
              <p:nvPr/>
            </p:nvSpPr>
            <p:spPr>
              <a:xfrm>
                <a:off x="10656" y="5960"/>
                <a:ext cx="6329" cy="2372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默认情况下所创建的索引名称和字段名称一致，如果想要删除字段中已有的唯一约束，可以通过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ALTER TABLE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语句中的“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DROP 索引名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”实现。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2008" y="4152"/>
                <a:ext cx="3402" cy="908"/>
              </a:xfrm>
              <a:prstGeom prst="rect">
                <a:avLst/>
              </a:prstGeom>
              <a:solidFill>
                <a:srgbClr val="1369B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1">
                  <a:lnSpc>
                    <a:spcPct val="150000"/>
                  </a:lnSpc>
                </a:pPr>
                <a:endPara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endParaRPr>
              </a:p>
            </p:txBody>
          </p:sp>
          <p:grpSp>
            <p:nvGrpSpPr>
              <p:cNvPr id="13" name="Group 32"/>
              <p:cNvGrpSpPr/>
              <p:nvPr/>
            </p:nvGrpSpPr>
            <p:grpSpPr>
              <a:xfrm>
                <a:off x="11640" y="3814"/>
                <a:ext cx="746" cy="746"/>
                <a:chOff x="3906591" y="2088732"/>
                <a:chExt cx="474017" cy="474017"/>
              </a:xfrm>
            </p:grpSpPr>
            <p:sp>
              <p:nvSpPr>
                <p:cNvPr id="14" name="Shape 1474"/>
                <p:cNvSpPr/>
                <p:nvPr/>
              </p:nvSpPr>
              <p:spPr>
                <a:xfrm>
                  <a:off x="3906591" y="2088732"/>
                  <a:ext cx="474017" cy="4740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12700">
                  <a:miter lim="400000"/>
                </a:ln>
              </p:spPr>
              <p:txBody>
                <a:bodyPr lIns="25400" tIns="25400" rIns="25400" bIns="2540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grpSp>
              <p:nvGrpSpPr>
                <p:cNvPr id="15" name="Group 1479"/>
                <p:cNvGrpSpPr/>
                <p:nvPr/>
              </p:nvGrpSpPr>
              <p:grpSpPr>
                <a:xfrm>
                  <a:off x="4031314" y="2211790"/>
                  <a:ext cx="199171" cy="186335"/>
                  <a:chOff x="0" y="0"/>
                  <a:chExt cx="398340" cy="372667"/>
                </a:xfrm>
              </p:grpSpPr>
              <p:sp>
                <p:nvSpPr>
                  <p:cNvPr id="16" name="Shape 1477"/>
                  <p:cNvSpPr/>
                  <p:nvPr/>
                </p:nvSpPr>
                <p:spPr>
                  <a:xfrm>
                    <a:off x="0" y="0"/>
                    <a:ext cx="346395" cy="24198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474" h="21420" extrusionOk="0">
                        <a:moveTo>
                          <a:pt x="21474" y="11049"/>
                        </a:moveTo>
                        <a:lnTo>
                          <a:pt x="18909" y="958"/>
                        </a:lnTo>
                        <a:cubicBezTo>
                          <a:pt x="18720" y="217"/>
                          <a:pt x="18164" y="-180"/>
                          <a:pt x="17669" y="79"/>
                        </a:cubicBezTo>
                        <a:lnTo>
                          <a:pt x="618" y="8962"/>
                        </a:lnTo>
                        <a:cubicBezTo>
                          <a:pt x="123" y="9221"/>
                          <a:pt x="-126" y="10036"/>
                          <a:pt x="64" y="10782"/>
                        </a:cubicBezTo>
                        <a:lnTo>
                          <a:pt x="2769" y="21420"/>
                        </a:lnTo>
                        <a:lnTo>
                          <a:pt x="2769" y="15715"/>
                        </a:lnTo>
                        <a:cubicBezTo>
                          <a:pt x="2769" y="13145"/>
                          <a:pt x="4209" y="11049"/>
                          <a:pt x="5979" y="11049"/>
                        </a:cubicBezTo>
                        <a:lnTo>
                          <a:pt x="10484" y="11049"/>
                        </a:lnTo>
                        <a:lnTo>
                          <a:pt x="15858" y="5663"/>
                        </a:lnTo>
                        <a:lnTo>
                          <a:pt x="18967" y="11049"/>
                        </a:lnTo>
                        <a:cubicBezTo>
                          <a:pt x="18967" y="11049"/>
                          <a:pt x="21474" y="11049"/>
                          <a:pt x="21474" y="1104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/>
                    <a:endParaRPr sz="1735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" name="Shape 1478"/>
                  <p:cNvSpPr/>
                  <p:nvPr/>
                </p:nvSpPr>
                <p:spPr>
                  <a:xfrm>
                    <a:off x="74826" y="149651"/>
                    <a:ext cx="323515" cy="22301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0571" y="0"/>
                        </a:moveTo>
                        <a:lnTo>
                          <a:pt x="1028" y="0"/>
                        </a:lnTo>
                        <a:cubicBezTo>
                          <a:pt x="460" y="0"/>
                          <a:pt x="0" y="708"/>
                          <a:pt x="0" y="1571"/>
                        </a:cubicBezTo>
                        <a:lnTo>
                          <a:pt x="0" y="20029"/>
                        </a:lnTo>
                        <a:cubicBezTo>
                          <a:pt x="0" y="20897"/>
                          <a:pt x="460" y="21600"/>
                          <a:pt x="1028" y="21600"/>
                        </a:cubicBezTo>
                        <a:lnTo>
                          <a:pt x="20571" y="21600"/>
                        </a:lnTo>
                        <a:cubicBezTo>
                          <a:pt x="21140" y="21600"/>
                          <a:pt x="21600" y="20897"/>
                          <a:pt x="21600" y="20029"/>
                        </a:cubicBezTo>
                        <a:lnTo>
                          <a:pt x="21600" y="1571"/>
                        </a:lnTo>
                        <a:cubicBezTo>
                          <a:pt x="21600" y="708"/>
                          <a:pt x="21140" y="0"/>
                          <a:pt x="20571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/>
                    <a:endParaRPr sz="1735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</p:grpSp>
      </p:grpSp>
      <p:sp>
        <p:nvSpPr>
          <p:cNvPr id="37" name="Text Placeholder 5"/>
          <p:cNvSpPr txBox="1"/>
          <p:nvPr/>
        </p:nvSpPr>
        <p:spPr>
          <a:xfrm>
            <a:off x="2269973" y="2219179"/>
            <a:ext cx="3038671" cy="5836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设置唯一约束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Text Placeholder 5"/>
          <p:cNvSpPr txBox="1"/>
          <p:nvPr/>
        </p:nvSpPr>
        <p:spPr>
          <a:xfrm>
            <a:off x="7292494" y="2219179"/>
            <a:ext cx="2826248" cy="5836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删除唯一约束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309370"/>
            <a:ext cx="8348345" cy="50634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1559560"/>
            <a:ext cx="73145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创建数据表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设置唯一约束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例如，在数据库中创建一个用于存放员工信息的员工表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tb_emp01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，员工表中员工工号不能重复；相同部门中不能包含相同的员工姓名；员工职位不能为NULL值。员工表的表结构信息如下所示。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10815" y="3862070"/>
          <a:ext cx="6933565" cy="222948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86535"/>
                <a:gridCol w="1722755"/>
                <a:gridCol w="1661160"/>
                <a:gridCol w="2063115"/>
              </a:tblGrid>
              <a:tr h="41656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字段名称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数据类型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约束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说明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deptname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VARCHAR(16)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联合唯一约束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部门名称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唯一约束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员工工号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VARCHAR(16)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联合唯一约束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员工姓名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job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VARCHAR(16)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员工职位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6258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email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VARCHAR(30)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员工邮箱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唯一约束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8322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27910" y="2279650"/>
            <a:ext cx="81248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创建数据表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tb_emp01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94915" y="2984500"/>
            <a:ext cx="7842250" cy="23666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tb_emp01 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deptname VARCHAR ( 16 ),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empno INT UNIQUE,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ename VARCHAR ( 16 ),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job VARCHAR ( 16 ) NOT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email VARCHAR ( 30 ),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en-US" alt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UNIQUE ( deptname, ename ) 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唯一约束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8322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27910" y="2279650"/>
            <a:ext cx="81248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修改数据表时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ADD添加唯一约束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例如，为数据表tb_emp01中的email字段添加唯一约束，具体SQL语句及执行结果如下所示。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68880" y="4005580"/>
            <a:ext cx="7842250" cy="1263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tb_emp01 ADD  UNIQUE(email);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(0.02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唯一约束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8322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27910" y="2279650"/>
            <a:ext cx="81248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DROP删除唯一约束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例如，将数据表tb_emp01中的empno字段唯一约束删除，具体SQL语句及执行结果如下所示。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68880" y="4005580"/>
            <a:ext cx="7842250" cy="1263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tb_emp01 DROP index empno;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(0.04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2.4.2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唯一约束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483485" y="2066925"/>
            <a:ext cx="7499985" cy="3002280"/>
            <a:chOff x="4042" y="3172"/>
            <a:chExt cx="11680" cy="6537"/>
          </a:xfrm>
        </p:grpSpPr>
        <p:sp>
          <p:nvSpPr>
            <p:cNvPr id="2" name="折角形 1"/>
            <p:cNvSpPr/>
            <p:nvPr/>
          </p:nvSpPr>
          <p:spPr>
            <a:xfrm>
              <a:off x="4042" y="3172"/>
              <a:ext cx="11680" cy="6537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464" y="3630"/>
              <a:ext cx="10834" cy="4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在MySQL中，为了快速查找到表中的某条记录，可以通过设置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主键约束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来实现，主键约束相当于非空约束和唯一约束的组合，要求被约束字段中的值不允许重复，也不允许出现NULL值。接下来，对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设置主键约束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删除主键约束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进行讲解。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主键约束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471283" y="1847850"/>
            <a:ext cx="9623425" cy="4320540"/>
            <a:chOff x="2453" y="3814"/>
            <a:chExt cx="14879" cy="5512"/>
          </a:xfrm>
        </p:grpSpPr>
        <p:grpSp>
          <p:nvGrpSpPr>
            <p:cNvPr id="24" name="组合 23"/>
            <p:cNvGrpSpPr/>
            <p:nvPr/>
          </p:nvGrpSpPr>
          <p:grpSpPr>
            <a:xfrm>
              <a:off x="2453" y="3814"/>
              <a:ext cx="7290" cy="5512"/>
              <a:chOff x="2453" y="3814"/>
              <a:chExt cx="7290" cy="5512"/>
            </a:xfrm>
          </p:grpSpPr>
          <p:sp>
            <p:nvSpPr>
              <p:cNvPr id="2" name="Shape 1452"/>
              <p:cNvSpPr/>
              <p:nvPr/>
            </p:nvSpPr>
            <p:spPr>
              <a:xfrm>
                <a:off x="2454" y="4967"/>
                <a:ext cx="7236" cy="4359"/>
              </a:xfrm>
              <a:prstGeom prst="roundRect">
                <a:avLst>
                  <a:gd name="adj" fmla="val 6924"/>
                </a:avLst>
              </a:prstGeom>
              <a:ln w="12700">
                <a:solidFill>
                  <a:srgbClr val="A6AAA9"/>
                </a:solidFill>
                <a:miter lim="400000"/>
              </a:ln>
            </p:spPr>
            <p:txBody>
              <a:bodyPr lIns="19051" tIns="19051" rIns="19051" bIns="19051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Text Placeholder 6"/>
              <p:cNvSpPr txBox="1"/>
              <p:nvPr/>
            </p:nvSpPr>
            <p:spPr>
              <a:xfrm>
                <a:off x="2453" y="5135"/>
                <a:ext cx="7290" cy="4137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（1）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创建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数据表时设置主键约束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列级只能对单字段设置主键约束，表级可以对单字段或者多字段设置主键约束。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（2）</a:t>
                </a:r>
                <a:r>
                  <a:rPr lang="en-US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修改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数据表时添加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主键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约束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在ALTER TABLE语句中通过</a:t>
                </a:r>
                <a:r>
                  <a:rPr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MODIFY</a:t>
                </a:r>
                <a:r>
                  <a:rPr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或</a:t>
                </a:r>
                <a:r>
                  <a:rPr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CHANGE</a:t>
                </a:r>
                <a:r>
                  <a:rPr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重新定义字段的方式添加，也可以通过ALTER TABLE语句中的</a:t>
                </a:r>
                <a:r>
                  <a:rPr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ADD</a:t>
                </a:r>
                <a:r>
                  <a:rPr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添加。</a:t>
                </a:r>
                <a:endParaRPr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4155" y="4153"/>
                <a:ext cx="3402" cy="908"/>
              </a:xfrm>
              <a:prstGeom prst="rect">
                <a:avLst/>
              </a:prstGeom>
              <a:solidFill>
                <a:srgbClr val="1369B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1">
                  <a:lnSpc>
                    <a:spcPct val="150000"/>
                  </a:lnSpc>
                </a:pPr>
                <a:endPara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endParaRPr>
              </a:p>
            </p:txBody>
          </p:sp>
          <p:grpSp>
            <p:nvGrpSpPr>
              <p:cNvPr id="7" name="Group 20"/>
              <p:cNvGrpSpPr/>
              <p:nvPr/>
            </p:nvGrpSpPr>
            <p:grpSpPr>
              <a:xfrm>
                <a:off x="3871" y="3814"/>
                <a:ext cx="746" cy="746"/>
                <a:chOff x="1369087" y="2088729"/>
                <a:chExt cx="474017" cy="474016"/>
              </a:xfrm>
            </p:grpSpPr>
            <p:sp>
              <p:nvSpPr>
                <p:cNvPr id="8" name="Shape 1463"/>
                <p:cNvSpPr/>
                <p:nvPr/>
              </p:nvSpPr>
              <p:spPr>
                <a:xfrm>
                  <a:off x="1369087" y="2088729"/>
                  <a:ext cx="474017" cy="4740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25400" tIns="25400" rIns="25400" bIns="2540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Shape 1464"/>
                <p:cNvSpPr/>
                <p:nvPr/>
              </p:nvSpPr>
              <p:spPr>
                <a:xfrm>
                  <a:off x="1477567" y="2232573"/>
                  <a:ext cx="231656" cy="1863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00" h="21363" extrusionOk="0">
                      <a:moveTo>
                        <a:pt x="7274" y="21020"/>
                      </a:moveTo>
                      <a:cubicBezTo>
                        <a:pt x="7274" y="21376"/>
                        <a:pt x="7435" y="21475"/>
                        <a:pt x="7659" y="21222"/>
                      </a:cubicBezTo>
                      <a:cubicBezTo>
                        <a:pt x="7951" y="20894"/>
                        <a:pt x="10973" y="17529"/>
                        <a:pt x="10973" y="17529"/>
                      </a:cubicBezTo>
                      <a:lnTo>
                        <a:pt x="7274" y="15153"/>
                      </a:lnTo>
                      <a:cubicBezTo>
                        <a:pt x="7274" y="15153"/>
                        <a:pt x="7274" y="21020"/>
                        <a:pt x="7274" y="21020"/>
                      </a:cubicBezTo>
                      <a:close/>
                      <a:moveTo>
                        <a:pt x="20812" y="50"/>
                      </a:moveTo>
                      <a:cubicBezTo>
                        <a:pt x="20412" y="224"/>
                        <a:pt x="667" y="8860"/>
                        <a:pt x="277" y="9030"/>
                      </a:cubicBezTo>
                      <a:cubicBezTo>
                        <a:pt x="-53" y="9174"/>
                        <a:pt x="-126" y="9528"/>
                        <a:pt x="266" y="9723"/>
                      </a:cubicBezTo>
                      <a:cubicBezTo>
                        <a:pt x="733" y="9955"/>
                        <a:pt x="4681" y="11919"/>
                        <a:pt x="4681" y="11919"/>
                      </a:cubicBezTo>
                      <a:lnTo>
                        <a:pt x="4681" y="11919"/>
                      </a:lnTo>
                      <a:lnTo>
                        <a:pt x="7298" y="13221"/>
                      </a:lnTo>
                      <a:cubicBezTo>
                        <a:pt x="7298" y="13221"/>
                        <a:pt x="19903" y="1732"/>
                        <a:pt x="20073" y="1577"/>
                      </a:cubicBezTo>
                      <a:cubicBezTo>
                        <a:pt x="20246" y="1420"/>
                        <a:pt x="20443" y="1713"/>
                        <a:pt x="20319" y="1881"/>
                      </a:cubicBezTo>
                      <a:cubicBezTo>
                        <a:pt x="20194" y="2050"/>
                        <a:pt x="11163" y="14170"/>
                        <a:pt x="11163" y="14170"/>
                      </a:cubicBezTo>
                      <a:cubicBezTo>
                        <a:pt x="11163" y="14170"/>
                        <a:pt x="11163" y="14170"/>
                        <a:pt x="11163" y="14171"/>
                      </a:cubicBezTo>
                      <a:lnTo>
                        <a:pt x="10637" y="14898"/>
                      </a:lnTo>
                      <a:lnTo>
                        <a:pt x="11333" y="15363"/>
                      </a:lnTo>
                      <a:lnTo>
                        <a:pt x="11333" y="15363"/>
                      </a:lnTo>
                      <a:cubicBezTo>
                        <a:pt x="11333" y="15363"/>
                        <a:pt x="16742" y="18976"/>
                        <a:pt x="17127" y="19234"/>
                      </a:cubicBezTo>
                      <a:cubicBezTo>
                        <a:pt x="17464" y="19459"/>
                        <a:pt x="17904" y="19272"/>
                        <a:pt x="18001" y="18750"/>
                      </a:cubicBezTo>
                      <a:cubicBezTo>
                        <a:pt x="18117" y="18135"/>
                        <a:pt x="21310" y="1052"/>
                        <a:pt x="21382" y="671"/>
                      </a:cubicBezTo>
                      <a:cubicBezTo>
                        <a:pt x="21474" y="177"/>
                        <a:pt x="21211" y="-125"/>
                        <a:pt x="20812" y="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5" name="组合 34"/>
            <p:cNvGrpSpPr/>
            <p:nvPr/>
          </p:nvGrpSpPr>
          <p:grpSpPr>
            <a:xfrm>
              <a:off x="10068" y="3814"/>
              <a:ext cx="7264" cy="5511"/>
              <a:chOff x="10068" y="3814"/>
              <a:chExt cx="7264" cy="5511"/>
            </a:xfrm>
          </p:grpSpPr>
          <p:sp>
            <p:nvSpPr>
              <p:cNvPr id="27" name="Shape 1452"/>
              <p:cNvSpPr/>
              <p:nvPr/>
            </p:nvSpPr>
            <p:spPr>
              <a:xfrm>
                <a:off x="10068" y="4966"/>
                <a:ext cx="7264" cy="4359"/>
              </a:xfrm>
              <a:prstGeom prst="roundRect">
                <a:avLst>
                  <a:gd name="adj" fmla="val 6924"/>
                </a:avLst>
              </a:prstGeom>
              <a:ln w="12700">
                <a:solidFill>
                  <a:srgbClr val="A6AAA9"/>
                </a:solidFill>
                <a:miter lim="400000"/>
              </a:ln>
            </p:spPr>
            <p:txBody>
              <a:bodyPr lIns="19051" tIns="19051" rIns="19051" bIns="19051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Text Placeholder 6"/>
              <p:cNvSpPr txBox="1"/>
              <p:nvPr/>
            </p:nvSpPr>
            <p:spPr>
              <a:xfrm>
                <a:off x="10478" y="5829"/>
                <a:ext cx="6506" cy="2883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对于设置错误或者不再需要的主键约束，可以通过ALTER TABLE语句的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DROP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将主键约束删除。由于主键约束在数据表中只能有一个，因此不需要指定主键约束对应的字段名称，直接删除即可。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2008" y="4152"/>
                <a:ext cx="3402" cy="908"/>
              </a:xfrm>
              <a:prstGeom prst="rect">
                <a:avLst/>
              </a:prstGeom>
              <a:solidFill>
                <a:srgbClr val="1369B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1">
                  <a:lnSpc>
                    <a:spcPct val="150000"/>
                  </a:lnSpc>
                </a:pPr>
                <a:endPara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endParaRPr>
              </a:p>
            </p:txBody>
          </p:sp>
          <p:grpSp>
            <p:nvGrpSpPr>
              <p:cNvPr id="13" name="Group 32"/>
              <p:cNvGrpSpPr/>
              <p:nvPr/>
            </p:nvGrpSpPr>
            <p:grpSpPr>
              <a:xfrm>
                <a:off x="11640" y="3814"/>
                <a:ext cx="746" cy="746"/>
                <a:chOff x="3906591" y="2088732"/>
                <a:chExt cx="474017" cy="474017"/>
              </a:xfrm>
            </p:grpSpPr>
            <p:sp>
              <p:nvSpPr>
                <p:cNvPr id="14" name="Shape 1474"/>
                <p:cNvSpPr/>
                <p:nvPr/>
              </p:nvSpPr>
              <p:spPr>
                <a:xfrm>
                  <a:off x="3906591" y="2088732"/>
                  <a:ext cx="474017" cy="4740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12700">
                  <a:miter lim="400000"/>
                </a:ln>
              </p:spPr>
              <p:txBody>
                <a:bodyPr lIns="25400" tIns="25400" rIns="25400" bIns="2540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grpSp>
              <p:nvGrpSpPr>
                <p:cNvPr id="15" name="Group 1479"/>
                <p:cNvGrpSpPr/>
                <p:nvPr/>
              </p:nvGrpSpPr>
              <p:grpSpPr>
                <a:xfrm>
                  <a:off x="4031314" y="2211790"/>
                  <a:ext cx="199171" cy="186335"/>
                  <a:chOff x="0" y="0"/>
                  <a:chExt cx="398340" cy="372667"/>
                </a:xfrm>
              </p:grpSpPr>
              <p:sp>
                <p:nvSpPr>
                  <p:cNvPr id="16" name="Shape 1477"/>
                  <p:cNvSpPr/>
                  <p:nvPr/>
                </p:nvSpPr>
                <p:spPr>
                  <a:xfrm>
                    <a:off x="0" y="0"/>
                    <a:ext cx="346395" cy="24198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474" h="21420" extrusionOk="0">
                        <a:moveTo>
                          <a:pt x="21474" y="11049"/>
                        </a:moveTo>
                        <a:lnTo>
                          <a:pt x="18909" y="958"/>
                        </a:lnTo>
                        <a:cubicBezTo>
                          <a:pt x="18720" y="217"/>
                          <a:pt x="18164" y="-180"/>
                          <a:pt x="17669" y="79"/>
                        </a:cubicBezTo>
                        <a:lnTo>
                          <a:pt x="618" y="8962"/>
                        </a:lnTo>
                        <a:cubicBezTo>
                          <a:pt x="123" y="9221"/>
                          <a:pt x="-126" y="10036"/>
                          <a:pt x="64" y="10782"/>
                        </a:cubicBezTo>
                        <a:lnTo>
                          <a:pt x="2769" y="21420"/>
                        </a:lnTo>
                        <a:lnTo>
                          <a:pt x="2769" y="15715"/>
                        </a:lnTo>
                        <a:cubicBezTo>
                          <a:pt x="2769" y="13145"/>
                          <a:pt x="4209" y="11049"/>
                          <a:pt x="5979" y="11049"/>
                        </a:cubicBezTo>
                        <a:lnTo>
                          <a:pt x="10484" y="11049"/>
                        </a:lnTo>
                        <a:lnTo>
                          <a:pt x="15858" y="5663"/>
                        </a:lnTo>
                        <a:lnTo>
                          <a:pt x="18967" y="11049"/>
                        </a:lnTo>
                        <a:cubicBezTo>
                          <a:pt x="18967" y="11049"/>
                          <a:pt x="21474" y="11049"/>
                          <a:pt x="21474" y="1104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/>
                    <a:endParaRPr sz="1735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" name="Shape 1478"/>
                  <p:cNvSpPr/>
                  <p:nvPr/>
                </p:nvSpPr>
                <p:spPr>
                  <a:xfrm>
                    <a:off x="74826" y="149651"/>
                    <a:ext cx="323515" cy="22301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0571" y="0"/>
                        </a:moveTo>
                        <a:lnTo>
                          <a:pt x="1028" y="0"/>
                        </a:lnTo>
                        <a:cubicBezTo>
                          <a:pt x="460" y="0"/>
                          <a:pt x="0" y="708"/>
                          <a:pt x="0" y="1571"/>
                        </a:cubicBezTo>
                        <a:lnTo>
                          <a:pt x="0" y="20029"/>
                        </a:lnTo>
                        <a:cubicBezTo>
                          <a:pt x="0" y="20897"/>
                          <a:pt x="460" y="21600"/>
                          <a:pt x="1028" y="21600"/>
                        </a:cubicBezTo>
                        <a:lnTo>
                          <a:pt x="20571" y="21600"/>
                        </a:lnTo>
                        <a:cubicBezTo>
                          <a:pt x="21140" y="21600"/>
                          <a:pt x="21600" y="20897"/>
                          <a:pt x="21600" y="20029"/>
                        </a:cubicBezTo>
                        <a:lnTo>
                          <a:pt x="21600" y="1571"/>
                        </a:lnTo>
                        <a:cubicBezTo>
                          <a:pt x="21600" y="708"/>
                          <a:pt x="21140" y="0"/>
                          <a:pt x="20571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/>
                    <a:endParaRPr sz="1735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</p:grpSp>
      </p:grpSp>
      <p:sp>
        <p:nvSpPr>
          <p:cNvPr id="37" name="Text Placeholder 5"/>
          <p:cNvSpPr txBox="1"/>
          <p:nvPr/>
        </p:nvSpPr>
        <p:spPr>
          <a:xfrm>
            <a:off x="2226793" y="2229339"/>
            <a:ext cx="3038671" cy="5836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设置主键约束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Text Placeholder 5"/>
          <p:cNvSpPr txBox="1"/>
          <p:nvPr/>
        </p:nvSpPr>
        <p:spPr>
          <a:xfrm>
            <a:off x="7319164" y="2241404"/>
            <a:ext cx="2826248" cy="5836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删除主键约束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主键约束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428688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2061845"/>
            <a:ext cx="731456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创建数据表时设置主键约束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在数据库中创建一个用于存放部门信息的数据表tb_dept02，部门信息中id编号使用最频繁，并且id字段的值不能为NULL值也不能重复；部门名称的值不能重复，部门地址的值不能为NULL值。数据表tb_dept02的表结构信息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10815" y="4293870"/>
          <a:ext cx="7101205" cy="158686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22730"/>
                <a:gridCol w="1764030"/>
                <a:gridCol w="1701165"/>
                <a:gridCol w="2113280"/>
              </a:tblGrid>
              <a:tr h="4394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字段名称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数据类型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约束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备注说明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id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主键约束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id编号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dname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VARCHAR(14)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唯一约束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部门名称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local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VARCHAR(13)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部门地址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主键约束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4931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27910" y="2279650"/>
            <a:ext cx="81248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创建数据表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tb_dept02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04110" y="3213735"/>
            <a:ext cx="7842250" cy="16008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tb_dept02(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id INT PRIMARY KEY,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dname VARCHAR(14) UNIQUE,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local VARCHAR(13) NOT NULL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主键约束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81952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50770" y="2133600"/>
            <a:ext cx="81248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通过案例演示修改数据表时使用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ADD给字段添加主键约束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例如，为数据表tb_dept01中的deptno字段添加主键约束，具体SQL语句及执行结果如下所示。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03475" y="4365625"/>
            <a:ext cx="7842250" cy="1147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 ALTER TABLE tb_dept01 ADD PRIMARY KEY(deptno);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(0.11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主键约束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29501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50770" y="2133600"/>
            <a:ext cx="81248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DROP删除数据表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tb_dept01中的主键约束，具体SQL语句及执行结果如下所示。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50770" y="3573780"/>
            <a:ext cx="7842250" cy="1147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tb_dept01 DROP PRIMARY KEY;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(0.11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2.4.3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主键约束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560955" y="1989307"/>
            <a:ext cx="7422515" cy="3170815"/>
            <a:chOff x="4042" y="3133"/>
            <a:chExt cx="11680" cy="4990"/>
          </a:xfrm>
        </p:grpSpPr>
        <p:sp>
          <p:nvSpPr>
            <p:cNvPr id="2" name="折角形 1"/>
            <p:cNvSpPr/>
            <p:nvPr/>
          </p:nvSpPr>
          <p:spPr>
            <a:xfrm>
              <a:off x="4042" y="3133"/>
              <a:ext cx="11680" cy="4990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638" y="3511"/>
              <a:ext cx="9474" cy="3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默认值约束用于给数据表中的字段指定默认值，即当在表中插入一条新记录时，如果没有给这个字段赋值，那么，数据库系统会自动为这个字段插入指定的默认值。接下来，对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设置默认值约束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删除默认值约束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进行讲解。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默认值约束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471283" y="1489075"/>
            <a:ext cx="9623425" cy="4320540"/>
            <a:chOff x="2453" y="3814"/>
            <a:chExt cx="14879" cy="5512"/>
          </a:xfrm>
        </p:grpSpPr>
        <p:grpSp>
          <p:nvGrpSpPr>
            <p:cNvPr id="24" name="组合 23"/>
            <p:cNvGrpSpPr/>
            <p:nvPr/>
          </p:nvGrpSpPr>
          <p:grpSpPr>
            <a:xfrm>
              <a:off x="2453" y="3814"/>
              <a:ext cx="7290" cy="5512"/>
              <a:chOff x="2453" y="3814"/>
              <a:chExt cx="7290" cy="5512"/>
            </a:xfrm>
          </p:grpSpPr>
          <p:sp>
            <p:nvSpPr>
              <p:cNvPr id="2" name="Shape 1452"/>
              <p:cNvSpPr/>
              <p:nvPr/>
            </p:nvSpPr>
            <p:spPr>
              <a:xfrm>
                <a:off x="2454" y="4967"/>
                <a:ext cx="7236" cy="4359"/>
              </a:xfrm>
              <a:prstGeom prst="roundRect">
                <a:avLst>
                  <a:gd name="adj" fmla="val 6924"/>
                </a:avLst>
              </a:prstGeom>
              <a:ln w="12700">
                <a:solidFill>
                  <a:srgbClr val="A6AAA9"/>
                </a:solidFill>
                <a:miter lim="400000"/>
              </a:ln>
            </p:spPr>
            <p:txBody>
              <a:bodyPr lIns="19051" tIns="19051" rIns="19051" bIns="19051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Text Placeholder 6"/>
              <p:cNvSpPr txBox="1"/>
              <p:nvPr/>
            </p:nvSpPr>
            <p:spPr>
              <a:xfrm>
                <a:off x="2453" y="5135"/>
                <a:ext cx="7290" cy="4137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（1）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创建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数据表时设置默认值约束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创建数据表时，给字段设置默认值约束，只需在定义字段时使用如下格式即可。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（2）</a:t>
                </a:r>
                <a:r>
                  <a:rPr lang="en-US" altLang="zh-CN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修改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数据表时添加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默认值</a:t>
                </a:r>
                <a:r>
                  <a:rPr lang="en-US" altLang="zh-CN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约束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在ALTER TABLE语句中通过</a:t>
                </a:r>
                <a:r>
                  <a:rPr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MODIFY</a:t>
                </a:r>
                <a:r>
                  <a:rPr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或</a:t>
                </a:r>
                <a:r>
                  <a:rPr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CHANGE</a:t>
                </a:r>
                <a:r>
                  <a:rPr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重新定义字段的方式添加默认值约束。</a:t>
                </a:r>
                <a:endParaRPr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4155" y="4153"/>
                <a:ext cx="3402" cy="908"/>
              </a:xfrm>
              <a:prstGeom prst="rect">
                <a:avLst/>
              </a:prstGeom>
              <a:solidFill>
                <a:srgbClr val="1369B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1">
                  <a:lnSpc>
                    <a:spcPct val="150000"/>
                  </a:lnSpc>
                </a:pPr>
                <a:endPara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endParaRPr>
              </a:p>
            </p:txBody>
          </p:sp>
          <p:grpSp>
            <p:nvGrpSpPr>
              <p:cNvPr id="7" name="Group 20"/>
              <p:cNvGrpSpPr/>
              <p:nvPr/>
            </p:nvGrpSpPr>
            <p:grpSpPr>
              <a:xfrm>
                <a:off x="3871" y="3814"/>
                <a:ext cx="746" cy="746"/>
                <a:chOff x="1369087" y="2088729"/>
                <a:chExt cx="474017" cy="474016"/>
              </a:xfrm>
            </p:grpSpPr>
            <p:sp>
              <p:nvSpPr>
                <p:cNvPr id="8" name="Shape 1463"/>
                <p:cNvSpPr/>
                <p:nvPr/>
              </p:nvSpPr>
              <p:spPr>
                <a:xfrm>
                  <a:off x="1369087" y="2088729"/>
                  <a:ext cx="474017" cy="47401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rgbClr val="DCDEE0"/>
                </a:solidFill>
                <a:ln w="12700">
                  <a:miter lim="400000"/>
                </a:ln>
              </p:spPr>
              <p:txBody>
                <a:bodyPr lIns="25400" tIns="25400" rIns="25400" bIns="2540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9" name="Shape 1464"/>
                <p:cNvSpPr/>
                <p:nvPr/>
              </p:nvSpPr>
              <p:spPr>
                <a:xfrm>
                  <a:off x="1477567" y="2232573"/>
                  <a:ext cx="231656" cy="1863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00" h="21363" extrusionOk="0">
                      <a:moveTo>
                        <a:pt x="7274" y="21020"/>
                      </a:moveTo>
                      <a:cubicBezTo>
                        <a:pt x="7274" y="21376"/>
                        <a:pt x="7435" y="21475"/>
                        <a:pt x="7659" y="21222"/>
                      </a:cubicBezTo>
                      <a:cubicBezTo>
                        <a:pt x="7951" y="20894"/>
                        <a:pt x="10973" y="17529"/>
                        <a:pt x="10973" y="17529"/>
                      </a:cubicBezTo>
                      <a:lnTo>
                        <a:pt x="7274" y="15153"/>
                      </a:lnTo>
                      <a:cubicBezTo>
                        <a:pt x="7274" y="15153"/>
                        <a:pt x="7274" y="21020"/>
                        <a:pt x="7274" y="21020"/>
                      </a:cubicBezTo>
                      <a:close/>
                      <a:moveTo>
                        <a:pt x="20812" y="50"/>
                      </a:moveTo>
                      <a:cubicBezTo>
                        <a:pt x="20412" y="224"/>
                        <a:pt x="667" y="8860"/>
                        <a:pt x="277" y="9030"/>
                      </a:cubicBezTo>
                      <a:cubicBezTo>
                        <a:pt x="-53" y="9174"/>
                        <a:pt x="-126" y="9528"/>
                        <a:pt x="266" y="9723"/>
                      </a:cubicBezTo>
                      <a:cubicBezTo>
                        <a:pt x="733" y="9955"/>
                        <a:pt x="4681" y="11919"/>
                        <a:pt x="4681" y="11919"/>
                      </a:cubicBezTo>
                      <a:lnTo>
                        <a:pt x="4681" y="11919"/>
                      </a:lnTo>
                      <a:lnTo>
                        <a:pt x="7298" y="13221"/>
                      </a:lnTo>
                      <a:cubicBezTo>
                        <a:pt x="7298" y="13221"/>
                        <a:pt x="19903" y="1732"/>
                        <a:pt x="20073" y="1577"/>
                      </a:cubicBezTo>
                      <a:cubicBezTo>
                        <a:pt x="20246" y="1420"/>
                        <a:pt x="20443" y="1713"/>
                        <a:pt x="20319" y="1881"/>
                      </a:cubicBezTo>
                      <a:cubicBezTo>
                        <a:pt x="20194" y="2050"/>
                        <a:pt x="11163" y="14170"/>
                        <a:pt x="11163" y="14170"/>
                      </a:cubicBezTo>
                      <a:cubicBezTo>
                        <a:pt x="11163" y="14170"/>
                        <a:pt x="11163" y="14170"/>
                        <a:pt x="11163" y="14171"/>
                      </a:cubicBezTo>
                      <a:lnTo>
                        <a:pt x="10637" y="14898"/>
                      </a:lnTo>
                      <a:lnTo>
                        <a:pt x="11333" y="15363"/>
                      </a:lnTo>
                      <a:lnTo>
                        <a:pt x="11333" y="15363"/>
                      </a:lnTo>
                      <a:cubicBezTo>
                        <a:pt x="11333" y="15363"/>
                        <a:pt x="16742" y="18976"/>
                        <a:pt x="17127" y="19234"/>
                      </a:cubicBezTo>
                      <a:cubicBezTo>
                        <a:pt x="17464" y="19459"/>
                        <a:pt x="17904" y="19272"/>
                        <a:pt x="18001" y="18750"/>
                      </a:cubicBezTo>
                      <a:cubicBezTo>
                        <a:pt x="18117" y="18135"/>
                        <a:pt x="21310" y="1052"/>
                        <a:pt x="21382" y="671"/>
                      </a:cubicBezTo>
                      <a:cubicBezTo>
                        <a:pt x="21474" y="177"/>
                        <a:pt x="21211" y="-125"/>
                        <a:pt x="20812" y="5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5" name="组合 34"/>
            <p:cNvGrpSpPr/>
            <p:nvPr/>
          </p:nvGrpSpPr>
          <p:grpSpPr>
            <a:xfrm>
              <a:off x="10068" y="3814"/>
              <a:ext cx="7264" cy="5511"/>
              <a:chOff x="10068" y="3814"/>
              <a:chExt cx="7264" cy="5511"/>
            </a:xfrm>
          </p:grpSpPr>
          <p:sp>
            <p:nvSpPr>
              <p:cNvPr id="27" name="Shape 1452"/>
              <p:cNvSpPr/>
              <p:nvPr/>
            </p:nvSpPr>
            <p:spPr>
              <a:xfrm>
                <a:off x="10068" y="4966"/>
                <a:ext cx="7264" cy="4359"/>
              </a:xfrm>
              <a:prstGeom prst="roundRect">
                <a:avLst>
                  <a:gd name="adj" fmla="val 6924"/>
                </a:avLst>
              </a:prstGeom>
              <a:ln w="12700">
                <a:solidFill>
                  <a:srgbClr val="A6AAA9"/>
                </a:solidFill>
                <a:miter lim="400000"/>
              </a:ln>
            </p:spPr>
            <p:txBody>
              <a:bodyPr lIns="19051" tIns="19051" rIns="19051" bIns="19051" anchor="ctr"/>
              <a:lstStyle/>
              <a:p>
                <a:pPr lvl="0"/>
                <a:endParaRPr sz="1735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Text Placeholder 6"/>
              <p:cNvSpPr txBox="1"/>
              <p:nvPr/>
            </p:nvSpPr>
            <p:spPr>
              <a:xfrm>
                <a:off x="10478" y="5829"/>
                <a:ext cx="6506" cy="2883"/>
              </a:xfrm>
              <a:prstGeom prst="rect">
                <a:avLst/>
              </a:prstGeom>
            </p:spPr>
            <p:txBody>
              <a:bodyPr anchor="ctr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删除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默认约束是通过ALTER TABLE语句中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MODIFY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或</a:t>
                </a:r>
                <a:r>
                  <a:rPr lang="zh-CN" altLang="en-US" sz="16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CHANGE</a:t>
                </a:r>
                <a:r>
                  <a:rPr lang="zh-CN" altLang="en-US" sz="16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重新定义字段的方式实现。</a:t>
                </a:r>
                <a:endPara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2008" y="4152"/>
                <a:ext cx="3402" cy="908"/>
              </a:xfrm>
              <a:prstGeom prst="rect">
                <a:avLst/>
              </a:prstGeom>
              <a:solidFill>
                <a:srgbClr val="1369B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1">
                  <a:lnSpc>
                    <a:spcPct val="150000"/>
                  </a:lnSpc>
                </a:pPr>
                <a:endParaRPr lang="it-IT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+mn-ea"/>
                </a:endParaRPr>
              </a:p>
            </p:txBody>
          </p:sp>
          <p:grpSp>
            <p:nvGrpSpPr>
              <p:cNvPr id="13" name="Group 32"/>
              <p:cNvGrpSpPr/>
              <p:nvPr/>
            </p:nvGrpSpPr>
            <p:grpSpPr>
              <a:xfrm>
                <a:off x="11640" y="3814"/>
                <a:ext cx="746" cy="746"/>
                <a:chOff x="3906591" y="2088732"/>
                <a:chExt cx="474017" cy="474017"/>
              </a:xfrm>
            </p:grpSpPr>
            <p:sp>
              <p:nvSpPr>
                <p:cNvPr id="14" name="Shape 1474"/>
                <p:cNvSpPr/>
                <p:nvPr/>
              </p:nvSpPr>
              <p:spPr>
                <a:xfrm>
                  <a:off x="3906591" y="2088732"/>
                  <a:ext cx="474017" cy="47401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12700">
                  <a:miter lim="400000"/>
                </a:ln>
              </p:spPr>
              <p:txBody>
                <a:bodyPr lIns="25400" tIns="25400" rIns="25400" bIns="25400" anchor="ctr"/>
                <a:lstStyle/>
                <a:p>
                  <a:pPr lvl="0"/>
                  <a:endParaRPr sz="1735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grpSp>
              <p:nvGrpSpPr>
                <p:cNvPr id="15" name="Group 1479"/>
                <p:cNvGrpSpPr/>
                <p:nvPr/>
              </p:nvGrpSpPr>
              <p:grpSpPr>
                <a:xfrm>
                  <a:off x="4031314" y="2211790"/>
                  <a:ext cx="199171" cy="186335"/>
                  <a:chOff x="0" y="0"/>
                  <a:chExt cx="398340" cy="372667"/>
                </a:xfrm>
              </p:grpSpPr>
              <p:sp>
                <p:nvSpPr>
                  <p:cNvPr id="16" name="Shape 1477"/>
                  <p:cNvSpPr/>
                  <p:nvPr/>
                </p:nvSpPr>
                <p:spPr>
                  <a:xfrm>
                    <a:off x="0" y="0"/>
                    <a:ext cx="346395" cy="241984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474" h="21420" extrusionOk="0">
                        <a:moveTo>
                          <a:pt x="21474" y="11049"/>
                        </a:moveTo>
                        <a:lnTo>
                          <a:pt x="18909" y="958"/>
                        </a:lnTo>
                        <a:cubicBezTo>
                          <a:pt x="18720" y="217"/>
                          <a:pt x="18164" y="-180"/>
                          <a:pt x="17669" y="79"/>
                        </a:cubicBezTo>
                        <a:lnTo>
                          <a:pt x="618" y="8962"/>
                        </a:lnTo>
                        <a:cubicBezTo>
                          <a:pt x="123" y="9221"/>
                          <a:pt x="-126" y="10036"/>
                          <a:pt x="64" y="10782"/>
                        </a:cubicBezTo>
                        <a:lnTo>
                          <a:pt x="2769" y="21420"/>
                        </a:lnTo>
                        <a:lnTo>
                          <a:pt x="2769" y="15715"/>
                        </a:lnTo>
                        <a:cubicBezTo>
                          <a:pt x="2769" y="13145"/>
                          <a:pt x="4209" y="11049"/>
                          <a:pt x="5979" y="11049"/>
                        </a:cubicBezTo>
                        <a:lnTo>
                          <a:pt x="10484" y="11049"/>
                        </a:lnTo>
                        <a:lnTo>
                          <a:pt x="15858" y="5663"/>
                        </a:lnTo>
                        <a:lnTo>
                          <a:pt x="18967" y="11049"/>
                        </a:lnTo>
                        <a:cubicBezTo>
                          <a:pt x="18967" y="11049"/>
                          <a:pt x="21474" y="11049"/>
                          <a:pt x="21474" y="1104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/>
                    <a:endParaRPr sz="1735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" name="Shape 1478"/>
                  <p:cNvSpPr/>
                  <p:nvPr/>
                </p:nvSpPr>
                <p:spPr>
                  <a:xfrm>
                    <a:off x="74826" y="149651"/>
                    <a:ext cx="323515" cy="223017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0571" y="0"/>
                        </a:moveTo>
                        <a:lnTo>
                          <a:pt x="1028" y="0"/>
                        </a:lnTo>
                        <a:cubicBezTo>
                          <a:pt x="460" y="0"/>
                          <a:pt x="0" y="708"/>
                          <a:pt x="0" y="1571"/>
                        </a:cubicBezTo>
                        <a:lnTo>
                          <a:pt x="0" y="20029"/>
                        </a:lnTo>
                        <a:cubicBezTo>
                          <a:pt x="0" y="20897"/>
                          <a:pt x="460" y="21600"/>
                          <a:pt x="1028" y="21600"/>
                        </a:cubicBezTo>
                        <a:lnTo>
                          <a:pt x="20571" y="21600"/>
                        </a:lnTo>
                        <a:cubicBezTo>
                          <a:pt x="21140" y="21600"/>
                          <a:pt x="21600" y="20897"/>
                          <a:pt x="21600" y="20029"/>
                        </a:cubicBezTo>
                        <a:lnTo>
                          <a:pt x="21600" y="1571"/>
                        </a:lnTo>
                        <a:cubicBezTo>
                          <a:pt x="21600" y="708"/>
                          <a:pt x="21140" y="0"/>
                          <a:pt x="20571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2700" cap="flat">
                    <a:noFill/>
                    <a:miter lim="400000"/>
                  </a:ln>
                  <a:effectLst/>
                </p:spPr>
                <p:txBody>
                  <a:bodyPr wrap="square" lIns="0" tIns="0" rIns="0" bIns="0" numCol="1" anchor="ctr">
                    <a:noAutofit/>
                  </a:bodyPr>
                  <a:lstStyle/>
                  <a:p>
                    <a:pPr lvl="0"/>
                    <a:endParaRPr sz="1735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</p:grpSp>
        </p:grpSp>
      </p:grpSp>
      <p:sp>
        <p:nvSpPr>
          <p:cNvPr id="37" name="Text Placeholder 5"/>
          <p:cNvSpPr txBox="1"/>
          <p:nvPr/>
        </p:nvSpPr>
        <p:spPr>
          <a:xfrm>
            <a:off x="2226793" y="1870564"/>
            <a:ext cx="3038671" cy="5836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设置默认值约束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8" name="Text Placeholder 5"/>
          <p:cNvSpPr txBox="1"/>
          <p:nvPr/>
        </p:nvSpPr>
        <p:spPr>
          <a:xfrm>
            <a:off x="7319164" y="1882629"/>
            <a:ext cx="2826248" cy="58364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750" kern="1200">
                <a:solidFill>
                  <a:schemeClr val="tx1"/>
                </a:solidFill>
                <a:latin typeface="Open Sans" panose="020B0606030504020204" charset="0"/>
                <a:ea typeface="Open Sans" panose="020B0606030504020204" charset="0"/>
                <a:cs typeface="Open Sans" panose="020B060603050402020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anose="020B0606030504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删除默认值约束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默认值约束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558290" y="3954780"/>
            <a:ext cx="4279900" cy="409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1755"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&lt;字段名&gt; &lt;数据类型&gt; DEFAULT &lt;默认值&gt;;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655445"/>
            <a:ext cx="8348345" cy="428688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710815" y="1774825"/>
            <a:ext cx="731456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创建数据表时设置默认值约束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例如，创建一个存放员工信息的员工表tb_emp02，员工表中id编号查询频率很高，并且不允许为NULL值及重复值；员工姓名不能有重复值；员工状态的值默认为1。员工表tb_emp02的表结构信息如下所示。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10815" y="3718560"/>
          <a:ext cx="7101205" cy="196913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28444"/>
                <a:gridCol w="1728470"/>
                <a:gridCol w="1571625"/>
                <a:gridCol w="1081405"/>
                <a:gridCol w="1491261"/>
              </a:tblGrid>
              <a:tr h="4394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字段名称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数据类型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约束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默认值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备注说明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id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主键约束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id编号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ename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VARCHAR(16)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唯一约束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部门名称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DECIMAL(7,2)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部门地址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status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默认值约束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默认值约束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49313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27910" y="2279650"/>
            <a:ext cx="81248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创建数据表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tb_emp02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04110" y="3213735"/>
            <a:ext cx="7842250" cy="18484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CREATE TABLE tb_emp02(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id INT PRIMARY KEY,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ename VARCHAR(16) UNIQUE,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sal DECIMAL(7,2),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 lvl="1"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status VARCHAR(13) DEFAULT 1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 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默认值约束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73570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50770" y="2133600"/>
            <a:ext cx="81248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通过案例演示修改数据表时使用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MODIFY添加默认值约束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例如，修改数据表tb_emp02时为字段sal添加默认值约束，默认值为0.00，具体SQL语句及执行结果如下所示。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50770" y="4221480"/>
            <a:ext cx="7842250" cy="1149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tb_emp02 MODIFY sal DECIMAL(7,2) DEFAULT 0.00;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(0.02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默认值约束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44741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50770" y="2133600"/>
            <a:ext cx="81248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CHANGE删除默认值约束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例如，修改数据表tb_emp02时删除字段sal的默认值约束，具体SQL语句及执行结果如下所示。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04110" y="3789680"/>
            <a:ext cx="7842250" cy="1149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mysql&gt; ALTER TABLE tb_emp02 CHANGE sal sal DECIMAL(7,2);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Query OK, 0 rows affected (0.02 sec)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Records: 0  Duplicates: 0  Warnings: 0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2.4.4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默认值约束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2994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自动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增长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934210" y="1493520"/>
            <a:ext cx="8339455" cy="3901440"/>
            <a:chOff x="4042" y="3473"/>
            <a:chExt cx="11680" cy="6429"/>
          </a:xfrm>
        </p:grpSpPr>
        <p:sp>
          <p:nvSpPr>
            <p:cNvPr id="2" name="折角形 1"/>
            <p:cNvSpPr/>
            <p:nvPr/>
          </p:nvSpPr>
          <p:spPr>
            <a:xfrm>
              <a:off x="4042" y="3473"/>
              <a:ext cx="11680" cy="6429"/>
            </a:xfrm>
            <a:prstGeom prst="foldedCorner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382" y="4023"/>
              <a:ext cx="10871" cy="4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在企业开发中，有时候想要数据表为插入的新记录自动生成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唯一的ID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如，员工管理系统中，公司HR每次新增员工信息时，如果都需要手动填写员工工号，导致新增之前还需要想办法查询最新的工号是多少，也有可能查询出最新工号再进行手动插入时，该工号被其他HR提前添加了等问题。此时，可以使用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AUTO_INCREMENT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解决这类问题，AUTO_INCREMENT可以为新行自动生成唯一标识。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自动增长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自动增长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86380" y="1125220"/>
            <a:ext cx="70694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在字段中设置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AUTO_INCREMENT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的基本语法格式如下所示。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905125" y="1701165"/>
            <a:ext cx="5224145" cy="4095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1755"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字段名 数据类型 AUTO_INCREMENT;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782570" y="2432685"/>
            <a:ext cx="7068820" cy="3890010"/>
            <a:chOff x="6022" y="2691"/>
            <a:chExt cx="11132" cy="2369"/>
          </a:xfrm>
        </p:grpSpPr>
        <p:sp>
          <p:nvSpPr>
            <p:cNvPr id="16" name="流程图: 过程 15"/>
            <p:cNvSpPr/>
            <p:nvPr/>
          </p:nvSpPr>
          <p:spPr>
            <a:xfrm>
              <a:off x="6022" y="2691"/>
              <a:ext cx="11132" cy="2369"/>
            </a:xfrm>
            <a:prstGeom prst="flowChartProcess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816" y="2691"/>
              <a:ext cx="9784" cy="23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使用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AUTO_INCREMENT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时，需要注意以下4点。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（1）一个数据表中只能有一个字段设置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AUTO_INCREMENT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，设置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AUTO_INCREMENT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字段的数据类型可以是整数或浮点类型，并且该字段必须定义为键。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（2）如果为自动增长字段插入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NULL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，则该字段会自动增长值；如果插入的是一个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具体的值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，则不会自动增长值。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（3）默认情况下，设置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AUTO_INCREMENT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的字段的值是从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开始自增。如果插入了一个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大于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自动增长的具体值，则下次自动增长的值为字段中最大值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加1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l">
                <a:lnSpc>
                  <a:spcPct val="150000"/>
                </a:lnSpc>
              </a:pP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（4）使用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DELETE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删除记录时，自动增长值不会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减少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或者</a:t>
              </a:r>
              <a:r>
                <a:rPr lang="zh-CN" altLang="en-US" sz="16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填补空缺</a:t>
              </a:r>
              <a:r>
                <a:rPr lang="zh-CN" altLang="en-US" sz="16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。</a:t>
              </a:r>
              <a:endPara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2134870" y="1942465"/>
            <a:ext cx="8348345" cy="428688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78735" y="2061845"/>
            <a:ext cx="750824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通过案例演示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AUTO_INCREMENT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例如，在数据库中创建用于存储员工信息的员工表tb_emp03，员工表中员工工号需设置主键约束，并希望插入的员工数据中员工工号能够自动增长。员工表tb_emp03的表结构信息如下所示。</a:t>
            </a:r>
            <a:endParaRPr lang="zh-CN" altLang="en-US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39060" y="4365625"/>
          <a:ext cx="7101205" cy="158686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34160"/>
                <a:gridCol w="1728470"/>
                <a:gridCol w="1266190"/>
                <a:gridCol w="1280160"/>
                <a:gridCol w="1292225"/>
              </a:tblGrid>
              <a:tr h="4394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字段名称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数据类型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约束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是否自增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备注说明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empno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主键约束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是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员工工号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deptname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VARCHAR(14)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否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部门名称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sal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VARCHAR(13)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员工职位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自动增长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915795" y="1942465"/>
            <a:ext cx="8818245" cy="356489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22525" y="2349500"/>
            <a:ext cx="812482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创建数据表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tb_emp03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，具体SQL语句及执行结果如下所示。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50770" y="3285490"/>
            <a:ext cx="7842250" cy="1642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TABLE tb_emp03(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empno INT PRIMARY KEY AUTO_INCREMENT,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deptname VARCHAR(14) NOT NULL,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	job VARCHAR(13)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);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2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2.5  </a:t>
            </a: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自动增长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361690" y="3070860"/>
            <a:ext cx="9004300" cy="58356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上机实践：图书管理系统</a:t>
            </a:r>
            <a:r>
              <a:rPr lang="zh-CN" altLang="en-US" sz="32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数据库、数据表</a:t>
            </a:r>
            <a:r>
              <a:rPr lang="zh-CN" altLang="en-US" sz="32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的创建</a:t>
            </a:r>
            <a:endParaRPr lang="zh-CN" altLang="en-US" sz="32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ans K Bold" panose="020B0800000000000000" pitchFamily="34" charset="-128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en-GB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/>
          <p:cNvSpPr/>
          <p:nvPr/>
        </p:nvSpPr>
        <p:spPr>
          <a:xfrm>
            <a:off x="1468755" y="2350135"/>
            <a:ext cx="8348345" cy="19335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685290" y="2477135"/>
            <a:ext cx="79756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DATABASE语句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创建字符集为utf8mb4的数据库bms，具体SQL语句及执行结果如下所示。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88795" y="3416300"/>
            <a:ext cx="7034530" cy="5378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ea"/>
              </a:rPr>
              <a:t>CREATE DATABASE bms CHARACTER SET utf8mb4;</a:t>
            </a:r>
            <a:endParaRPr lang="zh-CN" altLang="en-US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97025" y="1169035"/>
            <a:ext cx="8529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创建名称为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bms的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数据库，并且指定数据库的字符集为utf8mb4。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68780" y="1240790"/>
            <a:ext cx="79756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在数据库bms中创建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用户表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（user）、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图书表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（book）和</a:t>
            </a:r>
            <a:r>
              <a:rPr lang="zh-CN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记录表</a:t>
            </a:r>
            <a:r>
              <a:rPr lang="zh-CN" sz="16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（record）用于表示存储用户信息、图书信息和借阅记录，这3张数据表的结构如下所示。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流程图: 可选过程 5"/>
          <p:cNvSpPr/>
          <p:nvPr/>
        </p:nvSpPr>
        <p:spPr>
          <a:xfrm>
            <a:off x="1131570" y="2537460"/>
            <a:ext cx="9645015" cy="373062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92220" y="2708910"/>
            <a:ext cx="377190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7970" algn="ctr">
              <a:lnSpc>
                <a:spcPct val="150000"/>
              </a:lnSpc>
            </a:pPr>
            <a:r>
              <a:rPr 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user表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的结构</a:t>
            </a:r>
            <a:endParaRPr lang="zh-CN" altLang="en-US" sz="20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75460" y="3500755"/>
          <a:ext cx="8318500" cy="252857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49045"/>
                <a:gridCol w="1757045"/>
                <a:gridCol w="1597660"/>
                <a:gridCol w="1099185"/>
                <a:gridCol w="1344295"/>
                <a:gridCol w="1271270"/>
              </a:tblGrid>
              <a:tr h="4394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字段名称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数据类型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约束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默认值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是否自增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说明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id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主键约束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是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用户编号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name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VARCHAR（20）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唯一约束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否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用户名称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state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CHAR(1)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用户状态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（0表示启用，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1表示禁用）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可选过程 2"/>
          <p:cNvSpPr/>
          <p:nvPr/>
        </p:nvSpPr>
        <p:spPr>
          <a:xfrm>
            <a:off x="1418590" y="1626235"/>
            <a:ext cx="9645015" cy="438721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079240" y="1607820"/>
            <a:ext cx="377190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7970" algn="ctr">
              <a:lnSpc>
                <a:spcPct val="150000"/>
              </a:lnSpc>
            </a:pPr>
            <a:r>
              <a:rPr 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book表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的结构</a:t>
            </a:r>
            <a:endParaRPr 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49095" y="2279015"/>
          <a:ext cx="9183370" cy="341439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04975"/>
                <a:gridCol w="1598295"/>
                <a:gridCol w="1702435"/>
                <a:gridCol w="1076960"/>
                <a:gridCol w="1299210"/>
                <a:gridCol w="1801495"/>
              </a:tblGrid>
              <a:tr h="24384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字段名称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数据类型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约束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默认值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是否自增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说明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id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主键约束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是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图书编号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name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VARCHAR（20）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唯一约束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否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图书名称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price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DECIMAL(6,2)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图书价格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upload_time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DATETIME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上架时间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borrower_id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借阅人编号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borrow_time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DATETIME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借阅时间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state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CHAR(1)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'0'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图书状态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（0表示可借阅，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1表示已借阅，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2表示已下架）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流程图: 可选过程 2"/>
          <p:cNvSpPr/>
          <p:nvPr/>
        </p:nvSpPr>
        <p:spPr>
          <a:xfrm>
            <a:off x="1418590" y="1891665"/>
            <a:ext cx="9645015" cy="3730625"/>
          </a:xfrm>
          <a:prstGeom prst="flowChartAlternate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079240" y="2063115"/>
            <a:ext cx="377190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7970" algn="ctr">
              <a:lnSpc>
                <a:spcPct val="150000"/>
              </a:lnSpc>
            </a:pPr>
            <a:r>
              <a:rPr 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record表</a:t>
            </a:r>
            <a:r>
              <a:rPr 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的结构</a:t>
            </a:r>
            <a:endParaRPr 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990725" y="2854960"/>
          <a:ext cx="8557260" cy="235140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26565"/>
                <a:gridCol w="1508760"/>
                <a:gridCol w="1329055"/>
                <a:gridCol w="1038225"/>
                <a:gridCol w="1243330"/>
                <a:gridCol w="1711325"/>
              </a:tblGrid>
              <a:tr h="439420"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字段名称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数据类型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约束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默认值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是否自增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说明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id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主键约束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是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借阅记录编号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book_id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否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图书编号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borrower_id</a:t>
                      </a:r>
                      <a:endParaRPr lang="zh-CN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INT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借阅人编号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borrow_time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DATETIME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借阅时间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remand_time</a:t>
                      </a:r>
                      <a:endParaRPr lang="zh-CN" altLang="en-US" sz="1600" b="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DATETIME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非空约束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否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归还时间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1145540" y="1539240"/>
            <a:ext cx="8348345" cy="4181475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）选择数据库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bms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，并在数据库bms中创建数据表user，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具体SQL语句及执行结果如下所示。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16355" y="3263265"/>
            <a:ext cx="8006715" cy="2245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 选择数据库</a:t>
            </a:r>
            <a:b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USE bms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 创建创建数据表user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CREATE TABLE user  (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id INT PRIMARY KEY AUTO_INCREMENT,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name VARCHAR(20) NOT NULL UNIQUE,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state CHAR(1) NOT NULL DEFAULT 0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1038225" y="1248410"/>
            <a:ext cx="8837295" cy="413004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）在数据库bms中创建数据表book，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具体SQL语句及执行结果如下所示。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46175" y="2229485"/>
            <a:ext cx="8505190" cy="29254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 创建数据表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book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CREATE TABLE book  (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id INT  PRIMARY KEY AUTO_INCREMENT,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name VARCHAR(20) NOT NULL UNIQUE,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price DECIMAL(6, 2)  NOT NULL,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upload_time DATETIME NOT NULL,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borrower_id INT 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borrow_time DATETIME,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state CHAR(1) NOT NULL DEFAULT 0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1038225" y="1463675"/>
            <a:ext cx="8479790" cy="365506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）在数据库bms中创建数据表record，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具体SQL语句及执行结果如下所示。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45540" y="2372360"/>
            <a:ext cx="8098790" cy="2376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# 创建数据表record</a:t>
            </a:r>
            <a:b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CREATE TABLE record  (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id INT  PRIMARY KEY AUTO_INCREMENT,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book_id INT NOT NULL,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borrower_id INT NOT NULL,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borrow_time DATETIME NOT NULL,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remand_time DATETIME NOT NULL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);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 txBox="1"/>
          <p:nvPr/>
        </p:nvSpPr>
        <p:spPr>
          <a:xfrm>
            <a:off x="1145452" y="268062"/>
            <a:ext cx="3894025" cy="505890"/>
          </a:xfrm>
          <a:prstGeom prst="rect">
            <a:avLst/>
          </a:prstGeom>
        </p:spPr>
        <p:txBody>
          <a:bodyPr lIns="0" tIns="60934" rIns="0" bIns="60934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上机实践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75740" y="1102995"/>
            <a:ext cx="92106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7970">
              <a:lnSpc>
                <a:spcPct val="150000"/>
              </a:lnSpc>
            </a:pP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实践需求</a:t>
            </a:r>
            <a:r>
              <a:rPr lang="en-US" alt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sz="16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查看数据表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book</a:t>
            </a:r>
            <a:r>
              <a:rPr 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的表结构信息。</a:t>
            </a:r>
            <a:endParaRPr lang="zh-CN" altLang="en-US" sz="16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流程图: 过程 5"/>
          <p:cNvSpPr/>
          <p:nvPr/>
        </p:nvSpPr>
        <p:spPr>
          <a:xfrm>
            <a:off x="1617345" y="1776095"/>
            <a:ext cx="8860790" cy="4450080"/>
          </a:xfrm>
          <a:prstGeom prst="flowChartProcess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47215" y="1903095"/>
            <a:ext cx="8172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动手实践</a:t>
            </a:r>
            <a:r>
              <a:rPr lang="en-US" altLang="zh-CN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使用DESC语句查看book的表结构信息，具体SQL语句及执行结果如下所示。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29130" y="2618105"/>
            <a:ext cx="8164195" cy="3353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88290" anchor="ctr"/>
          <a:lstStyle/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mysql&gt; DESC book;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+-------------+--------------+------+-----+---------+----------------+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| Field       | Type         | Null | Key | Default | Extra          |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+-------------+--------------+------+-----+---------+----------------+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| id          | int          | NO   | PRI | NULL    | auto_increment |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| name        | varchar(20)  | NO   | UNI | NULL    |                |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| price       | decimal(6,2) | NO   |     | NULL    |                |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| upload_time | datetime     | NO   |     | NULL    |                |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| borrower_id | int          | YES  |     | NULL    |                |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| borrow_time | datetime     | YES  |     | NULL    |                |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| state       | char(1)      | NO   |     | 0       |                |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+-------------+--------------+------+-----+---------+----------------+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r>
              <a:rPr lang="zh-CN" altLang="en-US" sz="1600" dirty="0">
                <a:solidFill>
                  <a:srgbClr val="595959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 rows in set (0.03 sec)</a:t>
            </a: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defRPr/>
            </a:pPr>
            <a:endParaRPr lang="zh-CN" altLang="en-US" sz="1600" dirty="0">
              <a:solidFill>
                <a:srgbClr val="595959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134235" y="1125220"/>
            <a:ext cx="8229600" cy="5059363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本章主要对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数据库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数据表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的基本操作进行了详细讲解。首先对数据库的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基本操作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进行了讲解；其次讲解了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数据类型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；然后讲解了数据表的基本操作；接着讲解了表的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约束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1369B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字段自动增长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；最后通过一个上机实践，加深数据库和表的基本操作的理解。通过本章的学习，读者能够掌握数据库和数据表的基本操作，为后续的学习打下坚实的基础。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342390" y="1485265"/>
            <a:ext cx="9794240" cy="462343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7"/>
  <p:tag name="RESOURCELIBID_ANIM" val="450"/>
</p:tagLst>
</file>

<file path=ppt/tags/tag2.xml><?xml version="1.0" encoding="utf-8"?>
<p:tagLst xmlns:p="http://schemas.openxmlformats.org/presentationml/2006/main">
  <p:tag name="PA" val="v5.2.7"/>
  <p:tag name="RESOURCELIBID_ANIM" val="450"/>
</p:tagLst>
</file>

<file path=ppt/tags/tag3.xml><?xml version="1.0" encoding="utf-8"?>
<p:tagLst xmlns:p="http://schemas.openxmlformats.org/presentationml/2006/main">
  <p:tag name="MH" val="20170719155452"/>
  <p:tag name="MH_LIBRARY" val="GRAPHIC"/>
  <p:tag name="MH_TYPE" val="SubTitle"/>
  <p:tag name="MH_ORDER" val="1"/>
</p:tagLst>
</file>

<file path=ppt/tags/tag4.xml><?xml version="1.0" encoding="utf-8"?>
<p:tagLst xmlns:p="http://schemas.openxmlformats.org/presentationml/2006/main">
  <p:tag name="MH" val="20170719155452"/>
  <p:tag name="MH_LIBRARY" val="GRAPHIC"/>
  <p:tag name="MH_TYPE" val="Text"/>
  <p:tag name="MH_ORDER" val="1"/>
</p:tagLst>
</file>

<file path=ppt/tags/tag5.xml><?xml version="1.0" encoding="utf-8"?>
<p:tagLst xmlns:p="http://schemas.openxmlformats.org/presentationml/2006/main">
  <p:tag name="MH" val="20170719155452"/>
  <p:tag name="MH_LIBRARY" val="GRAPHIC"/>
  <p:tag name="MH_TYPE" val="Other"/>
  <p:tag name="MH_ORDER" val="1"/>
</p:tagLst>
</file>

<file path=ppt/tags/tag6.xml><?xml version="1.0" encoding="utf-8"?>
<p:tagLst xmlns:p="http://schemas.openxmlformats.org/presentationml/2006/main">
  <p:tag name="MH" val="20170719155452"/>
  <p:tag name="MH_LIBRARY" val="GRAPHIC"/>
  <p:tag name="MH_TYPE" val="Other"/>
  <p:tag name="MH_ORDER" val="2"/>
</p:tagLst>
</file>

<file path=ppt/tags/tag7.xml><?xml version="1.0" encoding="utf-8"?>
<p:tagLst xmlns:p="http://schemas.openxmlformats.org/presentationml/2006/main">
  <p:tag name="MH" val="20170719155452"/>
  <p:tag name="MH_LIBRARY" val="GRAPHIC"/>
  <p:tag name="MH_TYPE" val="Other"/>
  <p:tag name="MH_ORDER" val="3"/>
</p:tagLst>
</file>

<file path=ppt/tags/tag8.xml><?xml version="1.0" encoding="utf-8"?>
<p:tagLst xmlns:p="http://schemas.openxmlformats.org/presentationml/2006/main">
  <p:tag name="MH" val="20170719155452"/>
  <p:tag name="MH_LIBRARY" val="GRAPHIC"/>
  <p:tag name="MH_TYPE" val="Other"/>
  <p:tag name="MH_ORDER" val="4"/>
</p:tagLst>
</file>

<file path=ppt/tags/tag9.xml><?xml version="1.0" encoding="utf-8"?>
<p:tagLst xmlns:p="http://schemas.openxmlformats.org/presentationml/2006/main">
  <p:tag name="MH" val="20170719155452"/>
  <p:tag name="MH_LIBRARY" val="GRAPHIC"/>
  <p:tag name="MH_TYPE" val="Other"/>
  <p:tag name="MH_ORDER" val="5"/>
</p:tagLst>
</file>

<file path=ppt/tags/tag10.xml><?xml version="1.0" encoding="utf-8"?>
<p:tagLst xmlns:p="http://schemas.openxmlformats.org/presentationml/2006/main">
  <p:tag name="MH" val="20170719155452"/>
  <p:tag name="MH_LIBRARY" val="GRAPHIC"/>
  <p:tag name="MH_TYPE" val="Other"/>
  <p:tag name="MH_ORDER" val="6"/>
</p:tagLst>
</file>

<file path=ppt/tags/tag11.xml><?xml version="1.0" encoding="utf-8"?>
<p:tagLst xmlns:p="http://schemas.openxmlformats.org/presentationml/2006/main">
  <p:tag name="MH" val="20170719155452"/>
  <p:tag name="MH_LIBRARY" val="GRAPHIC"/>
  <p:tag name="MH_TYPE" val="SubTitle"/>
  <p:tag name="MH_ORDER" val="2"/>
</p:tagLst>
</file>

<file path=ppt/tags/tag12.xml><?xml version="1.0" encoding="utf-8"?>
<p:tagLst xmlns:p="http://schemas.openxmlformats.org/presentationml/2006/main">
  <p:tag name="MH" val="20170719155452"/>
  <p:tag name="MH_LIBRARY" val="GRAPHIC"/>
  <p:tag name="MH_TYPE" val="Text"/>
  <p:tag name="MH_ORDER" val="2"/>
</p:tagLst>
</file>

<file path=ppt/tags/tag13.xml><?xml version="1.0" encoding="utf-8"?>
<p:tagLst xmlns:p="http://schemas.openxmlformats.org/presentationml/2006/main">
  <p:tag name="MH" val="20170719155452"/>
  <p:tag name="MH_LIBRARY" val="GRAPHIC"/>
  <p:tag name="MH_TYPE" val="SubTitle"/>
  <p:tag name="MH_ORDER" val="4"/>
</p:tagLst>
</file>

<file path=ppt/tags/tag14.xml><?xml version="1.0" encoding="utf-8"?>
<p:tagLst xmlns:p="http://schemas.openxmlformats.org/presentationml/2006/main">
  <p:tag name="MH" val="20170719155452"/>
  <p:tag name="MH_LIBRARY" val="GRAPHIC"/>
  <p:tag name="MH_TYPE" val="Text"/>
  <p:tag name="MH_ORDER" val="4"/>
</p:tagLst>
</file>

<file path=ppt/tags/tag15.xml><?xml version="1.0" encoding="utf-8"?>
<p:tagLst xmlns:p="http://schemas.openxmlformats.org/presentationml/2006/main">
  <p:tag name="MH" val="20170719155452"/>
  <p:tag name="MH_LIBRARY" val="GRAPHIC"/>
  <p:tag name="MH_TYPE" val="SubTitle"/>
  <p:tag name="MH_ORDER" val="3"/>
</p:tagLst>
</file>

<file path=ppt/tags/tag16.xml><?xml version="1.0" encoding="utf-8"?>
<p:tagLst xmlns:p="http://schemas.openxmlformats.org/presentationml/2006/main">
  <p:tag name="MH" val="20170719155452"/>
  <p:tag name="MH_LIBRARY" val="GRAPHIC"/>
  <p:tag name="MH_TYPE" val="Text"/>
  <p:tag name="MH_ORDER" val="3"/>
</p:tagLst>
</file>

<file path=ppt/tags/tag17.xml><?xml version="1.0" encoding="utf-8"?>
<p:tagLst xmlns:p="http://schemas.openxmlformats.org/presentationml/2006/main">
  <p:tag name="MH" val="20170719155452"/>
  <p:tag name="MH_LIBRARY" val="GRAPHIC"/>
  <p:tag name="MH_TYPE" val="Other"/>
  <p:tag name="MH_ORDER" val="7"/>
</p:tagLst>
</file>

<file path=ppt/tags/tag18.xml><?xml version="1.0" encoding="utf-8"?>
<p:tagLst xmlns:p="http://schemas.openxmlformats.org/presentationml/2006/main">
  <p:tag name="MH" val="20170719155452"/>
  <p:tag name="MH_LIBRARY" val="GRAPHIC"/>
  <p:tag name="MH_TYPE" val="Other"/>
  <p:tag name="MH_ORDER" val="8"/>
</p:tagLst>
</file>

<file path=ppt/tags/tag19.xml><?xml version="1.0" encoding="utf-8"?>
<p:tagLst xmlns:p="http://schemas.openxmlformats.org/presentationml/2006/main">
  <p:tag name="KSO_WM_UNIT_TABLE_BEAUTIFY" val="smartTable{4a30b979-1bb1-43bb-9093-636f95ee4bb2}"/>
  <p:tag name="TABLE_ENDDRAG_ORIGIN_RECT" val="668*294"/>
  <p:tag name="TABLE_ENDDRAG_RECT" val="145*224*668*294"/>
</p:tagLst>
</file>

<file path=ppt/tags/tag20.xml><?xml version="1.0" encoding="utf-8"?>
<p:tagLst xmlns:p="http://schemas.openxmlformats.org/presentationml/2006/main">
  <p:tag name="PA" val="v5.2.7"/>
  <p:tag name="RESOURCELIBID_ANIM" val="450"/>
</p:tagLst>
</file>

<file path=ppt/tags/tag21.xml><?xml version="1.0" encoding="utf-8"?>
<p:tagLst xmlns:p="http://schemas.openxmlformats.org/presentationml/2006/main">
  <p:tag name="PA" val="v5.2.7"/>
  <p:tag name="RESOURCELIBID_ANIM" val="450"/>
</p:tagLst>
</file>

<file path=ppt/tags/tag22.xml><?xml version="1.0" encoding="utf-8"?>
<p:tagLst xmlns:p="http://schemas.openxmlformats.org/presentationml/2006/main">
  <p:tag name="PA" val="v5.2.7"/>
  <p:tag name="RESOURCELIBID_ANIM" val="450"/>
</p:tagLst>
</file>

<file path=ppt/tags/tag23.xml><?xml version="1.0" encoding="utf-8"?>
<p:tagLst xmlns:p="http://schemas.openxmlformats.org/presentationml/2006/main">
  <p:tag name="PA" val="v5.2.7"/>
  <p:tag name="RESOURCELIBID_ANIM" val="450"/>
</p:tagLst>
</file>

<file path=ppt/tags/tag24.xml><?xml version="1.0" encoding="utf-8"?>
<p:tagLst xmlns:p="http://schemas.openxmlformats.org/presentationml/2006/main">
  <p:tag name="PA" val="v5.2.7"/>
  <p:tag name="RESOURCELIBID_ANIM" val="450"/>
</p:tagLst>
</file>

<file path=ppt/tags/tag25.xml><?xml version="1.0" encoding="utf-8"?>
<p:tagLst xmlns:p="http://schemas.openxmlformats.org/presentationml/2006/main">
  <p:tag name="PA" val="v5.2.7"/>
  <p:tag name="RESOURCELIBID_ANIM" val="450"/>
</p:tagLst>
</file>

<file path=ppt/tags/tag26.xml><?xml version="1.0" encoding="utf-8"?>
<p:tagLst xmlns:p="http://schemas.openxmlformats.org/presentationml/2006/main">
  <p:tag name="PA" val="v5.2.7"/>
  <p:tag name="RESOURCELIBID_ANIM" val="450"/>
</p:tagLst>
</file>

<file path=ppt/tags/tag27.xml><?xml version="1.0" encoding="utf-8"?>
<p:tagLst xmlns:p="http://schemas.openxmlformats.org/presentationml/2006/main">
  <p:tag name="PA" val="v5.2.7"/>
  <p:tag name="RESOURCELIBID_ANIM" val="450"/>
</p:tagLst>
</file>

<file path=ppt/tags/tag28.xml><?xml version="1.0" encoding="utf-8"?>
<p:tagLst xmlns:p="http://schemas.openxmlformats.org/presentationml/2006/main">
  <p:tag name="PA" val="v5.2.7"/>
  <p:tag name="RESOURCELIBID_ANIM" val="450"/>
</p:tagLst>
</file>

<file path=ppt/tags/tag29.xml><?xml version="1.0" encoding="utf-8"?>
<p:tagLst xmlns:p="http://schemas.openxmlformats.org/presentationml/2006/main">
  <p:tag name="PA" val="v5.2.7"/>
  <p:tag name="RESOURCELIBID_ANIM" val="450"/>
</p:tagLst>
</file>

<file path=ppt/tags/tag30.xml><?xml version="1.0" encoding="utf-8"?>
<p:tagLst xmlns:p="http://schemas.openxmlformats.org/presentationml/2006/main">
  <p:tag name="PA" val="v5.2.7"/>
  <p:tag name="RESOURCELIBID_ANIM" val="450"/>
</p:tagLst>
</file>

<file path=ppt/tags/tag31.xml><?xml version="1.0" encoding="utf-8"?>
<p:tagLst xmlns:p="http://schemas.openxmlformats.org/presentationml/2006/main">
  <p:tag name="KSO_WM_UNIT_TABLE_BEAUTIFY" val="smartTable{2e618d20-ceb9-4402-a021-0d5d6cbb6ed6}"/>
  <p:tag name="TABLE_ENDDRAG_ORIGIN_RECT" val="559*133"/>
  <p:tag name="TABLE_ENDDRAG_RECT" val="185*281*559*133"/>
</p:tagLst>
</file>

<file path=ppt/tags/tag32.xml><?xml version="1.0" encoding="utf-8"?>
<p:tagLst xmlns:p="http://schemas.openxmlformats.org/presentationml/2006/main">
  <p:tag name="KSO_WM_UNIT_TABLE_BEAUTIFY" val="smartTable{2e618d20-ceb9-4402-a021-0d5d6cbb6ed6}"/>
  <p:tag name="TABLE_ENDDRAG_ORIGIN_RECT" val="559*133"/>
  <p:tag name="TABLE_ENDDRAG_RECT" val="185*281*559*133"/>
</p:tagLst>
</file>

<file path=ppt/tags/tag33.xml><?xml version="1.0" encoding="utf-8"?>
<p:tagLst xmlns:p="http://schemas.openxmlformats.org/presentationml/2006/main">
  <p:tag name="KSO_WM_UNIT_TABLE_BEAUTIFY" val="smartTable{2e618d20-ceb9-4402-a021-0d5d6cbb6ed6}"/>
  <p:tag name="TABLE_ENDDRAG_ORIGIN_RECT" val="559*124"/>
  <p:tag name="TABLE_ENDDRAG_RECT" val="213*309*559*124"/>
</p:tagLst>
</file>

<file path=ppt/tags/tag34.xml><?xml version="1.0" encoding="utf-8"?>
<p:tagLst xmlns:p="http://schemas.openxmlformats.org/presentationml/2006/main">
  <p:tag name="KSO_WM_UNIT_TABLE_BEAUTIFY" val="smartTable{2e618d20-ceb9-4402-a021-0d5d6cbb6ed6}"/>
  <p:tag name="TABLE_ENDDRAG_ORIGIN_RECT" val="559*124"/>
  <p:tag name="TABLE_ENDDRAG_RECT" val="213*309*559*124"/>
</p:tagLst>
</file>

<file path=ppt/tags/tag35.xml><?xml version="1.0" encoding="utf-8"?>
<p:tagLst xmlns:p="http://schemas.openxmlformats.org/presentationml/2006/main">
  <p:tag name="KSO_WM_UNIT_TABLE_BEAUTIFY" val="smartTable{2e618d20-ceb9-4402-a021-0d5d6cbb6ed6}"/>
  <p:tag name="TABLE_ENDDRAG_ORIGIN_RECT" val="559*124"/>
  <p:tag name="TABLE_ENDDRAG_RECT" val="213*309*559*124"/>
</p:tagLst>
</file>

<file path=ppt/tags/tag36.xml><?xml version="1.0" encoding="utf-8"?>
<p:tagLst xmlns:p="http://schemas.openxmlformats.org/presentationml/2006/main">
  <p:tag name="KSO_WM_UNIT_TABLE_BEAUTIFY" val="smartTable{2e618d20-ceb9-4402-a021-0d5d6cbb6ed6}"/>
  <p:tag name="TABLE_ENDDRAG_ORIGIN_RECT" val="655*175"/>
  <p:tag name="TABLE_ENDDRAG_RECT" val="169*275*655*175"/>
</p:tagLst>
</file>

<file path=ppt/tags/tag37.xml><?xml version="1.0" encoding="utf-8"?>
<p:tagLst xmlns:p="http://schemas.openxmlformats.org/presentationml/2006/main">
  <p:tag name="KSO_WM_UNIT_TABLE_BEAUTIFY" val="smartTable{2e618d20-ceb9-4402-a021-0d5d6cbb6ed6}"/>
  <p:tag name="TABLE_ENDDRAG_ORIGIN_RECT" val="723*260"/>
  <p:tag name="TABLE_ENDDRAG_RECT" val="122*258*723*260"/>
</p:tagLst>
</file>

<file path=ppt/tags/tag38.xml><?xml version="1.0" encoding="utf-8"?>
<p:tagLst xmlns:p="http://schemas.openxmlformats.org/presentationml/2006/main">
  <p:tag name="KSO_WM_UNIT_TABLE_BEAUTIFY" val="smartTable{2e618d20-ceb9-4402-a021-0d5d6cbb6ed6}"/>
  <p:tag name="TABLE_ENDDRAG_ORIGIN_RECT" val="673*193"/>
  <p:tag name="TABLE_ENDDRAG_RECT" val="162*253*673*193"/>
</p:tagLst>
</file>

<file path=ppt/tags/tag39.xml><?xml version="1.0" encoding="utf-8"?>
<p:tagLst xmlns:p="http://schemas.openxmlformats.org/presentationml/2006/main">
  <p:tag name="ISPRING_RESOURCE_PATHS_HASH_PRESENTER" val="3f15e6573a385e41c33bb97e7105a62faa5c484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19348</Words>
  <Application>WPS 演示</Application>
  <PresentationFormat>自定义</PresentationFormat>
  <Paragraphs>1352</Paragraphs>
  <Slides>94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94</vt:i4>
      </vt:variant>
    </vt:vector>
  </HeadingPairs>
  <TitlesOfParts>
    <vt:vector size="120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Wingdings</vt:lpstr>
      <vt:lpstr>U.S. 101</vt:lpstr>
      <vt:lpstr>Roboto</vt:lpstr>
      <vt:lpstr>Open Sans Light</vt:lpstr>
      <vt:lpstr>Courier New</vt:lpstr>
      <vt:lpstr>字魂105号-简雅黑</vt:lpstr>
      <vt:lpstr>Arial Unicode MS</vt:lpstr>
      <vt:lpstr>华文行楷</vt:lpstr>
      <vt:lpstr>Arial Narrow</vt:lpstr>
      <vt:lpstr>Times New Roman</vt:lpstr>
      <vt:lpstr>思源黑体 CN Regular</vt:lpstr>
      <vt:lpstr>Open Sans</vt:lpstr>
      <vt:lpstr>Open Sans</vt:lpstr>
      <vt:lpstr>Segoe Print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tk</cp:lastModifiedBy>
  <cp:revision>111</cp:revision>
  <dcterms:created xsi:type="dcterms:W3CDTF">2020-11-11T09:29:00Z</dcterms:created>
  <dcterms:modified xsi:type="dcterms:W3CDTF">2022-06-17T07:32:20Z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  <property fmtid="{D5CDD505-2E9C-101B-9397-08002B2CF9AE}" pid="3" name="ICV">
    <vt:lpwstr>4A9730AB6F8949AC926522F3335628D8</vt:lpwstr>
  </property>
</Properties>
</file>