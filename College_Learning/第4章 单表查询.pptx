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86"/>
  </p:handoutMasterIdLst>
  <p:sldIdLst>
    <p:sldId id="325" r:id="rId4"/>
    <p:sldId id="264" r:id="rId6"/>
    <p:sldId id="328" r:id="rId7"/>
    <p:sldId id="327" r:id="rId8"/>
    <p:sldId id="351" r:id="rId9"/>
    <p:sldId id="309" r:id="rId10"/>
    <p:sldId id="466" r:id="rId11"/>
    <p:sldId id="352" r:id="rId12"/>
    <p:sldId id="353" r:id="rId13"/>
    <p:sldId id="340" r:id="rId14"/>
    <p:sldId id="467" r:id="rId15"/>
    <p:sldId id="354" r:id="rId16"/>
    <p:sldId id="527" r:id="rId17"/>
    <p:sldId id="528" r:id="rId18"/>
    <p:sldId id="468" r:id="rId19"/>
    <p:sldId id="355" r:id="rId20"/>
    <p:sldId id="529" r:id="rId21"/>
    <p:sldId id="367" r:id="rId22"/>
    <p:sldId id="530" r:id="rId23"/>
    <p:sldId id="368" r:id="rId24"/>
    <p:sldId id="531" r:id="rId25"/>
    <p:sldId id="369" r:id="rId26"/>
    <p:sldId id="370" r:id="rId27"/>
    <p:sldId id="371" r:id="rId28"/>
    <p:sldId id="372" r:id="rId29"/>
    <p:sldId id="641" r:id="rId30"/>
    <p:sldId id="643" r:id="rId31"/>
    <p:sldId id="644" r:id="rId32"/>
    <p:sldId id="645" r:id="rId33"/>
    <p:sldId id="374" r:id="rId34"/>
    <p:sldId id="376" r:id="rId35"/>
    <p:sldId id="535" r:id="rId36"/>
    <p:sldId id="536" r:id="rId37"/>
    <p:sldId id="377" r:id="rId38"/>
    <p:sldId id="537" r:id="rId39"/>
    <p:sldId id="378" r:id="rId40"/>
    <p:sldId id="379" r:id="rId41"/>
    <p:sldId id="380" r:id="rId42"/>
    <p:sldId id="647" r:id="rId43"/>
    <p:sldId id="594" r:id="rId44"/>
    <p:sldId id="646" r:id="rId45"/>
    <p:sldId id="381" r:id="rId46"/>
    <p:sldId id="595" r:id="rId47"/>
    <p:sldId id="383" r:id="rId48"/>
    <p:sldId id="384" r:id="rId49"/>
    <p:sldId id="387" r:id="rId50"/>
    <p:sldId id="385" r:id="rId51"/>
    <p:sldId id="649" r:id="rId52"/>
    <p:sldId id="650" r:id="rId53"/>
    <p:sldId id="386" r:id="rId54"/>
    <p:sldId id="469" r:id="rId55"/>
    <p:sldId id="388" r:id="rId56"/>
    <p:sldId id="389" r:id="rId57"/>
    <p:sldId id="652" r:id="rId58"/>
    <p:sldId id="390" r:id="rId59"/>
    <p:sldId id="391" r:id="rId60"/>
    <p:sldId id="654" r:id="rId61"/>
    <p:sldId id="655" r:id="rId62"/>
    <p:sldId id="392" r:id="rId63"/>
    <p:sldId id="393" r:id="rId64"/>
    <p:sldId id="604" r:id="rId65"/>
    <p:sldId id="394" r:id="rId66"/>
    <p:sldId id="395" r:id="rId67"/>
    <p:sldId id="656" r:id="rId68"/>
    <p:sldId id="396" r:id="rId69"/>
    <p:sldId id="605" r:id="rId70"/>
    <p:sldId id="397" r:id="rId71"/>
    <p:sldId id="398" r:id="rId72"/>
    <p:sldId id="399" r:id="rId73"/>
    <p:sldId id="470" r:id="rId74"/>
    <p:sldId id="400" r:id="rId75"/>
    <p:sldId id="608" r:id="rId76"/>
    <p:sldId id="401" r:id="rId77"/>
    <p:sldId id="609" r:id="rId78"/>
    <p:sldId id="341" r:id="rId79"/>
    <p:sldId id="610" r:id="rId80"/>
    <p:sldId id="697" r:id="rId81"/>
    <p:sldId id="658" r:id="rId82"/>
    <p:sldId id="661" r:id="rId83"/>
    <p:sldId id="403" r:id="rId84"/>
    <p:sldId id="326" r:id="rId85"/>
  </p:sldIdLst>
  <p:sldSz cx="12190095" cy="6859270"/>
  <p:notesSz cx="6858000" cy="9144000"/>
  <p:custDataLst>
    <p:tags r:id="rId9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7060" autoAdjust="0"/>
    <p:restoredTop sz="94660" autoAdjust="0"/>
  </p:normalViewPr>
  <p:slideViewPr>
    <p:cSldViewPr>
      <p:cViewPr varScale="1">
        <p:scale>
          <a:sx n="103" d="100"/>
          <a:sy n="103" d="100"/>
        </p:scale>
        <p:origin x="132" y="312"/>
      </p:cViewPr>
      <p:guideLst>
        <p:guide orient="horz" pos="2018"/>
        <p:guide pos="256"/>
        <p:guide pos="65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691"/>
        <p:guide pos="217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5.xml"/><Relationship Id="rId90" Type="http://schemas.openxmlformats.org/officeDocument/2006/relationships/commentAuthors" Target="commentAuthors.xml"/><Relationship Id="rId9" Type="http://schemas.openxmlformats.org/officeDocument/2006/relationships/slide" Target="slides/slide5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4</a:t>
            </a:r>
            <a:r>
              <a:rPr lang="zh-CN" altLang="en-US" sz="6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单表查询</a:t>
            </a:r>
            <a:endParaRPr lang="zh-CN" altLang="en-US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70635" y="1847215"/>
            <a:ext cx="9502775" cy="2426970"/>
            <a:chOff x="4042" y="3473"/>
            <a:chExt cx="11486" cy="3822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熟悉Select语句的作用，能够说出</a:t>
                </a:r>
                <a:r>
                  <a:rPr lang="zh-CN" altLang="en-US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Select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语句中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各子句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的含义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掌握简单查询，能够使用SELECT语句查询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所有字段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、查询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指定字段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，以及查询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去重数据</a:t>
                </a:r>
                <a:endPara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掌握条件查询，能够使用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比较运算符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逻辑运算符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进行条件查询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271270" y="4503420"/>
            <a:ext cx="9443085" cy="1556385"/>
            <a:chOff x="4042" y="3473"/>
            <a:chExt cx="11486" cy="2451"/>
          </a:xfrm>
        </p:grpSpPr>
        <p:grpSp>
          <p:nvGrpSpPr>
            <p:cNvPr id="4" name="组合 3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5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掌握高级查询，能够使用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聚合函数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分组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查询、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排序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查询和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限量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查询进行查询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6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熟悉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别名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的设置，能够为数据表和字段设置别名</a:t>
                </a:r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9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288714"/>
            <a:ext cx="101511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对数据库中的数据进行操作，除了之前章节中讲解到的插入、更新和删除，还有一个使用频率更高、更重要的操作就是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操作。查询是指从数据库中获取所需要的数据，使用不同的查询方式可以获取不同的数据。一般将只涉及到一张数据表的查询称为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单表查询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，本章将对单表查询进行讲解。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94940" y="2493645"/>
            <a:ext cx="6784975" cy="2486660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50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21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SELECT语句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21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简单查询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21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条件查询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92400" y="2421890"/>
            <a:ext cx="6791325" cy="2486680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05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42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06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1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高级查询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1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设置别名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1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上机实践：图书管理系统的单表查询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SELECT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语句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00" y="3767"/>
              <a:ext cx="9010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对数据库中的数据进行操作，除了之前章节中讲解到的插入、更新和删除，还有一个使用频率更高、更重要的操作就是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操作。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是指从数据库中获取所需要的数据，使用不同的查询方式可以获取不同的数据。一般将只涉及到一张数据表的查询称为单表查询，本章将对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单表查询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SELECT语句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SELECT语句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2245995" y="1631315"/>
            <a:ext cx="9410065" cy="385318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45130" y="1775460"/>
            <a:ext cx="801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从数据表中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语句，SELECT语句的基本语法格式如下。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65120" y="2927350"/>
            <a:ext cx="8202930" cy="2304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 [DISTINCT] *|{select_expr1, select_expr2, …}  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	[WHERE 条件表达式1]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	[GROUP BY 字段名 [HAVING 条件表达式2]]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	[ORDER BY 字段名 [ASC|DESC]]s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	[LIMIT [OFFSET] 记录数]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SELECT语句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134870" y="1440180"/>
            <a:ext cx="8348345" cy="38836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1489710"/>
            <a:ext cx="731456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语句由多个子句组成，各子句的含义如下。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[DISTINCT] * | {select_expr1, select_expr2,…}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：指定查询结果中需要返回的值。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数据表名：表示从指定名称的数据表中查询数据。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条件表达式1：WHERE子句，是可选项，用于指定查询条件。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(4)[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 BY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字段名 [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HAVING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条件表达式2]]：GROUP BY子句，用于将查询结果按照指定字段进行分组；HAVING子句，用于对分组后的结果进行过滤。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(5)[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 BY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字段名 [ASC|DESC]]：ORDER BY子句，是可选项，用于将查询结果按指定字段进行排序；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(6)[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[OFFSET] 记录数]：LIMIT子句，是可选项，用于限制查询结果的数量。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16" y="3875"/>
              <a:ext cx="8993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查询所有字段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是指返回数据表中符合条件的所有字段的值。查询所有字段的方式有两种，分别为列出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所有字段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名称进行查询和使用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通配符*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进行查询，接下来将针对这两种方式进行讲解。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查询所有字段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查询所有字段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86890" y="1486235"/>
            <a:ext cx="8631698" cy="1950385"/>
            <a:chOff x="2814" y="2931"/>
            <a:chExt cx="8678" cy="2388"/>
          </a:xfrm>
        </p:grpSpPr>
        <p:grpSp>
          <p:nvGrpSpPr>
            <p:cNvPr id="2" name="组合 1"/>
            <p:cNvGrpSpPr/>
            <p:nvPr/>
          </p:nvGrpSpPr>
          <p:grpSpPr>
            <a:xfrm>
              <a:off x="3362" y="2931"/>
              <a:ext cx="8130" cy="1842"/>
              <a:chOff x="8519" y="2401"/>
              <a:chExt cx="8130" cy="1842"/>
            </a:xfrm>
          </p:grpSpPr>
          <p:sp>
            <p:nvSpPr>
              <p:cNvPr id="4" name="AutoShape 9"/>
              <p:cNvSpPr>
                <a:spLocks noChangeArrowheads="1"/>
              </p:cNvSpPr>
              <p:nvPr/>
            </p:nvSpPr>
            <p:spPr bwMode="auto">
              <a:xfrm>
                <a:off x="8519" y="2661"/>
                <a:ext cx="1200" cy="1582"/>
              </a:xfrm>
              <a:custGeom>
                <a:avLst/>
                <a:gdLst>
                  <a:gd name="T0" fmla="*/ 13440833 w 21600"/>
                  <a:gd name="T1" fmla="*/ 23374974 h 21600"/>
                  <a:gd name="T2" fmla="*/ 13440833 w 21600"/>
                  <a:gd name="T3" fmla="*/ 23374974 h 21600"/>
                  <a:gd name="T4" fmla="*/ 13440833 w 21600"/>
                  <a:gd name="T5" fmla="*/ 23374974 h 21600"/>
                  <a:gd name="T6" fmla="*/ 13440833 w 21600"/>
                  <a:gd name="T7" fmla="*/ 23374974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s-ES" altLang="en-U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1</a:t>
                </a:r>
                <a:endParaRPr kumimoji="0" lang="es-ES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" name="TextBox 35"/>
              <p:cNvSpPr txBox="1"/>
              <p:nvPr/>
            </p:nvSpPr>
            <p:spPr>
              <a:xfrm>
                <a:off x="10238" y="3154"/>
                <a:ext cx="6411" cy="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在SELECT语句中，列出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所有字段名称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进行查询的基本语法格式如下所示。</a:t>
                </a: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0203" y="2401"/>
                <a:ext cx="4118" cy="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913765"/>
                <a:r>
                  <a:rPr lang="zh-CN" altLang="en-US" b="1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列出所有字段名称进行查询</a:t>
                </a:r>
                <a:endPara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2814" y="3020"/>
              <a:ext cx="29" cy="2299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74825" y="3718616"/>
            <a:ext cx="8837930" cy="2028769"/>
            <a:chOff x="2814" y="2935"/>
            <a:chExt cx="13918" cy="2384"/>
          </a:xfrm>
        </p:grpSpPr>
        <p:grpSp>
          <p:nvGrpSpPr>
            <p:cNvPr id="11" name="组合 10"/>
            <p:cNvGrpSpPr/>
            <p:nvPr/>
          </p:nvGrpSpPr>
          <p:grpSpPr>
            <a:xfrm>
              <a:off x="3362" y="2935"/>
              <a:ext cx="13370" cy="1838"/>
              <a:chOff x="8519" y="2405"/>
              <a:chExt cx="13370" cy="1838"/>
            </a:xfrm>
          </p:grpSpPr>
          <p:sp>
            <p:nvSpPr>
              <p:cNvPr id="14" name="AutoShape 9"/>
              <p:cNvSpPr>
                <a:spLocks noChangeArrowheads="1"/>
              </p:cNvSpPr>
              <p:nvPr/>
            </p:nvSpPr>
            <p:spPr bwMode="auto">
              <a:xfrm>
                <a:off x="8519" y="2661"/>
                <a:ext cx="1200" cy="1582"/>
              </a:xfrm>
              <a:custGeom>
                <a:avLst/>
                <a:gdLst>
                  <a:gd name="T0" fmla="*/ 13440833 w 21600"/>
                  <a:gd name="T1" fmla="*/ 23374974 h 21600"/>
                  <a:gd name="T2" fmla="*/ 13440833 w 21600"/>
                  <a:gd name="T3" fmla="*/ 23374974 h 21600"/>
                  <a:gd name="T4" fmla="*/ 13440833 w 21600"/>
                  <a:gd name="T5" fmla="*/ 23374974 h 21600"/>
                  <a:gd name="T6" fmla="*/ 13440833 w 21600"/>
                  <a:gd name="T7" fmla="*/ 23374974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es-E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2</a:t>
                </a:r>
                <a:endParaRPr kumimoji="0" lang="en-US" altLang="es-E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5" name="TextBox 35"/>
              <p:cNvSpPr txBox="1"/>
              <p:nvPr/>
            </p:nvSpPr>
            <p:spPr>
              <a:xfrm>
                <a:off x="11541" y="3167"/>
                <a:ext cx="10348" cy="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在SELECT语句中还可以使用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通配符*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匹配数据表中所有字段，其语法格式如下所示。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1541" y="2405"/>
                <a:ext cx="5319" cy="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913765"/>
                <a:r>
                  <a:rPr lang="zh-CN" altLang="en-US" b="1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使用通配符*进行查询</a:t>
                </a:r>
                <a:endPara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H="1">
              <a:off x="2814" y="3020"/>
              <a:ext cx="29" cy="2299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4041775" y="2856865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字段名1,字段名2,… FROM 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78605" y="5107940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流程图: 过程 4"/>
          <p:cNvSpPr/>
          <p:nvPr/>
        </p:nvSpPr>
        <p:spPr>
          <a:xfrm>
            <a:off x="1596390" y="1343025"/>
            <a:ext cx="9436735" cy="52101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46580" y="1271270"/>
            <a:ext cx="90805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下面通过案例，演示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列出所有字段名称进行查询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例如，查询ems数据库中员工表emp所有字段的数据。由于第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章中已经将员工表中的数据全部删除，所以查询之前需要将员工表的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原始数据重新插入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，插入语句如下。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74240" y="2900680"/>
            <a:ext cx="7842250" cy="331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(9839,'刘一','董事长',NULL,6000,NULL,10),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(9982,'陈二','经理',9839,3450,NULL,10),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(9369,'张三','保洁',9902,900,NULL,20),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(9566,'李四','经理',9839,3995,NULL,20),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(9988,'王五','分析员',9566,4000,NULL,20),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(9902,'赵六','分析员',9566,4000,NULL,20),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(9499,'孙七','销售',9698,2600,300,30),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(9521,'周八','销售',9698,2250,500,30),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(9654,'吴九','销售',9698,2250,1400,30),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(9844,'郑十','销售',9698,2500,0,30),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(9900,'萧十一','保洁',9698,1050,NULL,30);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查询所有字段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流程图: 过程 4"/>
          <p:cNvSpPr/>
          <p:nvPr/>
        </p:nvSpPr>
        <p:spPr>
          <a:xfrm>
            <a:off x="1596390" y="1414780"/>
            <a:ext cx="9436735" cy="45662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46580" y="141478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INSERT语句执行成功后，使用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列出所有字段名称的方式查询员工表中的所有数据，具体的SQL语句如下所示。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34870" y="239204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empno,ename,job,mgr,sal,comm,deptno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8970" y="302260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在SELECT语句的字段列表中，字段的顺序是可以改变的，无须按照字段在数据表中定义的顺序进行排列。例如，在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SELECT语句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中将ename字段放在查询列表的最后一列，具体的SQL语句如下所示。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73605" y="393382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empno,job,mgr,sal,comm,deptno,ename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18970" y="4438650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通配符*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查询员工表emp中的所有记录，具体SQL语句如下所示。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34870" y="508698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查询所有字段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16" y="3813"/>
              <a:ext cx="8993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查询数据时，有时候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不需要查询所有字段的信息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，例如，公司制定一项新的规约，需要查询出所有在职人员的名单，并让员工签字确认，此时只需要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查询员工的姓名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查询指定字段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查询指定字段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638425" y="1703070"/>
            <a:ext cx="7233285" cy="215074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42615" y="1847215"/>
            <a:ext cx="6282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查询指定字段可以在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语句的字段列表中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要查询的字段，其语法格式如下所示。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15005" y="2927350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字段名1,字段名2,… FROM 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94280" y="4361180"/>
            <a:ext cx="7338695" cy="1268095"/>
            <a:chOff x="3702" y="7433"/>
            <a:chExt cx="11557" cy="1997"/>
          </a:xfrm>
        </p:grpSpPr>
        <p:sp>
          <p:nvSpPr>
            <p:cNvPr id="5" name="流程图: 过程 4"/>
            <p:cNvSpPr/>
            <p:nvPr/>
          </p:nvSpPr>
          <p:spPr>
            <a:xfrm>
              <a:off x="5063" y="7433"/>
              <a:ext cx="10196" cy="1997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084" y="7633"/>
              <a:ext cx="8831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在上面的语法格式中，“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字段名1,字段名2,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…”表示需要查询的字段名称。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702" y="7609"/>
              <a:ext cx="2503" cy="1474"/>
              <a:chOff x="1801" y="7669"/>
              <a:chExt cx="2503" cy="1474"/>
            </a:xfrm>
          </p:grpSpPr>
          <p:sp>
            <p:nvSpPr>
              <p:cNvPr id="7" name="七角星 6"/>
              <p:cNvSpPr/>
              <p:nvPr/>
            </p:nvSpPr>
            <p:spPr>
              <a:xfrm>
                <a:off x="1801" y="7669"/>
                <a:ext cx="2042" cy="1474"/>
              </a:xfrm>
              <a:prstGeom prst="star7">
                <a:avLst/>
              </a:prstGeom>
              <a:solidFill>
                <a:srgbClr val="1369B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228" y="7839"/>
                <a:ext cx="2076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marL="0" marR="0" lvl="0" indent="0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提示</a:t>
                </a:r>
                <a:endPara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30680" y="1630680"/>
            <a:ext cx="9436735" cy="3791585"/>
            <a:chOff x="2514" y="2680"/>
            <a:chExt cx="14861" cy="5971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2680"/>
              <a:ext cx="14861" cy="5971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908" y="2680"/>
              <a:ext cx="1430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使用SQL语句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员工表emp中的信息，查询出的信息只需展示员工编号和员工名称，具体SQL语句如下所示。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62" y="4219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empno,ename FROM emp;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22" y="5450"/>
              <a:ext cx="1430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使用SQL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员工表的信息，查询出的信息中第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列显示员工姓名，第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列显示员工编号，具体SQL语句如下所示。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248" y="7102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ename,empno FROM emp;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查询指定字段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查询去重数据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638425" y="1647825"/>
            <a:ext cx="7233285" cy="35369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1846580"/>
            <a:ext cx="63690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数据表的字段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如果没有设置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约束，那么该字段就可能存储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的值。有时候需要将结果中的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重复值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去除后进行展示。MySQL中提供了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DISTINCT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关键字，可以在查询时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去除重复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86760" y="3790950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DISTINCT 字段名 FROM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30680" y="1917700"/>
            <a:ext cx="9436735" cy="2647315"/>
            <a:chOff x="2514" y="2680"/>
            <a:chExt cx="14861" cy="4169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2680"/>
              <a:ext cx="14861" cy="4169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75" y="2907"/>
              <a:ext cx="14300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通过案例演示在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SELECT 语句中使用DISTINCT去除重复值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例如，查询员工表emp中所有员工所属的部门编号，具体SQL语句如下所示。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08" y="5402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DISTINCT deptno FROM emp;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查询去重数据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1"/>
          <p:cNvSpPr txBox="1"/>
          <p:nvPr>
            <p:custDataLst>
              <p:tags r:id="rId1"/>
            </p:custDataLst>
          </p:nvPr>
        </p:nvSpPr>
        <p:spPr>
          <a:xfrm>
            <a:off x="1084580" y="909955"/>
            <a:ext cx="244094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查询去重数据</a:t>
            </a:r>
            <a:endParaRPr lang="zh-CN" altLang="en-US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在SELECT语句中，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DISTINCT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关键字可以作用于多个字段，其语法格式如下所示。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18740" y="3862070"/>
            <a:ext cx="74409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DISTINCT 字段名1,字段名2,… FROM 表名;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10585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274445"/>
            <a:ext cx="73698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例如，查询数据表emp中的字段ename、字段job和字段deptno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的数据，具体SQL语句如下所示。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18740" y="2426970"/>
            <a:ext cx="7440930" cy="77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DISTINCT ename,job,deptno FROM emp;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693035" y="4251325"/>
            <a:ext cx="772541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DISTINCT关键字同时作用于字段ename、字段job和字段deptno，只有这3个字段的值都相同才被认为是重复记录。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639060" y="2277745"/>
            <a:ext cx="7233285" cy="215074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74340" y="2637790"/>
            <a:ext cx="65633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MySQL提供了一系列的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，在查询数据时，可以使用比较运算符对数据进行过滤。MySQL常见的比较运算符如下表所示。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7635" y="1053465"/>
            <a:ext cx="36607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MySQL常见的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49120" y="1773555"/>
          <a:ext cx="8491855" cy="45980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7900"/>
                <a:gridCol w="6243955"/>
              </a:tblGrid>
              <a:tr h="35369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比较运算符左右两侧的操作数是否相等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&lt;&gt;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比较运算符左右两侧的操作数是否不相等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比较运算符左右两侧的操作数是否不相等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比较运算符左侧操作数是否小于右侧操作数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比较运算符左侧操作数是否小于等于右侧操作数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比较运算符左侧操作数是否大于右侧操作数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比较运算符左侧操作数是否大于等于右侧操作数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BETWEEN ... AND ...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比较数据是否存在于指定范围内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比较数据是否存在于指定集合内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 NULL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比较数据是否为NULL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 NOT NULL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比较数据是否不为NULL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3695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LIKE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通配符匹配，获取匹配到的数据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774825" y="1630680"/>
            <a:ext cx="9229502" cy="3810000"/>
            <a:chOff x="8067" y="2603"/>
            <a:chExt cx="8264" cy="6000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8067" y="3703"/>
              <a:ext cx="0" cy="404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8519" y="2661"/>
              <a:ext cx="1200" cy="1582"/>
            </a:xfrm>
            <a:custGeom>
              <a:avLst/>
              <a:gdLst>
                <a:gd name="T0" fmla="*/ 13440833 w 21600"/>
                <a:gd name="T1" fmla="*/ 23374974 h 21600"/>
                <a:gd name="T2" fmla="*/ 13440833 w 21600"/>
                <a:gd name="T3" fmla="*/ 23374974 h 21600"/>
                <a:gd name="T4" fmla="*/ 13440833 w 21600"/>
                <a:gd name="T5" fmla="*/ 23374974 h 21600"/>
                <a:gd name="T6" fmla="*/ 13440833 w 21600"/>
                <a:gd name="T7" fmla="*/ 23374974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s-ES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rPr>
                <a:t>1</a:t>
              </a:r>
              <a:endParaRPr kumimoji="0" lang="es-E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endParaRPr>
            </a:p>
          </p:txBody>
        </p:sp>
        <p:sp>
          <p:nvSpPr>
            <p:cNvPr id="10" name="AutoShape 12"/>
            <p:cNvSpPr>
              <a:spLocks noChangeArrowheads="1"/>
            </p:cNvSpPr>
            <p:nvPr/>
          </p:nvSpPr>
          <p:spPr bwMode="auto">
            <a:xfrm>
              <a:off x="8519" y="5146"/>
              <a:ext cx="1200" cy="1585"/>
            </a:xfrm>
            <a:custGeom>
              <a:avLst/>
              <a:gdLst>
                <a:gd name="T0" fmla="*/ 13440833 w 21600"/>
                <a:gd name="T1" fmla="*/ 23448910 h 21600"/>
                <a:gd name="T2" fmla="*/ 13440833 w 21600"/>
                <a:gd name="T3" fmla="*/ 23448910 h 21600"/>
                <a:gd name="T4" fmla="*/ 13440833 w 21600"/>
                <a:gd name="T5" fmla="*/ 23448910 h 21600"/>
                <a:gd name="T6" fmla="*/ 13440833 w 21600"/>
                <a:gd name="T7" fmla="*/ 2344891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s-ES" altLang="en-US" sz="6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rPr>
                <a:t>2</a:t>
              </a:r>
              <a:endParaRPr lang="es-ES" altLang="en-US" sz="6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endParaRPr>
            </a:p>
          </p:txBody>
        </p:sp>
        <p:sp>
          <p:nvSpPr>
            <p:cNvPr id="11" name="AutoShape 15"/>
            <p:cNvSpPr>
              <a:spLocks noChangeArrowheads="1"/>
            </p:cNvSpPr>
            <p:nvPr/>
          </p:nvSpPr>
          <p:spPr bwMode="auto">
            <a:xfrm>
              <a:off x="8519" y="7018"/>
              <a:ext cx="1200" cy="1585"/>
            </a:xfrm>
            <a:custGeom>
              <a:avLst/>
              <a:gdLst>
                <a:gd name="T0" fmla="*/ 13440833 w 21600"/>
                <a:gd name="T1" fmla="*/ 23448910 h 21600"/>
                <a:gd name="T2" fmla="*/ 13440833 w 21600"/>
                <a:gd name="T3" fmla="*/ 23448910 h 21600"/>
                <a:gd name="T4" fmla="*/ 13440833 w 21600"/>
                <a:gd name="T5" fmla="*/ 23448910 h 21600"/>
                <a:gd name="T6" fmla="*/ 13440833 w 21600"/>
                <a:gd name="T7" fmla="*/ 2344891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s-ES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rPr>
                <a:t>3</a:t>
              </a:r>
              <a:endParaRPr kumimoji="0" lang="es-E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Arial" panose="020B0604020202020204" pitchFamily="34" charset="0"/>
              </a:endParaRPr>
            </a:p>
          </p:txBody>
        </p:sp>
        <p:sp>
          <p:nvSpPr>
            <p:cNvPr id="12" name="TextBox 35"/>
            <p:cNvSpPr txBox="1"/>
            <p:nvPr/>
          </p:nvSpPr>
          <p:spPr>
            <a:xfrm>
              <a:off x="9920" y="3258"/>
              <a:ext cx="641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=运算符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用于比较运算符左右两边的操作数，如果操作数的字段类型为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字符串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，需要使用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单引号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对操作数进行包裹。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WHERE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子句的条件表达式中，字符串以不区分大小写的方式进比较运算。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920" y="2603"/>
              <a:ext cx="242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13765"/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带=运算符的查询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4" name="TextBox 35"/>
            <p:cNvSpPr txBox="1"/>
            <p:nvPr/>
          </p:nvSpPr>
          <p:spPr>
            <a:xfrm>
              <a:off x="9920" y="6164"/>
              <a:ext cx="6303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&lt;&gt;运算符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!=运算符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都用于比较操作数是否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不相等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920" y="5211"/>
              <a:ext cx="283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带&lt;&gt;运算符的查询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16" name="TextBox 35"/>
            <p:cNvSpPr txBox="1"/>
            <p:nvPr/>
          </p:nvSpPr>
          <p:spPr>
            <a:xfrm>
              <a:off x="9936" y="7933"/>
              <a:ext cx="6384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&lt;运算符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用于判断左侧操作数是否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小于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右侧的操作数。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936" y="7018"/>
              <a:ext cx="242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带&lt;运算符的查询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535430" y="1056640"/>
            <a:ext cx="9455785" cy="1245870"/>
            <a:chOff x="9920" y="2603"/>
            <a:chExt cx="6411" cy="1962"/>
          </a:xfrm>
        </p:grpSpPr>
        <p:sp>
          <p:nvSpPr>
            <p:cNvPr id="12" name="TextBox 35"/>
            <p:cNvSpPr txBox="1"/>
            <p:nvPr/>
          </p:nvSpPr>
          <p:spPr>
            <a:xfrm>
              <a:off x="9920" y="3258"/>
              <a:ext cx="641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=运算符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用于比较运算符左右两边的操作数，如果操作数的字段类型为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字符串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，需要使用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单引号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对操作数进行包裹。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WHERE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子句的条件表达式中，字符串以不区分大小写的方式进比较运算。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920" y="2603"/>
              <a:ext cx="242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13765"/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</a:t>
              </a:r>
              <a:r>
                <a:rPr lang="en-US" altLang="zh-CN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）带=运算符的查询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14805" y="3780155"/>
            <a:ext cx="9296492" cy="927100"/>
            <a:chOff x="9920" y="5211"/>
            <a:chExt cx="6303" cy="1460"/>
          </a:xfrm>
        </p:grpSpPr>
        <p:sp>
          <p:nvSpPr>
            <p:cNvPr id="6" name="TextBox 35"/>
            <p:cNvSpPr txBox="1"/>
            <p:nvPr/>
          </p:nvSpPr>
          <p:spPr>
            <a:xfrm>
              <a:off x="9920" y="6164"/>
              <a:ext cx="6303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&lt;&gt;运算符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!=运算符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都用于比较操作数是否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不相等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920" y="5211"/>
              <a:ext cx="283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2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）带&lt;&gt;运算符的查询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  <p:sp>
        <p:nvSpPr>
          <p:cNvPr id="20" name="流程图: 过程 19"/>
          <p:cNvSpPr/>
          <p:nvPr/>
        </p:nvSpPr>
        <p:spPr>
          <a:xfrm>
            <a:off x="1474470" y="2463165"/>
            <a:ext cx="9436735" cy="11563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915160" y="2492375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员工表emp中员工张三的信息，具体SQL语句如下所示。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918970" y="306832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ename='张三';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5" name="流程图: 过程 24"/>
          <p:cNvSpPr/>
          <p:nvPr/>
        </p:nvSpPr>
        <p:spPr>
          <a:xfrm>
            <a:off x="1535430" y="4707255"/>
            <a:ext cx="9436735" cy="18154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843405" y="486410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例如，查询员工表中，所属部门编号不是30的员工信息，可以在查询时使用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&lt;&gt;运算符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对部门编号进行比较，具体SQL语句如下所示。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18970" y="580009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deptno&lt;&gt;30;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流程图: 过程 19"/>
          <p:cNvSpPr/>
          <p:nvPr/>
        </p:nvSpPr>
        <p:spPr>
          <a:xfrm>
            <a:off x="1474470" y="2032635"/>
            <a:ext cx="9436735" cy="14636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流程图: 过程 24"/>
          <p:cNvSpPr/>
          <p:nvPr/>
        </p:nvSpPr>
        <p:spPr>
          <a:xfrm>
            <a:off x="1535430" y="4707255"/>
            <a:ext cx="9436735" cy="18154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Box 35"/>
          <p:cNvSpPr txBox="1"/>
          <p:nvPr/>
        </p:nvSpPr>
        <p:spPr>
          <a:xfrm>
            <a:off x="1637780" y="1570990"/>
            <a:ext cx="7129857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&lt;运算符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用于判断左侧操作数是否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小于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右侧的操作数。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7665" y="989965"/>
            <a:ext cx="5098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3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）带&lt;运算符的查询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90725" y="196532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例如，查询员工表中，工资小于1000元的员工信息，可以在查询时使用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对员工工资进行比较，具体SQL语句如下所示。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62480" y="286321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 WHERE sal&lt;1000;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TextBox 35"/>
          <p:cNvSpPr txBox="1"/>
          <p:nvPr/>
        </p:nvSpPr>
        <p:spPr>
          <a:xfrm>
            <a:off x="1710702" y="4070934"/>
            <a:ext cx="7160185" cy="46056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&gt;=运算符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用于判断左侧操作数是否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大于等于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右侧操作数。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91640" y="3629660"/>
            <a:ext cx="4725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913765"/>
            <a:r>
              <a: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）带&gt;=运算符的查询</a:t>
            </a:r>
            <a:endParaRPr lang="zh-CN" altLang="en-US" b="1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0725" y="478726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例如，查询员工表中，基本工资大于等于3000元的员工信息，可以在查询时使用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对员工工资进行比较，具体SQL语句如下所示。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0725" y="579501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 WHERE sal&gt;=3000;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流程图: 过程 19"/>
          <p:cNvSpPr/>
          <p:nvPr/>
        </p:nvSpPr>
        <p:spPr>
          <a:xfrm>
            <a:off x="1474470" y="3970020"/>
            <a:ext cx="9436735" cy="14636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35"/>
          <p:cNvSpPr txBox="1"/>
          <p:nvPr/>
        </p:nvSpPr>
        <p:spPr>
          <a:xfrm>
            <a:off x="1739900" y="1316990"/>
            <a:ext cx="8622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IN运算符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用于判断某个值是否在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指定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集合中，如果值存在集合中，则满足条件。IN运算符的语法格式如下所示。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10690" y="915035"/>
            <a:ext cx="4706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5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）带IN运算符的查询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0710" y="2314633"/>
            <a:ext cx="5524462" cy="944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*|字段名1,字段名2,…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值 [NOT] IN (元素1,元素2,…);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8140" y="393128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例如，查询员工表中，所属部门编号为10或者20的员工信息。可以在查询时使用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对员工所属部门编号进行比较，具体SQL语句如下所示。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03705" y="486727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 WHERE deptno IN(10,20);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流程图: 过程 19"/>
          <p:cNvSpPr/>
          <p:nvPr/>
        </p:nvSpPr>
        <p:spPr>
          <a:xfrm>
            <a:off x="1474470" y="3252470"/>
            <a:ext cx="9436735" cy="14636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TextBox 35"/>
          <p:cNvSpPr txBox="1"/>
          <p:nvPr/>
        </p:nvSpPr>
        <p:spPr>
          <a:xfrm>
            <a:off x="1691640" y="1785620"/>
            <a:ext cx="85274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当操作数为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NULL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时，不能使用运算符=、&lt;&gt;、!=进行比较，这是因为NULL代表未指定或不可预知的值。如果需要判断数据是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否为NULL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的时候，可以使用IS NULL进行比较。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10690" y="1282700"/>
            <a:ext cx="514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6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）带IS NULL运算符的查询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5460" y="318516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例如，查询员工表中，直属上级编号为NULL的员工信息，可以在查询时使用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NULL运算符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对直属上级编号进行比较，具体SQL语句如下所示。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7215" y="415480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emp WHERE mgr IS NULL;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35"/>
          <p:cNvSpPr txBox="1"/>
          <p:nvPr/>
        </p:nvSpPr>
        <p:spPr>
          <a:xfrm>
            <a:off x="1595120" y="1777365"/>
            <a:ext cx="8622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在查询数据时，有时候需要对数据进行模糊查询。MySQL提供了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LIKE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关键字。LIKE关键字用于比较两个操作数是否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匹配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。使用LIKE关键字的SELECT语句的语法格式如下所示。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10690" y="1273175"/>
            <a:ext cx="5160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7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）带LIKE运算符的查询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10690" y="2643505"/>
            <a:ext cx="5524500" cy="94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*|{字段名1,字段名2,…}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值 [NOT] LIKE 匹配的字符串;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95120" y="4176395"/>
            <a:ext cx="7665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LIKE关键字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支持的通配符有两个，分别是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百分号(%)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下画线(_)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1558290" y="1681480"/>
            <a:ext cx="9448165" cy="3594769"/>
            <a:chOff x="2454" y="3814"/>
            <a:chExt cx="14879" cy="5512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4" y="3814"/>
              <a:ext cx="7026" cy="5512"/>
              <a:chOff x="2454" y="3814"/>
              <a:chExt cx="7026" cy="5512"/>
            </a:xfrm>
          </p:grpSpPr>
          <p:sp>
            <p:nvSpPr>
              <p:cNvPr id="2" name="Shape 1452"/>
              <p:cNvSpPr/>
              <p:nvPr/>
            </p:nvSpPr>
            <p:spPr>
              <a:xfrm>
                <a:off x="2454" y="4967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Text Placeholder 6"/>
              <p:cNvSpPr txBox="1"/>
              <p:nvPr/>
            </p:nvSpPr>
            <p:spPr>
              <a:xfrm>
                <a:off x="2817" y="5514"/>
                <a:ext cx="6329" cy="327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%通配符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是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模糊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查询最常用的通配符，它可以匹配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任意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长度的字符串，包括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空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字符串。</a:t>
                </a: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55" y="4153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7" name="Group 20"/>
              <p:cNvGrpSpPr/>
              <p:nvPr/>
            </p:nvGrpSpPr>
            <p:grpSpPr>
              <a:xfrm rot="0">
                <a:off x="3871" y="3814"/>
                <a:ext cx="746" cy="746"/>
                <a:chOff x="1369087" y="2088729"/>
                <a:chExt cx="474017" cy="474016"/>
              </a:xfrm>
            </p:grpSpPr>
            <p:sp>
              <p:nvSpPr>
                <p:cNvPr id="8" name="Shape 1463"/>
                <p:cNvSpPr/>
                <p:nvPr/>
              </p:nvSpPr>
              <p:spPr>
                <a:xfrm>
                  <a:off x="1369087" y="2088729"/>
                  <a:ext cx="474017" cy="474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Shape 1464"/>
                <p:cNvSpPr/>
                <p:nvPr/>
              </p:nvSpPr>
              <p:spPr>
                <a:xfrm>
                  <a:off x="1477567" y="2232573"/>
                  <a:ext cx="231656" cy="186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0" h="21363" extrusionOk="0">
                      <a:moveTo>
                        <a:pt x="7274" y="21020"/>
                      </a:moveTo>
                      <a:cubicBezTo>
                        <a:pt x="7274" y="21376"/>
                        <a:pt x="7435" y="21475"/>
                        <a:pt x="7659" y="21222"/>
                      </a:cubicBezTo>
                      <a:cubicBezTo>
                        <a:pt x="7951" y="20894"/>
                        <a:pt x="10973" y="17529"/>
                        <a:pt x="10973" y="17529"/>
                      </a:cubicBezTo>
                      <a:lnTo>
                        <a:pt x="7274" y="15153"/>
                      </a:lnTo>
                      <a:cubicBezTo>
                        <a:pt x="7274" y="15153"/>
                        <a:pt x="7274" y="21020"/>
                        <a:pt x="7274" y="21020"/>
                      </a:cubicBezTo>
                      <a:close/>
                      <a:moveTo>
                        <a:pt x="20812" y="50"/>
                      </a:moveTo>
                      <a:cubicBezTo>
                        <a:pt x="20412" y="224"/>
                        <a:pt x="667" y="8860"/>
                        <a:pt x="277" y="9030"/>
                      </a:cubicBezTo>
                      <a:cubicBezTo>
                        <a:pt x="-53" y="9174"/>
                        <a:pt x="-126" y="9528"/>
                        <a:pt x="266" y="9723"/>
                      </a:cubicBezTo>
                      <a:cubicBezTo>
                        <a:pt x="733" y="9955"/>
                        <a:pt x="4681" y="11919"/>
                        <a:pt x="4681" y="11919"/>
                      </a:cubicBezTo>
                      <a:lnTo>
                        <a:pt x="4681" y="11919"/>
                      </a:lnTo>
                      <a:lnTo>
                        <a:pt x="7298" y="13221"/>
                      </a:lnTo>
                      <a:cubicBezTo>
                        <a:pt x="7298" y="13221"/>
                        <a:pt x="19903" y="1732"/>
                        <a:pt x="20073" y="1577"/>
                      </a:cubicBezTo>
                      <a:cubicBezTo>
                        <a:pt x="20246" y="1420"/>
                        <a:pt x="20443" y="1713"/>
                        <a:pt x="20319" y="1881"/>
                      </a:cubicBezTo>
                      <a:cubicBezTo>
                        <a:pt x="20194" y="2050"/>
                        <a:pt x="11163" y="14170"/>
                        <a:pt x="11163" y="14170"/>
                      </a:cubicBezTo>
                      <a:cubicBezTo>
                        <a:pt x="11163" y="14170"/>
                        <a:pt x="11163" y="14170"/>
                        <a:pt x="11163" y="14171"/>
                      </a:cubicBezTo>
                      <a:lnTo>
                        <a:pt x="10637" y="14898"/>
                      </a:lnTo>
                      <a:lnTo>
                        <a:pt x="11333" y="15363"/>
                      </a:lnTo>
                      <a:lnTo>
                        <a:pt x="11333" y="15363"/>
                      </a:lnTo>
                      <a:cubicBezTo>
                        <a:pt x="11333" y="15363"/>
                        <a:pt x="16742" y="18976"/>
                        <a:pt x="17127" y="19234"/>
                      </a:cubicBezTo>
                      <a:cubicBezTo>
                        <a:pt x="17464" y="19459"/>
                        <a:pt x="17904" y="19272"/>
                        <a:pt x="18001" y="18750"/>
                      </a:cubicBezTo>
                      <a:cubicBezTo>
                        <a:pt x="18117" y="18135"/>
                        <a:pt x="21310" y="1052"/>
                        <a:pt x="21382" y="671"/>
                      </a:cubicBezTo>
                      <a:cubicBezTo>
                        <a:pt x="21474" y="177"/>
                        <a:pt x="21211" y="-125"/>
                        <a:pt x="20812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0307" y="3814"/>
              <a:ext cx="7026" cy="5511"/>
              <a:chOff x="10307" y="3814"/>
              <a:chExt cx="7026" cy="5511"/>
            </a:xfrm>
          </p:grpSpPr>
          <p:sp>
            <p:nvSpPr>
              <p:cNvPr id="27" name="Shape 1452"/>
              <p:cNvSpPr/>
              <p:nvPr/>
            </p:nvSpPr>
            <p:spPr>
              <a:xfrm>
                <a:off x="10307" y="4966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Text Placeholder 6"/>
              <p:cNvSpPr txBox="1"/>
              <p:nvPr/>
            </p:nvSpPr>
            <p:spPr>
              <a:xfrm>
                <a:off x="10656" y="5835"/>
                <a:ext cx="6329" cy="2372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_通配符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用于匹配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单个</a:t>
                </a:r>
                <a:r>
                  <a:rPr lang="zh-CN" altLang="en-US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字符，如果要匹配多个字符，需要使用多个_通配符，每个_通配符代表一个字符。</a:t>
                </a:r>
                <a:endPara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2008" y="4152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13" name="Group 32"/>
              <p:cNvGrpSpPr/>
              <p:nvPr/>
            </p:nvGrpSpPr>
            <p:grpSpPr>
              <a:xfrm rot="0">
                <a:off x="11640" y="3814"/>
                <a:ext cx="746" cy="746"/>
                <a:chOff x="3906591" y="2088732"/>
                <a:chExt cx="474017" cy="474017"/>
              </a:xfrm>
            </p:grpSpPr>
            <p:sp>
              <p:nvSpPr>
                <p:cNvPr id="14" name="Shape 1474"/>
                <p:cNvSpPr/>
                <p:nvPr/>
              </p:nvSpPr>
              <p:spPr>
                <a:xfrm>
                  <a:off x="3906591" y="2088732"/>
                  <a:ext cx="474017" cy="474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Group 1479"/>
                <p:cNvGrpSpPr/>
                <p:nvPr/>
              </p:nvGrpSpPr>
              <p:grpSpPr>
                <a:xfrm>
                  <a:off x="4031314" y="2211790"/>
                  <a:ext cx="199171" cy="186335"/>
                  <a:chOff x="0" y="0"/>
                  <a:chExt cx="398340" cy="372667"/>
                </a:xfrm>
              </p:grpSpPr>
              <p:sp>
                <p:nvSpPr>
                  <p:cNvPr id="16" name="Shape 1477"/>
                  <p:cNvSpPr/>
                  <p:nvPr/>
                </p:nvSpPr>
                <p:spPr>
                  <a:xfrm>
                    <a:off x="0" y="0"/>
                    <a:ext cx="346395" cy="2419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420" extrusionOk="0">
                        <a:moveTo>
                          <a:pt x="21474" y="11049"/>
                        </a:moveTo>
                        <a:lnTo>
                          <a:pt x="18909" y="958"/>
                        </a:lnTo>
                        <a:cubicBezTo>
                          <a:pt x="18720" y="217"/>
                          <a:pt x="18164" y="-180"/>
                          <a:pt x="17669" y="79"/>
                        </a:cubicBezTo>
                        <a:lnTo>
                          <a:pt x="618" y="8962"/>
                        </a:lnTo>
                        <a:cubicBezTo>
                          <a:pt x="123" y="9221"/>
                          <a:pt x="-126" y="10036"/>
                          <a:pt x="64" y="10782"/>
                        </a:cubicBezTo>
                        <a:lnTo>
                          <a:pt x="2769" y="21420"/>
                        </a:lnTo>
                        <a:lnTo>
                          <a:pt x="2769" y="15715"/>
                        </a:lnTo>
                        <a:cubicBezTo>
                          <a:pt x="2769" y="13145"/>
                          <a:pt x="4209" y="11049"/>
                          <a:pt x="5979" y="11049"/>
                        </a:cubicBezTo>
                        <a:lnTo>
                          <a:pt x="10484" y="11049"/>
                        </a:lnTo>
                        <a:lnTo>
                          <a:pt x="15858" y="5663"/>
                        </a:lnTo>
                        <a:lnTo>
                          <a:pt x="18967" y="11049"/>
                        </a:lnTo>
                        <a:cubicBezTo>
                          <a:pt x="18967" y="11049"/>
                          <a:pt x="21474" y="11049"/>
                          <a:pt x="21474" y="110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Shape 1478"/>
                  <p:cNvSpPr/>
                  <p:nvPr/>
                </p:nvSpPr>
                <p:spPr>
                  <a:xfrm>
                    <a:off x="74826" y="149651"/>
                    <a:ext cx="323515" cy="2230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0571" y="0"/>
                        </a:moveTo>
                        <a:lnTo>
                          <a:pt x="1028" y="0"/>
                        </a:lnTo>
                        <a:cubicBezTo>
                          <a:pt x="460" y="0"/>
                          <a:pt x="0" y="708"/>
                          <a:pt x="0" y="1571"/>
                        </a:cubicBezTo>
                        <a:lnTo>
                          <a:pt x="0" y="20029"/>
                        </a:lnTo>
                        <a:cubicBezTo>
                          <a:pt x="0" y="20897"/>
                          <a:pt x="460" y="21600"/>
                          <a:pt x="1028" y="21600"/>
                        </a:cubicBezTo>
                        <a:lnTo>
                          <a:pt x="20571" y="21600"/>
                        </a:lnTo>
                        <a:cubicBezTo>
                          <a:pt x="21140" y="21600"/>
                          <a:pt x="21600" y="20897"/>
                          <a:pt x="21600" y="20029"/>
                        </a:cubicBezTo>
                        <a:lnTo>
                          <a:pt x="21600" y="1571"/>
                        </a:lnTo>
                        <a:cubicBezTo>
                          <a:pt x="21600" y="708"/>
                          <a:pt x="21140" y="0"/>
                          <a:pt x="2057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4" name="Text Placeholder 5"/>
          <p:cNvSpPr txBox="1"/>
          <p:nvPr/>
        </p:nvSpPr>
        <p:spPr>
          <a:xfrm>
            <a:off x="2269338" y="1931524"/>
            <a:ext cx="3038671" cy="583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%通配符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 Placeholder 5"/>
          <p:cNvSpPr txBox="1"/>
          <p:nvPr/>
        </p:nvSpPr>
        <p:spPr>
          <a:xfrm>
            <a:off x="7319164" y="1911204"/>
            <a:ext cx="2826248" cy="5836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_通配符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30680" y="1343025"/>
            <a:ext cx="9440545" cy="3952875"/>
            <a:chOff x="2514" y="2227"/>
            <a:chExt cx="14867" cy="7389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2234"/>
              <a:ext cx="14861" cy="7382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1" y="2227"/>
              <a:ext cx="14300" cy="1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查询员工表中，姓名以“一”结尾的员工信息，可以在查询时使用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%通配符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对员工姓名进行匹配，具体SQL语句如下所示。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1" y="4082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* FROM emp WHERE ename LIKE '%一';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86915" y="3500755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查询员工表中，姓名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以“萧”开头以“一”结尾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62480" y="429323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ename LIKE '萧%一';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30680" y="1600200"/>
            <a:ext cx="9436735" cy="4408170"/>
            <a:chOff x="2514" y="2971"/>
            <a:chExt cx="14861" cy="4428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2971"/>
              <a:ext cx="14861" cy="4428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75" y="5593"/>
              <a:ext cx="14300" cy="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查询员工表中，姓名长度为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，并且以字符“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”结尾的员工信息，具体SQL语句如下所示。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1" y="6443"/>
              <a:ext cx="12350" cy="4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* FROM emp WHERE ename LIKE '__一';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带比较运算符的查询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90725" y="1821815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查询员工表中，姓名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包含字符“十”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62480" y="271970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ename LIKE '%十%';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2709545"/>
            <a:ext cx="73698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作为通配符进行条件查询时，它们在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通配字符串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中有特殊含义，如果要匹配的普通字符串中也包含了%和_，就需要使用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右斜线(\)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进行转义，例如，“\%”匹配字符“%”，“\_”匹配字符“_”。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259330" y="1130300"/>
            <a:ext cx="8159750" cy="222250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93035" y="1346200"/>
            <a:ext cx="7369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例如，查询emp表中，姓名包含%的员工信息。为了演示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查询方式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，先在emp表中添加姓名包含%的员工信息，具体SQL如下所示。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570" y="2355850"/>
            <a:ext cx="7522210" cy="604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VALUES(9936,'张%一','保洁',9982,1200,NULL,NULL);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117090" y="4145280"/>
            <a:ext cx="8301990" cy="20116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77770" y="4431665"/>
            <a:ext cx="73698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转义字符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查询姓名包含%的员工信息，具体SQL语句如下所示。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77770" y="5080635"/>
            <a:ext cx="6849745" cy="483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ename LIKE '%\%%';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62480" y="2635885"/>
          <a:ext cx="8491855" cy="35648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7900"/>
                <a:gridCol w="6243955"/>
              </a:tblGrid>
              <a:tr h="509270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逻辑运算符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逻辑非，返回和操作数相反的结果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vMerge="1"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逻辑与，操作数全部为真，则结果为1，否则结果为0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vMerge="1"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逻辑或，操作数只要有一个为真，则结果为1，否则结果为0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||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 vMerge="1"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5125" y="1203325"/>
            <a:ext cx="90830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逻辑运算符又称为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布尔运算符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，用于判断表达式的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真假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。MySQL中常见的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Box 35"/>
          <p:cNvSpPr txBox="1"/>
          <p:nvPr/>
        </p:nvSpPr>
        <p:spPr>
          <a:xfrm>
            <a:off x="1882140" y="1848485"/>
            <a:ext cx="7039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运算符NOT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!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都表示逻辑非，返回和操作数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相反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的结果。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97710" y="1271905"/>
            <a:ext cx="4381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）带NOT运算符的查询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882140" y="2825750"/>
            <a:ext cx="8301990" cy="20116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90725" y="2921635"/>
            <a:ext cx="81934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例如，查询员工表中，部门编号不是10和30的员工信息。可以在查询时使用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对员工所属的部门编号进行判断，具体SQL语句如下所示。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90725" y="414464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deptno NOT IN(10,30);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Box 35"/>
          <p:cNvSpPr txBox="1"/>
          <p:nvPr/>
        </p:nvSpPr>
        <p:spPr>
          <a:xfrm>
            <a:off x="2106930" y="1659890"/>
            <a:ext cx="84245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在MySQL中，可以使用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AND运算符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连接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两个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或者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多个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查询条件，只有满足所有条件的记录才会被返回。带AND运算符的查询语法格式如下所示。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06930" y="1056005"/>
            <a:ext cx="4870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）带AND运算符的查询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53920" y="2571115"/>
            <a:ext cx="6151245" cy="94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*|{字段名1,字段名2,…}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条件表达式1 AND 条件表达式2 … AND 条件表达式n;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2121535" y="4095115"/>
            <a:ext cx="8460105" cy="20478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2180" y="4146550"/>
            <a:ext cx="8378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例如，查询员工表中职位为经理，并且所属部门编号为20的员工信息。可以在查询时使用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对这两个条件进行连接,具体SQL语句如下所示。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77745" y="529780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job='经理' AND deptno=20;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TextBox 35"/>
          <p:cNvSpPr txBox="1"/>
          <p:nvPr/>
        </p:nvSpPr>
        <p:spPr>
          <a:xfrm>
            <a:off x="2106930" y="1710690"/>
            <a:ext cx="8780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AND运算符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还可以结合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BETWEEN运算符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判断某个字段的值是否在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指定的范围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之内，如果字段的值在指定范围内，则字段的值将被查询出来，反之则不会被查询出来。使用BETWEEN和AND结合查询的语法格式如下所示。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41220" y="3257550"/>
            <a:ext cx="6151245" cy="94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*|{字段名1,字段名2,…}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字段名 [NOT] BETWEEN 值1 AND 值2;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30680" y="3844925"/>
            <a:ext cx="9512300" cy="1830070"/>
            <a:chOff x="2514" y="2656"/>
            <a:chExt cx="14980" cy="5602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2656"/>
              <a:ext cx="14861" cy="5602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194" y="3674"/>
              <a:ext cx="14300" cy="1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例如，查询员工表中，员工编号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不是9500至9900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的员工信息，具体SQL语句如下所示。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194" y="6074"/>
              <a:ext cx="12350" cy="14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mysql&gt; SELECT * FROM emp WHERE empno NOT BETWEEN 9500 AND 9900;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630680" y="1462405"/>
            <a:ext cx="9436735" cy="19177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90725" y="167830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例如，查询员工表中，员工编号为9900至9935的员工信息，可以在查询时结合使用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BETWEEN和AND关键字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对员工编号指定范围，具体SQL语句如下所示。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62480" y="271970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empno BETWEEN 9900 AND 9935;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1925955" y="3077210"/>
            <a:ext cx="6079490" cy="94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*|{字段名1,字段名2,…}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条件表达式1 OR 条件表达式2 [… OR 条件表达式n];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5955" y="1139190"/>
            <a:ext cx="4592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rgbClr val="595959"/>
                </a:solidFill>
                <a:sym typeface="+mn-ea"/>
              </a:rPr>
              <a:t>3</a:t>
            </a:r>
            <a:r>
              <a:rPr lang="zh-CN" altLang="en-US" dirty="0">
                <a:solidFill>
                  <a:srgbClr val="595959"/>
                </a:solidFill>
                <a:sym typeface="+mn-ea"/>
              </a:rPr>
              <a:t>）带OR运算符的查询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7" name="TextBox 35"/>
          <p:cNvSpPr txBox="1"/>
          <p:nvPr/>
        </p:nvSpPr>
        <p:spPr>
          <a:xfrm>
            <a:off x="1810385" y="1708150"/>
            <a:ext cx="89649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在使用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SELECT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语句查询数据时，可以使用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OR运算符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连接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多个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查询条件。与AND运算符不同，在使用OR运算符查询时，只要满足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任意一个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查询条件，对应的数据就会被查询出来。带OR运算符的查询语法格式如下所示。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带逻辑运算符的查询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882140" y="4260850"/>
            <a:ext cx="8301990" cy="20116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18970" y="4424045"/>
            <a:ext cx="82645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例如，查询员工表中，员工职位为经理或者所属部门编号为10的员工信息。在查询时可以使用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OR运算符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连接这两个条件，具体SQL语句如下所示。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1360" y="551497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job='经理' OR deptno=10;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2259330" y="2493645"/>
            <a:ext cx="8159750" cy="25323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54300" y="2926080"/>
            <a:ext cx="73698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OR关键字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AND关键字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也可以一起使用，需要注意的是，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AND的优先级高于OR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，因此当两者在一起使用时，应该先运算AND两边的条件表达式，再运算OR两边的条件表达式。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956435" y="1421765"/>
            <a:ext cx="9122410" cy="350837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0600" y="1562735"/>
            <a:ext cx="8514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查询emp表中，员工姓名为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，或者员工姓名为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李四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并且部门编号为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的员工信息，具体SQL语句及执行结果如下所示。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59965" y="2714625"/>
            <a:ext cx="8611235" cy="19577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ename='刘一' or ename='李四' AND deptno=30;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  | mgr  | sal     | comm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9839 | 刘一  | 董事长 | NULL | 6000.00 | NULL |     10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高级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36395" y="1344930"/>
            <a:ext cx="8935085" cy="359664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54225" y="1633220"/>
            <a:ext cx="82042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实际开发中，经常需要做一些数据统计操作，例如统计某个字段的最大值、最小值、平均值等，像这样对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一组值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执行计算，并将计算后的值返回的操作称为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聚合操作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，聚合操作一般通过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实现查询的基本语法格式如下所示。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90445" y="3721100"/>
            <a:ext cx="7597775" cy="588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[字段名1,字段名2,…,字段名n}] 聚合函数 FROM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82795" y="1341755"/>
            <a:ext cx="33559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MySQL常用的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62480" y="2205355"/>
          <a:ext cx="8491855" cy="35648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7900"/>
                <a:gridCol w="6243955"/>
              </a:tblGrid>
              <a:tr h="509270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函数声明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COUNT(e)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比较运算符左右两侧的操作数是否相等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SUM(e)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比较运算符左右两侧的操作数是否不相等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AVG(e)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比较运算符左右两侧的操作数是否不相等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MAX(e)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比较运算符左侧操作数是否小于右侧操作数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MIN(e)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比较运算符左侧操作数是否小于等于右侧操作数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143635" y="1184910"/>
            <a:ext cx="10307320" cy="1262828"/>
            <a:chOff x="9608" y="2661"/>
            <a:chExt cx="6723" cy="1742"/>
          </a:xfrm>
        </p:grpSpPr>
        <p:sp>
          <p:nvSpPr>
            <p:cNvPr id="12" name="TextBox 35"/>
            <p:cNvSpPr txBox="1"/>
            <p:nvPr/>
          </p:nvSpPr>
          <p:spPr>
            <a:xfrm>
              <a:off x="9608" y="3258"/>
              <a:ext cx="6723" cy="1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COUNT()函数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用于检索数据表行中的值的计数，COUNT(*)可以统计数据表中记录的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总条数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，即数据表中有多少行记录。COUNT()函数中的参数，除了可以使用*号，还可以使用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字段的名称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12" y="2661"/>
              <a:ext cx="2427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13765"/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</a:t>
              </a:r>
              <a:r>
                <a:rPr lang="en-US" altLang="zh-CN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）COUNT()函数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流程图: 过程 24"/>
          <p:cNvSpPr/>
          <p:nvPr/>
        </p:nvSpPr>
        <p:spPr>
          <a:xfrm>
            <a:off x="1374775" y="2794635"/>
            <a:ext cx="9436735" cy="33299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734820" y="295719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例如，查询员工表中有多少个员工的记录。在查询时可以使用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COUNT()函数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进行统计，具体SQL语句如下所示。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734820" y="3837940"/>
            <a:ext cx="7842250" cy="408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COUNT(*)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71650" y="4720590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例如，查询员工表中，奖金不为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的员工个数，具体SQL语句如下所示。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847215" y="551307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COUNT(COMM)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143635" y="1315720"/>
            <a:ext cx="10195560" cy="1338206"/>
            <a:chOff x="9608" y="5025"/>
            <a:chExt cx="6650" cy="1077"/>
          </a:xfrm>
        </p:grpSpPr>
        <p:sp>
          <p:nvSpPr>
            <p:cNvPr id="14" name="TextBox 35"/>
            <p:cNvSpPr txBox="1"/>
            <p:nvPr/>
          </p:nvSpPr>
          <p:spPr>
            <a:xfrm>
              <a:off x="9608" y="5434"/>
              <a:ext cx="6650" cy="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如果字段中存放的是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数值型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数据，需要统计该字段中所有值的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总数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，可以使用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SUM()函数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。SUM()函数会对指定字段中的值进行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累加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，并且在数据累加时忽略字段中的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NULL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值。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12" y="5025"/>
              <a:ext cx="2837" cy="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2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）SUM()函数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274445" y="2920365"/>
            <a:ext cx="9436735" cy="17335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44930" y="304165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例如，查询员工表中员工奖金的总和。可以在查询时使用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SUM()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函数进行统计，具体SQL语句如下所示。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16685" y="4011295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SUM(COMM)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311910" y="959075"/>
            <a:ext cx="10175629" cy="1207740"/>
            <a:chOff x="9608" y="7629"/>
            <a:chExt cx="6637" cy="972"/>
          </a:xfrm>
        </p:grpSpPr>
        <p:sp>
          <p:nvSpPr>
            <p:cNvPr id="16" name="TextBox 35"/>
            <p:cNvSpPr txBox="1"/>
            <p:nvPr/>
          </p:nvSpPr>
          <p:spPr>
            <a:xfrm>
              <a:off x="9608" y="7933"/>
              <a:ext cx="6637" cy="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如果字段中存放的是数值型数据，需要统计该字段中所有值的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平均值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，可以使用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AVG()函数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。AVG()函数会计算指定字段值的平均值，并且计算时会忽略字段中的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NULL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值。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612" y="7629"/>
              <a:ext cx="2427" cy="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3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）AVG()函数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9850" y="2480310"/>
            <a:ext cx="9440545" cy="3922395"/>
            <a:chOff x="2514" y="1982"/>
            <a:chExt cx="14867" cy="6177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1982"/>
              <a:ext cx="14861" cy="6177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1" y="2227"/>
              <a:ext cx="1430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例如，查询员工表中员工的平均奖金。查询时可以使用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AVG()函数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进行统计，具体SQL语句如下所示。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1" y="3475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mysql&gt; SELECT AVG(COMM) FROM emp;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775460" y="4291965"/>
            <a:ext cx="9080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例如，查询所有员工的平均奖金。查询时可以调用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AVG()函数和IFNULL()函数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进行统计，先调用IFNULL()函数将COMM字段中所有的NULL值转换为0，再调用AVG()函数统计平均值，具体SQL语句如下所示。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850" y="566674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AVG(IFNULL(COMM,0))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1042670" y="985520"/>
            <a:ext cx="9888220" cy="3736442"/>
            <a:chOff x="6128" y="3247"/>
            <a:chExt cx="11086" cy="3517"/>
          </a:xfrm>
        </p:grpSpPr>
        <p:sp>
          <p:nvSpPr>
            <p:cNvPr id="14" name="TextBox 35"/>
            <p:cNvSpPr txBox="1"/>
            <p:nvPr/>
          </p:nvSpPr>
          <p:spPr>
            <a:xfrm>
              <a:off x="6128" y="3769"/>
              <a:ext cx="11086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MAX()函数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用于计算指定字段中的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最大值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，如果字段的值是数值类型，则比较的是值的大小。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09" y="3247"/>
              <a:ext cx="4990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4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）MAX()函数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309" y="5878"/>
              <a:ext cx="4990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（</a:t>
              </a:r>
              <a:r>
                <a:rPr lang="en-US" altLang="zh-CN" dirty="0">
                  <a:solidFill>
                    <a:srgbClr val="595959"/>
                  </a:solidFill>
                  <a:sym typeface="+mn-ea"/>
                </a:rPr>
                <a:t>5</a:t>
              </a:r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）MIN()函数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7" name="TextBox 35"/>
            <p:cNvSpPr txBox="1"/>
            <p:nvPr/>
          </p:nvSpPr>
          <p:spPr>
            <a:xfrm>
              <a:off x="6128" y="6331"/>
              <a:ext cx="11086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MIN()函数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用于计算指定字段中的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最小值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，如果字段的值是数值类型，则比较的是值的大小。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聚合函数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1555115" y="2026285"/>
            <a:ext cx="9436735" cy="14954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15160" y="2026285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例如，查询员工表中最高的工资。查询时可以使用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MAX()函数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进行计算，具体SQL语句如下所示。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15160" y="2973705"/>
            <a:ext cx="7842250" cy="429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MAX(sal)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7" name="流程图: 过程 16"/>
          <p:cNvSpPr/>
          <p:nvPr/>
        </p:nvSpPr>
        <p:spPr>
          <a:xfrm>
            <a:off x="1558925" y="4831080"/>
            <a:ext cx="9436735" cy="14954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986915" y="4872990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例如，查询员工表中最低的工资。查询时可以使用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MIN()函数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进行计算，具体SQL语句如下所示。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62480" y="580263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MIN(sal) FROM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66670" y="2205355"/>
            <a:ext cx="7416800" cy="221551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063" y="3995"/>
              <a:ext cx="9895" cy="2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在对数据表中数据进行统计时，有时需要按照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一定的类别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进行统计，例如，财务在统计每个部门的工资总数时，属于同一个部门的所有员工就是一个分组。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724025" y="1560195"/>
            <a:ext cx="8563610" cy="359664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27885" y="1848485"/>
            <a:ext cx="78644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在MySQL中，可以使用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 BY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根据指定的字段对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结果集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，如果某些记录的指定字段具有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相同的值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，那么分组后被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为一条数据。使用GROUP BY分组查询的语法格式如下所示。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53310" y="3540760"/>
            <a:ext cx="7283450" cy="984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字段名1,字段名2,[表达式]…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GROUP BY 字段名1，字段名2，…[HAVING 条件表达式];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061085" y="931545"/>
            <a:ext cx="10664190" cy="966300"/>
            <a:chOff x="9828" y="2603"/>
            <a:chExt cx="6723" cy="1459"/>
          </a:xfrm>
        </p:grpSpPr>
        <p:sp>
          <p:nvSpPr>
            <p:cNvPr id="12" name="TextBox 35"/>
            <p:cNvSpPr txBox="1"/>
            <p:nvPr/>
          </p:nvSpPr>
          <p:spPr>
            <a:xfrm>
              <a:off x="9828" y="3227"/>
              <a:ext cx="6723" cy="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单独使用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GROUP BY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进行分组，将根据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指定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的字段合并数据行。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959" y="2603"/>
              <a:ext cx="3006" cy="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13765"/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单独使用GROUP BY分组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35"/>
          <p:cNvSpPr txBox="1"/>
          <p:nvPr/>
        </p:nvSpPr>
        <p:spPr>
          <a:xfrm>
            <a:off x="1033369" y="4204116"/>
            <a:ext cx="10548396" cy="55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如果分组查询时要进行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统计汇总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rPr>
              <a:t>，此时需要将GROUP BY和聚合函数一起使用。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5370" y="3761036"/>
            <a:ext cx="6419452" cy="46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913765">
              <a:defRPr b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595959"/>
                </a:solidFill>
                <a:sym typeface="+mn-ea"/>
              </a:rPr>
              <a:t>GROUP BY和聚合函数一起使用</a:t>
            </a:r>
            <a:endParaRPr lang="zh-CN" altLang="en-US" dirty="0">
              <a:solidFill>
                <a:srgbClr val="595959"/>
              </a:solidFill>
              <a:sym typeface="+mn-ea"/>
            </a:endParaRPr>
          </a:p>
        </p:txBody>
      </p:sp>
      <p:sp>
        <p:nvSpPr>
          <p:cNvPr id="20" name="流程图: 过程 19"/>
          <p:cNvSpPr/>
          <p:nvPr/>
        </p:nvSpPr>
        <p:spPr>
          <a:xfrm>
            <a:off x="1268730" y="2018030"/>
            <a:ext cx="9436735" cy="13042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412875" y="2132330"/>
            <a:ext cx="9080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例如，查询员工表的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编号有哪几种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560830" y="270891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deptno FROM emp GROUP BY 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3" name="流程图: 过程 22"/>
          <p:cNvSpPr/>
          <p:nvPr/>
        </p:nvSpPr>
        <p:spPr>
          <a:xfrm>
            <a:off x="1252220" y="4871720"/>
            <a:ext cx="9436735" cy="1528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12875" y="4791075"/>
            <a:ext cx="89833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例如，统计员工表各部门的薪资总和或平均薪资，可以使用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 BY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聚合函数AVG()、SUM()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进行统计，具体SQL语句如下。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89075" y="572770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deptno,AVG(sal),SUM(sal) FROM emp GROUP BY 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129293" y="1747144"/>
            <a:ext cx="10527775" cy="1057036"/>
            <a:chOff x="9871" y="6543"/>
            <a:chExt cx="6637" cy="1596"/>
          </a:xfrm>
        </p:grpSpPr>
        <p:sp>
          <p:nvSpPr>
            <p:cNvPr id="16" name="TextBox 35"/>
            <p:cNvSpPr txBox="1"/>
            <p:nvPr/>
          </p:nvSpPr>
          <p:spPr>
            <a:xfrm>
              <a:off x="9871" y="7304"/>
              <a:ext cx="6637" cy="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通常情况下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GROUP BY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HAVING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关键字一起使用，用于对分组后的结果进行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条件过滤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920" y="6543"/>
              <a:ext cx="4789" cy="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GROUP BY和HAVING关键字一起使用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</p:grpSp>
      <p:sp>
        <p:nvSpPr>
          <p:cNvPr id="6" name="1"/>
          <p:cNvSpPr txBox="1"/>
          <p:nvPr>
            <p:custDataLst>
              <p:tags r:id="rId1"/>
            </p:custDataLst>
          </p:nvPr>
        </p:nvSpPr>
        <p:spPr>
          <a:xfrm>
            <a:off x="1061085" y="909955"/>
            <a:ext cx="188277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分组查询</a:t>
            </a:r>
            <a:endParaRPr lang="zh-CN" altLang="en-US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分组查询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流程图: 过程 22"/>
          <p:cNvSpPr/>
          <p:nvPr/>
        </p:nvSpPr>
        <p:spPr>
          <a:xfrm>
            <a:off x="1252220" y="3149600"/>
            <a:ext cx="9436735" cy="1528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89075" y="3218180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例如，查询员工表中平均工资小于3000的部门编号及这些部门的平均工资。查询时可以使用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 BY和HAVING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进行统计，具体SQL语句如下所示。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73175" y="4082415"/>
            <a:ext cx="8928735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deptno,AVG(sal) FROM emp GROUP BY deptno HAVING AVG(sal)&lt;3000;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584325" y="1775460"/>
            <a:ext cx="9171940" cy="40576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05965" y="2063750"/>
            <a:ext cx="842200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对数据表的数据进行查询时，可能查询出来的数据是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，或者其排列顺序不是用户期望的。如果想要对查询结果按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指定的方式排序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 BY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对查询结果进行排序。查询语句中使用ORDER BY的基本语法格式如下所示。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45360" y="3936365"/>
            <a:ext cx="7799705" cy="842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*|{ 字段名1,字段名2,…}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ORDER BY 字段名1 [ASC | DESC]，字段名2 [ASC | DESC]…;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245360" y="4991735"/>
            <a:ext cx="654367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参数ASC表示按照升序进行排序，DESC表示按照降序进行排序。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TextBox 38"/>
          <p:cNvSpPr txBox="1"/>
          <p:nvPr/>
        </p:nvSpPr>
        <p:spPr>
          <a:xfrm>
            <a:off x="1646555" y="1283335"/>
            <a:ext cx="900112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使用ORDER BY对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进行排序时，如果不指定排序方式，默认按照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ASC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方式进行排序。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26870" y="2408555"/>
            <a:ext cx="9440545" cy="3521710"/>
            <a:chOff x="2514" y="1982"/>
            <a:chExt cx="14867" cy="5546"/>
          </a:xfrm>
        </p:grpSpPr>
        <p:sp>
          <p:nvSpPr>
            <p:cNvPr id="7" name="流程图: 过程 6"/>
            <p:cNvSpPr/>
            <p:nvPr/>
          </p:nvSpPr>
          <p:spPr>
            <a:xfrm>
              <a:off x="2514" y="1982"/>
              <a:ext cx="14861" cy="5546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081" y="2227"/>
              <a:ext cx="1430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例如，查询员工表中，部门编号为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的员工信息，查询出的结果根据员工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工资升序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排列，具体SQL语句如下所示。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081" y="3814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* from emp WHERE deptno=30 ORDER BY sal;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062480" y="414845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查询员工表中，部门编号为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的员工信息，查询出的结果根据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工资降序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1360" y="515620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deptno=30 ORDER BY sal DESC;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TextBox 38"/>
          <p:cNvSpPr txBox="1"/>
          <p:nvPr/>
        </p:nvSpPr>
        <p:spPr>
          <a:xfrm>
            <a:off x="1861820" y="1139825"/>
            <a:ext cx="900112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使用ORDER BY按照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指定字段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进行排序时，如果字段的值中包含NULL，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NULL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会被当做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最小值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进行排序。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55115" y="2098040"/>
            <a:ext cx="9440545" cy="4324985"/>
            <a:chOff x="2514" y="1982"/>
            <a:chExt cx="14867" cy="5546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1982"/>
              <a:ext cx="14861" cy="5546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1" y="2137"/>
              <a:ext cx="14300" cy="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例如，查询员工表中，部门编号为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的员工信息，并且根据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奖金升序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1" y="3401"/>
              <a:ext cx="12350" cy="37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mysql&gt; SELECT * from emp WHERE deptno=30 ORDER BY comm;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+-------+--------+------+------+---------+---------+--------+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empno | ename  | job  | mgr  | sal     | comm    | deptno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+-------+--------+------+------+---------+---------+--------+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 9900 | 萧十一 | 保洁 | 9698 | 1050.00 |    NULL |     30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 9844 | 郑十   | 销售 | 9698 | 2500.00 |    0.00 |     30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 9499 | 孙七   | 销售 | 9698 | 2600.00 |  300.00 |     30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 9521 | 周八   | 销售 | 9698 | 2250.00 |  500.00 |     30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|  9654 | 吴九   | 销售 | 9698 | 2250.00 | 1400.00 |     30 |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+-------+--------+------+------+---------+---------+--------+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5 rows in set (0.00 sec)</a:t>
              </a:r>
              <a:endPara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TextBox 38"/>
          <p:cNvSpPr txBox="1"/>
          <p:nvPr/>
        </p:nvSpPr>
        <p:spPr>
          <a:xfrm>
            <a:off x="1790065" y="996315"/>
            <a:ext cx="900112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ORDER BY可以对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多个字段的值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进行排序，并且每个排序字段可以有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不同的排序顺序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626870" y="2121535"/>
            <a:ext cx="9436735" cy="40894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62480" y="2282825"/>
            <a:ext cx="9080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例如，查询员工表中，部门编号为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的所有记录，查询出的记录先按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职位升序排序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，职位相同的记录再按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员工编号降序排序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34870" y="3290570"/>
            <a:ext cx="7842250" cy="2801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deptno=30 ORDER BY job,empno DESC;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 | job  | mgr  | sal     | comm   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9900 | 萧十一 | 保洁 | 9698 | 1050.00 |    NULL |     30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9844 | 郑十   | 销售 | 9698 | 2500.00 |    0.00 |     30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9654 | 吴九   | 销售 | 9698 | 2250.00 | 1400.00 |     30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9521 | 周八   | 销售 | 9698 | 2250.00 |  500.00 |     30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9499 | 孙七   | 销售 | 9698 | 2600.00 |  300.00 |     30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限量查询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847850" y="1440815"/>
            <a:ext cx="8657590" cy="378777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72030" y="1631950"/>
            <a:ext cx="7949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查询数据时，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语句可能会返回很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记录，而用户需要的记录可能只是其中的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，MySQL中提供了一个关键字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，可以指定查询结果从哪一条记录开始以及一共查询多少条信息，在SELECT语句中使用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70150" y="4008120"/>
            <a:ext cx="7361555" cy="842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字段名1,字段名2,…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FROM 数据表名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LIMIT [OFFSET，] 记录数;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414780" y="1621790"/>
            <a:ext cx="9897110" cy="3505263"/>
            <a:chOff x="1809" y="2527"/>
            <a:chExt cx="15586" cy="3118"/>
          </a:xfrm>
        </p:grpSpPr>
        <p:sp>
          <p:nvSpPr>
            <p:cNvPr id="3" name="圆角矩形 2"/>
            <p:cNvSpPr/>
            <p:nvPr/>
          </p:nvSpPr>
          <p:spPr>
            <a:xfrm>
              <a:off x="1888" y="2621"/>
              <a:ext cx="15424" cy="2930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514" y="2920"/>
              <a:ext cx="14175" cy="22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just">
                <a:lnSpc>
                  <a:spcPct val="12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在上面的语法格式中，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LIMIT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后面可以跟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个参数，第一个参数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OFFSET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为可选值，表示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偏移量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，如果偏移量为0则从查询结果的第一条记录开始，偏移量为1则从查询结果中的第二条记录开始，以此类推，如果不指定OFFSET的值，其默认值为0。第二个参数“记录数”表示返回查询记录的条数。</a:t>
              </a:r>
              <a:endPara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just">
                <a:lnSpc>
                  <a:spcPct val="120000"/>
                </a:lnSpc>
              </a:pPr>
              <a:endPara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just">
                <a:lnSpc>
                  <a:spcPct val="120000"/>
                </a:lnSpc>
              </a:pP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除了指定查询记录数，LIMIT还可以通过指定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OFFSET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的值，指定查询的</a:t>
              </a:r>
              <a:r>
                <a:rPr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偏移量</a:t>
              </a:r>
              <a:r>
                <a:rPr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，也就是查询时跳过几条记录。</a:t>
              </a:r>
              <a:endPara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0" name="矩形 93"/>
            <p:cNvSpPr/>
            <p:nvPr/>
          </p:nvSpPr>
          <p:spPr>
            <a:xfrm>
              <a:off x="1809" y="2527"/>
              <a:ext cx="605" cy="605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1" name="矩形 93"/>
            <p:cNvSpPr/>
            <p:nvPr/>
          </p:nvSpPr>
          <p:spPr>
            <a:xfrm rot="10800000">
              <a:off x="16790" y="5040"/>
              <a:ext cx="605" cy="605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限量查询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26870" y="1834515"/>
            <a:ext cx="9440545" cy="3521710"/>
            <a:chOff x="2514" y="1982"/>
            <a:chExt cx="14867" cy="5546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1982"/>
              <a:ext cx="14861" cy="5546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1" y="2227"/>
              <a:ext cx="1430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例如，查询员工表中，工资最高的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前5名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的员工信息，查询时可以使用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LIMIT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进行限量，具体SQL语句如下所示。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1" y="3814"/>
              <a:ext cx="12350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SELECT * FROM emp ORDER BY sal DESC LIMIT 5;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83105" y="3858260"/>
            <a:ext cx="8879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例如，查询员工表中，工资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前2~5名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62480" y="4582160"/>
            <a:ext cx="7842250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ORDER BY sal DESC LIMIT 1,4;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4.4.4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限量查询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558290" y="1631950"/>
            <a:ext cx="9487535" cy="359664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81835" y="2279015"/>
            <a:ext cx="87115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为了提高用户对数据库和数据的管理和操作效率，MySQL提供了大量的内置函数供开发者使用。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也可以用称为系统函数，无需开发者定义，直接调用即可。这些内容函数从功能方面划分，可以分为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条件判断函数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加密函数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等。由于MySQL内置函数数量较多，不可能进行一一讲解，接下来对其中一些常用的函数进行说明，具体如下表所示。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82795" y="119824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15465" y="1850390"/>
          <a:ext cx="8464550" cy="4137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125"/>
                <a:gridCol w="6448425"/>
              </a:tblGrid>
              <a:tr h="459740">
                <a:tc>
                  <a:txBody>
                    <a:bodyPr/>
                    <a:p>
                      <a:pPr indent="2667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函数声明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ABS(x)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返回x的绝对值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SQRT(x)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返回x的非负2次方根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MOD(x,y)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返回x被y除后的余数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CEILING(x)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返回不小于x的最小整数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FLOOR(x)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返回不大于x的最大整数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ROUND(x,y)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对x进行四舍五入操作，小数点后保留y位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TRUNCATE(x,y)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舍去x中小数点y位后面的的数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SIGN(x)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返回x的符号，x的值为负数、零和正数时依次返回 -1、0和1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177800" marR="177800" marT="107950" marB="107950" vert="horz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82795" y="1341755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64665" y="2205355"/>
          <a:ext cx="8789670" cy="4074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19985"/>
                <a:gridCol w="6369685"/>
              </a:tblGrid>
              <a:tr h="509270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函数声明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LENGTH(str)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返回字符串str的长度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CONCAT(s1,s2,…)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返回一个或者多个字符串连接产生的新的字符串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TRIM(str)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删除字符串两侧的空格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REPLACE(str,s1,s2)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使用字符串s2替换字符串str中所有的字符串s1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SUBSTRING(str,n,len)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返回字符串str的子串，起始位置为n，长度为len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REVERSE(str)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返回字符串反转后的结果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LOCATE(s1,str)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返回子串s1在字符串str中的起始位置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3070860" y="2061210"/>
            <a:ext cx="6047740" cy="3096260"/>
            <a:chOff x="4382" y="3246"/>
            <a:chExt cx="9524" cy="4876"/>
          </a:xfrm>
        </p:grpSpPr>
        <p:sp>
          <p:nvSpPr>
            <p:cNvPr id="4" name="文本框 3"/>
            <p:cNvSpPr txBox="1"/>
            <p:nvPr/>
          </p:nvSpPr>
          <p:spPr>
            <a:xfrm>
              <a:off x="4949" y="4720"/>
              <a:ext cx="638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执行CONCAT()函数会返回函数参数连接之后的字符串。如执行CONCAT('a','_'，'b')，会返回字符串'a_b'。</a:t>
              </a:r>
              <a:endPara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流程图: 过程 4"/>
            <p:cNvSpPr/>
            <p:nvPr/>
          </p:nvSpPr>
          <p:spPr>
            <a:xfrm>
              <a:off x="4382" y="3814"/>
              <a:ext cx="9525" cy="430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上凸带形 5"/>
            <p:cNvSpPr/>
            <p:nvPr/>
          </p:nvSpPr>
          <p:spPr>
            <a:xfrm>
              <a:off x="5949" y="3359"/>
              <a:ext cx="6236" cy="794"/>
            </a:xfrm>
            <a:prstGeom prst="ribbon2">
              <a:avLst/>
            </a:prstGeom>
            <a:solidFill>
              <a:srgbClr val="1369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436" y="4831"/>
              <a:ext cx="7507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。如执行CONCAT('a','_'，'b')，会返回字符串'a_b'。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1"/>
            <p:cNvSpPr txBox="1"/>
            <p:nvPr>
              <p:custDataLst>
                <p:tags r:id="rId1"/>
              </p:custDataLst>
            </p:nvPr>
          </p:nvSpPr>
          <p:spPr>
            <a:xfrm>
              <a:off x="7662" y="3246"/>
              <a:ext cx="2965" cy="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CONCAT()</a:t>
              </a:r>
              <a:r>
                <a:rPr lang="zh-CN" altLang="en-US" sz="1800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函数</a:t>
              </a:r>
              <a:endParaRPr lang="zh-CN" altLang="en-US" sz="18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82345" y="909955"/>
            <a:ext cx="2040890" cy="676275"/>
            <a:chOff x="1547" y="1432"/>
            <a:chExt cx="4780" cy="1065"/>
          </a:xfrm>
        </p:grpSpPr>
        <p:sp>
          <p:nvSpPr>
            <p:cNvPr id="12" name="五边形 11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13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内置函数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626870" y="1547495"/>
            <a:ext cx="9440545" cy="3971925"/>
            <a:chOff x="2514" y="1982"/>
            <a:chExt cx="14867" cy="6255"/>
          </a:xfrm>
        </p:grpSpPr>
        <p:sp>
          <p:nvSpPr>
            <p:cNvPr id="5" name="流程图: 过程 4"/>
            <p:cNvSpPr/>
            <p:nvPr/>
          </p:nvSpPr>
          <p:spPr>
            <a:xfrm>
              <a:off x="2514" y="1982"/>
              <a:ext cx="14861" cy="6255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81" y="2227"/>
              <a:ext cx="14300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例如，查询员工信息时，将部门编号为30的员工姓名、员工职位及员工所属部门编号的信息，在一列中显示，各个字段值之间使用下画线“_”进行连接。此时就可以使用</a:t>
              </a: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CONCAT()函数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进行实现，具体SQL语句如下所示。</a:t>
              </a:r>
              <a:endPara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01" y="4135"/>
              <a:ext cx="13666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SELECT CONCAT(ename,'_',job,'_',deptno) FROM emp WHERE deptno=30;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062480" y="3634740"/>
            <a:ext cx="8879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例如，查询员工信息时，将部门编号为30的员工姓名、员工奖金及员工部门编号的信息在一列中显示，各个字段值之间使用下画线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“_”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进行连接，具体SQL语句如下所示。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63115" y="4727575"/>
            <a:ext cx="8564245" cy="46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CONCAT(ename,'_',comm,'_',deptno) FROM emp WHERE deptno=30;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82795" y="105473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条件判断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64665" y="1918335"/>
          <a:ext cx="8789670" cy="4074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142615"/>
                <a:gridCol w="5647055"/>
              </a:tblGrid>
              <a:tr h="509270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函数声明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IF(expr,v1,v2)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如果expr表达式为true返回v1，否则返回v2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IFNULL(v1,v2)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如果v1不为NULL返回v1，否则返回v2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546350"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expression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WHEN c1 THEN result1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WHEN c2 THEN result2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...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WHEN cN THEN resultN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ELSE result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END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CASE表示函数开始，END表示函数结束。如果 c1成立，则返回result1；如果c2成立，则返回result2，当全部不成立则返回 result。在执行过程中，当有一个条件成立之后，后面的就不执行了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02815" y="1920875"/>
            <a:ext cx="49263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执行CONCAT()函数会返回函数参数连接之后的字符串。如执行CONCAT('a','_'，'b')，会返回字符串'a_b'。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765300" y="1345565"/>
            <a:ext cx="7353935" cy="177419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上凸带形 5"/>
          <p:cNvSpPr/>
          <p:nvPr/>
        </p:nvSpPr>
        <p:spPr>
          <a:xfrm>
            <a:off x="2974975" y="1056640"/>
            <a:ext cx="4814570" cy="504190"/>
          </a:xfrm>
          <a:prstGeom prst="ribbon2">
            <a:avLst/>
          </a:prstGeom>
          <a:solidFill>
            <a:srgbClr val="1369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78355" y="1776095"/>
            <a:ext cx="66262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IF()函数有3个参数，具体格式为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IF(expr,v1,v2)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，如果表达式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成立，返回结果v1；否则，返回结果v2。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1"/>
          <p:cNvSpPr txBox="1"/>
          <p:nvPr>
            <p:custDataLst>
              <p:tags r:id="rId1"/>
            </p:custDataLst>
          </p:nvPr>
        </p:nvSpPr>
        <p:spPr>
          <a:xfrm>
            <a:off x="4741545" y="913130"/>
            <a:ext cx="2289175" cy="553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IF()</a:t>
            </a:r>
            <a:r>
              <a:rPr lang="zh-CN" altLang="en-US" sz="20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</a:t>
            </a:r>
            <a:endParaRPr lang="zh-CN" altLang="en-US" sz="2000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内置函数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77950" y="3778885"/>
            <a:ext cx="9993630" cy="2600960"/>
            <a:chOff x="2122" y="2132"/>
            <a:chExt cx="15738" cy="5175"/>
          </a:xfrm>
        </p:grpSpPr>
        <p:sp>
          <p:nvSpPr>
            <p:cNvPr id="3" name="流程图: 过程 2"/>
            <p:cNvSpPr/>
            <p:nvPr/>
          </p:nvSpPr>
          <p:spPr>
            <a:xfrm>
              <a:off x="2122" y="2132"/>
              <a:ext cx="15738" cy="5175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860" y="2290"/>
              <a:ext cx="14300" cy="2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例如，查询员工表中，部门编号为30的员工姓名、员工奖金及员工部门编号的信息；如果奖金为NULL，返回“无奖金”。查询时可以使用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IF()函数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对奖金进行判断，具体SQL语句如下所示。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505" y="5629"/>
              <a:ext cx="14972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SELECT ename,IF(ISNULL(comm),'无奖金',comm),deptno FROM emp WHERE deptno=30;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别名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66670" y="2205355"/>
            <a:ext cx="7416800" cy="235902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17" y="4020"/>
              <a:ext cx="8993" cy="2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查询数据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时，可以为数据表和字段取别名，可以使用这个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别名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代替原来的数据表名和字段名。本节将分别讲解如何为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字段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设置别名。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为数据表设置别名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为数据表设置别名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2639060" y="1343660"/>
            <a:ext cx="7233285" cy="267525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92755" y="1357630"/>
            <a:ext cx="66421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查询操作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时，当数据表名很长或者执行一些特殊查询的时候，为了方便操作，可以为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取一个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，用这个别名代替数据表的名称。MySQL中为数据表起别名的基本语法格式如下所示。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019425" y="3359785"/>
            <a:ext cx="6151245" cy="492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数据表名 [AS] 别名;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39595" y="4493895"/>
            <a:ext cx="8702366" cy="1082167"/>
            <a:chOff x="3702" y="7433"/>
            <a:chExt cx="12188" cy="1827"/>
          </a:xfrm>
        </p:grpSpPr>
        <p:sp>
          <p:nvSpPr>
            <p:cNvPr id="8" name="流程图: 过程 7"/>
            <p:cNvSpPr/>
            <p:nvPr/>
          </p:nvSpPr>
          <p:spPr>
            <a:xfrm>
              <a:off x="5063" y="7433"/>
              <a:ext cx="10827" cy="1827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30" y="7862"/>
              <a:ext cx="9876" cy="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在上面的语法格式中，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为可选项，用于指定数据表的别名。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702" y="7609"/>
              <a:ext cx="2517" cy="1474"/>
              <a:chOff x="1801" y="7669"/>
              <a:chExt cx="2517" cy="1474"/>
            </a:xfrm>
          </p:grpSpPr>
          <p:sp>
            <p:nvSpPr>
              <p:cNvPr id="10" name="七角星 9"/>
              <p:cNvSpPr/>
              <p:nvPr/>
            </p:nvSpPr>
            <p:spPr>
              <a:xfrm>
                <a:off x="1801" y="7669"/>
                <a:ext cx="2042" cy="1474"/>
              </a:xfrm>
              <a:prstGeom prst="star7">
                <a:avLst/>
              </a:prstGeom>
              <a:solidFill>
                <a:srgbClr val="1369B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242" y="7767"/>
                <a:ext cx="2076" cy="1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marL="0" marR="0" lvl="0" indent="0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提示</a:t>
                </a:r>
                <a:endPara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377950" y="1714500"/>
            <a:ext cx="9993630" cy="2886075"/>
            <a:chOff x="2122" y="2132"/>
            <a:chExt cx="15738" cy="4545"/>
          </a:xfrm>
        </p:grpSpPr>
        <p:sp>
          <p:nvSpPr>
            <p:cNvPr id="5" name="流程图: 过程 4"/>
            <p:cNvSpPr/>
            <p:nvPr/>
          </p:nvSpPr>
          <p:spPr>
            <a:xfrm>
              <a:off x="2122" y="2132"/>
              <a:ext cx="15738" cy="4545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860" y="2794"/>
              <a:ext cx="14300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例如，查询员工信息时，为emp数据表起一个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别名e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，并且使用别名e查询部门编号为30的员工信息，具体SQL语句如下所示。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87" y="4835"/>
              <a:ext cx="14503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* FROM emp e WHERE e.deptno=30;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为数据表设置别名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为字段设置别名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2638425" y="1289685"/>
            <a:ext cx="7233285" cy="27241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34335" y="1631315"/>
            <a:ext cx="66421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在前面的查询操作中，每条记录中的列名都是定义表时的字段名，有时为了将查询结果更加直观的显示，可以为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查询的字段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取一个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语句中为字段起别名的基本语法格式如下所示。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56585" y="3071495"/>
            <a:ext cx="6151245" cy="588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字段名 [AS] 别名[,字段名 [AS] 别名,……] FROM 数据表名;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26005" y="4511675"/>
            <a:ext cx="7537450" cy="1031240"/>
            <a:chOff x="3702" y="7433"/>
            <a:chExt cx="11557" cy="1827"/>
          </a:xfrm>
        </p:grpSpPr>
        <p:sp>
          <p:nvSpPr>
            <p:cNvPr id="8" name="流程图: 过程 7"/>
            <p:cNvSpPr/>
            <p:nvPr/>
          </p:nvSpPr>
          <p:spPr>
            <a:xfrm>
              <a:off x="5063" y="7433"/>
              <a:ext cx="10196" cy="1827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728" y="7896"/>
              <a:ext cx="8831" cy="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上面的语法格式中，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AS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为可选项，用于指定字段的别名。</a:t>
              </a:r>
              <a:endPara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702" y="7609"/>
              <a:ext cx="2503" cy="1474"/>
              <a:chOff x="1801" y="7669"/>
              <a:chExt cx="2503" cy="1474"/>
            </a:xfrm>
          </p:grpSpPr>
          <p:sp>
            <p:nvSpPr>
              <p:cNvPr id="10" name="七角星 9"/>
              <p:cNvSpPr/>
              <p:nvPr/>
            </p:nvSpPr>
            <p:spPr>
              <a:xfrm>
                <a:off x="1801" y="7669"/>
                <a:ext cx="2042" cy="1474"/>
              </a:xfrm>
              <a:prstGeom prst="star7">
                <a:avLst/>
              </a:prstGeom>
              <a:solidFill>
                <a:srgbClr val="1369B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228" y="7839"/>
                <a:ext cx="2076" cy="1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marL="0" marR="0" lvl="0" indent="0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提示</a:t>
                </a:r>
                <a:endPara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1377950" y="1570990"/>
            <a:ext cx="9993630" cy="3609975"/>
            <a:chOff x="2122" y="2132"/>
            <a:chExt cx="15738" cy="5685"/>
          </a:xfrm>
        </p:grpSpPr>
        <p:sp>
          <p:nvSpPr>
            <p:cNvPr id="5" name="流程图: 过程 4"/>
            <p:cNvSpPr/>
            <p:nvPr/>
          </p:nvSpPr>
          <p:spPr>
            <a:xfrm>
              <a:off x="2122" y="2132"/>
              <a:ext cx="15738" cy="5685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860" y="2794"/>
              <a:ext cx="14300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例如，查询员工表中，部门编号为30的员工姓名、员工奖金及员工部门编号的信息，查询结果返回时，将字段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ename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的名称设置别名“姓名”，字段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comm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的名称设置别名“奖金”，字段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deptno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的名称设置别名“部门编号”，具体SQL语句及执行结果如下所示。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4" y="6196"/>
              <a:ext cx="14992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>
                <a:defRPr/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SELECT ename AS '姓名', comm '奖金',deptno '部门编号' FROM emp WHERE deptno=30;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为字段设置别名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594100" y="3014345"/>
            <a:ext cx="8482965" cy="70675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图书管理系统的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单表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查询</a:t>
            </a:r>
            <a:endParaRPr lang="zh-CN" altLang="en-US" sz="4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indent="0" algn="l" fontAlgn="auto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2735" y="98361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查询可借阅图书清单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。查询当前书店中可借阅图书清单，清单中只显示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上架时间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6225" y="369379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根据图书名称排序查询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。根据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升序排序图书信息，图书信息只需显示查询结果的前5条的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608455" y="190563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5925" y="192341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查询图书表中状态为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upload_time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15160" y="2846070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indent="0" fontAlgn="auto"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name,upload_time FROM book WHERE state=0;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1591945" y="4687570"/>
            <a:ext cx="8716645" cy="1783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69415" y="4705350"/>
            <a:ext cx="852297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将图书表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中的信息根据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字段的值降序（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ASC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）排序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LIMIT控制返回的记录数，并且返回的记录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展示name和upload_time字段的信息，具体的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85925" y="5899785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indent="0" fontAlgn="auto"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name,price,state FROM book ORDER BY name ASC LIMIT 5;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7980" y="111061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根据图书价格查询，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价格大于50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6225" y="369379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根据图书区间价格查询，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查询当前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价格大于等于30并且小于等于50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608455" y="176212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5925" y="177990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字段的值大于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55140" y="2747645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 price FROM book WHERE price&gt;50;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1591945" y="461581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69415" y="463359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30~50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字段的信息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8950" y="5576570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 price FROM book WHERE price BETWEEN 30 AND 50;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62735" y="112712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根据借阅状态查询，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查询已借阅的图书信息，图书信息只需显示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借阅人编号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借阅时间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6225" y="398081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根据书名包含的关键字查询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。查询书店中名称包含“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608455" y="204914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5925" y="206692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的图书信息，并且只展示name、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borrower_id、borrow_time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字段的信息，具体的SQL语句如下所示。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6895" y="3044190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name,borrower_id,borrow_time FROM book WHERE state=1;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1520190" y="4831080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597660" y="4848860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模糊查询图书表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字段的值包含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的图书信息，并且只展示name字段的信息，具体的SQL语句如下所示。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84020" y="5761990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 FROM book WHERE name LIKE '%Java%';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2735" y="119888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根据书名结尾关键字查询，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查询以“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入门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”结尾的图书信息，图书信息只需显示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6225" y="3980815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根据多条件查询，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西游记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”或者“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红楼梦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536700" y="2120900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14170" y="2138680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模糊查询图书表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入门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”结尾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的图书信息，并且只展示name字段的信息，具体的SQL语句如下所示。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66240" y="3044190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 FROM book WHERE name LIKE '%入门';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520190" y="4902835"/>
            <a:ext cx="8716645" cy="16249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97660" y="492061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查询图书表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西游记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”或者“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红楼梦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的图书信息，并且只展示name好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字段的信息，具体的SQL语句如下所示。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58620" y="5846445"/>
            <a:ext cx="7842250" cy="45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name,price FROM book WHERE name IN('西游记','红楼梦') 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25955" y="1125220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单表查询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进行了详细讲解。首先介绍了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语句，其次讲解了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查询以及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查询，然后讲解了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高级查询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设置别名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，最后通过一个实践案例，让读者提高单表查询的动手能力。通过本章的学习，希望读者能够掌握单表查询的基本操作，为后续的学习打下坚实的基础。</a:t>
            </a: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43635" y="1485265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" grpI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7"/>
  <p:tag name="RESOURCELIBID_ANIM" val="450"/>
</p:tagLst>
</file>

<file path=ppt/tags/tag2.xml><?xml version="1.0" encoding="utf-8"?>
<p:tagLst xmlns:p="http://schemas.openxmlformats.org/presentationml/2006/main">
  <p:tag name="PA" val="v5.2.7"/>
  <p:tag name="RESOURCELIBID_ANIM" val="450"/>
</p:tagLst>
</file>

<file path=ppt/tags/tag3.xml><?xml version="1.0" encoding="utf-8"?>
<p:tagLst xmlns:p="http://schemas.openxmlformats.org/presentationml/2006/main">
  <p:tag name="KSO_WM_UNIT_TABLE_BEAUTIFY" val="smartTable{055480ef-9925-4468-b918-ca24ecdef3fe}"/>
  <p:tag name="TABLE_ENDDRAG_ORIGIN_RECT" val="668*362"/>
  <p:tag name="TABLE_ENDDRAG_RECT" val="151*223*668*362"/>
</p:tagLst>
</file>

<file path=ppt/tags/tag4.xml><?xml version="1.0" encoding="utf-8"?>
<p:tagLst xmlns:p="http://schemas.openxmlformats.org/presentationml/2006/main">
  <p:tag name="KSO_WM_UNIT_TABLE_BEAUTIFY" val="smartTable{055480ef-9925-4468-b918-ca24ecdef3fe}"/>
  <p:tag name="TABLE_ENDDRAG_ORIGIN_RECT" val="668*280"/>
  <p:tag name="TABLE_ENDDRAG_RECT" val="145*139*668*280"/>
</p:tagLst>
</file>

<file path=ppt/tags/tag5.xml><?xml version="1.0" encoding="utf-8"?>
<p:tagLst xmlns:p="http://schemas.openxmlformats.org/presentationml/2006/main">
  <p:tag name="KSO_WM_UNIT_TABLE_BEAUTIFY" val="smartTable{055480ef-9925-4468-b918-ca24ecdef3fe}"/>
  <p:tag name="TABLE_ENDDRAG_ORIGIN_RECT" val="668*280"/>
  <p:tag name="TABLE_ENDDRAG_RECT" val="145*139*668*280"/>
</p:tagLst>
</file>

<file path=ppt/tags/tag6.xml><?xml version="1.0" encoding="utf-8"?>
<p:tagLst xmlns:p="http://schemas.openxmlformats.org/presentationml/2006/main">
  <p:tag name="PA" val="v5.2.7"/>
  <p:tag name="RESOURCELIBID_ANIM" val="450"/>
</p:tagLst>
</file>

<file path=ppt/tags/tag7.xml><?xml version="1.0" encoding="utf-8"?>
<p:tagLst xmlns:p="http://schemas.openxmlformats.org/presentationml/2006/main">
  <p:tag name="KSO_WM_UNIT_TABLE_BEAUTIFY" val="smartTable{6437768f-ed71-4625-af35-b6b828e63018}"/>
</p:tagLst>
</file>

<file path=ppt/tags/tag8.xml><?xml version="1.0" encoding="utf-8"?>
<p:tagLst xmlns:p="http://schemas.openxmlformats.org/presentationml/2006/main">
  <p:tag name="KSO_WM_UNIT_TABLE_BEAUTIFY" val="smartTable{055480ef-9925-4468-b918-ca24ecdef3fe}"/>
  <p:tag name="TABLE_ENDDRAG_ORIGIN_RECT" val="692*240"/>
  <p:tag name="TABLE_ENDDRAG_RECT" val="138*173*692*240"/>
</p:tagLst>
</file>

<file path=ppt/tags/tag9.xml><?xml version="1.0" encoding="utf-8"?>
<p:tagLst xmlns:p="http://schemas.openxmlformats.org/presentationml/2006/main">
  <p:tag name="PA" val="v5.2.7"/>
  <p:tag name="RESOURCELIBID_ANIM" val="450"/>
</p:tagLst>
</file>

<file path=ppt/tags/tag10.xml><?xml version="1.0" encoding="utf-8"?>
<p:tagLst xmlns:p="http://schemas.openxmlformats.org/presentationml/2006/main">
  <p:tag name="PA" val="v5.2.7"/>
  <p:tag name="RESOURCELIBID_ANIM" val="450"/>
</p:tagLst>
</file>

<file path=ppt/tags/tag11.xml><?xml version="1.0" encoding="utf-8"?>
<p:tagLst xmlns:p="http://schemas.openxmlformats.org/presentationml/2006/main">
  <p:tag name="KSO_WM_UNIT_TABLE_BEAUTIFY" val="smartTable{055480ef-9925-4468-b918-ca24ecdef3fe}"/>
  <p:tag name="TABLE_ENDDRAG_ORIGIN_RECT" val="692*240"/>
  <p:tag name="TABLE_ENDDRAG_RECT" val="138*173*692*240"/>
</p:tagLst>
</file>

<file path=ppt/tags/tag12.xml><?xml version="1.0" encoding="utf-8"?>
<p:tagLst xmlns:p="http://schemas.openxmlformats.org/presentationml/2006/main">
  <p:tag name="PA" val="v5.2.7"/>
  <p:tag name="RESOURCELIBID_ANIM" val="450"/>
</p:tagLst>
</file>

<file path=ppt/tags/tag13.xml><?xml version="1.0" encoding="utf-8"?>
<p:tagLst xmlns:p="http://schemas.openxmlformats.org/presentationml/2006/main">
  <p:tag name="PA" val="v5.2.7"/>
  <p:tag name="RESOURCELIBID_ANIM" val="450"/>
</p:tagLst>
</file>

<file path=ppt/tags/tag14.xml><?xml version="1.0" encoding="utf-8"?>
<p:tagLst xmlns:p="http://schemas.openxmlformats.org/presentationml/2006/main">
  <p:tag name="PA" val="v5.2.7"/>
  <p:tag name="RESOURCELIBID_ANIM" val="450"/>
</p:tagLst>
</file>

<file path=ppt/tags/tag15.xml><?xml version="1.0" encoding="utf-8"?>
<p:tagLst xmlns:p="http://schemas.openxmlformats.org/presentationml/2006/main">
  <p:tag name="ISPRING_RESOURCE_PATHS_HASH_PRESENTER" val="3f15e6573a385e41c33bb97e7105a62faa5c484"/>
  <p:tag name="COMMONDATA" val="eyJoZGlkIjoiMWY3YzljNzI2NDkxNjMxMmQ3ODdhZTk0YTU4NDZlMTk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16447</Words>
  <Application>WPS 演示</Application>
  <PresentationFormat>自定义</PresentationFormat>
  <Paragraphs>961</Paragraphs>
  <Slides>81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10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Roboto</vt:lpstr>
      <vt:lpstr>Open Sans Light</vt:lpstr>
      <vt:lpstr>Courier New</vt:lpstr>
      <vt:lpstr>字魂105号-简雅黑</vt:lpstr>
      <vt:lpstr>Arial Unicode MS</vt:lpstr>
      <vt:lpstr>思源黑体 CN Regular</vt:lpstr>
      <vt:lpstr>Times New Roman</vt:lpstr>
      <vt:lpstr>Open Sans</vt:lpstr>
      <vt:lpstr>Open Sans</vt:lpstr>
      <vt:lpstr>Segoe Print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80</cp:revision>
  <dcterms:created xsi:type="dcterms:W3CDTF">2020-11-11T09:29:00Z</dcterms:created>
  <dcterms:modified xsi:type="dcterms:W3CDTF">2022-06-17T07:48:55Z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1AD03BC10CF64895902526DB55C23DDF</vt:lpwstr>
  </property>
</Properties>
</file>