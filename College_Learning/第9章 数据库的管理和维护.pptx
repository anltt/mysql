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Lst>
  <p:notesMasterIdLst>
    <p:notesMasterId r:id="rId5"/>
  </p:notesMasterIdLst>
  <p:handoutMasterIdLst>
    <p:handoutMasterId r:id="rId72"/>
  </p:handoutMasterIdLst>
  <p:sldIdLst>
    <p:sldId id="325" r:id="rId4"/>
    <p:sldId id="264" r:id="rId6"/>
    <p:sldId id="328" r:id="rId7"/>
    <p:sldId id="327" r:id="rId8"/>
    <p:sldId id="309" r:id="rId9"/>
    <p:sldId id="350" r:id="rId10"/>
    <p:sldId id="352" r:id="rId11"/>
    <p:sldId id="353" r:id="rId12"/>
    <p:sldId id="354" r:id="rId13"/>
    <p:sldId id="428" r:id="rId14"/>
    <p:sldId id="358" r:id="rId15"/>
    <p:sldId id="359" r:id="rId16"/>
    <p:sldId id="429" r:id="rId17"/>
    <p:sldId id="360" r:id="rId18"/>
    <p:sldId id="431" r:id="rId19"/>
    <p:sldId id="361" r:id="rId20"/>
    <p:sldId id="340" r:id="rId21"/>
    <p:sldId id="363" r:id="rId22"/>
    <p:sldId id="364" r:id="rId23"/>
    <p:sldId id="365" r:id="rId24"/>
    <p:sldId id="367" r:id="rId25"/>
    <p:sldId id="368" r:id="rId26"/>
    <p:sldId id="369" r:id="rId27"/>
    <p:sldId id="370" r:id="rId28"/>
    <p:sldId id="371" r:id="rId29"/>
    <p:sldId id="372" r:id="rId30"/>
    <p:sldId id="374" r:id="rId31"/>
    <p:sldId id="375" r:id="rId32"/>
    <p:sldId id="376" r:id="rId33"/>
    <p:sldId id="433" r:id="rId34"/>
    <p:sldId id="377" r:id="rId35"/>
    <p:sldId id="434" r:id="rId36"/>
    <p:sldId id="435" r:id="rId37"/>
    <p:sldId id="381" r:id="rId38"/>
    <p:sldId id="382" r:id="rId39"/>
    <p:sldId id="436" r:id="rId40"/>
    <p:sldId id="384" r:id="rId41"/>
    <p:sldId id="437" r:id="rId42"/>
    <p:sldId id="387" r:id="rId43"/>
    <p:sldId id="388" r:id="rId44"/>
    <p:sldId id="389" r:id="rId45"/>
    <p:sldId id="390" r:id="rId46"/>
    <p:sldId id="391" r:id="rId47"/>
    <p:sldId id="439" r:id="rId48"/>
    <p:sldId id="438" r:id="rId49"/>
    <p:sldId id="392" r:id="rId50"/>
    <p:sldId id="393" r:id="rId51"/>
    <p:sldId id="394" r:id="rId52"/>
    <p:sldId id="395" r:id="rId53"/>
    <p:sldId id="341" r:id="rId54"/>
    <p:sldId id="398" r:id="rId55"/>
    <p:sldId id="399" r:id="rId56"/>
    <p:sldId id="321" r:id="rId57"/>
    <p:sldId id="400" r:id="rId58"/>
    <p:sldId id="402" r:id="rId59"/>
    <p:sldId id="441" r:id="rId60"/>
    <p:sldId id="404" r:id="rId61"/>
    <p:sldId id="405" r:id="rId62"/>
    <p:sldId id="406" r:id="rId63"/>
    <p:sldId id="408" r:id="rId64"/>
    <p:sldId id="442" r:id="rId65"/>
    <p:sldId id="443" r:id="rId66"/>
    <p:sldId id="444" r:id="rId67"/>
    <p:sldId id="410" r:id="rId68"/>
    <p:sldId id="445" r:id="rId69"/>
    <p:sldId id="412" r:id="rId70"/>
    <p:sldId id="326" r:id="rId71"/>
  </p:sldIdLst>
  <p:sldSz cx="12190095" cy="6859270"/>
  <p:notesSz cx="6858000" cy="9144000"/>
  <p:custDataLst>
    <p:tags r:id="rId77"/>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n" initials="s" lastIdx="2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69B2"/>
    <a:srgbClr val="595959"/>
    <a:srgbClr val="FAFAFA"/>
    <a:srgbClr val="F2F2F2"/>
    <a:srgbClr val="006BBC"/>
    <a:srgbClr val="0075CC"/>
    <a:srgbClr val="008DF6"/>
    <a:srgbClr val="005DA2"/>
    <a:srgbClr val="F5F5F5"/>
    <a:srgbClr val="3992D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85" autoAdjust="0"/>
    <p:restoredTop sz="94660" autoAdjust="0"/>
  </p:normalViewPr>
  <p:slideViewPr>
    <p:cSldViewPr>
      <p:cViewPr varScale="1">
        <p:scale>
          <a:sx n="70" d="100"/>
          <a:sy n="70" d="100"/>
        </p:scale>
        <p:origin x="78" y="108"/>
      </p:cViewPr>
      <p:guideLst>
        <p:guide orient="horz" pos="2284"/>
        <p:guide pos="256"/>
        <p:guide pos="6599"/>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6" d="100"/>
          <a:sy n="86" d="100"/>
        </p:scale>
        <p:origin x="-3810" y="-90"/>
      </p:cViewPr>
      <p:guideLst>
        <p:guide orient="horz" pos="3045"/>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7" Type="http://schemas.openxmlformats.org/officeDocument/2006/relationships/tags" Target="tags/tag6.xml"/><Relationship Id="rId76" Type="http://schemas.openxmlformats.org/officeDocument/2006/relationships/commentAuthors" Target="commentAuthors.xml"/><Relationship Id="rId75" Type="http://schemas.openxmlformats.org/officeDocument/2006/relationships/tableStyles" Target="tableStyles.xml"/><Relationship Id="rId74" Type="http://schemas.openxmlformats.org/officeDocument/2006/relationships/viewProps" Target="viewProps.xml"/><Relationship Id="rId73" Type="http://schemas.openxmlformats.org/officeDocument/2006/relationships/presProps" Target="presProps.xml"/><Relationship Id="rId72" Type="http://schemas.openxmlformats.org/officeDocument/2006/relationships/handoutMaster" Target="handoutMasters/handoutMaster1.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777" y="2309308"/>
            <a:ext cx="10850541" cy="899333"/>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endParaRPr lang="zh-CN" altLang="en-US" dirty="0"/>
          </a:p>
        </p:txBody>
      </p:sp>
      <p:sp>
        <p:nvSpPr>
          <p:cNvPr id="3" name="副标题 2"/>
          <p:cNvSpPr>
            <a:spLocks noGrp="1"/>
          </p:cNvSpPr>
          <p:nvPr>
            <p:ph type="subTitle" idx="1" hasCustomPrompt="1"/>
          </p:nvPr>
        </p:nvSpPr>
        <p:spPr>
          <a:xfrm>
            <a:off x="669820" y="3566185"/>
            <a:ext cx="10850454" cy="801518"/>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dirty="0"/>
              <a:t>单击此处编辑副标题</a:t>
            </a:r>
            <a:endParaRPr lang="zh-CN" altLang="en-US" dirty="0"/>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文本占位符 6"/>
          <p:cNvSpPr>
            <a:spLocks noGrp="1"/>
          </p:cNvSpPr>
          <p:nvPr>
            <p:ph type="body" idx="1" hasCustomPrompt="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5" name="标题 4"/>
          <p:cNvSpPr>
            <a:spLocks noGrp="1"/>
          </p:cNvSpPr>
          <p:nvPr>
            <p:ph type="title" hasCustomPrompt="1"/>
          </p:nvPr>
        </p:nvSpPr>
        <p:spPr>
          <a:xfrm>
            <a:off x="839974" y="727845"/>
            <a:ext cx="3931306" cy="1115266"/>
          </a:xfrm>
        </p:spPr>
        <p:txBody>
          <a:bodyPr anchor="ctr" anchorCtr="0"/>
          <a:lstStyle>
            <a:lvl1pPr>
              <a:defRPr sz="3200">
                <a:latin typeface="+mn-ea"/>
                <a:ea typeface="+mn-ea"/>
              </a:defRPr>
            </a:lvl1pPr>
          </a:lstStyle>
          <a:p>
            <a:r>
              <a:rPr lang="zh-CN" altLang="en-US" smtClean="0"/>
              <a:t>单击此处编辑标题</a:t>
            </a:r>
            <a:endParaRPr lang="zh-CN" altLang="en-US"/>
          </a:p>
        </p:txBody>
      </p:sp>
      <p:sp>
        <p:nvSpPr>
          <p:cNvPr id="6" name="内容占位符 5"/>
          <p:cNvSpPr>
            <a:spLocks noGrp="1"/>
          </p:cNvSpPr>
          <p:nvPr>
            <p:ph idx="1" hasCustomPrompt="1"/>
          </p:nvPr>
        </p:nvSpPr>
        <p:spPr>
          <a:xfrm>
            <a:off x="5137617" y="727845"/>
            <a:ext cx="6171235" cy="5404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smtClean="0"/>
              <a:t>单击此处编辑正文</a:t>
            </a:r>
            <a:endParaRPr lang="zh-CN" altLang="en-US"/>
          </a:p>
        </p:txBody>
      </p:sp>
      <p:sp>
        <p:nvSpPr>
          <p:cNvPr id="7" name="文本占位符 6"/>
          <p:cNvSpPr>
            <a:spLocks noGrp="1"/>
          </p:cNvSpPr>
          <p:nvPr>
            <p:ph type="body" sz="half" idx="2" hasCustomPrompt="1"/>
          </p:nvPr>
        </p:nvSpPr>
        <p:spPr>
          <a:xfrm>
            <a:off x="839974" y="2240060"/>
            <a:ext cx="3931306" cy="3892636"/>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5365" indent="0">
              <a:buNone/>
              <a:defRPr sz="1000"/>
            </a:lvl6pPr>
            <a:lvl7pPr marL="2742565" indent="0">
              <a:buNone/>
              <a:defRPr sz="1000"/>
            </a:lvl7pPr>
            <a:lvl8pPr marL="3199765" indent="0">
              <a:buNone/>
              <a:defRPr sz="1000"/>
            </a:lvl8pPr>
            <a:lvl9pPr marL="3656965" indent="0">
              <a:buNone/>
              <a:defRPr sz="1000"/>
            </a:lvl9pPr>
          </a:lstStyle>
          <a:p>
            <a:pPr lvl="0"/>
            <a:r>
              <a:rPr lang="zh-CN" altLang="en-US" smtClean="0"/>
              <a:t>单击此处编辑正文</a:t>
            </a:r>
            <a:endParaRPr lang="zh-CN" altLang="en-US" smtClean="0"/>
          </a:p>
          <a:p>
            <a:pPr lvl="0"/>
            <a:r>
              <a:rPr lang="zh-CN" altLang="en-US" smtClean="0">
                <a:sym typeface="+mn-ea"/>
              </a:rPr>
              <a:t>单击此处编辑正文</a:t>
            </a:r>
            <a:endParaRPr lang="zh-CN" altLang="en-US" smtClean="0"/>
          </a:p>
          <a:p>
            <a:pPr lvl="0"/>
            <a:r>
              <a:rPr lang="zh-CN" altLang="en-US" smtClean="0">
                <a:sym typeface="+mn-ea"/>
              </a:rPr>
              <a:t>单击此处编辑正文</a:t>
            </a:r>
            <a:endParaRPr lang="zh-CN" altLang="en-US" smtClean="0"/>
          </a:p>
          <a:p>
            <a:pPr lvl="0"/>
            <a:r>
              <a:rPr lang="zh-CN" altLang="en-US" smtClean="0">
                <a:sym typeface="+mn-ea"/>
              </a:rPr>
              <a:t>单击此处编辑正文</a:t>
            </a:r>
            <a:endParaRPr lang="zh-CN" altLang="en-US" smtClean="0">
              <a:sym typeface="+mn-ea"/>
            </a:endParaRPr>
          </a:p>
          <a:p>
            <a:pPr lvl="0"/>
            <a:r>
              <a:rPr lang="zh-CN" altLang="en-US" smtClean="0">
                <a:sym typeface="+mn-ea"/>
              </a:rPr>
              <a:t>单击此处编辑正文</a:t>
            </a:r>
            <a:endParaRPr lang="zh-CN" altLang="en-US"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fld>
            <a:endParaRPr lang="zh-CN" altLang="en-US"/>
          </a:p>
        </p:txBody>
      </p:sp>
      <p:sp>
        <p:nvSpPr>
          <p:cNvPr id="9" name="标题 8"/>
          <p:cNvSpPr>
            <a:spLocks noGrp="1"/>
          </p:cNvSpPr>
          <p:nvPr>
            <p:ph type="title" hasCustomPrompt="1"/>
          </p:nvPr>
        </p:nvSpPr>
        <p:spPr>
          <a:xfrm>
            <a:off x="669820" y="5606183"/>
            <a:ext cx="10850454" cy="558268"/>
          </a:xfrm>
        </p:spPr>
        <p:txBody>
          <a:bodyPr/>
          <a:lstStyle>
            <a:lvl1pPr>
              <a:defRPr b="0">
                <a:latin typeface="+mn-ea"/>
                <a:ea typeface="+mn-ea"/>
              </a:defRPr>
            </a:lvl1pPr>
          </a:lstStyle>
          <a:p>
            <a:r>
              <a:rPr lang="zh-CN" altLang="en-US"/>
              <a:t>单击此处编辑正文</a:t>
            </a:r>
            <a:endParaRPr lang="zh-CN" altLang="en-US"/>
          </a:p>
        </p:txBody>
      </p:sp>
      <p:sp>
        <p:nvSpPr>
          <p:cNvPr id="8" name="内容占位符 7"/>
          <p:cNvSpPr>
            <a:spLocks noGrp="1"/>
          </p:cNvSpPr>
          <p:nvPr>
            <p:ph idx="1" hasCustomPrompt="1"/>
          </p:nvPr>
        </p:nvSpPr>
        <p:spPr>
          <a:xfrm>
            <a:off x="669820" y="641469"/>
            <a:ext cx="10850454" cy="4556969"/>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内容占位符 6"/>
          <p:cNvSpPr>
            <a:spLocks noGrp="1"/>
          </p:cNvSpPr>
          <p:nvPr>
            <p:ph idx="1" hasCustomPrompt="1"/>
          </p:nvPr>
        </p:nvSpPr>
        <p:spPr>
          <a:xfrm>
            <a:off x="0" y="0"/>
            <a:ext cx="12194539" cy="686943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内容占位符 1"/>
          <p:cNvSpPr>
            <a:spLocks noGrp="1"/>
          </p:cNvSpPr>
          <p:nvPr>
            <p:ph sz="half" idx="2" hasCustomPrompt="1"/>
          </p:nvPr>
        </p:nvSpPr>
        <p:spPr>
          <a:xfrm>
            <a:off x="467922"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
        <p:nvSpPr>
          <p:cNvPr id="6" name="内容占位符 5"/>
          <p:cNvSpPr>
            <a:spLocks noGrp="1"/>
          </p:cNvSpPr>
          <p:nvPr>
            <p:ph sz="half" idx="13" hasCustomPrompt="1"/>
          </p:nvPr>
        </p:nvSpPr>
        <p:spPr>
          <a:xfrm>
            <a:off x="6286787"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669777" y="623706"/>
            <a:ext cx="10850541" cy="899333"/>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endParaRPr>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15" y="390618"/>
            <a:ext cx="520428" cy="274702"/>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5" name="TextBox 4"/>
          <p:cNvSpPr txBox="1"/>
          <p:nvPr userDrawn="1"/>
        </p:nvSpPr>
        <p:spPr>
          <a:xfrm>
            <a:off x="305731" y="6526138"/>
            <a:ext cx="2909155" cy="276999"/>
          </a:xfrm>
          <a:prstGeom prst="rect">
            <a:avLst/>
          </a:prstGeom>
          <a:noFill/>
        </p:spPr>
        <p:txBody>
          <a:bodyPr wrap="square" rtlCol="0">
            <a:spAutoFit/>
          </a:bodyPr>
          <a:lstStyle/>
          <a:p>
            <a:r>
              <a:rPr lang="en-US" altLang="zh-CN" sz="1200" b="0" dirty="0" err="1" smtClean="0">
                <a:solidFill>
                  <a:srgbClr val="595959"/>
                </a:solidFill>
                <a:latin typeface="微软雅黑" panose="020B0503020204020204" pitchFamily="34" charset="-122"/>
                <a:ea typeface="微软雅黑" panose="020B0503020204020204" pitchFamily="34" charset="-122"/>
              </a:rPr>
              <a:t>yx.ityxb.com</a:t>
            </a:r>
            <a:endParaRPr lang="zh-CN" altLang="en-US" sz="1200" b="0" dirty="0" smtClean="0">
              <a:solidFill>
                <a:srgbClr val="595959"/>
              </a:solidFill>
              <a:latin typeface="微软雅黑" panose="020B0503020204020204" pitchFamily="34" charset="-122"/>
              <a:ea typeface="微软雅黑" panose="020B0503020204020204" pitchFamily="34" charset="-122"/>
            </a:endParaRPr>
          </a:p>
        </p:txBody>
      </p:sp>
      <p:sp>
        <p:nvSpPr>
          <p:cNvPr id="6" name="矩形 5"/>
          <p:cNvSpPr/>
          <p:nvPr userDrawn="1"/>
        </p:nvSpPr>
        <p:spPr>
          <a:xfrm>
            <a:off x="0" y="6794447"/>
            <a:ext cx="10631710" cy="84639"/>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03518" y="294845"/>
            <a:ext cx="2595061" cy="40505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693670"/>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98623" y="3693670"/>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118890" y="5045086"/>
            <a:ext cx="3952633" cy="61695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3"/>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4" Type="http://schemas.openxmlformats.org/officeDocument/2006/relationships/theme" Target="../theme/theme2.xml"/><Relationship Id="rId13" Type="http://schemas.openxmlformats.org/officeDocument/2006/relationships/slideLayout" Target="../slideLayouts/slideLayout21.xml"/><Relationship Id="rId12" Type="http://schemas.openxmlformats.org/officeDocument/2006/relationships/slideLayout" Target="../slideLayouts/slideLayout20.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605" y="6351009"/>
            <a:ext cx="2699578" cy="316859"/>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115357" y="6351009"/>
            <a:ext cx="3959381" cy="316859"/>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09254" y="6351009"/>
            <a:ext cx="2699578" cy="316859"/>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9" name="文本占位符 8"/>
          <p:cNvSpPr>
            <a:spLocks noGrp="1"/>
          </p:cNvSpPr>
          <p:nvPr>
            <p:ph type="body" idx="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mc:AlternateContent xmlns:mc="http://schemas.openxmlformats.org/markup-compatibility/2006">
    <mc:Choice xmlns:p14="http://schemas.microsoft.com/office/powerpoint/2010/main" Requires="p14">
      <p:transition spd="slow" p14:dur="2000"/>
    </mc:Choice>
    <mc:Fallback>
      <p:transition spd="slow"/>
    </mc:Fallback>
  </mc:AlternateConten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3.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0.xml"/><Relationship Id="rId1" Type="http://schemas.openxmlformats.org/officeDocument/2006/relationships/tags" Target="../tags/tag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18"/>
          <p:cNvSpPr txBox="1"/>
          <p:nvPr/>
        </p:nvSpPr>
        <p:spPr>
          <a:xfrm>
            <a:off x="2350790" y="2534497"/>
            <a:ext cx="7706107" cy="829945"/>
          </a:xfrm>
          <a:prstGeom prst="rect">
            <a:avLst/>
          </a:prstGeom>
          <a:noFill/>
        </p:spPr>
        <p:txBody>
          <a:bodyPr wrap="square" rtlCol="0">
            <a:spAutoFit/>
          </a:bodyPr>
          <a:lstStyle/>
          <a:p>
            <a:pPr algn="ctr"/>
            <a:r>
              <a:rPr lang="zh-CN" altLang="en-US" sz="4800" dirty="0" smtClean="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第</a:t>
            </a:r>
            <a:r>
              <a:rPr lang="en-US" altLang="zh-CN" sz="4800" dirty="0" smtClean="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9</a:t>
            </a:r>
            <a:r>
              <a:rPr lang="zh-CN" altLang="en-US" sz="4800" dirty="0" smtClean="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章  数据库的管理和维护</a:t>
            </a:r>
            <a:endParaRPr lang="zh-CN" altLang="en-US" sz="48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endParaRPr>
          </a:p>
        </p:txBody>
      </p:sp>
      <p:sp>
        <p:nvSpPr>
          <p:cNvPr id="2" name="Rectangle 4"/>
          <p:cNvSpPr txBox="1">
            <a:spLocks noChangeArrowheads="1"/>
          </p:cNvSpPr>
          <p:nvPr/>
        </p:nvSpPr>
        <p:spPr>
          <a:xfrm>
            <a:off x="5361305" y="3861435"/>
            <a:ext cx="4695825" cy="430530"/>
          </a:xfrm>
          <a:prstGeom prst="rect">
            <a:avLst/>
          </a:prstGeom>
        </p:spPr>
        <p:txBody>
          <a:bodyPr vert="horz" lIns="121917" tIns="60958" rIns="121917" bIns="60958" rtlCol="0"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《MySQL数据库入门（第2版）》</a:t>
            </a:r>
            <a:endParaRPr lang="zh-CN" altLang="en-US" sz="2400"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308" y="572758"/>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smtClean="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379220" y="2205355"/>
            <a:ext cx="9431655" cy="3295015"/>
            <a:chOff x="4042" y="3473"/>
            <a:chExt cx="11486" cy="5189"/>
          </a:xfrm>
        </p:grpSpPr>
        <p:grpSp>
          <p:nvGrpSpPr>
            <p:cNvPr id="80" name="组合 79"/>
            <p:cNvGrpSpPr/>
            <p:nvPr/>
          </p:nvGrpSpPr>
          <p:grpSpPr>
            <a:xfrm>
              <a:off x="4042" y="3473"/>
              <a:ext cx="11486" cy="1084"/>
              <a:chOff x="978872" y="1800500"/>
              <a:chExt cx="5471124" cy="515937"/>
            </a:xfrm>
          </p:grpSpPr>
          <p:sp>
            <p:nvSpPr>
              <p:cNvPr id="81" name="Pentagon 3"/>
              <p:cNvSpPr/>
              <p:nvPr/>
            </p:nvSpPr>
            <p:spPr bwMode="auto">
              <a:xfrm>
                <a:off x="978872" y="1800500"/>
                <a:ext cx="5471124" cy="515937"/>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    掌握数据的备份，能够使用语句</a:t>
                </a:r>
                <a:r>
                  <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备份单个</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数据库的数据和</a:t>
                </a:r>
                <a:r>
                  <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多个</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数据库的数据</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2"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83" name="组合 82"/>
            <p:cNvGrpSpPr/>
            <p:nvPr/>
          </p:nvGrpSpPr>
          <p:grpSpPr>
            <a:xfrm>
              <a:off x="4042" y="4844"/>
              <a:ext cx="11415" cy="1080"/>
              <a:chOff x="978872" y="2570437"/>
              <a:chExt cx="5437064" cy="514350"/>
            </a:xfrm>
          </p:grpSpPr>
          <p:sp>
            <p:nvSpPr>
              <p:cNvPr id="84"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    掌握数据的还原，能够使用</a:t>
                </a:r>
                <a:r>
                  <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mysql命令</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和</a:t>
                </a:r>
                <a:r>
                  <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source命令还原</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已备份的数据</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5"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86" name="组合 85"/>
            <p:cNvGrpSpPr/>
            <p:nvPr/>
          </p:nvGrpSpPr>
          <p:grpSpPr>
            <a:xfrm>
              <a:off x="4042" y="6211"/>
              <a:ext cx="11415" cy="1084"/>
              <a:chOff x="978872" y="3338787"/>
              <a:chExt cx="5437064" cy="515938"/>
            </a:xfrm>
          </p:grpSpPr>
          <p:sp>
            <p:nvSpPr>
              <p:cNvPr id="87" name="Pentagon 6"/>
              <p:cNvSpPr/>
              <p:nvPr/>
            </p:nvSpPr>
            <p:spPr bwMode="auto">
              <a:xfrm>
                <a:off x="978872" y="3338787"/>
                <a:ext cx="5437064" cy="515938"/>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    掌握用户的管理，能够使用</a:t>
                </a:r>
                <a:r>
                  <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root</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用户</a:t>
                </a:r>
                <a:r>
                  <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创建</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用户、</a:t>
                </a:r>
                <a:r>
                  <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删除</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用户和</a:t>
                </a:r>
                <a:r>
                  <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修改</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用户的密码</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8" name="MH_Others_1"/>
              <p:cNvSpPr/>
              <p:nvPr/>
            </p:nvSpPr>
            <p:spPr bwMode="auto">
              <a:xfrm>
                <a:off x="985222" y="3338787"/>
                <a:ext cx="82550" cy="515938"/>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89" name="组合 88"/>
            <p:cNvGrpSpPr/>
            <p:nvPr/>
          </p:nvGrpSpPr>
          <p:grpSpPr>
            <a:xfrm>
              <a:off x="4042" y="7582"/>
              <a:ext cx="11415" cy="1080"/>
              <a:chOff x="978872" y="4108725"/>
              <a:chExt cx="5437064" cy="514350"/>
            </a:xfrm>
          </p:grpSpPr>
          <p:sp>
            <p:nvSpPr>
              <p:cNvPr id="90" name="Pentagon 7"/>
              <p:cNvSpPr/>
              <p:nvPr/>
            </p:nvSpPr>
            <p:spPr bwMode="auto">
              <a:xfrm>
                <a:off x="978872" y="4108725"/>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    掌握权限管理，能够使用</a:t>
                </a:r>
                <a:r>
                  <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root</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用户对其他用户</a:t>
                </a:r>
                <a:r>
                  <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授予</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权限和</a:t>
                </a:r>
                <a:r>
                  <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收回</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权限</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91" name="MH_Others_1"/>
              <p:cNvSpPr/>
              <p:nvPr/>
            </p:nvSpPr>
            <p:spPr bwMode="auto">
              <a:xfrm>
                <a:off x="985222" y="4108725"/>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671292" y="572758"/>
            <a:ext cx="3911746"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smtClean="0">
                <a:solidFill>
                  <a:srgbClr val="1369B2"/>
                </a:solidFill>
                <a:latin typeface="微软雅黑" panose="020B0503020204020204" pitchFamily="34" charset="-122"/>
                <a:ea typeface="微软雅黑" panose="020B0503020204020204" pitchFamily="34" charset="-122"/>
                <a:cs typeface="+mn-ea"/>
                <a:sym typeface="+mn-lt"/>
              </a:rPr>
              <a:t>章节概述</a:t>
            </a:r>
            <a:r>
              <a:rPr lang="en-US" altLang="zh-CN" b="1" dirty="0" smtClean="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 </a:t>
            </a:r>
            <a:r>
              <a:rPr lang="en-US" altLang="zh-CN" sz="2400" dirty="0" smtClean="0">
                <a:solidFill>
                  <a:srgbClr val="1369B2"/>
                </a:solidFill>
                <a:latin typeface="微软雅黑" panose="020B0503020204020204" pitchFamily="34" charset="-122"/>
                <a:ea typeface="微软雅黑" panose="020B0503020204020204" pitchFamily="34" charset="-122"/>
                <a:cs typeface="+mn-ea"/>
                <a:sym typeface="+mn-lt"/>
              </a:rPr>
              <a:t>Summary</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1009935" y="2073449"/>
            <a:ext cx="10151132"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mn-ea"/>
              </a:rPr>
              <a:t>之前的章节基本都是围绕数据库及数据库中数据的基本操作进行讲解，除此之外，MySQL还提供了一些</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管理</a:t>
            </a:r>
            <a:r>
              <a:rPr lang="zh-CN" altLang="en-US" sz="2000" dirty="0" smtClean="0">
                <a:solidFill>
                  <a:srgbClr val="595959"/>
                </a:solidFill>
                <a:latin typeface="微软雅黑" panose="020B0503020204020204" pitchFamily="34" charset="-122"/>
                <a:ea typeface="微软雅黑" panose="020B0503020204020204" pitchFamily="34" charset="-122"/>
                <a:sym typeface="+mn-ea"/>
              </a:rPr>
              <a:t>和</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维护</a:t>
            </a:r>
            <a:r>
              <a:rPr lang="zh-CN" altLang="en-US" sz="2000" dirty="0" smtClean="0">
                <a:solidFill>
                  <a:srgbClr val="595959"/>
                </a:solidFill>
                <a:latin typeface="微软雅黑" panose="020B0503020204020204" pitchFamily="34" charset="-122"/>
                <a:ea typeface="微软雅黑" panose="020B0503020204020204" pitchFamily="34" charset="-122"/>
                <a:sym typeface="+mn-ea"/>
              </a:rPr>
              <a:t>数据库的功能，如数据的</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备份</a:t>
            </a:r>
            <a:r>
              <a:rPr lang="zh-CN" altLang="en-US" sz="2000" dirty="0" smtClean="0">
                <a:solidFill>
                  <a:srgbClr val="595959"/>
                </a:solidFill>
                <a:latin typeface="微软雅黑" panose="020B0503020204020204" pitchFamily="34" charset="-122"/>
                <a:ea typeface="微软雅黑" panose="020B0503020204020204" pitchFamily="34" charset="-122"/>
                <a:sym typeface="+mn-ea"/>
              </a:rPr>
              <a:t>、</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还原</a:t>
            </a:r>
            <a:r>
              <a:rPr lang="zh-CN" altLang="en-US" sz="2000" dirty="0" smtClean="0">
                <a:solidFill>
                  <a:srgbClr val="595959"/>
                </a:solidFill>
                <a:latin typeface="微软雅黑" panose="020B0503020204020204" pitchFamily="34" charset="-122"/>
                <a:ea typeface="微软雅黑" panose="020B0503020204020204" pitchFamily="34" charset="-122"/>
                <a:sym typeface="+mn-ea"/>
              </a:rPr>
              <a:t>，</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用户管理</a:t>
            </a:r>
            <a:r>
              <a:rPr lang="zh-CN" altLang="en-US" sz="2000" dirty="0" smtClean="0">
                <a:solidFill>
                  <a:srgbClr val="595959"/>
                </a:solidFill>
                <a:latin typeface="微软雅黑" panose="020B0503020204020204" pitchFamily="34" charset="-122"/>
                <a:ea typeface="微软雅黑" panose="020B0503020204020204" pitchFamily="34" charset="-122"/>
                <a:sym typeface="+mn-ea"/>
              </a:rPr>
              <a:t>、</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权限管理</a:t>
            </a:r>
            <a:r>
              <a:rPr lang="zh-CN" altLang="en-US" sz="2000" dirty="0" smtClean="0">
                <a:solidFill>
                  <a:srgbClr val="595959"/>
                </a:solidFill>
                <a:latin typeface="微软雅黑" panose="020B0503020204020204" pitchFamily="34" charset="-122"/>
                <a:ea typeface="微软雅黑" panose="020B0503020204020204" pitchFamily="34" charset="-122"/>
                <a:sym typeface="+mn-ea"/>
              </a:rPr>
              <a:t>等，这些操作是数据库管理和维护非常重要的部分，在一定程度上保证了数据库的安全，本章将对数据库管理和维护的相关知识进行讲解。</a:t>
            </a:r>
            <a:endParaRPr lang="zh-CN" altLang="en-US" sz="2000" dirty="0" smtClean="0">
              <a:solidFill>
                <a:srgbClr val="595959"/>
              </a:solidFill>
              <a:latin typeface="微软雅黑" panose="020B0503020204020204" pitchFamily="34" charset="-122"/>
              <a:ea typeface="微软雅黑" panose="020B0503020204020204" pitchFamily="34" charset="-122"/>
              <a:sym typeface="+mn-ea"/>
            </a:endParaRPr>
          </a:p>
          <a:p>
            <a:pPr algn="just">
              <a:lnSpc>
                <a:spcPct val="150000"/>
              </a:lnSpc>
            </a:pPr>
            <a:endParaRPr lang="zh-CN" altLang="en-US"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目录</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2470959" y="2061515"/>
            <a:ext cx="7248061" cy="3412489"/>
            <a:chOff x="4912" y="3009"/>
            <a:chExt cx="9524" cy="5374"/>
          </a:xfrm>
        </p:grpSpPr>
        <p:grpSp>
          <p:nvGrpSpPr>
            <p:cNvPr id="45" name="组合 44"/>
            <p:cNvGrpSpPr/>
            <p:nvPr/>
          </p:nvGrpSpPr>
          <p:grpSpPr>
            <a:xfrm>
              <a:off x="4912" y="3044"/>
              <a:ext cx="1877" cy="965"/>
              <a:chOff x="2215144" y="982844"/>
              <a:chExt cx="1244730" cy="842780"/>
            </a:xfrm>
          </p:grpSpPr>
          <p:sp>
            <p:nvSpPr>
              <p:cNvPr id="46" name="平行四边形 45"/>
              <p:cNvSpPr/>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7" name="文本框 9"/>
              <p:cNvSpPr txBox="1"/>
              <p:nvPr/>
            </p:nvSpPr>
            <p:spPr>
              <a:xfrm>
                <a:off x="2393075" y="1005670"/>
                <a:ext cx="1066799" cy="802230"/>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01</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48" name="组合 47"/>
            <p:cNvGrpSpPr/>
            <p:nvPr/>
          </p:nvGrpSpPr>
          <p:grpSpPr>
            <a:xfrm>
              <a:off x="4912" y="4494"/>
              <a:ext cx="1877" cy="974"/>
              <a:chOff x="2215144" y="2026500"/>
              <a:chExt cx="1244730" cy="850129"/>
            </a:xfrm>
          </p:grpSpPr>
          <p:sp>
            <p:nvSpPr>
              <p:cNvPr id="49" name="平行四边形 48"/>
              <p:cNvSpPr/>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0" name="文本框 10"/>
              <p:cNvSpPr txBox="1"/>
              <p:nvPr/>
            </p:nvSpPr>
            <p:spPr>
              <a:xfrm>
                <a:off x="2393075" y="2026500"/>
                <a:ext cx="1066799" cy="802233"/>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02</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1" name="组合 50"/>
            <p:cNvGrpSpPr/>
            <p:nvPr/>
          </p:nvGrpSpPr>
          <p:grpSpPr>
            <a:xfrm>
              <a:off x="4912" y="5959"/>
              <a:ext cx="1877" cy="966"/>
              <a:chOff x="2215144" y="3084852"/>
              <a:chExt cx="1244730" cy="843130"/>
            </a:xfrm>
          </p:grpSpPr>
          <p:sp>
            <p:nvSpPr>
              <p:cNvPr id="52" name="平行四边形 51"/>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3" name="文本框 11"/>
              <p:cNvSpPr txBox="1"/>
              <p:nvPr/>
            </p:nvSpPr>
            <p:spPr>
              <a:xfrm>
                <a:off x="2393075" y="3125750"/>
                <a:ext cx="1066799" cy="802232"/>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03</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4" name="组合 53"/>
            <p:cNvGrpSpPr/>
            <p:nvPr/>
          </p:nvGrpSpPr>
          <p:grpSpPr>
            <a:xfrm>
              <a:off x="4912" y="7418"/>
              <a:ext cx="1877" cy="965"/>
              <a:chOff x="2215144" y="4135856"/>
              <a:chExt cx="1244730" cy="842781"/>
            </a:xfrm>
          </p:grpSpPr>
          <p:sp>
            <p:nvSpPr>
              <p:cNvPr id="55" name="平行四边形 54"/>
              <p:cNvSpPr/>
              <p:nvPr/>
            </p:nvSpPr>
            <p:spPr>
              <a:xfrm>
                <a:off x="2215144" y="4135856"/>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6" name="文本框 12"/>
              <p:cNvSpPr txBox="1"/>
              <p:nvPr/>
            </p:nvSpPr>
            <p:spPr>
              <a:xfrm>
                <a:off x="2393075" y="4169272"/>
                <a:ext cx="1066799" cy="802233"/>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04</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60" name="组合 59"/>
            <p:cNvGrpSpPr/>
            <p:nvPr/>
          </p:nvGrpSpPr>
          <p:grpSpPr>
            <a:xfrm>
              <a:off x="6338" y="3009"/>
              <a:ext cx="8098" cy="965"/>
              <a:chOff x="4315150" y="953426"/>
              <a:chExt cx="3857250" cy="540057"/>
            </a:xfrm>
          </p:grpSpPr>
          <p:sp>
            <p:nvSpPr>
              <p:cNvPr id="61" name="矩形 60"/>
              <p:cNvSpPr/>
              <p:nvPr/>
            </p:nvSpPr>
            <p:spPr>
              <a:xfrm>
                <a:off x="4841196" y="1036090"/>
                <a:ext cx="2827147" cy="331154"/>
              </a:xfrm>
              <a:prstGeom prst="rect">
                <a:avLst/>
              </a:prstGeom>
              <a:ln w="15875">
                <a:noFill/>
              </a:ln>
            </p:spPr>
            <p:txBody>
              <a:bodyPr wrap="square" lIns="68580" tIns="34290" rIns="68580" bIns="34290">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数据的备份与还原</a:t>
                </a:r>
                <a:endParaRPr lang="en-GB" altLang="zh-CN" sz="20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62" name="平行四边形 61"/>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3" name="组合 62"/>
            <p:cNvGrpSpPr/>
            <p:nvPr/>
          </p:nvGrpSpPr>
          <p:grpSpPr>
            <a:xfrm>
              <a:off x="6338" y="4467"/>
              <a:ext cx="8098" cy="965"/>
              <a:chOff x="4315150" y="1647579"/>
              <a:chExt cx="3857250" cy="540057"/>
            </a:xfrm>
          </p:grpSpPr>
          <p:sp>
            <p:nvSpPr>
              <p:cNvPr id="64" name="矩形 63"/>
              <p:cNvSpPr/>
              <p:nvPr/>
            </p:nvSpPr>
            <p:spPr>
              <a:xfrm>
                <a:off x="4841196" y="1730243"/>
                <a:ext cx="2827147" cy="331154"/>
              </a:xfrm>
              <a:prstGeom prst="rect">
                <a:avLst/>
              </a:prstGeom>
              <a:ln w="15875">
                <a:noFill/>
              </a:ln>
            </p:spPr>
            <p:txBody>
              <a:bodyPr wrap="square" lIns="68580" tIns="34290" rIns="68580" bIns="34290">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用户管理</a:t>
                </a:r>
                <a:endParaRPr lang="en-GB" altLang="zh-CN" sz="20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65" name="平行四边形 64"/>
              <p:cNvSpPr/>
              <p:nvPr/>
            </p:nvSpPr>
            <p:spPr>
              <a:xfrm>
                <a:off x="4315150" y="1647579"/>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6" name="组合 65"/>
            <p:cNvGrpSpPr/>
            <p:nvPr/>
          </p:nvGrpSpPr>
          <p:grpSpPr>
            <a:xfrm>
              <a:off x="6338" y="5925"/>
              <a:ext cx="8098" cy="965"/>
              <a:chOff x="4315150" y="2341731"/>
              <a:chExt cx="3857250" cy="540057"/>
            </a:xfrm>
          </p:grpSpPr>
          <p:sp>
            <p:nvSpPr>
              <p:cNvPr id="67" name="矩形 66"/>
              <p:cNvSpPr/>
              <p:nvPr/>
            </p:nvSpPr>
            <p:spPr>
              <a:xfrm>
                <a:off x="4841197" y="2424395"/>
                <a:ext cx="2827146" cy="331154"/>
              </a:xfrm>
              <a:prstGeom prst="rect">
                <a:avLst/>
              </a:prstGeom>
              <a:ln w="15875">
                <a:noFill/>
              </a:ln>
            </p:spPr>
            <p:txBody>
              <a:bodyPr wrap="square" lIns="68580" tIns="34290" rIns="68580" bIns="34290">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权限管理</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endParaRPr>
              </a:p>
            </p:txBody>
          </p:sp>
          <p:sp>
            <p:nvSpPr>
              <p:cNvPr id="68" name="平行四边形 67"/>
              <p:cNvSpPr/>
              <p:nvPr/>
            </p:nvSpPr>
            <p:spPr>
              <a:xfrm>
                <a:off x="4315150" y="2341731"/>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9" name="组合 68"/>
            <p:cNvGrpSpPr/>
            <p:nvPr/>
          </p:nvGrpSpPr>
          <p:grpSpPr>
            <a:xfrm>
              <a:off x="6338" y="7383"/>
              <a:ext cx="8098" cy="965"/>
              <a:chOff x="4315150" y="3035884"/>
              <a:chExt cx="3857250" cy="540057"/>
            </a:xfrm>
          </p:grpSpPr>
          <p:sp>
            <p:nvSpPr>
              <p:cNvPr id="70" name="矩形 69"/>
              <p:cNvSpPr/>
              <p:nvPr/>
            </p:nvSpPr>
            <p:spPr>
              <a:xfrm>
                <a:off x="4841196" y="3118548"/>
                <a:ext cx="2827147" cy="331154"/>
              </a:xfrm>
              <a:prstGeom prst="rect">
                <a:avLst/>
              </a:prstGeom>
              <a:ln w="15875">
                <a:noFill/>
              </a:ln>
            </p:spPr>
            <p:txBody>
              <a:bodyPr wrap="square" lIns="68580" tIns="34290" rIns="68580" bIns="34290">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上机实践：图书管理系统数据库的管理</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endParaRPr>
              </a:p>
            </p:txBody>
          </p:sp>
          <p:sp>
            <p:nvSpPr>
              <p:cNvPr id="71" name="平行四边形 70"/>
              <p:cNvSpPr/>
              <p:nvPr/>
            </p:nvSpPr>
            <p:spPr>
              <a:xfrm>
                <a:off x="4315150" y="3035884"/>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29945"/>
          </a:xfrm>
          <a:prstGeom prst="rect">
            <a:avLst/>
          </a:prstGeom>
          <a:noFill/>
        </p:spPr>
        <p:txBody>
          <a:bodyPr wrap="square" lIns="91443" tIns="45720" rIns="91443" bIns="45720" rtlCol="0">
            <a:spAutoFit/>
          </a:bodyPr>
          <a:lstStyle/>
          <a:p>
            <a:r>
              <a:rPr lang="zh-CN" altLang="en-GB" sz="4800" b="1" dirty="0">
                <a:solidFill>
                  <a:srgbClr val="595959"/>
                </a:solidFill>
                <a:latin typeface="微软雅黑" panose="020B0503020204020204" pitchFamily="34" charset="-122"/>
                <a:ea typeface="微软雅黑" panose="020B0503020204020204" pitchFamily="34" charset="-122"/>
                <a:cs typeface="+mn-ea"/>
                <a:sym typeface="+mn-lt"/>
              </a:rPr>
              <a:t>数据的</a:t>
            </a:r>
            <a:r>
              <a:rPr lang="zh-CN" altLang="en-GB" sz="4800" b="1" dirty="0">
                <a:solidFill>
                  <a:srgbClr val="1369B2"/>
                </a:solidFill>
                <a:latin typeface="微软雅黑" panose="020B0503020204020204" pitchFamily="34" charset="-122"/>
                <a:ea typeface="微软雅黑" panose="020B0503020204020204" pitchFamily="34" charset="-122"/>
                <a:cs typeface="+mn-ea"/>
                <a:sym typeface="+mn-lt"/>
              </a:rPr>
              <a:t>备份</a:t>
            </a:r>
            <a:r>
              <a:rPr lang="zh-CN" altLang="en-GB" sz="4800" b="1" dirty="0">
                <a:solidFill>
                  <a:srgbClr val="595959"/>
                </a:solidFill>
                <a:latin typeface="微软雅黑" panose="020B0503020204020204" pitchFamily="34" charset="-122"/>
                <a:ea typeface="微软雅黑" panose="020B0503020204020204" pitchFamily="34" charset="-122"/>
                <a:cs typeface="+mn-ea"/>
                <a:sym typeface="+mn-lt"/>
              </a:rPr>
              <a:t>与</a:t>
            </a:r>
            <a:r>
              <a:rPr lang="zh-CN" altLang="en-GB" sz="4800" b="1" dirty="0">
                <a:solidFill>
                  <a:srgbClr val="1369B2"/>
                </a:solidFill>
                <a:latin typeface="微软雅黑" panose="020B0503020204020204" pitchFamily="34" charset="-122"/>
                <a:ea typeface="微软雅黑" panose="020B0503020204020204" pitchFamily="34" charset="-122"/>
                <a:cs typeface="+mn-ea"/>
                <a:sym typeface="+mn-lt"/>
              </a:rPr>
              <a:t>还原</a:t>
            </a:r>
            <a:endParaRPr lang="zh-CN" altLang="en-GB" sz="48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9.1</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2136140" y="1513205"/>
            <a:ext cx="7847330" cy="4196080"/>
            <a:chOff x="4042" y="3473"/>
            <a:chExt cx="11680" cy="4019"/>
          </a:xfrm>
        </p:grpSpPr>
        <p:sp>
          <p:nvSpPr>
            <p:cNvPr id="2" name="折角形 1"/>
            <p:cNvSpPr/>
            <p:nvPr/>
          </p:nvSpPr>
          <p:spPr>
            <a:xfrm>
              <a:off x="4042" y="3473"/>
              <a:ext cx="11680" cy="4019"/>
            </a:xfrm>
            <a:prstGeom prst="foldedCorner">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4932" y="3734"/>
              <a:ext cx="10015" cy="2741"/>
            </a:xfrm>
            <a:prstGeom prst="rect">
              <a:avLst/>
            </a:prstGeom>
            <a:noFill/>
          </p:spPr>
          <p:txBody>
            <a:bodyPr wrap="square" rtlCol="0">
              <a:spAutoFit/>
            </a:bodyPr>
            <a:lstStyle/>
            <a:p>
              <a:pPr algn="l">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日常生活中，经常会为自己家的房门多配几把钥匙，为自己的爱车准备一个备胎，这些事情其实都是在做备份。在数据库的维护过程中，数据也经常需要备份，以便在系统遭到破坏或其他情况下还原数据。为了完成</a:t>
              </a:r>
              <a:r>
                <a:rPr lang="zh-CN" altLang="en-US" sz="2000" dirty="0" smtClean="0">
                  <a:solidFill>
                    <a:srgbClr val="1369B2"/>
                  </a:solidFill>
                  <a:latin typeface="微软雅黑" panose="020B0503020204020204" pitchFamily="34" charset="-122"/>
                  <a:ea typeface="微软雅黑" panose="020B0503020204020204" pitchFamily="34" charset="-122"/>
                </a:rPr>
                <a:t>数据库的备份</a:t>
              </a:r>
              <a:r>
                <a:rPr lang="zh-CN" altLang="en-US" sz="2000" dirty="0" smtClean="0">
                  <a:solidFill>
                    <a:srgbClr val="595959"/>
                  </a:solidFill>
                  <a:latin typeface="微软雅黑" panose="020B0503020204020204" pitchFamily="34" charset="-122"/>
                  <a:ea typeface="微软雅黑" panose="020B0503020204020204" pitchFamily="34" charset="-122"/>
                </a:rPr>
                <a:t>，MySQL提供了一个mysqldump命令，</a:t>
              </a:r>
              <a:r>
                <a:rPr lang="zh-CN" altLang="en-US" sz="2000" dirty="0" smtClean="0">
                  <a:solidFill>
                    <a:srgbClr val="1369B2"/>
                  </a:solidFill>
                  <a:latin typeface="微软雅黑" panose="020B0503020204020204" pitchFamily="34" charset="-122"/>
                  <a:ea typeface="微软雅黑" panose="020B0503020204020204" pitchFamily="34" charset="-122"/>
                </a:rPr>
                <a:t>mysqldump</a:t>
              </a:r>
              <a:r>
                <a:rPr lang="zh-CN" altLang="en-US" sz="2000" dirty="0" smtClean="0">
                  <a:solidFill>
                    <a:srgbClr val="595959"/>
                  </a:solidFill>
                  <a:latin typeface="微软雅黑" panose="020B0503020204020204" pitchFamily="34" charset="-122"/>
                  <a:ea typeface="微软雅黑" panose="020B0503020204020204" pitchFamily="34" charset="-122"/>
                </a:rPr>
                <a:t>命令可以将数据库导出成SQL脚本，以实现数据的备份。</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grpSp>
      <p:sp>
        <p:nvSpPr>
          <p:cNvPr id="6"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9.1.1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数据库的备份</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Line 7"/>
          <p:cNvSpPr>
            <a:spLocks noChangeShapeType="1"/>
          </p:cNvSpPr>
          <p:nvPr/>
        </p:nvSpPr>
        <p:spPr bwMode="auto">
          <a:xfrm>
            <a:off x="1774825" y="2884805"/>
            <a:ext cx="12065" cy="1912620"/>
          </a:xfrm>
          <a:prstGeom prst="line">
            <a:avLst/>
          </a:prstGeom>
          <a:noFill/>
          <a:ln w="12700">
            <a:solidFill>
              <a:schemeClr val="accent1"/>
            </a:solidFill>
            <a:round/>
          </a:ln>
          <a:extLst>
            <a:ext uri="{909E8E84-426E-40DD-AFC4-6F175D3DCCD1}">
              <a14:hiddenFill xmlns:a14="http://schemas.microsoft.com/office/drawing/2010/main">
                <a:no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0" name="AutoShape 12"/>
          <p:cNvSpPr>
            <a:spLocks noChangeArrowheads="1"/>
          </p:cNvSpPr>
          <p:nvPr/>
        </p:nvSpPr>
        <p:spPr bwMode="auto">
          <a:xfrm>
            <a:off x="2197100" y="3340100"/>
            <a:ext cx="1340485" cy="1053465"/>
          </a:xfrm>
          <a:custGeom>
            <a:avLst/>
            <a:gdLst>
              <a:gd name="T0" fmla="*/ 13440833 w 21600"/>
              <a:gd name="T1" fmla="*/ 23448910 h 21600"/>
              <a:gd name="T2" fmla="*/ 13440833 w 21600"/>
              <a:gd name="T3" fmla="*/ 23448910 h 21600"/>
              <a:gd name="T4" fmla="*/ 13440833 w 21600"/>
              <a:gd name="T5" fmla="*/ 23448910 h 21600"/>
              <a:gd name="T6" fmla="*/ 13440833 w 21600"/>
              <a:gd name="T7" fmla="*/ 23448910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19" tIns="45719" rIns="45719" bIns="45719"/>
          <a:lstStyle/>
          <a:p>
            <a:pPr fontAlgn="base" hangingPunct="0">
              <a:spcBef>
                <a:spcPct val="0"/>
              </a:spcBef>
              <a:spcAft>
                <a:spcPct val="0"/>
              </a:spcAft>
              <a:buFont typeface="Arial" panose="020B0604020202020204" pitchFamily="34" charset="0"/>
              <a:buNone/>
            </a:pPr>
            <a:r>
              <a:rPr lang="en-US" altLang="es-ES" sz="6000" dirty="0">
                <a:solidFill>
                  <a:srgbClr val="0070C0"/>
                </a:solidFill>
                <a:latin typeface="微软雅黑" panose="020B0503020204020204" pitchFamily="34" charset="-122"/>
                <a:ea typeface="微软雅黑" panose="020B0503020204020204" pitchFamily="34" charset="-122"/>
                <a:cs typeface="+mn-lt"/>
                <a:sym typeface="Arial" panose="020B0604020202020204" pitchFamily="34" charset="0"/>
              </a:rPr>
              <a:t>1</a:t>
            </a:r>
            <a:endParaRPr lang="en-US" altLang="es-ES" sz="6000" dirty="0">
              <a:solidFill>
                <a:srgbClr val="0070C0"/>
              </a:solidFill>
              <a:latin typeface="微软雅黑" panose="020B0503020204020204" pitchFamily="34" charset="-122"/>
              <a:ea typeface="微软雅黑" panose="020B0503020204020204" pitchFamily="34" charset="-122"/>
              <a:cs typeface="+mn-lt"/>
              <a:sym typeface="Arial" panose="020B0604020202020204" pitchFamily="34" charset="0"/>
            </a:endParaRPr>
          </a:p>
        </p:txBody>
      </p:sp>
      <p:sp>
        <p:nvSpPr>
          <p:cNvPr id="14" name="TextBox 35"/>
          <p:cNvSpPr txBox="1"/>
          <p:nvPr/>
        </p:nvSpPr>
        <p:spPr>
          <a:xfrm>
            <a:off x="3934460" y="2348230"/>
            <a:ext cx="7039610" cy="460375"/>
          </a:xfrm>
          <a:prstGeom prst="rect">
            <a:avLst/>
          </a:prstGeom>
          <a:noFill/>
        </p:spPr>
        <p:txBody>
          <a:bodyPr wrap="square" rtlCol="0">
            <a:spAutoFit/>
          </a:bodyPr>
          <a:lstStyle/>
          <a:p>
            <a:pPr lvl="0" algn="l">
              <a:lnSpc>
                <a:spcPct val="150000"/>
              </a:lnSpc>
              <a:spcBef>
                <a:spcPts val="0"/>
              </a:spcBef>
              <a:spcAft>
                <a:spcPts val="0"/>
              </a:spcAft>
              <a:buClrTx/>
              <a:buSzTx/>
              <a:buFontTx/>
              <a:defRPr/>
            </a:pP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mysqldump命令备份</a:t>
            </a:r>
            <a:r>
              <a:rPr lang="zh-CN" altLang="en-US" sz="1600" dirty="0">
                <a:solidFill>
                  <a:srgbClr val="1369B2"/>
                </a:solidFill>
                <a:latin typeface="微软雅黑" panose="020B0503020204020204" pitchFamily="34" charset="-122"/>
                <a:ea typeface="微软雅黑" panose="020B0503020204020204" pitchFamily="34" charset="-122"/>
                <a:cs typeface="+mn-lt"/>
                <a:sym typeface="+mn-ea"/>
              </a:rPr>
              <a:t>单个</a:t>
            </a: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数据库的语法格式如下。</a:t>
            </a:r>
            <a:endParaRPr lang="zh-CN" altLang="en-US" sz="1600" dirty="0">
              <a:solidFill>
                <a:srgbClr val="595959"/>
              </a:solidFill>
              <a:latin typeface="微软雅黑" panose="020B0503020204020204" pitchFamily="34" charset="-122"/>
              <a:ea typeface="微软雅黑" panose="020B0503020204020204" pitchFamily="34" charset="-122"/>
              <a:cs typeface="+mn-lt"/>
              <a:sym typeface="+mn-ea"/>
            </a:endParaRPr>
          </a:p>
        </p:txBody>
      </p:sp>
      <p:sp>
        <p:nvSpPr>
          <p:cNvPr id="15" name="文本框 14"/>
          <p:cNvSpPr txBox="1"/>
          <p:nvPr/>
        </p:nvSpPr>
        <p:spPr>
          <a:xfrm>
            <a:off x="3891280" y="1872615"/>
            <a:ext cx="6920230" cy="460375"/>
          </a:xfrm>
          <a:prstGeom prst="rect">
            <a:avLst/>
          </a:prstGeom>
          <a:noFill/>
        </p:spPr>
        <p:txBody>
          <a:bodyPr wrap="square" rtlCol="0">
            <a:spAutoFit/>
          </a:bodyPr>
          <a:lstStyle>
            <a:defPPr>
              <a:defRPr lang="zh-CN"/>
            </a:defPPr>
            <a:lvl1pPr defTabSz="913765">
              <a:defRPr b="1">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defRPr>
            </a:lvl1pPr>
          </a:lstStyle>
          <a:p>
            <a:r>
              <a:rPr lang="zh-CN" altLang="en-US" dirty="0">
                <a:solidFill>
                  <a:srgbClr val="595959"/>
                </a:solidFill>
                <a:sym typeface="+mn-ea"/>
              </a:rPr>
              <a:t>备份单个数据库</a:t>
            </a:r>
            <a:endParaRPr lang="zh-CN" altLang="en-US" dirty="0">
              <a:solidFill>
                <a:srgbClr val="595959"/>
              </a:solidFill>
              <a:sym typeface="+mn-ea"/>
            </a:endParaRPr>
          </a:p>
        </p:txBody>
      </p:sp>
      <p:sp>
        <p:nvSpPr>
          <p:cNvPr id="18" name="矩形 17"/>
          <p:cNvSpPr/>
          <p:nvPr/>
        </p:nvSpPr>
        <p:spPr>
          <a:xfrm>
            <a:off x="3996055" y="2996565"/>
            <a:ext cx="6711315" cy="594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mysqldump -uusername -ppassword dbname [tbname1 [tbname2…]]&gt;filename.sql </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3" name="TextBox 35"/>
          <p:cNvSpPr txBox="1"/>
          <p:nvPr/>
        </p:nvSpPr>
        <p:spPr>
          <a:xfrm>
            <a:off x="3909060" y="3716655"/>
            <a:ext cx="7039610" cy="2676525"/>
          </a:xfrm>
          <a:prstGeom prst="rect">
            <a:avLst/>
          </a:prstGeom>
          <a:noFill/>
        </p:spPr>
        <p:txBody>
          <a:bodyPr wrap="square" rtlCol="0">
            <a:spAutoFit/>
          </a:bodyPr>
          <a:lstStyle/>
          <a:p>
            <a:pPr lvl="0" algn="l">
              <a:lnSpc>
                <a:spcPct val="150000"/>
              </a:lnSpc>
              <a:spcBef>
                <a:spcPts val="0"/>
              </a:spcBef>
              <a:spcAft>
                <a:spcPts val="0"/>
              </a:spcAft>
              <a:buClrTx/>
              <a:buSzTx/>
              <a:buFontTx/>
              <a:defRPr/>
            </a:pP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上述语法格式中，</a:t>
            </a:r>
            <a:r>
              <a:rPr lang="zh-CN" altLang="en-US" sz="1600" dirty="0">
                <a:solidFill>
                  <a:srgbClr val="1369B2"/>
                </a:solidFill>
                <a:latin typeface="微软雅黑" panose="020B0503020204020204" pitchFamily="34" charset="-122"/>
                <a:ea typeface="微软雅黑" panose="020B0503020204020204" pitchFamily="34" charset="-122"/>
                <a:cs typeface="+mn-lt"/>
                <a:sym typeface="+mn-ea"/>
              </a:rPr>
              <a:t>-u</a:t>
            </a: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后面的参数username表示用户名，</a:t>
            </a:r>
            <a:r>
              <a:rPr lang="zh-CN" altLang="en-US" sz="1600" dirty="0">
                <a:solidFill>
                  <a:srgbClr val="1369B2"/>
                </a:solidFill>
                <a:latin typeface="微软雅黑" panose="020B0503020204020204" pitchFamily="34" charset="-122"/>
                <a:ea typeface="微软雅黑" panose="020B0503020204020204" pitchFamily="34" charset="-122"/>
                <a:cs typeface="+mn-lt"/>
                <a:sym typeface="+mn-ea"/>
              </a:rPr>
              <a:t>-p</a:t>
            </a: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后面的参数password表示登录密码，</a:t>
            </a:r>
            <a:r>
              <a:rPr lang="zh-CN" altLang="en-US" sz="1600" dirty="0">
                <a:solidFill>
                  <a:srgbClr val="1369B2"/>
                </a:solidFill>
                <a:latin typeface="微软雅黑" panose="020B0503020204020204" pitchFamily="34" charset="-122"/>
                <a:ea typeface="微软雅黑" panose="020B0503020204020204" pitchFamily="34" charset="-122"/>
                <a:cs typeface="+mn-lt"/>
                <a:sym typeface="+mn-ea"/>
              </a:rPr>
              <a:t>dbname</a:t>
            </a: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表示需要备份的数据库名称，</a:t>
            </a:r>
            <a:r>
              <a:rPr lang="zh-CN" altLang="en-US" sz="1600" dirty="0">
                <a:solidFill>
                  <a:srgbClr val="1369B2"/>
                </a:solidFill>
                <a:latin typeface="微软雅黑" panose="020B0503020204020204" pitchFamily="34" charset="-122"/>
                <a:ea typeface="微软雅黑" panose="020B0503020204020204" pitchFamily="34" charset="-122"/>
                <a:cs typeface="+mn-lt"/>
                <a:sym typeface="+mn-ea"/>
              </a:rPr>
              <a:t>tbname</a:t>
            </a: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表示数据库中的表名，可以指定一个或多个表，多个表名之间用空格分隔。如果不指定数据表名，则备份整个数据库。</a:t>
            </a:r>
            <a:r>
              <a:rPr lang="zh-CN" altLang="en-US" sz="1600" dirty="0">
                <a:solidFill>
                  <a:srgbClr val="1369B2"/>
                </a:solidFill>
                <a:latin typeface="微软雅黑" panose="020B0503020204020204" pitchFamily="34" charset="-122"/>
                <a:ea typeface="微软雅黑" panose="020B0503020204020204" pitchFamily="34" charset="-122"/>
                <a:cs typeface="+mn-lt"/>
                <a:sym typeface="+mn-ea"/>
              </a:rPr>
              <a:t>filename.sql</a:t>
            </a: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表示备份文件的名称，文件名前可以加上绝对路径。</a:t>
            </a:r>
            <a:endParaRPr lang="zh-CN" altLang="en-US" sz="1600" dirty="0">
              <a:solidFill>
                <a:srgbClr val="595959"/>
              </a:solidFill>
              <a:latin typeface="微软雅黑" panose="020B0503020204020204" pitchFamily="34" charset="-122"/>
              <a:ea typeface="微软雅黑" panose="020B0503020204020204" pitchFamily="34" charset="-122"/>
              <a:cs typeface="+mn-lt"/>
              <a:sym typeface="+mn-ea"/>
            </a:endParaRPr>
          </a:p>
          <a:p>
            <a:pPr lvl="0" algn="l">
              <a:lnSpc>
                <a:spcPct val="150000"/>
              </a:lnSpc>
              <a:spcBef>
                <a:spcPts val="0"/>
              </a:spcBef>
              <a:spcAft>
                <a:spcPts val="0"/>
              </a:spcAft>
              <a:buClrTx/>
              <a:buSzTx/>
              <a:buFontTx/>
              <a:defRPr/>
            </a:pP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在使用</a:t>
            </a:r>
            <a:r>
              <a:rPr lang="zh-CN" altLang="en-US" sz="1600" dirty="0">
                <a:solidFill>
                  <a:srgbClr val="1369B2"/>
                </a:solidFill>
                <a:latin typeface="微软雅黑" panose="020B0503020204020204" pitchFamily="34" charset="-122"/>
                <a:ea typeface="微软雅黑" panose="020B0503020204020204" pitchFamily="34" charset="-122"/>
                <a:cs typeface="+mn-lt"/>
                <a:sym typeface="+mn-ea"/>
              </a:rPr>
              <a:t>mysqldump</a:t>
            </a: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命令备份数据库时，直接在命令行窗口执行该命令即可，不需要登录到MySQL数据库。</a:t>
            </a:r>
            <a:endParaRPr lang="zh-CN" altLang="en-US" sz="1600" dirty="0">
              <a:solidFill>
                <a:srgbClr val="595959"/>
              </a:solidFill>
              <a:latin typeface="微软雅黑" panose="020B0503020204020204" pitchFamily="34" charset="-122"/>
              <a:ea typeface="微软雅黑" panose="020B0503020204020204" pitchFamily="34" charset="-122"/>
              <a:cs typeface="+mn-lt"/>
              <a:sym typeface="+mn-ea"/>
            </a:endParaRPr>
          </a:p>
        </p:txBody>
      </p:sp>
      <p:sp>
        <p:nvSpPr>
          <p:cNvPr id="2"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9.1.1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数据库的备份</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文本框 4"/>
          <p:cNvSpPr txBox="1"/>
          <p:nvPr/>
        </p:nvSpPr>
        <p:spPr>
          <a:xfrm>
            <a:off x="1990725" y="1058545"/>
            <a:ext cx="8668385" cy="506730"/>
          </a:xfrm>
          <a:prstGeom prst="rect">
            <a:avLst/>
          </a:prstGeom>
          <a:noFill/>
        </p:spPr>
        <p:txBody>
          <a:bodyPr wrap="square" rtlCol="0">
            <a:spAutoFit/>
          </a:bodyPr>
          <a:lstStyle/>
          <a:p>
            <a:pPr algn="l">
              <a:lnSpc>
                <a:spcPct val="150000"/>
              </a:lnSpc>
            </a:pPr>
            <a:r>
              <a:rPr lang="zh-CN" altLang="en-US" sz="1800" dirty="0" smtClean="0">
                <a:solidFill>
                  <a:srgbClr val="595959"/>
                </a:solidFill>
                <a:latin typeface="微软雅黑" panose="020B0503020204020204" pitchFamily="34" charset="-122"/>
                <a:ea typeface="微软雅黑" panose="020B0503020204020204" pitchFamily="34" charset="-122"/>
                <a:sym typeface="+mn-ea"/>
              </a:rPr>
              <a:t>mysqldump命令可以</a:t>
            </a:r>
            <a:r>
              <a:rPr lang="zh-CN" altLang="en-US" sz="1800" dirty="0" smtClean="0">
                <a:solidFill>
                  <a:srgbClr val="1369B2"/>
                </a:solidFill>
                <a:latin typeface="微软雅黑" panose="020B0503020204020204" pitchFamily="34" charset="-122"/>
                <a:ea typeface="微软雅黑" panose="020B0503020204020204" pitchFamily="34" charset="-122"/>
                <a:sym typeface="+mn-ea"/>
              </a:rPr>
              <a:t>备份单个数据库、多个数据库和所有数据库</a:t>
            </a:r>
            <a:r>
              <a:rPr lang="zh-CN" altLang="en-US" sz="1800" dirty="0" smtClean="0">
                <a:solidFill>
                  <a:srgbClr val="595959"/>
                </a:solidFill>
                <a:latin typeface="微软雅黑" panose="020B0503020204020204" pitchFamily="34" charset="-122"/>
                <a:ea typeface="微软雅黑" panose="020B0503020204020204" pitchFamily="34" charset="-122"/>
                <a:sym typeface="+mn-ea"/>
              </a:rPr>
              <a:t>，具体如下。</a:t>
            </a:r>
            <a:endParaRPr lang="zh-CN" altLang="en-US" sz="1800" dirty="0" smtClean="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Line 7"/>
          <p:cNvSpPr>
            <a:spLocks noChangeShapeType="1"/>
          </p:cNvSpPr>
          <p:nvPr/>
        </p:nvSpPr>
        <p:spPr bwMode="auto">
          <a:xfrm>
            <a:off x="1774825" y="2597785"/>
            <a:ext cx="12065" cy="1912620"/>
          </a:xfrm>
          <a:prstGeom prst="line">
            <a:avLst/>
          </a:prstGeom>
          <a:noFill/>
          <a:ln w="12700">
            <a:solidFill>
              <a:schemeClr val="accent1"/>
            </a:solidFill>
            <a:round/>
          </a:ln>
          <a:extLst>
            <a:ext uri="{909E8E84-426E-40DD-AFC4-6F175D3DCCD1}">
              <a14:hiddenFill xmlns:a14="http://schemas.microsoft.com/office/drawing/2010/main">
                <a:no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0" name="AutoShape 12"/>
          <p:cNvSpPr>
            <a:spLocks noChangeArrowheads="1"/>
          </p:cNvSpPr>
          <p:nvPr/>
        </p:nvSpPr>
        <p:spPr bwMode="auto">
          <a:xfrm>
            <a:off x="2197100" y="3053080"/>
            <a:ext cx="1340485" cy="1053465"/>
          </a:xfrm>
          <a:custGeom>
            <a:avLst/>
            <a:gdLst>
              <a:gd name="T0" fmla="*/ 13440833 w 21600"/>
              <a:gd name="T1" fmla="*/ 23448910 h 21600"/>
              <a:gd name="T2" fmla="*/ 13440833 w 21600"/>
              <a:gd name="T3" fmla="*/ 23448910 h 21600"/>
              <a:gd name="T4" fmla="*/ 13440833 w 21600"/>
              <a:gd name="T5" fmla="*/ 23448910 h 21600"/>
              <a:gd name="T6" fmla="*/ 13440833 w 21600"/>
              <a:gd name="T7" fmla="*/ 23448910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19" tIns="45719" rIns="45719" bIns="45719"/>
          <a:lstStyle/>
          <a:p>
            <a:pPr fontAlgn="base" hangingPunct="0">
              <a:spcBef>
                <a:spcPct val="0"/>
              </a:spcBef>
              <a:spcAft>
                <a:spcPct val="0"/>
              </a:spcAft>
              <a:buFont typeface="Arial" panose="020B0604020202020204" pitchFamily="34" charset="0"/>
              <a:buNone/>
            </a:pPr>
            <a:r>
              <a:rPr lang="en-US" altLang="es-ES" sz="6000" dirty="0">
                <a:solidFill>
                  <a:srgbClr val="0070C0"/>
                </a:solidFill>
                <a:latin typeface="微软雅黑" panose="020B0503020204020204" pitchFamily="34" charset="-122"/>
                <a:ea typeface="微软雅黑" panose="020B0503020204020204" pitchFamily="34" charset="-122"/>
                <a:cs typeface="+mn-lt"/>
                <a:sym typeface="Arial" panose="020B0604020202020204" pitchFamily="34" charset="0"/>
              </a:rPr>
              <a:t>2</a:t>
            </a:r>
            <a:endParaRPr lang="en-US" altLang="es-ES" sz="6000" dirty="0">
              <a:solidFill>
                <a:srgbClr val="0070C0"/>
              </a:solidFill>
              <a:latin typeface="微软雅黑" panose="020B0503020204020204" pitchFamily="34" charset="-122"/>
              <a:ea typeface="微软雅黑" panose="020B0503020204020204" pitchFamily="34" charset="-122"/>
              <a:cs typeface="+mn-lt"/>
              <a:sym typeface="Arial" panose="020B0604020202020204" pitchFamily="34" charset="0"/>
            </a:endParaRPr>
          </a:p>
        </p:txBody>
      </p:sp>
      <p:sp>
        <p:nvSpPr>
          <p:cNvPr id="14" name="TextBox 35"/>
          <p:cNvSpPr txBox="1"/>
          <p:nvPr/>
        </p:nvSpPr>
        <p:spPr>
          <a:xfrm>
            <a:off x="3902075" y="2565400"/>
            <a:ext cx="7039610" cy="553085"/>
          </a:xfrm>
          <a:prstGeom prst="rect">
            <a:avLst/>
          </a:prstGeom>
          <a:noFill/>
        </p:spPr>
        <p:txBody>
          <a:bodyPr wrap="square" rtlCol="0">
            <a:spAutoFit/>
          </a:bodyPr>
          <a:lstStyle/>
          <a:p>
            <a:pPr lvl="0" algn="l">
              <a:lnSpc>
                <a:spcPct val="150000"/>
              </a:lnSpc>
              <a:spcBef>
                <a:spcPts val="0"/>
              </a:spcBef>
              <a:spcAft>
                <a:spcPts val="0"/>
              </a:spcAft>
              <a:buClrTx/>
              <a:buSzTx/>
              <a:buFontTx/>
              <a:defRPr/>
            </a:pPr>
            <a:r>
              <a:rPr lang="zh-CN" altLang="en-US" sz="2000" dirty="0">
                <a:solidFill>
                  <a:srgbClr val="595959"/>
                </a:solidFill>
                <a:latin typeface="微软雅黑" panose="020B0503020204020204" pitchFamily="34" charset="-122"/>
                <a:ea typeface="微软雅黑" panose="020B0503020204020204" pitchFamily="34" charset="-122"/>
                <a:cs typeface="+mn-lt"/>
                <a:sym typeface="+mn-ea"/>
              </a:rPr>
              <a:t>mysqldump命令备份</a:t>
            </a:r>
            <a:r>
              <a:rPr lang="zh-CN" altLang="en-US" sz="2000" dirty="0">
                <a:solidFill>
                  <a:srgbClr val="1369B2"/>
                </a:solidFill>
                <a:latin typeface="微软雅黑" panose="020B0503020204020204" pitchFamily="34" charset="-122"/>
                <a:ea typeface="微软雅黑" panose="020B0503020204020204" pitchFamily="34" charset="-122"/>
                <a:cs typeface="+mn-lt"/>
                <a:sym typeface="+mn-ea"/>
              </a:rPr>
              <a:t>多个</a:t>
            </a:r>
            <a:r>
              <a:rPr lang="zh-CN" altLang="en-US" sz="2000" dirty="0">
                <a:solidFill>
                  <a:srgbClr val="595959"/>
                </a:solidFill>
                <a:latin typeface="微软雅黑" panose="020B0503020204020204" pitchFamily="34" charset="-122"/>
                <a:ea typeface="微软雅黑" panose="020B0503020204020204" pitchFamily="34" charset="-122"/>
                <a:cs typeface="+mn-lt"/>
                <a:sym typeface="+mn-ea"/>
              </a:rPr>
              <a:t>数据库的语法格式如下。</a:t>
            </a:r>
            <a:endParaRPr lang="zh-CN" altLang="en-US" sz="2000" dirty="0">
              <a:solidFill>
                <a:srgbClr val="595959"/>
              </a:solidFill>
              <a:latin typeface="微软雅黑" panose="020B0503020204020204" pitchFamily="34" charset="-122"/>
              <a:ea typeface="微软雅黑" panose="020B0503020204020204" pitchFamily="34" charset="-122"/>
              <a:cs typeface="+mn-lt"/>
              <a:sym typeface="+mn-ea"/>
            </a:endParaRPr>
          </a:p>
        </p:txBody>
      </p:sp>
      <p:sp>
        <p:nvSpPr>
          <p:cNvPr id="15" name="文本框 14"/>
          <p:cNvSpPr txBox="1"/>
          <p:nvPr/>
        </p:nvSpPr>
        <p:spPr>
          <a:xfrm>
            <a:off x="3891280" y="1917065"/>
            <a:ext cx="6920230" cy="460375"/>
          </a:xfrm>
          <a:prstGeom prst="rect">
            <a:avLst/>
          </a:prstGeom>
          <a:noFill/>
        </p:spPr>
        <p:txBody>
          <a:bodyPr wrap="square" rtlCol="0">
            <a:spAutoFit/>
          </a:bodyPr>
          <a:lstStyle>
            <a:defPPr>
              <a:defRPr lang="zh-CN"/>
            </a:defPPr>
            <a:lvl1pPr defTabSz="913765">
              <a:defRPr b="1">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defRPr>
            </a:lvl1pPr>
          </a:lstStyle>
          <a:p>
            <a:r>
              <a:rPr lang="zh-CN" altLang="en-US" dirty="0">
                <a:solidFill>
                  <a:srgbClr val="595959"/>
                </a:solidFill>
                <a:sym typeface="+mn-ea"/>
              </a:rPr>
              <a:t>备份多个数据库</a:t>
            </a:r>
            <a:endParaRPr lang="zh-CN" altLang="en-US" dirty="0">
              <a:solidFill>
                <a:srgbClr val="595959"/>
              </a:solidFill>
              <a:sym typeface="+mn-ea"/>
            </a:endParaRPr>
          </a:p>
        </p:txBody>
      </p:sp>
      <p:sp>
        <p:nvSpPr>
          <p:cNvPr id="18" name="矩形 17"/>
          <p:cNvSpPr/>
          <p:nvPr/>
        </p:nvSpPr>
        <p:spPr>
          <a:xfrm>
            <a:off x="3902075" y="3285490"/>
            <a:ext cx="7148830" cy="6076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mysqldump -uusername –ppassword --database dbname1 [dbname2 dbname3…]&gt;filename.sql </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3" name="TextBox 35"/>
          <p:cNvSpPr txBox="1"/>
          <p:nvPr/>
        </p:nvSpPr>
        <p:spPr>
          <a:xfrm>
            <a:off x="3891280" y="4149725"/>
            <a:ext cx="7039610" cy="1014730"/>
          </a:xfrm>
          <a:prstGeom prst="rect">
            <a:avLst/>
          </a:prstGeom>
          <a:noFill/>
        </p:spPr>
        <p:txBody>
          <a:bodyPr wrap="square" rtlCol="0">
            <a:spAutoFit/>
          </a:bodyPr>
          <a:lstStyle/>
          <a:p>
            <a:pPr lvl="0" algn="l">
              <a:lnSpc>
                <a:spcPct val="150000"/>
              </a:lnSpc>
              <a:spcBef>
                <a:spcPts val="0"/>
              </a:spcBef>
              <a:spcAft>
                <a:spcPts val="0"/>
              </a:spcAft>
              <a:buClrTx/>
              <a:buSzTx/>
              <a:buFontTx/>
              <a:defRPr/>
            </a:pPr>
            <a:r>
              <a:rPr lang="zh-CN" altLang="en-US" sz="2000" dirty="0">
                <a:solidFill>
                  <a:srgbClr val="595959"/>
                </a:solidFill>
                <a:latin typeface="微软雅黑" panose="020B0503020204020204" pitchFamily="34" charset="-122"/>
                <a:ea typeface="微软雅黑" panose="020B0503020204020204" pitchFamily="34" charset="-122"/>
                <a:cs typeface="+mn-lt"/>
                <a:sym typeface="+mn-ea"/>
              </a:rPr>
              <a:t>上述语法格式中，“--database”参数后面</a:t>
            </a:r>
            <a:r>
              <a:rPr lang="zh-CN" altLang="en-US" sz="2000" dirty="0">
                <a:solidFill>
                  <a:srgbClr val="1369B2"/>
                </a:solidFill>
                <a:latin typeface="微软雅黑" panose="020B0503020204020204" pitchFamily="34" charset="-122"/>
                <a:ea typeface="微软雅黑" panose="020B0503020204020204" pitchFamily="34" charset="-122"/>
                <a:cs typeface="+mn-lt"/>
                <a:sym typeface="+mn-ea"/>
              </a:rPr>
              <a:t>至少应指定一个</a:t>
            </a:r>
            <a:r>
              <a:rPr lang="zh-CN" altLang="en-US" sz="2000" dirty="0">
                <a:solidFill>
                  <a:srgbClr val="595959"/>
                </a:solidFill>
                <a:latin typeface="微软雅黑" panose="020B0503020204020204" pitchFamily="34" charset="-122"/>
                <a:ea typeface="微软雅黑" panose="020B0503020204020204" pitchFamily="34" charset="-122"/>
                <a:cs typeface="+mn-lt"/>
                <a:sym typeface="+mn-ea"/>
              </a:rPr>
              <a:t>数据库名称，如果有多个数据库，则名称之间用</a:t>
            </a:r>
            <a:r>
              <a:rPr lang="zh-CN" altLang="en-US" sz="2000" dirty="0">
                <a:solidFill>
                  <a:srgbClr val="1369B2"/>
                </a:solidFill>
                <a:latin typeface="微软雅黑" panose="020B0503020204020204" pitchFamily="34" charset="-122"/>
                <a:ea typeface="微软雅黑" panose="020B0503020204020204" pitchFamily="34" charset="-122"/>
                <a:cs typeface="+mn-lt"/>
                <a:sym typeface="+mn-ea"/>
              </a:rPr>
              <a:t>空格</a:t>
            </a:r>
            <a:r>
              <a:rPr lang="zh-CN" altLang="en-US" sz="2000" dirty="0">
                <a:solidFill>
                  <a:srgbClr val="595959"/>
                </a:solidFill>
                <a:latin typeface="微软雅黑" panose="020B0503020204020204" pitchFamily="34" charset="-122"/>
                <a:ea typeface="微软雅黑" panose="020B0503020204020204" pitchFamily="34" charset="-122"/>
                <a:cs typeface="+mn-lt"/>
                <a:sym typeface="+mn-ea"/>
              </a:rPr>
              <a:t>隔开。</a:t>
            </a:r>
            <a:endParaRPr lang="zh-CN" altLang="en-US" sz="2000" dirty="0">
              <a:solidFill>
                <a:srgbClr val="595959"/>
              </a:solidFill>
              <a:latin typeface="微软雅黑" panose="020B0503020204020204" pitchFamily="34" charset="-122"/>
              <a:ea typeface="微软雅黑" panose="020B0503020204020204" pitchFamily="34" charset="-122"/>
              <a:cs typeface="+mn-lt"/>
              <a:sym typeface="+mn-ea"/>
            </a:endParaRPr>
          </a:p>
        </p:txBody>
      </p:sp>
      <p:sp>
        <p:nvSpPr>
          <p:cNvPr id="2"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9.1.1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数据库的备份</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Line 7"/>
          <p:cNvSpPr>
            <a:spLocks noChangeShapeType="1"/>
          </p:cNvSpPr>
          <p:nvPr/>
        </p:nvSpPr>
        <p:spPr bwMode="auto">
          <a:xfrm>
            <a:off x="1774825" y="2239010"/>
            <a:ext cx="12065" cy="1912620"/>
          </a:xfrm>
          <a:prstGeom prst="line">
            <a:avLst/>
          </a:prstGeom>
          <a:noFill/>
          <a:ln w="12700">
            <a:solidFill>
              <a:schemeClr val="accent1"/>
            </a:solidFill>
            <a:round/>
          </a:ln>
          <a:extLst>
            <a:ext uri="{909E8E84-426E-40DD-AFC4-6F175D3DCCD1}">
              <a14:hiddenFill xmlns:a14="http://schemas.microsoft.com/office/drawing/2010/main">
                <a:no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0" name="AutoShape 12"/>
          <p:cNvSpPr>
            <a:spLocks noChangeArrowheads="1"/>
          </p:cNvSpPr>
          <p:nvPr/>
        </p:nvSpPr>
        <p:spPr bwMode="auto">
          <a:xfrm>
            <a:off x="2197100" y="2694305"/>
            <a:ext cx="1340485" cy="1053465"/>
          </a:xfrm>
          <a:custGeom>
            <a:avLst/>
            <a:gdLst>
              <a:gd name="T0" fmla="*/ 13440833 w 21600"/>
              <a:gd name="T1" fmla="*/ 23448910 h 21600"/>
              <a:gd name="T2" fmla="*/ 13440833 w 21600"/>
              <a:gd name="T3" fmla="*/ 23448910 h 21600"/>
              <a:gd name="T4" fmla="*/ 13440833 w 21600"/>
              <a:gd name="T5" fmla="*/ 23448910 h 21600"/>
              <a:gd name="T6" fmla="*/ 13440833 w 21600"/>
              <a:gd name="T7" fmla="*/ 23448910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19" tIns="45719" rIns="45719" bIns="45719"/>
          <a:lstStyle/>
          <a:p>
            <a:pPr fontAlgn="base" hangingPunct="0">
              <a:spcBef>
                <a:spcPct val="0"/>
              </a:spcBef>
              <a:spcAft>
                <a:spcPct val="0"/>
              </a:spcAft>
              <a:buFont typeface="Arial" panose="020B0604020202020204" pitchFamily="34" charset="0"/>
              <a:buNone/>
            </a:pPr>
            <a:r>
              <a:rPr lang="en-US" altLang="es-ES" sz="6000" dirty="0">
                <a:solidFill>
                  <a:srgbClr val="0070C0"/>
                </a:solidFill>
                <a:latin typeface="微软雅黑" panose="020B0503020204020204" pitchFamily="34" charset="-122"/>
                <a:ea typeface="微软雅黑" panose="020B0503020204020204" pitchFamily="34" charset="-122"/>
                <a:cs typeface="+mn-lt"/>
                <a:sym typeface="Arial" panose="020B0604020202020204" pitchFamily="34" charset="0"/>
              </a:rPr>
              <a:t>3</a:t>
            </a:r>
            <a:endParaRPr lang="en-US" altLang="es-ES" sz="6000" dirty="0">
              <a:solidFill>
                <a:srgbClr val="0070C0"/>
              </a:solidFill>
              <a:latin typeface="微软雅黑" panose="020B0503020204020204" pitchFamily="34" charset="-122"/>
              <a:ea typeface="微软雅黑" panose="020B0503020204020204" pitchFamily="34" charset="-122"/>
              <a:cs typeface="+mn-lt"/>
              <a:sym typeface="Arial" panose="020B0604020202020204" pitchFamily="34" charset="0"/>
            </a:endParaRPr>
          </a:p>
        </p:txBody>
      </p:sp>
      <p:sp>
        <p:nvSpPr>
          <p:cNvPr id="14" name="TextBox 35"/>
          <p:cNvSpPr txBox="1"/>
          <p:nvPr/>
        </p:nvSpPr>
        <p:spPr>
          <a:xfrm>
            <a:off x="3891280" y="2134870"/>
            <a:ext cx="7039610" cy="1014730"/>
          </a:xfrm>
          <a:prstGeom prst="rect">
            <a:avLst/>
          </a:prstGeom>
          <a:noFill/>
        </p:spPr>
        <p:txBody>
          <a:bodyPr wrap="square" rtlCol="0">
            <a:spAutoFit/>
          </a:bodyPr>
          <a:lstStyle/>
          <a:p>
            <a:pPr lvl="0" algn="l">
              <a:lnSpc>
                <a:spcPct val="150000"/>
              </a:lnSpc>
              <a:spcBef>
                <a:spcPts val="0"/>
              </a:spcBef>
              <a:spcAft>
                <a:spcPts val="0"/>
              </a:spcAft>
              <a:buClrTx/>
              <a:buSzTx/>
              <a:buFontTx/>
              <a:defRPr/>
            </a:pPr>
            <a:r>
              <a:rPr lang="zh-CN" altLang="en-US" sz="2000" dirty="0">
                <a:solidFill>
                  <a:srgbClr val="595959"/>
                </a:solidFill>
                <a:latin typeface="微软雅黑" panose="020B0503020204020204" pitchFamily="34" charset="-122"/>
                <a:ea typeface="微软雅黑" panose="020B0503020204020204" pitchFamily="34" charset="-122"/>
                <a:cs typeface="+mn-lt"/>
                <a:sym typeface="+mn-ea"/>
              </a:rPr>
              <a:t>使用</a:t>
            </a:r>
            <a:r>
              <a:rPr lang="zh-CN" altLang="en-US" sz="2000" dirty="0">
                <a:solidFill>
                  <a:srgbClr val="1369B2"/>
                </a:solidFill>
                <a:latin typeface="微软雅黑" panose="020B0503020204020204" pitchFamily="34" charset="-122"/>
                <a:ea typeface="微软雅黑" panose="020B0503020204020204" pitchFamily="34" charset="-122"/>
                <a:cs typeface="+mn-lt"/>
                <a:sym typeface="+mn-ea"/>
              </a:rPr>
              <a:t>mysqldump</a:t>
            </a:r>
            <a:r>
              <a:rPr lang="zh-CN" altLang="en-US" sz="2000" dirty="0">
                <a:solidFill>
                  <a:srgbClr val="595959"/>
                </a:solidFill>
                <a:latin typeface="微软雅黑" panose="020B0503020204020204" pitchFamily="34" charset="-122"/>
                <a:ea typeface="微软雅黑" panose="020B0503020204020204" pitchFamily="34" charset="-122"/>
                <a:cs typeface="+mn-lt"/>
                <a:sym typeface="+mn-ea"/>
              </a:rPr>
              <a:t>命令备份所有数据库时，只需在该命令后使用“</a:t>
            </a:r>
            <a:r>
              <a:rPr lang="zh-CN" altLang="en-US" sz="2000" dirty="0">
                <a:solidFill>
                  <a:srgbClr val="1369B2"/>
                </a:solidFill>
                <a:latin typeface="微软雅黑" panose="020B0503020204020204" pitchFamily="34" charset="-122"/>
                <a:ea typeface="微软雅黑" panose="020B0503020204020204" pitchFamily="34" charset="-122"/>
                <a:cs typeface="+mn-lt"/>
                <a:sym typeface="+mn-ea"/>
              </a:rPr>
              <a:t>--all-databases</a:t>
            </a:r>
            <a:r>
              <a:rPr lang="zh-CN" altLang="en-US" sz="2000" dirty="0">
                <a:solidFill>
                  <a:srgbClr val="595959"/>
                </a:solidFill>
                <a:latin typeface="微软雅黑" panose="020B0503020204020204" pitchFamily="34" charset="-122"/>
                <a:ea typeface="微软雅黑" panose="020B0503020204020204" pitchFamily="34" charset="-122"/>
                <a:cs typeface="+mn-lt"/>
                <a:sym typeface="+mn-ea"/>
              </a:rPr>
              <a:t>”参数即可，其语法格式如下。</a:t>
            </a:r>
            <a:endParaRPr lang="zh-CN" altLang="en-US" sz="2000" dirty="0">
              <a:solidFill>
                <a:srgbClr val="595959"/>
              </a:solidFill>
              <a:latin typeface="微软雅黑" panose="020B0503020204020204" pitchFamily="34" charset="-122"/>
              <a:ea typeface="微软雅黑" panose="020B0503020204020204" pitchFamily="34" charset="-122"/>
              <a:cs typeface="+mn-lt"/>
              <a:sym typeface="+mn-ea"/>
            </a:endParaRPr>
          </a:p>
        </p:txBody>
      </p:sp>
      <p:sp>
        <p:nvSpPr>
          <p:cNvPr id="15" name="文本框 14"/>
          <p:cNvSpPr txBox="1"/>
          <p:nvPr/>
        </p:nvSpPr>
        <p:spPr>
          <a:xfrm>
            <a:off x="3862705" y="1486535"/>
            <a:ext cx="6920230" cy="460375"/>
          </a:xfrm>
          <a:prstGeom prst="rect">
            <a:avLst/>
          </a:prstGeom>
          <a:noFill/>
        </p:spPr>
        <p:txBody>
          <a:bodyPr wrap="square" rtlCol="0">
            <a:spAutoFit/>
          </a:bodyPr>
          <a:lstStyle>
            <a:defPPr>
              <a:defRPr lang="zh-CN"/>
            </a:defPPr>
            <a:lvl1pPr defTabSz="913765">
              <a:defRPr b="1">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defRPr>
            </a:lvl1pPr>
          </a:lstStyle>
          <a:p>
            <a:r>
              <a:rPr lang="zh-CN" altLang="en-US" dirty="0">
                <a:solidFill>
                  <a:srgbClr val="595959"/>
                </a:solidFill>
                <a:sym typeface="+mn-ea"/>
              </a:rPr>
              <a:t>备份所有数据库</a:t>
            </a:r>
            <a:endParaRPr lang="zh-CN" altLang="en-US" dirty="0">
              <a:solidFill>
                <a:srgbClr val="595959"/>
              </a:solidFill>
              <a:sym typeface="+mn-ea"/>
            </a:endParaRPr>
          </a:p>
        </p:txBody>
      </p:sp>
      <p:sp>
        <p:nvSpPr>
          <p:cNvPr id="18" name="矩形 17"/>
          <p:cNvSpPr/>
          <p:nvPr/>
        </p:nvSpPr>
        <p:spPr>
          <a:xfrm>
            <a:off x="4006850" y="3358515"/>
            <a:ext cx="7148830" cy="42227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mysqldump –uusername –ppassword --all-databases&gt;filename.sql</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3" name="TextBox 35"/>
          <p:cNvSpPr txBox="1"/>
          <p:nvPr/>
        </p:nvSpPr>
        <p:spPr>
          <a:xfrm>
            <a:off x="3891280" y="4078605"/>
            <a:ext cx="7039610" cy="1938020"/>
          </a:xfrm>
          <a:prstGeom prst="rect">
            <a:avLst/>
          </a:prstGeom>
          <a:noFill/>
        </p:spPr>
        <p:txBody>
          <a:bodyPr wrap="square" rtlCol="0">
            <a:spAutoFit/>
          </a:bodyPr>
          <a:lstStyle/>
          <a:p>
            <a:pPr lvl="0" algn="l">
              <a:lnSpc>
                <a:spcPct val="150000"/>
              </a:lnSpc>
              <a:spcBef>
                <a:spcPts val="0"/>
              </a:spcBef>
              <a:spcAft>
                <a:spcPts val="0"/>
              </a:spcAft>
              <a:buClrTx/>
              <a:buSzTx/>
              <a:buFontTx/>
              <a:defRPr/>
            </a:pPr>
            <a:r>
              <a:rPr lang="zh-CN" altLang="en-US" sz="2000" dirty="0">
                <a:solidFill>
                  <a:srgbClr val="595959"/>
                </a:solidFill>
                <a:latin typeface="微软雅黑" panose="020B0503020204020204" pitchFamily="34" charset="-122"/>
                <a:ea typeface="微软雅黑" panose="020B0503020204020204" pitchFamily="34" charset="-122"/>
                <a:cs typeface="+mn-lt"/>
                <a:sym typeface="+mn-ea"/>
              </a:rPr>
              <a:t>需要注意的是，如果使用“--all-databases”参数备份了所有的数据库，那么在还原数据库时，不需要创建数据库并指定要操作的数据库，因为备份文件中包含了CREATE DATABASE语句和USE语句</a:t>
            </a:r>
            <a:endParaRPr lang="zh-CN" altLang="en-US" sz="2000" dirty="0">
              <a:solidFill>
                <a:srgbClr val="595959"/>
              </a:solidFill>
              <a:latin typeface="微软雅黑" panose="020B0503020204020204" pitchFamily="34" charset="-122"/>
              <a:ea typeface="微软雅黑" panose="020B0503020204020204" pitchFamily="34" charset="-122"/>
              <a:cs typeface="+mn-lt"/>
              <a:sym typeface="+mn-ea"/>
            </a:endParaRPr>
          </a:p>
        </p:txBody>
      </p:sp>
      <p:sp>
        <p:nvSpPr>
          <p:cNvPr id="2"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9.1.1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数据库的备份</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344295" y="2013585"/>
            <a:ext cx="9876790" cy="3261360"/>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1923415" y="2493010"/>
            <a:ext cx="8507095" cy="922020"/>
          </a:xfrm>
          <a:prstGeom prst="rect">
            <a:avLst/>
          </a:prstGeom>
          <a:noFill/>
        </p:spPr>
        <p:txBody>
          <a:bodyPr wrap="square" rtlCol="0">
            <a:spAutoFit/>
          </a:bodyPr>
          <a:lstStyle/>
          <a:p>
            <a:pPr algn="l">
              <a:lnSpc>
                <a:spcPct val="150000"/>
              </a:lnSpc>
            </a:pPr>
            <a:r>
              <a:rPr lang="zh-CN" altLang="en-US" sz="1800" dirty="0" smtClean="0">
                <a:solidFill>
                  <a:srgbClr val="595959"/>
                </a:solidFill>
                <a:latin typeface="微软雅黑" panose="020B0503020204020204" pitchFamily="34" charset="-122"/>
                <a:ea typeface="微软雅黑" panose="020B0503020204020204" pitchFamily="34" charset="-122"/>
              </a:rPr>
              <a:t>例如，使用</a:t>
            </a:r>
            <a:r>
              <a:rPr lang="zh-CN" altLang="en-US" sz="1800" dirty="0" smtClean="0">
                <a:solidFill>
                  <a:srgbClr val="1369B2"/>
                </a:solidFill>
                <a:latin typeface="微软雅黑" panose="020B0503020204020204" pitchFamily="34" charset="-122"/>
                <a:ea typeface="微软雅黑" panose="020B0503020204020204" pitchFamily="34" charset="-122"/>
              </a:rPr>
              <a:t>mysqldump命令</a:t>
            </a:r>
            <a:r>
              <a:rPr lang="zh-CN" altLang="en-US" sz="1800" dirty="0" smtClean="0">
                <a:solidFill>
                  <a:srgbClr val="595959"/>
                </a:solidFill>
                <a:latin typeface="微软雅黑" panose="020B0503020204020204" pitchFamily="34" charset="-122"/>
                <a:ea typeface="微软雅黑" panose="020B0503020204020204" pitchFamily="34" charset="-122"/>
              </a:rPr>
              <a:t>备份数据库ems到</a:t>
            </a:r>
            <a:r>
              <a:rPr lang="zh-CN" altLang="en-US" sz="1800" dirty="0" smtClean="0">
                <a:solidFill>
                  <a:srgbClr val="595959"/>
                </a:solidFill>
                <a:latin typeface="微软雅黑" panose="020B0503020204020204" pitchFamily="34" charset="-122"/>
                <a:ea typeface="微软雅黑" panose="020B0503020204020204" pitchFamily="34" charset="-122"/>
                <a:sym typeface="+mn-ea"/>
              </a:rPr>
              <a:t>在D盘</a:t>
            </a:r>
            <a:r>
              <a:rPr lang="zh-CN" altLang="en-US" sz="1800" dirty="0" smtClean="0">
                <a:solidFill>
                  <a:srgbClr val="1369B2"/>
                </a:solidFill>
                <a:latin typeface="微软雅黑" panose="020B0503020204020204" pitchFamily="34" charset="-122"/>
                <a:ea typeface="微软雅黑" panose="020B0503020204020204" pitchFamily="34" charset="-122"/>
                <a:sym typeface="+mn-ea"/>
              </a:rPr>
              <a:t>backup的文件夹下，</a:t>
            </a:r>
            <a:r>
              <a:rPr lang="zh-CN" altLang="en-US" sz="1800" dirty="0" smtClean="0">
                <a:solidFill>
                  <a:srgbClr val="595959"/>
                </a:solidFill>
                <a:latin typeface="微软雅黑" panose="020B0503020204020204" pitchFamily="34" charset="-122"/>
                <a:ea typeface="微软雅黑" panose="020B0503020204020204" pitchFamily="34" charset="-122"/>
              </a:rPr>
              <a:t>语句如下所示。</a:t>
            </a:r>
            <a:endParaRPr lang="zh-CN" altLang="en-US" sz="1800" dirty="0" smtClean="0">
              <a:solidFill>
                <a:srgbClr val="595959"/>
              </a:solidFill>
              <a:latin typeface="微软雅黑" panose="020B0503020204020204" pitchFamily="34" charset="-122"/>
              <a:ea typeface="微软雅黑" panose="020B0503020204020204" pitchFamily="34" charset="-122"/>
            </a:endParaRPr>
          </a:p>
        </p:txBody>
      </p:sp>
      <p:sp>
        <p:nvSpPr>
          <p:cNvPr id="4" name="矩形 3"/>
          <p:cNvSpPr/>
          <p:nvPr/>
        </p:nvSpPr>
        <p:spPr>
          <a:xfrm>
            <a:off x="1923415" y="3790315"/>
            <a:ext cx="8602980" cy="101790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D:\Program Files&gt;mysqldump -uroot -p123456 ems&gt;D:/backup/ems_20210610.sql</a:t>
            </a:r>
            <a:endParaRPr lang="zh-CN" altLang="en-US"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mysqldump: [Warning] Using a password on the command line interface can be insecure.</a:t>
            </a:r>
            <a:endParaRPr lang="zh-CN" altLang="en-US" sz="18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p:txBody>
      </p:sp>
      <p:sp>
        <p:nvSpPr>
          <p:cNvPr id="2"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9.1.1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数据库的备份</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流程图: 过程 2"/>
          <p:cNvSpPr/>
          <p:nvPr/>
        </p:nvSpPr>
        <p:spPr>
          <a:xfrm>
            <a:off x="1702435" y="2307590"/>
            <a:ext cx="9166860" cy="2311400"/>
          </a:xfrm>
          <a:prstGeom prst="flowChartProcess">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1951990" y="2709545"/>
            <a:ext cx="8668385" cy="1476375"/>
          </a:xfrm>
          <a:prstGeom prst="rect">
            <a:avLst/>
          </a:prstGeom>
          <a:noFill/>
        </p:spPr>
        <p:txBody>
          <a:bodyPr wrap="square" rtlCol="0">
            <a:spAutoFit/>
          </a:bodyPr>
          <a:lstStyle/>
          <a:p>
            <a:pPr algn="l">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mn-ea"/>
              </a:rPr>
              <a:t>当数据库中的数据遭到破坏时，可以通过备份好的数据文件将数据还原，数据</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还原</a:t>
            </a:r>
            <a:r>
              <a:rPr lang="zh-CN" altLang="en-US" sz="2000" dirty="0" smtClean="0">
                <a:solidFill>
                  <a:srgbClr val="595959"/>
                </a:solidFill>
                <a:latin typeface="微软雅黑" panose="020B0503020204020204" pitchFamily="34" charset="-122"/>
                <a:ea typeface="微软雅黑" panose="020B0503020204020204" pitchFamily="34" charset="-122"/>
                <a:sym typeface="+mn-ea"/>
              </a:rPr>
              <a:t>可以使用</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mysql命令</a:t>
            </a:r>
            <a:r>
              <a:rPr lang="zh-CN" altLang="en-US" sz="2000" dirty="0" smtClean="0">
                <a:solidFill>
                  <a:srgbClr val="595959"/>
                </a:solidFill>
                <a:latin typeface="微软雅黑" panose="020B0503020204020204" pitchFamily="34" charset="-122"/>
                <a:ea typeface="微软雅黑" panose="020B0503020204020204" pitchFamily="34" charset="-122"/>
                <a:sym typeface="+mn-ea"/>
              </a:rPr>
              <a:t>和</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source命令</a:t>
            </a:r>
            <a:r>
              <a:rPr lang="zh-CN" altLang="en-US" sz="2000" dirty="0" smtClean="0">
                <a:solidFill>
                  <a:srgbClr val="595959"/>
                </a:solidFill>
                <a:latin typeface="微软雅黑" panose="020B0503020204020204" pitchFamily="34" charset="-122"/>
                <a:ea typeface="微软雅黑" panose="020B0503020204020204" pitchFamily="34" charset="-122"/>
                <a:sym typeface="+mn-ea"/>
              </a:rPr>
              <a:t>实现，下面分别介绍mysql命令和source命令的使用。</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sp>
        <p:nvSpPr>
          <p:cNvPr id="7"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9.1.2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数据库的还原</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Line 7"/>
          <p:cNvSpPr>
            <a:spLocks noChangeShapeType="1"/>
          </p:cNvSpPr>
          <p:nvPr/>
        </p:nvSpPr>
        <p:spPr bwMode="auto">
          <a:xfrm>
            <a:off x="1774825" y="2597785"/>
            <a:ext cx="12065" cy="1912620"/>
          </a:xfrm>
          <a:prstGeom prst="line">
            <a:avLst/>
          </a:prstGeom>
          <a:noFill/>
          <a:ln w="12700">
            <a:solidFill>
              <a:schemeClr val="accent1"/>
            </a:solidFill>
            <a:round/>
          </a:ln>
          <a:extLst>
            <a:ext uri="{909E8E84-426E-40DD-AFC4-6F175D3DCCD1}">
              <a14:hiddenFill xmlns:a14="http://schemas.microsoft.com/office/drawing/2010/main">
                <a:no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0" name="AutoShape 12"/>
          <p:cNvSpPr>
            <a:spLocks noChangeArrowheads="1"/>
          </p:cNvSpPr>
          <p:nvPr/>
        </p:nvSpPr>
        <p:spPr bwMode="auto">
          <a:xfrm>
            <a:off x="2197100" y="3053080"/>
            <a:ext cx="1340485" cy="1053465"/>
          </a:xfrm>
          <a:custGeom>
            <a:avLst/>
            <a:gdLst>
              <a:gd name="T0" fmla="*/ 13440833 w 21600"/>
              <a:gd name="T1" fmla="*/ 23448910 h 21600"/>
              <a:gd name="T2" fmla="*/ 13440833 w 21600"/>
              <a:gd name="T3" fmla="*/ 23448910 h 21600"/>
              <a:gd name="T4" fmla="*/ 13440833 w 21600"/>
              <a:gd name="T5" fmla="*/ 23448910 h 21600"/>
              <a:gd name="T6" fmla="*/ 13440833 w 21600"/>
              <a:gd name="T7" fmla="*/ 23448910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19" tIns="45719" rIns="45719" bIns="45719"/>
          <a:lstStyle/>
          <a:p>
            <a:pPr fontAlgn="base" hangingPunct="0">
              <a:spcBef>
                <a:spcPct val="0"/>
              </a:spcBef>
              <a:spcAft>
                <a:spcPct val="0"/>
              </a:spcAft>
              <a:buFont typeface="Arial" panose="020B0604020202020204" pitchFamily="34" charset="0"/>
              <a:buNone/>
            </a:pPr>
            <a:r>
              <a:rPr lang="en-US" altLang="es-ES" sz="6000" dirty="0">
                <a:solidFill>
                  <a:srgbClr val="0070C0"/>
                </a:solidFill>
                <a:latin typeface="微软雅黑" panose="020B0503020204020204" pitchFamily="34" charset="-122"/>
                <a:ea typeface="微软雅黑" panose="020B0503020204020204" pitchFamily="34" charset="-122"/>
                <a:cs typeface="+mn-lt"/>
                <a:sym typeface="Arial" panose="020B0604020202020204" pitchFamily="34" charset="0"/>
              </a:rPr>
              <a:t>1</a:t>
            </a:r>
            <a:endParaRPr lang="en-US" altLang="es-ES" sz="6000" dirty="0">
              <a:solidFill>
                <a:srgbClr val="0070C0"/>
              </a:solidFill>
              <a:latin typeface="微软雅黑" panose="020B0503020204020204" pitchFamily="34" charset="-122"/>
              <a:ea typeface="微软雅黑" panose="020B0503020204020204" pitchFamily="34" charset="-122"/>
              <a:cs typeface="+mn-lt"/>
              <a:sym typeface="Arial" panose="020B0604020202020204" pitchFamily="34" charset="0"/>
            </a:endParaRPr>
          </a:p>
        </p:txBody>
      </p:sp>
      <p:sp>
        <p:nvSpPr>
          <p:cNvPr id="14" name="TextBox 35"/>
          <p:cNvSpPr txBox="1"/>
          <p:nvPr/>
        </p:nvSpPr>
        <p:spPr>
          <a:xfrm>
            <a:off x="3947795" y="2349500"/>
            <a:ext cx="7039610" cy="1198880"/>
          </a:xfrm>
          <a:prstGeom prst="rect">
            <a:avLst/>
          </a:prstGeom>
          <a:noFill/>
        </p:spPr>
        <p:txBody>
          <a:bodyPr wrap="square" rtlCol="0">
            <a:spAutoFit/>
          </a:bodyPr>
          <a:lstStyle/>
          <a:p>
            <a:pPr lvl="0" algn="l">
              <a:lnSpc>
                <a:spcPct val="150000"/>
              </a:lnSpc>
              <a:spcBef>
                <a:spcPts val="0"/>
              </a:spcBef>
              <a:spcAft>
                <a:spcPts val="0"/>
              </a:spcAft>
              <a:buClrTx/>
              <a:buSzTx/>
              <a:buFontTx/>
              <a:defRPr/>
            </a:pP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通过前面的讲解可知，备份文件中由</a:t>
            </a:r>
            <a:r>
              <a:rPr lang="zh-CN" altLang="en-US" sz="1600" dirty="0">
                <a:solidFill>
                  <a:srgbClr val="1369B2"/>
                </a:solidFill>
                <a:latin typeface="微软雅黑" panose="020B0503020204020204" pitchFamily="34" charset="-122"/>
                <a:ea typeface="微软雅黑" panose="020B0503020204020204" pitchFamily="34" charset="-122"/>
                <a:cs typeface="+mn-lt"/>
                <a:sym typeface="+mn-ea"/>
              </a:rPr>
              <a:t>注释</a:t>
            </a: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和</a:t>
            </a:r>
            <a:r>
              <a:rPr lang="zh-CN" altLang="en-US" sz="1600" dirty="0">
                <a:solidFill>
                  <a:srgbClr val="1369B2"/>
                </a:solidFill>
                <a:latin typeface="微软雅黑" panose="020B0503020204020204" pitchFamily="34" charset="-122"/>
                <a:ea typeface="微软雅黑" panose="020B0503020204020204" pitchFamily="34" charset="-122"/>
                <a:cs typeface="+mn-lt"/>
                <a:sym typeface="+mn-ea"/>
              </a:rPr>
              <a:t>SQL</a:t>
            </a: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组成，因此可以使用</a:t>
            </a:r>
            <a:r>
              <a:rPr lang="zh-CN" altLang="en-US" sz="1600" dirty="0">
                <a:solidFill>
                  <a:srgbClr val="1369B2"/>
                </a:solidFill>
                <a:latin typeface="微软雅黑" panose="020B0503020204020204" pitchFamily="34" charset="-122"/>
                <a:ea typeface="微软雅黑" panose="020B0503020204020204" pitchFamily="34" charset="-122"/>
                <a:cs typeface="+mn-lt"/>
                <a:sym typeface="+mn-ea"/>
              </a:rPr>
              <a:t>mysql</a:t>
            </a: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命令执行这些SQL将数据还原。</a:t>
            </a:r>
            <a:endParaRPr lang="zh-CN" altLang="en-US" sz="1600" dirty="0">
              <a:solidFill>
                <a:srgbClr val="595959"/>
              </a:solidFill>
              <a:latin typeface="微软雅黑" panose="020B0503020204020204" pitchFamily="34" charset="-122"/>
              <a:ea typeface="微软雅黑" panose="020B0503020204020204" pitchFamily="34" charset="-122"/>
              <a:cs typeface="+mn-lt"/>
              <a:sym typeface="+mn-ea"/>
            </a:endParaRPr>
          </a:p>
          <a:p>
            <a:pPr lvl="0" algn="l">
              <a:lnSpc>
                <a:spcPct val="150000"/>
              </a:lnSpc>
              <a:spcBef>
                <a:spcPts val="0"/>
              </a:spcBef>
              <a:spcAft>
                <a:spcPts val="0"/>
              </a:spcAft>
              <a:buClrTx/>
              <a:buSzTx/>
              <a:buFontTx/>
              <a:defRPr/>
            </a:pP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mysql命令还原数据的语法格式如下。 </a:t>
            </a:r>
            <a:endParaRPr lang="zh-CN" altLang="en-US" sz="1600" dirty="0">
              <a:solidFill>
                <a:srgbClr val="595959"/>
              </a:solidFill>
              <a:latin typeface="微软雅黑" panose="020B0503020204020204" pitchFamily="34" charset="-122"/>
              <a:ea typeface="微软雅黑" panose="020B0503020204020204" pitchFamily="34" charset="-122"/>
              <a:cs typeface="+mn-lt"/>
              <a:sym typeface="+mn-ea"/>
            </a:endParaRPr>
          </a:p>
        </p:txBody>
      </p:sp>
      <p:sp>
        <p:nvSpPr>
          <p:cNvPr id="15" name="文本框 14"/>
          <p:cNvSpPr txBox="1"/>
          <p:nvPr/>
        </p:nvSpPr>
        <p:spPr>
          <a:xfrm>
            <a:off x="3934460" y="1701165"/>
            <a:ext cx="6920230" cy="460375"/>
          </a:xfrm>
          <a:prstGeom prst="rect">
            <a:avLst/>
          </a:prstGeom>
          <a:noFill/>
        </p:spPr>
        <p:txBody>
          <a:bodyPr wrap="square" rtlCol="0">
            <a:spAutoFit/>
          </a:bodyPr>
          <a:lstStyle>
            <a:defPPr>
              <a:defRPr lang="zh-CN"/>
            </a:defPPr>
            <a:lvl1pPr defTabSz="913765">
              <a:defRPr b="1">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defRPr>
            </a:lvl1pPr>
          </a:lstStyle>
          <a:p>
            <a:r>
              <a:rPr lang="zh-CN" altLang="en-US" dirty="0">
                <a:solidFill>
                  <a:srgbClr val="595959"/>
                </a:solidFill>
                <a:sym typeface="+mn-ea"/>
              </a:rPr>
              <a:t>使用mysql命令还原数据</a:t>
            </a:r>
            <a:endParaRPr lang="zh-CN" altLang="en-US" dirty="0">
              <a:solidFill>
                <a:srgbClr val="595959"/>
              </a:solidFill>
              <a:sym typeface="+mn-ea"/>
            </a:endParaRPr>
          </a:p>
        </p:txBody>
      </p:sp>
      <p:sp>
        <p:nvSpPr>
          <p:cNvPr id="18" name="矩形 17"/>
          <p:cNvSpPr/>
          <p:nvPr/>
        </p:nvSpPr>
        <p:spPr>
          <a:xfrm>
            <a:off x="3997960" y="3861435"/>
            <a:ext cx="6711315" cy="42227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mysql –uusername –ppassword [dbname] &lt;filename.sql</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3" name="TextBox 35"/>
          <p:cNvSpPr txBox="1"/>
          <p:nvPr/>
        </p:nvSpPr>
        <p:spPr>
          <a:xfrm>
            <a:off x="3947795" y="4653915"/>
            <a:ext cx="7039610" cy="829945"/>
          </a:xfrm>
          <a:prstGeom prst="rect">
            <a:avLst/>
          </a:prstGeom>
          <a:noFill/>
        </p:spPr>
        <p:txBody>
          <a:bodyPr wrap="square" rtlCol="0">
            <a:spAutoFit/>
          </a:bodyPr>
          <a:lstStyle/>
          <a:p>
            <a:pPr lvl="0" algn="l">
              <a:lnSpc>
                <a:spcPct val="150000"/>
              </a:lnSpc>
              <a:spcBef>
                <a:spcPts val="0"/>
              </a:spcBef>
              <a:spcAft>
                <a:spcPts val="0"/>
              </a:spcAft>
              <a:buClrTx/>
              <a:buSzTx/>
              <a:buFontTx/>
              <a:defRPr/>
            </a:pP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上述语法格式中，username表示登录的用户名，password表示用户的密码，dbname表示要还原的数据库名称。</a:t>
            </a:r>
            <a:endParaRPr lang="zh-CN" altLang="en-US" sz="1600" dirty="0">
              <a:solidFill>
                <a:srgbClr val="595959"/>
              </a:solidFill>
              <a:latin typeface="微软雅黑" panose="020B0503020204020204" pitchFamily="34" charset="-122"/>
              <a:ea typeface="微软雅黑" panose="020B0503020204020204" pitchFamily="34" charset="-122"/>
              <a:cs typeface="+mn-lt"/>
              <a:sym typeface="+mn-ea"/>
            </a:endParaRPr>
          </a:p>
        </p:txBody>
      </p:sp>
      <p:sp>
        <p:nvSpPr>
          <p:cNvPr id="2"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9.1.2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数据库的还原</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627505" y="1726565"/>
            <a:ext cx="9368790" cy="420052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1889125" y="1774825"/>
            <a:ext cx="8860790" cy="1568450"/>
          </a:xfrm>
          <a:prstGeom prst="rect">
            <a:avLst/>
          </a:prstGeom>
          <a:noFill/>
        </p:spPr>
        <p:txBody>
          <a:bodyPr wrap="square" rtlCol="0">
            <a:spAutoFit/>
          </a:bodyPr>
          <a:lstStyle/>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下面通过一个案例演示数据的还原，具体操作步骤如下。</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（1）</a:t>
            </a:r>
            <a:r>
              <a:rPr lang="zh-CN" altLang="en-US" sz="1600" dirty="0" smtClean="0">
                <a:solidFill>
                  <a:srgbClr val="1369B2"/>
                </a:solidFill>
                <a:latin typeface="微软雅黑" panose="020B0503020204020204" pitchFamily="34" charset="-122"/>
                <a:ea typeface="微软雅黑" panose="020B0503020204020204" pitchFamily="34" charset="-122"/>
              </a:rPr>
              <a:t>创建数据库</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由于之前备份的SQL脚本中没有创建数据库的语句，所以需要先创建一个数据库，用于还原数据时选择的数据库，例如，创建数据库emp_backup，创建数据库语句如下。</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
        <p:nvSpPr>
          <p:cNvPr id="4" name="矩形 3"/>
          <p:cNvSpPr/>
          <p:nvPr/>
        </p:nvSpPr>
        <p:spPr>
          <a:xfrm>
            <a:off x="2062480" y="3415030"/>
            <a:ext cx="7626350" cy="4819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CREATE DATABASE ems_backup;</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 name="文本框 1"/>
          <p:cNvSpPr txBox="1"/>
          <p:nvPr/>
        </p:nvSpPr>
        <p:spPr>
          <a:xfrm>
            <a:off x="1918970" y="3935095"/>
            <a:ext cx="8676005" cy="1198880"/>
          </a:xfrm>
          <a:prstGeom prst="rect">
            <a:avLst/>
          </a:prstGeom>
          <a:noFill/>
        </p:spPr>
        <p:txBody>
          <a:bodyPr wrap="square" rtlCol="0">
            <a:spAutoFit/>
          </a:bodyPr>
          <a:lstStyle/>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（2）</a:t>
            </a:r>
            <a:r>
              <a:rPr lang="zh-CN" altLang="en-US" sz="1600" dirty="0" smtClean="0">
                <a:solidFill>
                  <a:srgbClr val="1369B2"/>
                </a:solidFill>
                <a:latin typeface="微软雅黑" panose="020B0503020204020204" pitchFamily="34" charset="-122"/>
                <a:ea typeface="微软雅黑" panose="020B0503020204020204" pitchFamily="34" charset="-122"/>
              </a:rPr>
              <a:t>还原数据</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mysql命令可以读取D:/backup目录下的ems_20210610.sql文件还原数据。使用mysql命令还原数据时，不需要登录MySQL，直接在命令行窗口执行即可，具体语句如下。</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
        <p:nvSpPr>
          <p:cNvPr id="8" name="矩形 7"/>
          <p:cNvSpPr/>
          <p:nvPr/>
        </p:nvSpPr>
        <p:spPr>
          <a:xfrm>
            <a:off x="1990725" y="5231130"/>
            <a:ext cx="7626350" cy="4819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mysql -uroot -p123456 ems_backup &lt;D:/backup/ems_20210610.sql</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9"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9.1.2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数据库的还原</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Line 7"/>
          <p:cNvSpPr>
            <a:spLocks noChangeShapeType="1"/>
          </p:cNvSpPr>
          <p:nvPr/>
        </p:nvSpPr>
        <p:spPr bwMode="auto">
          <a:xfrm>
            <a:off x="1774825" y="2382520"/>
            <a:ext cx="12065" cy="1912620"/>
          </a:xfrm>
          <a:prstGeom prst="line">
            <a:avLst/>
          </a:prstGeom>
          <a:noFill/>
          <a:ln w="12700">
            <a:solidFill>
              <a:schemeClr val="accent1"/>
            </a:solidFill>
            <a:round/>
          </a:ln>
          <a:extLst>
            <a:ext uri="{909E8E84-426E-40DD-AFC4-6F175D3DCCD1}">
              <a14:hiddenFill xmlns:a14="http://schemas.microsoft.com/office/drawing/2010/main">
                <a:no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0" name="AutoShape 12"/>
          <p:cNvSpPr>
            <a:spLocks noChangeArrowheads="1"/>
          </p:cNvSpPr>
          <p:nvPr/>
        </p:nvSpPr>
        <p:spPr bwMode="auto">
          <a:xfrm>
            <a:off x="2197100" y="2837815"/>
            <a:ext cx="1340485" cy="1053465"/>
          </a:xfrm>
          <a:custGeom>
            <a:avLst/>
            <a:gdLst>
              <a:gd name="T0" fmla="*/ 13440833 w 21600"/>
              <a:gd name="T1" fmla="*/ 23448910 h 21600"/>
              <a:gd name="T2" fmla="*/ 13440833 w 21600"/>
              <a:gd name="T3" fmla="*/ 23448910 h 21600"/>
              <a:gd name="T4" fmla="*/ 13440833 w 21600"/>
              <a:gd name="T5" fmla="*/ 23448910 h 21600"/>
              <a:gd name="T6" fmla="*/ 13440833 w 21600"/>
              <a:gd name="T7" fmla="*/ 23448910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19" tIns="45719" rIns="45719" bIns="45719"/>
          <a:lstStyle/>
          <a:p>
            <a:pPr fontAlgn="base" hangingPunct="0">
              <a:spcBef>
                <a:spcPct val="0"/>
              </a:spcBef>
              <a:spcAft>
                <a:spcPct val="0"/>
              </a:spcAft>
              <a:buFont typeface="Arial" panose="020B0604020202020204" pitchFamily="34" charset="0"/>
              <a:buNone/>
            </a:pPr>
            <a:r>
              <a:rPr lang="en-US" altLang="es-ES" sz="6000" dirty="0">
                <a:solidFill>
                  <a:srgbClr val="0070C0"/>
                </a:solidFill>
                <a:latin typeface="微软雅黑" panose="020B0503020204020204" pitchFamily="34" charset="-122"/>
                <a:ea typeface="微软雅黑" panose="020B0503020204020204" pitchFamily="34" charset="-122"/>
                <a:cs typeface="+mn-lt"/>
                <a:sym typeface="Arial" panose="020B0604020202020204" pitchFamily="34" charset="0"/>
              </a:rPr>
              <a:t>2</a:t>
            </a:r>
            <a:endParaRPr lang="en-US" altLang="es-ES" sz="6000" dirty="0">
              <a:solidFill>
                <a:srgbClr val="0070C0"/>
              </a:solidFill>
              <a:latin typeface="微软雅黑" panose="020B0503020204020204" pitchFamily="34" charset="-122"/>
              <a:ea typeface="微软雅黑" panose="020B0503020204020204" pitchFamily="34" charset="-122"/>
              <a:cs typeface="+mn-lt"/>
              <a:sym typeface="Arial" panose="020B0604020202020204" pitchFamily="34" charset="0"/>
            </a:endParaRPr>
          </a:p>
        </p:txBody>
      </p:sp>
      <p:sp>
        <p:nvSpPr>
          <p:cNvPr id="14" name="TextBox 35"/>
          <p:cNvSpPr txBox="1"/>
          <p:nvPr/>
        </p:nvSpPr>
        <p:spPr>
          <a:xfrm>
            <a:off x="3925570" y="2205990"/>
            <a:ext cx="7039610" cy="1476375"/>
          </a:xfrm>
          <a:prstGeom prst="rect">
            <a:avLst/>
          </a:prstGeom>
          <a:noFill/>
        </p:spPr>
        <p:txBody>
          <a:bodyPr wrap="square" rtlCol="0">
            <a:spAutoFit/>
          </a:bodyPr>
          <a:lstStyle/>
          <a:p>
            <a:pPr lvl="0" algn="l">
              <a:lnSpc>
                <a:spcPct val="150000"/>
              </a:lnSpc>
              <a:spcBef>
                <a:spcPts val="0"/>
              </a:spcBef>
              <a:spcAft>
                <a:spcPts val="0"/>
              </a:spcAft>
              <a:buClrTx/>
              <a:buSzTx/>
              <a:buFontTx/>
              <a:defRPr/>
            </a:pPr>
            <a:r>
              <a:rPr lang="zh-CN" altLang="en-US" sz="2000" dirty="0">
                <a:solidFill>
                  <a:srgbClr val="595959"/>
                </a:solidFill>
                <a:latin typeface="微软雅黑" panose="020B0503020204020204" pitchFamily="34" charset="-122"/>
                <a:ea typeface="微软雅黑" panose="020B0503020204020204" pitchFamily="34" charset="-122"/>
                <a:cs typeface="+mn-lt"/>
                <a:sym typeface="+mn-ea"/>
              </a:rPr>
              <a:t>除了可以使用mysql命令对备份的数据进行还原，还可以使用source命令来还原数据，</a:t>
            </a:r>
            <a:r>
              <a:rPr lang="zh-CN" altLang="en-US" sz="2000" dirty="0">
                <a:solidFill>
                  <a:srgbClr val="1369B2"/>
                </a:solidFill>
                <a:latin typeface="微软雅黑" panose="020B0503020204020204" pitchFamily="34" charset="-122"/>
                <a:ea typeface="微软雅黑" panose="020B0503020204020204" pitchFamily="34" charset="-122"/>
                <a:cs typeface="+mn-lt"/>
                <a:sym typeface="+mn-ea"/>
              </a:rPr>
              <a:t>source命令</a:t>
            </a:r>
            <a:r>
              <a:rPr lang="zh-CN" altLang="en-US" sz="2000" dirty="0">
                <a:solidFill>
                  <a:srgbClr val="595959"/>
                </a:solidFill>
                <a:latin typeface="微软雅黑" panose="020B0503020204020204" pitchFamily="34" charset="-122"/>
                <a:ea typeface="微软雅黑" panose="020B0503020204020204" pitchFamily="34" charset="-122"/>
                <a:cs typeface="+mn-lt"/>
                <a:sym typeface="+mn-ea"/>
              </a:rPr>
              <a:t>还原数据的语法格式如下。 </a:t>
            </a:r>
            <a:endParaRPr lang="zh-CN" altLang="en-US" sz="2000" dirty="0">
              <a:solidFill>
                <a:srgbClr val="595959"/>
              </a:solidFill>
              <a:latin typeface="微软雅黑" panose="020B0503020204020204" pitchFamily="34" charset="-122"/>
              <a:ea typeface="微软雅黑" panose="020B0503020204020204" pitchFamily="34" charset="-122"/>
              <a:cs typeface="+mn-lt"/>
              <a:sym typeface="+mn-ea"/>
            </a:endParaRPr>
          </a:p>
        </p:txBody>
      </p:sp>
      <p:sp>
        <p:nvSpPr>
          <p:cNvPr id="15" name="文本框 14"/>
          <p:cNvSpPr txBox="1"/>
          <p:nvPr/>
        </p:nvSpPr>
        <p:spPr>
          <a:xfrm>
            <a:off x="3934460" y="1558290"/>
            <a:ext cx="6920230" cy="460375"/>
          </a:xfrm>
          <a:prstGeom prst="rect">
            <a:avLst/>
          </a:prstGeom>
          <a:noFill/>
        </p:spPr>
        <p:txBody>
          <a:bodyPr wrap="square" rtlCol="0">
            <a:spAutoFit/>
          </a:bodyPr>
          <a:lstStyle>
            <a:defPPr>
              <a:defRPr lang="zh-CN"/>
            </a:defPPr>
            <a:lvl1pPr defTabSz="913765">
              <a:defRPr b="1">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defRPr>
            </a:lvl1pPr>
          </a:lstStyle>
          <a:p>
            <a:r>
              <a:rPr lang="zh-CN" altLang="en-US" dirty="0">
                <a:solidFill>
                  <a:srgbClr val="595959"/>
                </a:solidFill>
                <a:sym typeface="+mn-ea"/>
              </a:rPr>
              <a:t>使用source命令还原数据</a:t>
            </a:r>
            <a:endParaRPr lang="zh-CN" altLang="en-US" dirty="0">
              <a:solidFill>
                <a:srgbClr val="595959"/>
              </a:solidFill>
              <a:sym typeface="+mn-ea"/>
            </a:endParaRPr>
          </a:p>
        </p:txBody>
      </p:sp>
      <p:sp>
        <p:nvSpPr>
          <p:cNvPr id="18" name="矩形 17"/>
          <p:cNvSpPr/>
          <p:nvPr/>
        </p:nvSpPr>
        <p:spPr>
          <a:xfrm>
            <a:off x="4038600" y="3931920"/>
            <a:ext cx="6711315" cy="42227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source filename.sql</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3" name="TextBox 35"/>
          <p:cNvSpPr txBox="1"/>
          <p:nvPr/>
        </p:nvSpPr>
        <p:spPr>
          <a:xfrm>
            <a:off x="4006850" y="4510405"/>
            <a:ext cx="7039610" cy="1014730"/>
          </a:xfrm>
          <a:prstGeom prst="rect">
            <a:avLst/>
          </a:prstGeom>
          <a:noFill/>
        </p:spPr>
        <p:txBody>
          <a:bodyPr wrap="square" rtlCol="0">
            <a:spAutoFit/>
          </a:bodyPr>
          <a:lstStyle/>
          <a:p>
            <a:pPr lvl="0" algn="l">
              <a:lnSpc>
                <a:spcPct val="150000"/>
              </a:lnSpc>
              <a:spcBef>
                <a:spcPts val="0"/>
              </a:spcBef>
              <a:spcAft>
                <a:spcPts val="0"/>
              </a:spcAft>
              <a:buClrTx/>
              <a:buSzTx/>
              <a:buFontTx/>
              <a:defRPr/>
            </a:pPr>
            <a:r>
              <a:rPr lang="zh-CN" altLang="en-US" sz="2000" dirty="0">
                <a:solidFill>
                  <a:srgbClr val="595959"/>
                </a:solidFill>
                <a:latin typeface="微软雅黑" panose="020B0503020204020204" pitchFamily="34" charset="-122"/>
                <a:ea typeface="微软雅黑" panose="020B0503020204020204" pitchFamily="34" charset="-122"/>
                <a:cs typeface="+mn-lt"/>
                <a:sym typeface="+mn-ea"/>
              </a:rPr>
              <a:t>source命令的语法格式比较简单，只需要指定导入文件的</a:t>
            </a:r>
            <a:r>
              <a:rPr lang="zh-CN" altLang="en-US" sz="2000" dirty="0">
                <a:solidFill>
                  <a:srgbClr val="1369B2"/>
                </a:solidFill>
                <a:latin typeface="微软雅黑" panose="020B0503020204020204" pitchFamily="34" charset="-122"/>
                <a:ea typeface="微软雅黑" panose="020B0503020204020204" pitchFamily="34" charset="-122"/>
                <a:cs typeface="+mn-lt"/>
                <a:sym typeface="+mn-ea"/>
              </a:rPr>
              <a:t>名称</a:t>
            </a:r>
            <a:r>
              <a:rPr lang="zh-CN" altLang="en-US" sz="2000" dirty="0">
                <a:solidFill>
                  <a:srgbClr val="595959"/>
                </a:solidFill>
                <a:latin typeface="微软雅黑" panose="020B0503020204020204" pitchFamily="34" charset="-122"/>
                <a:ea typeface="微软雅黑" panose="020B0503020204020204" pitchFamily="34" charset="-122"/>
                <a:cs typeface="+mn-lt"/>
                <a:sym typeface="+mn-ea"/>
              </a:rPr>
              <a:t>和</a:t>
            </a:r>
            <a:r>
              <a:rPr lang="zh-CN" altLang="en-US" sz="2000" dirty="0">
                <a:solidFill>
                  <a:srgbClr val="1369B2"/>
                </a:solidFill>
                <a:latin typeface="微软雅黑" panose="020B0503020204020204" pitchFamily="34" charset="-122"/>
                <a:ea typeface="微软雅黑" panose="020B0503020204020204" pitchFamily="34" charset="-122"/>
                <a:cs typeface="+mn-lt"/>
                <a:sym typeface="+mn-ea"/>
              </a:rPr>
              <a:t>路径</a:t>
            </a:r>
            <a:r>
              <a:rPr lang="zh-CN" altLang="en-US" sz="2000" dirty="0">
                <a:solidFill>
                  <a:srgbClr val="595959"/>
                </a:solidFill>
                <a:latin typeface="微软雅黑" panose="020B0503020204020204" pitchFamily="34" charset="-122"/>
                <a:ea typeface="微软雅黑" panose="020B0503020204020204" pitchFamily="34" charset="-122"/>
                <a:cs typeface="+mn-lt"/>
                <a:sym typeface="+mn-ea"/>
              </a:rPr>
              <a:t>即可。</a:t>
            </a:r>
            <a:endParaRPr lang="zh-CN" altLang="en-US" sz="2000" dirty="0">
              <a:solidFill>
                <a:srgbClr val="595959"/>
              </a:solidFill>
              <a:latin typeface="微软雅黑" panose="020B0503020204020204" pitchFamily="34" charset="-122"/>
              <a:ea typeface="微软雅黑" panose="020B0503020204020204" pitchFamily="34" charset="-122"/>
              <a:cs typeface="+mn-lt"/>
              <a:sym typeface="+mn-ea"/>
            </a:endParaRPr>
          </a:p>
        </p:txBody>
      </p:sp>
      <p:sp>
        <p:nvSpPr>
          <p:cNvPr id="2"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9.1.2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数据库的还原</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627505" y="1771650"/>
            <a:ext cx="9368790" cy="4009390"/>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1889125" y="1918335"/>
            <a:ext cx="8860790" cy="829945"/>
          </a:xfrm>
          <a:prstGeom prst="rect">
            <a:avLst/>
          </a:prstGeom>
          <a:noFill/>
        </p:spPr>
        <p:txBody>
          <a:bodyPr wrap="square" rtlCol="0">
            <a:spAutoFit/>
          </a:bodyPr>
          <a:lstStyle/>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下面通过案例演示使用source命令还原数据，具体步骤如下。</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（1）</a:t>
            </a:r>
            <a:r>
              <a:rPr lang="zh-CN" altLang="en-US" sz="1600" dirty="0" smtClean="0">
                <a:solidFill>
                  <a:srgbClr val="1369B2"/>
                </a:solidFill>
                <a:latin typeface="微软雅黑" panose="020B0503020204020204" pitchFamily="34" charset="-122"/>
                <a:ea typeface="微软雅黑" panose="020B0503020204020204" pitchFamily="34" charset="-122"/>
              </a:rPr>
              <a:t>创建用于接收还原数据的数据库</a:t>
            </a:r>
            <a:r>
              <a:rPr lang="zh-CN" altLang="en-US" sz="1600" dirty="0" smtClean="0">
                <a:solidFill>
                  <a:srgbClr val="595959"/>
                </a:solidFill>
                <a:latin typeface="微软雅黑" panose="020B0503020204020204" pitchFamily="34" charset="-122"/>
                <a:ea typeface="微软雅黑" panose="020B0503020204020204" pitchFamily="34" charset="-122"/>
              </a:rPr>
              <a:t>，例如，创建数据库emp_backup2，创建数据库语句如下。</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
        <p:nvSpPr>
          <p:cNvPr id="4" name="矩形 3"/>
          <p:cNvSpPr/>
          <p:nvPr/>
        </p:nvSpPr>
        <p:spPr>
          <a:xfrm>
            <a:off x="1990725" y="2854325"/>
            <a:ext cx="7626350" cy="6356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mysql&gt; CREATE DATABASE ems_backup2;</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Query OK, 1 row affected (0.02 sec)</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 name="文本框 1"/>
          <p:cNvSpPr txBox="1"/>
          <p:nvPr/>
        </p:nvSpPr>
        <p:spPr>
          <a:xfrm>
            <a:off x="1918335" y="3502025"/>
            <a:ext cx="8676005" cy="1198880"/>
          </a:xfrm>
          <a:prstGeom prst="rect">
            <a:avLst/>
          </a:prstGeom>
          <a:noFill/>
        </p:spPr>
        <p:txBody>
          <a:bodyPr wrap="square" rtlCol="0">
            <a:spAutoFit/>
          </a:bodyPr>
          <a:lstStyle/>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（2）使用</a:t>
            </a:r>
            <a:r>
              <a:rPr lang="zh-CN" altLang="en-US" sz="1600" dirty="0" smtClean="0">
                <a:solidFill>
                  <a:srgbClr val="1369B2"/>
                </a:solidFill>
                <a:latin typeface="微软雅黑" panose="020B0503020204020204" pitchFamily="34" charset="-122"/>
                <a:ea typeface="微软雅黑" panose="020B0503020204020204" pitchFamily="34" charset="-122"/>
              </a:rPr>
              <a:t>USE语句</a:t>
            </a:r>
            <a:r>
              <a:rPr lang="zh-CN" altLang="en-US" sz="1600" dirty="0" smtClean="0">
                <a:solidFill>
                  <a:srgbClr val="595959"/>
                </a:solidFill>
                <a:latin typeface="微软雅黑" panose="020B0503020204020204" pitchFamily="34" charset="-122"/>
                <a:ea typeface="微软雅黑" panose="020B0503020204020204" pitchFamily="34" charset="-122"/>
              </a:rPr>
              <a:t>选择数据库em</a:t>
            </a:r>
            <a:r>
              <a:rPr lang="en-US" altLang="zh-CN" sz="1600" dirty="0" smtClean="0">
                <a:solidFill>
                  <a:srgbClr val="595959"/>
                </a:solidFill>
                <a:latin typeface="微软雅黑" panose="020B0503020204020204" pitchFamily="34" charset="-122"/>
                <a:ea typeface="微软雅黑" panose="020B0503020204020204" pitchFamily="34" charset="-122"/>
              </a:rPr>
              <a:t>s</a:t>
            </a:r>
            <a:r>
              <a:rPr lang="zh-CN" altLang="en-US" sz="1600" dirty="0" smtClean="0">
                <a:solidFill>
                  <a:srgbClr val="595959"/>
                </a:solidFill>
                <a:latin typeface="微软雅黑" panose="020B0503020204020204" pitchFamily="34" charset="-122"/>
                <a:ea typeface="微软雅黑" panose="020B0503020204020204" pitchFamily="34" charset="-122"/>
              </a:rPr>
              <a:t>_backup2为默认操作的数据库。</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（3）使用</a:t>
            </a:r>
            <a:r>
              <a:rPr lang="zh-CN" altLang="en-US" sz="1600" dirty="0" smtClean="0">
                <a:solidFill>
                  <a:srgbClr val="1369B2"/>
                </a:solidFill>
                <a:latin typeface="微软雅黑" panose="020B0503020204020204" pitchFamily="34" charset="-122"/>
                <a:ea typeface="微软雅黑" panose="020B0503020204020204" pitchFamily="34" charset="-122"/>
              </a:rPr>
              <a:t>source命令</a:t>
            </a:r>
            <a:r>
              <a:rPr lang="zh-CN" altLang="en-US" sz="1600" dirty="0" smtClean="0">
                <a:solidFill>
                  <a:srgbClr val="595959"/>
                </a:solidFill>
                <a:latin typeface="微软雅黑" panose="020B0503020204020204" pitchFamily="34" charset="-122"/>
                <a:ea typeface="微软雅黑" panose="020B0503020204020204" pitchFamily="34" charset="-122"/>
              </a:rPr>
              <a:t>将数据文件ems_20210610.sql的数据还原到数据库ems_backup2中，具体SQL语句如下所示。</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
        <p:nvSpPr>
          <p:cNvPr id="8" name="矩形 7"/>
          <p:cNvSpPr/>
          <p:nvPr/>
        </p:nvSpPr>
        <p:spPr>
          <a:xfrm>
            <a:off x="1990725" y="4798695"/>
            <a:ext cx="7626350" cy="4819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source D:/backup/ems_20210610.sql</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9"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9.1.2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数据库的还原</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缺角矩形 1"/>
          <p:cNvSpPr/>
          <p:nvPr/>
        </p:nvSpPr>
        <p:spPr>
          <a:xfrm>
            <a:off x="2855595" y="2205990"/>
            <a:ext cx="6889750" cy="2381885"/>
          </a:xfrm>
          <a:prstGeom prst="plaque">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3575050" y="2637155"/>
            <a:ext cx="5617210" cy="1476375"/>
          </a:xfrm>
          <a:prstGeom prst="rect">
            <a:avLst/>
          </a:prstGeom>
          <a:noFill/>
        </p:spPr>
        <p:txBody>
          <a:bodyPr wrap="square" rtlCol="0">
            <a:spAutoFit/>
          </a:bodyPr>
          <a:lstStyle/>
          <a:p>
            <a:pPr algn="l">
              <a:lnSpc>
                <a:spcPct val="150000"/>
              </a:lnSpc>
              <a:buClrTx/>
              <a:buSzTx/>
              <a:buFontTx/>
            </a:pPr>
            <a:r>
              <a:rPr lang="zh-CN" altLang="en-US" sz="2000" dirty="0" smtClean="0">
                <a:solidFill>
                  <a:srgbClr val="595959"/>
                </a:solidFill>
                <a:latin typeface="微软雅黑" panose="020B0503020204020204" pitchFamily="34" charset="-122"/>
                <a:ea typeface="微软雅黑" panose="020B0503020204020204" pitchFamily="34" charset="-122"/>
              </a:rPr>
              <a:t>需要注意的是，在命令行窗口中使用</a:t>
            </a:r>
            <a:r>
              <a:rPr lang="zh-CN" altLang="en-US" sz="2000" dirty="0">
                <a:solidFill>
                  <a:srgbClr val="1369B2"/>
                </a:solidFill>
                <a:latin typeface="微软雅黑" panose="020B0503020204020204" pitchFamily="34" charset="-122"/>
                <a:ea typeface="微软雅黑" panose="020B0503020204020204" pitchFamily="34" charset="-122"/>
                <a:cs typeface="+mn-lt"/>
              </a:rPr>
              <a:t>mysql命令</a:t>
            </a:r>
            <a:r>
              <a:rPr lang="zh-CN" altLang="en-US" sz="2000" dirty="0" smtClean="0">
                <a:solidFill>
                  <a:srgbClr val="595959"/>
                </a:solidFill>
                <a:latin typeface="微软雅黑" panose="020B0503020204020204" pitchFamily="34" charset="-122"/>
                <a:ea typeface="微软雅黑" panose="020B0503020204020204" pitchFamily="34" charset="-122"/>
              </a:rPr>
              <a:t>还原数据时，</a:t>
            </a:r>
            <a:r>
              <a:rPr lang="zh-CN" altLang="en-US" sz="2000" dirty="0">
                <a:solidFill>
                  <a:srgbClr val="1369B2"/>
                </a:solidFill>
                <a:latin typeface="微软雅黑" panose="020B0503020204020204" pitchFamily="34" charset="-122"/>
                <a:ea typeface="微软雅黑" panose="020B0503020204020204" pitchFamily="34" charset="-122"/>
                <a:cs typeface="+mn-lt"/>
              </a:rPr>
              <a:t>不需要登录数据库</a:t>
            </a:r>
            <a:r>
              <a:rPr lang="zh-CN" altLang="en-US" sz="2000" dirty="0" smtClean="0">
                <a:solidFill>
                  <a:srgbClr val="595959"/>
                </a:solidFill>
                <a:latin typeface="微软雅黑" panose="020B0503020204020204" pitchFamily="34" charset="-122"/>
                <a:ea typeface="微软雅黑" panose="020B0503020204020204" pitchFamily="34" charset="-122"/>
              </a:rPr>
              <a:t>，而使用</a:t>
            </a:r>
            <a:r>
              <a:rPr lang="zh-CN" altLang="en-US" sz="2000" dirty="0">
                <a:solidFill>
                  <a:srgbClr val="1369B2"/>
                </a:solidFill>
                <a:latin typeface="微软雅黑" panose="020B0503020204020204" pitchFamily="34" charset="-122"/>
                <a:ea typeface="微软雅黑" panose="020B0503020204020204" pitchFamily="34" charset="-122"/>
                <a:cs typeface="+mn-lt"/>
              </a:rPr>
              <a:t>source命令</a:t>
            </a:r>
            <a:r>
              <a:rPr lang="zh-CN" altLang="en-US" sz="2000" dirty="0" smtClean="0">
                <a:solidFill>
                  <a:srgbClr val="595959"/>
                </a:solidFill>
                <a:latin typeface="微软雅黑" panose="020B0503020204020204" pitchFamily="34" charset="-122"/>
                <a:ea typeface="微软雅黑" panose="020B0503020204020204" pitchFamily="34" charset="-122"/>
              </a:rPr>
              <a:t>还原数据时，需要</a:t>
            </a:r>
            <a:r>
              <a:rPr lang="zh-CN" altLang="en-US" sz="2000" dirty="0">
                <a:solidFill>
                  <a:srgbClr val="1369B2"/>
                </a:solidFill>
                <a:latin typeface="微软雅黑" panose="020B0503020204020204" pitchFamily="34" charset="-122"/>
                <a:ea typeface="微软雅黑" panose="020B0503020204020204" pitchFamily="34" charset="-122"/>
                <a:cs typeface="+mn-lt"/>
              </a:rPr>
              <a:t>先登录数据库</a:t>
            </a:r>
            <a:r>
              <a:rPr lang="zh-CN" altLang="en-US" sz="2000" dirty="0" smtClean="0">
                <a:solidFill>
                  <a:srgbClr val="595959"/>
                </a:solidFill>
                <a:latin typeface="微软雅黑" panose="020B0503020204020204" pitchFamily="34" charset="-122"/>
                <a:ea typeface="微软雅黑" panose="020B0503020204020204" pitchFamily="34" charset="-122"/>
              </a:rPr>
              <a:t>。</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sp>
        <p:nvSpPr>
          <p:cNvPr id="7"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9.1.2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数据库的还原</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29945"/>
          </a:xfrm>
          <a:prstGeom prst="rect">
            <a:avLst/>
          </a:prstGeom>
          <a:noFill/>
        </p:spPr>
        <p:txBody>
          <a:bodyPr wrap="square" lIns="91443" tIns="45720" rIns="91443" bIns="45720" rtlCol="0">
            <a:spAutoFit/>
          </a:bodyPr>
          <a:lstStyle/>
          <a:p>
            <a:r>
              <a:rPr lang="zh-CN" altLang="en-GB" sz="4800" b="1" dirty="0">
                <a:solidFill>
                  <a:srgbClr val="1369B2"/>
                </a:solidFill>
                <a:latin typeface="微软雅黑" panose="020B0503020204020204" pitchFamily="34" charset="-122"/>
                <a:ea typeface="微软雅黑" panose="020B0503020204020204" pitchFamily="34" charset="-122"/>
                <a:cs typeface="+mn-ea"/>
                <a:sym typeface="+mn-lt"/>
              </a:rPr>
              <a:t>用户管理</a:t>
            </a:r>
            <a:endParaRPr lang="zh-CN" altLang="en-GB" sz="48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9.2</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2395220" y="1517650"/>
            <a:ext cx="7736205" cy="3873500"/>
            <a:chOff x="4042" y="3218"/>
            <a:chExt cx="11680" cy="4274"/>
          </a:xfrm>
        </p:grpSpPr>
        <p:sp>
          <p:nvSpPr>
            <p:cNvPr id="2" name="折角形 1"/>
            <p:cNvSpPr/>
            <p:nvPr/>
          </p:nvSpPr>
          <p:spPr>
            <a:xfrm>
              <a:off x="4042" y="3218"/>
              <a:ext cx="11680" cy="4274"/>
            </a:xfrm>
            <a:prstGeom prst="foldedCorner">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4627" y="3475"/>
              <a:ext cx="10734" cy="3310"/>
            </a:xfrm>
            <a:prstGeom prst="rect">
              <a:avLst/>
            </a:prstGeom>
            <a:noFill/>
          </p:spPr>
          <p:txBody>
            <a:bodyPr wrap="square" rtlCol="0">
              <a:spAutoFit/>
            </a:bodyPr>
            <a:lstStyle/>
            <a:p>
              <a:pPr algn="l">
                <a:lnSpc>
                  <a:spcPct val="150000"/>
                </a:lnSpc>
              </a:pPr>
              <a:r>
                <a:rPr lang="zh-CN" altLang="en-US" sz="1800" dirty="0" smtClean="0">
                  <a:solidFill>
                    <a:srgbClr val="595959"/>
                  </a:solidFill>
                  <a:latin typeface="微软雅黑" panose="020B0503020204020204" pitchFamily="34" charset="-122"/>
                  <a:ea typeface="微软雅黑" panose="020B0503020204020204" pitchFamily="34" charset="-122"/>
                </a:rPr>
                <a:t>MySQL是一个多用户数据库管理系统，MySQL的用户可以大致分为</a:t>
              </a:r>
              <a:r>
                <a:rPr lang="zh-CN" altLang="en-US" sz="1800" dirty="0" smtClean="0">
                  <a:solidFill>
                    <a:srgbClr val="1369B2"/>
                  </a:solidFill>
                  <a:latin typeface="微软雅黑" panose="020B0503020204020204" pitchFamily="34" charset="-122"/>
                  <a:ea typeface="微软雅黑" panose="020B0503020204020204" pitchFamily="34" charset="-122"/>
                </a:rPr>
                <a:t>普通用户</a:t>
              </a:r>
              <a:r>
                <a:rPr lang="zh-CN" altLang="en-US" sz="1800" dirty="0" smtClean="0">
                  <a:solidFill>
                    <a:srgbClr val="595959"/>
                  </a:solidFill>
                  <a:latin typeface="微软雅黑" panose="020B0503020204020204" pitchFamily="34" charset="-122"/>
                  <a:ea typeface="微软雅黑" panose="020B0503020204020204" pitchFamily="34" charset="-122"/>
                </a:rPr>
                <a:t>和</a:t>
              </a:r>
              <a:r>
                <a:rPr lang="zh-CN" altLang="en-US" sz="1800" dirty="0" smtClean="0">
                  <a:solidFill>
                    <a:srgbClr val="1369B2"/>
                  </a:solidFill>
                  <a:latin typeface="微软雅黑" panose="020B0503020204020204" pitchFamily="34" charset="-122"/>
                  <a:ea typeface="微软雅黑" panose="020B0503020204020204" pitchFamily="34" charset="-122"/>
                </a:rPr>
                <a:t>root用户</a:t>
              </a:r>
              <a:r>
                <a:rPr lang="zh-CN" altLang="en-US" sz="1800" dirty="0" smtClean="0">
                  <a:solidFill>
                    <a:srgbClr val="595959"/>
                  </a:solidFill>
                  <a:latin typeface="微软雅黑" panose="020B0503020204020204" pitchFamily="34" charset="-122"/>
                  <a:ea typeface="微软雅黑" panose="020B0503020204020204" pitchFamily="34" charset="-122"/>
                </a:rPr>
                <a:t>。root用户是</a:t>
              </a:r>
              <a:r>
                <a:rPr lang="zh-CN" altLang="en-US" sz="1800" dirty="0" smtClean="0">
                  <a:solidFill>
                    <a:srgbClr val="1369B2"/>
                  </a:solidFill>
                  <a:latin typeface="微软雅黑" panose="020B0503020204020204" pitchFamily="34" charset="-122"/>
                  <a:ea typeface="微软雅黑" panose="020B0503020204020204" pitchFamily="34" charset="-122"/>
                </a:rPr>
                <a:t>超级管理员</a:t>
              </a:r>
              <a:r>
                <a:rPr lang="zh-CN" altLang="en-US" sz="1800" dirty="0" smtClean="0">
                  <a:solidFill>
                    <a:srgbClr val="595959"/>
                  </a:solidFill>
                  <a:latin typeface="微软雅黑" panose="020B0503020204020204" pitchFamily="34" charset="-122"/>
                  <a:ea typeface="微软雅黑" panose="020B0503020204020204" pitchFamily="34" charset="-122"/>
                </a:rPr>
                <a:t>，</a:t>
              </a:r>
              <a:r>
                <a:rPr lang="zh-CN" altLang="en-US" sz="1800" dirty="0" smtClean="0">
                  <a:solidFill>
                    <a:srgbClr val="1369B2"/>
                  </a:solidFill>
                  <a:latin typeface="微软雅黑" panose="020B0503020204020204" pitchFamily="34" charset="-122"/>
                  <a:ea typeface="微软雅黑" panose="020B0503020204020204" pitchFamily="34" charset="-122"/>
                </a:rPr>
                <a:t>拥有所有权限</a:t>
              </a:r>
              <a:r>
                <a:rPr lang="zh-CN" altLang="en-US" sz="1800" dirty="0" smtClean="0">
                  <a:solidFill>
                    <a:srgbClr val="595959"/>
                  </a:solidFill>
                  <a:latin typeface="微软雅黑" panose="020B0503020204020204" pitchFamily="34" charset="-122"/>
                  <a:ea typeface="微软雅黑" panose="020B0503020204020204" pitchFamily="34" charset="-122"/>
                </a:rPr>
                <a:t>，如创建用户、删除用户、管理用户等。普通用户只拥有被授予的指定权限。在之前章节中，都是通过root用户登录数据库进行相关的操作，为了保证数据库的安全，需要对不同用户的操作权限进行合理的管理，让用户只能在指定的权限范围内操作。本节将针对MySQL的</a:t>
              </a:r>
              <a:r>
                <a:rPr lang="zh-CN" altLang="en-US" sz="1800" dirty="0" smtClean="0">
                  <a:solidFill>
                    <a:srgbClr val="1369B2"/>
                  </a:solidFill>
                  <a:latin typeface="微软雅黑" panose="020B0503020204020204" pitchFamily="34" charset="-122"/>
                  <a:ea typeface="微软雅黑" panose="020B0503020204020204" pitchFamily="34" charset="-122"/>
                </a:rPr>
                <a:t>用户管理</a:t>
              </a:r>
              <a:r>
                <a:rPr lang="zh-CN" altLang="en-US" sz="1800" dirty="0" smtClean="0">
                  <a:solidFill>
                    <a:srgbClr val="595959"/>
                  </a:solidFill>
                  <a:latin typeface="微软雅黑" panose="020B0503020204020204" pitchFamily="34" charset="-122"/>
                  <a:ea typeface="微软雅黑" panose="020B0503020204020204" pitchFamily="34" charset="-122"/>
                </a:rPr>
                <a:t>进行详细讲解。</a:t>
              </a:r>
              <a:endParaRPr lang="zh-CN" altLang="en-US" sz="1800" dirty="0" smtClean="0">
                <a:solidFill>
                  <a:srgbClr val="595959"/>
                </a:solidFill>
                <a:latin typeface="微软雅黑" panose="020B0503020204020204" pitchFamily="34" charset="-122"/>
                <a:ea typeface="微软雅黑" panose="020B0503020204020204" pitchFamily="34" charset="-122"/>
              </a:endParaRPr>
            </a:p>
          </p:txBody>
        </p:sp>
      </p:grpSp>
      <p:sp>
        <p:nvSpPr>
          <p:cNvPr id="7"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9.2.1  user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表</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流程图: 过程 2"/>
          <p:cNvSpPr/>
          <p:nvPr/>
        </p:nvSpPr>
        <p:spPr>
          <a:xfrm>
            <a:off x="1702435" y="1948815"/>
            <a:ext cx="9166860" cy="2874010"/>
          </a:xfrm>
          <a:prstGeom prst="flowChartProcess">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1951990" y="2206625"/>
            <a:ext cx="8668385" cy="2861310"/>
          </a:xfrm>
          <a:prstGeom prst="rect">
            <a:avLst/>
          </a:prstGeom>
          <a:noFill/>
        </p:spPr>
        <p:txBody>
          <a:bodyPr wrap="square" rtlCol="0">
            <a:spAutoFit/>
          </a:bodyPr>
          <a:lstStyle/>
          <a:p>
            <a:pPr algn="l">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mn-ea"/>
              </a:rPr>
              <a:t>在安装MySQL时，会自动创建一个名称为mysql的数据库，该数据库主要用于维护数据库的用户及权限的控制和管理，其中包含的数据表有user、db、host等，其中</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user表</a:t>
            </a:r>
            <a:r>
              <a:rPr lang="zh-CN" altLang="en-US" sz="2000" dirty="0" smtClean="0">
                <a:solidFill>
                  <a:srgbClr val="595959"/>
                </a:solidFill>
                <a:latin typeface="微软雅黑" panose="020B0503020204020204" pitchFamily="34" charset="-122"/>
                <a:ea typeface="微软雅黑" panose="020B0503020204020204" pitchFamily="34" charset="-122"/>
                <a:sym typeface="+mn-ea"/>
              </a:rPr>
              <a:t>中保存了</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所有用户信息</a:t>
            </a:r>
            <a:r>
              <a:rPr lang="zh-CN" altLang="en-US" sz="2000" dirty="0" smtClean="0">
                <a:solidFill>
                  <a:srgbClr val="595959"/>
                </a:solidFill>
                <a:latin typeface="微软雅黑" panose="020B0503020204020204" pitchFamily="34" charset="-122"/>
                <a:ea typeface="微软雅黑" panose="020B0503020204020204" pitchFamily="34" charset="-122"/>
                <a:sym typeface="+mn-ea"/>
              </a:rPr>
              <a:t>，用户信息中包含了允许连接到服务器的账号信息以及一些全局级的权限信息，全局级的权限适用于给定服务器中的所有数据库。</a:t>
            </a:r>
            <a:endParaRPr lang="zh-CN" altLang="en-US" sz="2000" dirty="0" smtClean="0">
              <a:solidFill>
                <a:srgbClr val="595959"/>
              </a:solidFill>
              <a:latin typeface="微软雅黑" panose="020B0503020204020204" pitchFamily="34" charset="-122"/>
              <a:ea typeface="微软雅黑" panose="020B0503020204020204" pitchFamily="34" charset="-122"/>
              <a:sym typeface="+mn-ea"/>
            </a:endParaRPr>
          </a:p>
          <a:p>
            <a:pPr algn="l">
              <a:lnSpc>
                <a:spcPct val="150000"/>
              </a:lnSpc>
            </a:pP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sp>
        <p:nvSpPr>
          <p:cNvPr id="2"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9.2.1  user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表</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929130" y="2161540"/>
            <a:ext cx="8562975" cy="266255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2437130" y="2494280"/>
            <a:ext cx="7517130" cy="1938020"/>
          </a:xfrm>
          <a:prstGeom prst="rect">
            <a:avLst/>
          </a:prstGeom>
          <a:noFill/>
        </p:spPr>
        <p:txBody>
          <a:bodyPr wrap="square" rtlCol="0">
            <a:spAutoFit/>
          </a:bodyPr>
          <a:lstStyle/>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本书使用的是MySQL Community Server 8.0.23，该版本的mysql数据库中user 表的字段根据功能大致可以分为4 类，分别是</a:t>
            </a:r>
            <a:r>
              <a:rPr sz="2000" dirty="0" smtClean="0">
                <a:solidFill>
                  <a:srgbClr val="1369B2"/>
                </a:solidFill>
                <a:latin typeface="微软雅黑" panose="020B0503020204020204" pitchFamily="34" charset="-122"/>
                <a:ea typeface="微软雅黑" panose="020B0503020204020204" pitchFamily="34" charset="-122"/>
              </a:rPr>
              <a:t>用户</a:t>
            </a:r>
            <a:r>
              <a:rPr sz="2000" dirty="0" smtClean="0">
                <a:solidFill>
                  <a:srgbClr val="595959"/>
                </a:solidFill>
                <a:latin typeface="微软雅黑" panose="020B0503020204020204" pitchFamily="34" charset="-122"/>
                <a:ea typeface="微软雅黑" panose="020B0503020204020204" pitchFamily="34" charset="-122"/>
              </a:rPr>
              <a:t>字段、</a:t>
            </a:r>
            <a:r>
              <a:rPr sz="2000" dirty="0" smtClean="0">
                <a:solidFill>
                  <a:srgbClr val="1369B2"/>
                </a:solidFill>
                <a:latin typeface="微软雅黑" panose="020B0503020204020204" pitchFamily="34" charset="-122"/>
                <a:ea typeface="微软雅黑" panose="020B0503020204020204" pitchFamily="34" charset="-122"/>
              </a:rPr>
              <a:t>权限</a:t>
            </a:r>
            <a:r>
              <a:rPr sz="2000" dirty="0" smtClean="0">
                <a:solidFill>
                  <a:srgbClr val="595959"/>
                </a:solidFill>
                <a:latin typeface="微软雅黑" panose="020B0503020204020204" pitchFamily="34" charset="-122"/>
                <a:ea typeface="微软雅黑" panose="020B0503020204020204" pitchFamily="34" charset="-122"/>
              </a:rPr>
              <a:t>字段、</a:t>
            </a:r>
            <a:r>
              <a:rPr sz="2000" dirty="0" smtClean="0">
                <a:solidFill>
                  <a:srgbClr val="1369B2"/>
                </a:solidFill>
                <a:latin typeface="微软雅黑" panose="020B0503020204020204" pitchFamily="34" charset="-122"/>
                <a:ea typeface="微软雅黑" panose="020B0503020204020204" pitchFamily="34" charset="-122"/>
              </a:rPr>
              <a:t>安全</a:t>
            </a:r>
            <a:r>
              <a:rPr sz="2000" dirty="0" smtClean="0">
                <a:solidFill>
                  <a:srgbClr val="595959"/>
                </a:solidFill>
                <a:latin typeface="微软雅黑" panose="020B0503020204020204" pitchFamily="34" charset="-122"/>
                <a:ea typeface="微软雅黑" panose="020B0503020204020204" pitchFamily="34" charset="-122"/>
              </a:rPr>
              <a:t>字段和</a:t>
            </a:r>
            <a:r>
              <a:rPr sz="2000" dirty="0" smtClean="0">
                <a:solidFill>
                  <a:srgbClr val="1369B2"/>
                </a:solidFill>
                <a:latin typeface="微软雅黑" panose="020B0503020204020204" pitchFamily="34" charset="-122"/>
                <a:ea typeface="微软雅黑" panose="020B0503020204020204" pitchFamily="34" charset="-122"/>
              </a:rPr>
              <a:t>资源</a:t>
            </a:r>
            <a:r>
              <a:rPr sz="2000" dirty="0" smtClean="0">
                <a:solidFill>
                  <a:srgbClr val="595959"/>
                </a:solidFill>
                <a:latin typeface="微软雅黑" panose="020B0503020204020204" pitchFamily="34" charset="-122"/>
                <a:ea typeface="微软雅黑" panose="020B0503020204020204" pitchFamily="34" charset="-122"/>
              </a:rPr>
              <a:t>控制字段，下面分别进行介绍。</a:t>
            </a:r>
            <a:endParaRPr sz="2000" dirty="0" smtClean="0">
              <a:solidFill>
                <a:srgbClr val="595959"/>
              </a:solidFill>
              <a:latin typeface="微软雅黑" panose="020B0503020204020204" pitchFamily="34" charset="-122"/>
              <a:ea typeface="微软雅黑" panose="020B0503020204020204" pitchFamily="34" charset="-122"/>
            </a:endParaRPr>
          </a:p>
        </p:txBody>
      </p:sp>
      <p:sp>
        <p:nvSpPr>
          <p:cNvPr id="9"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9.2.1  user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表</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520190" y="1636395"/>
            <a:ext cx="9500235" cy="398081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1702435" y="1636395"/>
            <a:ext cx="9370695" cy="829945"/>
          </a:xfrm>
          <a:prstGeom prst="rect">
            <a:avLst/>
          </a:prstGeom>
          <a:noFill/>
        </p:spPr>
        <p:txBody>
          <a:bodyPr wrap="square" rtlCol="0">
            <a:spAutoFit/>
          </a:bodyPr>
          <a:lstStyle/>
          <a:p>
            <a:pPr algn="l">
              <a:lnSpc>
                <a:spcPct val="150000"/>
              </a:lnSpc>
            </a:pPr>
            <a:r>
              <a:rPr sz="1600" dirty="0" smtClean="0">
                <a:solidFill>
                  <a:srgbClr val="595959"/>
                </a:solidFill>
                <a:latin typeface="微软雅黑" panose="020B0503020204020204" pitchFamily="34" charset="-122"/>
                <a:ea typeface="微软雅黑" panose="020B0503020204020204" pitchFamily="34" charset="-122"/>
              </a:rPr>
              <a:t>1.</a:t>
            </a:r>
            <a:r>
              <a:rPr sz="1600" dirty="0" smtClean="0">
                <a:solidFill>
                  <a:srgbClr val="1369B2"/>
                </a:solidFill>
                <a:latin typeface="微软雅黑" panose="020B0503020204020204" pitchFamily="34" charset="-122"/>
                <a:ea typeface="微软雅黑" panose="020B0503020204020204" pitchFamily="34" charset="-122"/>
              </a:rPr>
              <a:t>用户字段</a:t>
            </a:r>
            <a:endParaRPr sz="16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sz="1600" dirty="0" smtClean="0">
                <a:solidFill>
                  <a:srgbClr val="595959"/>
                </a:solidFill>
                <a:latin typeface="微软雅黑" panose="020B0503020204020204" pitchFamily="34" charset="-122"/>
                <a:ea typeface="微软雅黑" panose="020B0503020204020204" pitchFamily="34" charset="-122"/>
              </a:rPr>
              <a:t>user表的用户字段存储了用户连接MySQL数据库时需要输入的信息。</a:t>
            </a:r>
            <a:r>
              <a:rPr sz="1600" dirty="0" smtClean="0">
                <a:solidFill>
                  <a:srgbClr val="1369B2"/>
                </a:solidFill>
                <a:latin typeface="微软雅黑" panose="020B0503020204020204" pitchFamily="34" charset="-122"/>
                <a:ea typeface="微软雅黑" panose="020B0503020204020204" pitchFamily="34" charset="-122"/>
              </a:rPr>
              <a:t>user表</a:t>
            </a:r>
            <a:r>
              <a:rPr sz="1600" dirty="0" smtClean="0">
                <a:solidFill>
                  <a:srgbClr val="595959"/>
                </a:solidFill>
                <a:latin typeface="微软雅黑" panose="020B0503020204020204" pitchFamily="34" charset="-122"/>
                <a:ea typeface="微软雅黑" panose="020B0503020204020204" pitchFamily="34" charset="-122"/>
              </a:rPr>
              <a:t>中的</a:t>
            </a:r>
            <a:r>
              <a:rPr sz="1600" dirty="0" smtClean="0">
                <a:solidFill>
                  <a:srgbClr val="1369B2"/>
                </a:solidFill>
                <a:latin typeface="微软雅黑" panose="020B0503020204020204" pitchFamily="34" charset="-122"/>
                <a:ea typeface="微软雅黑" panose="020B0503020204020204" pitchFamily="34" charset="-122"/>
              </a:rPr>
              <a:t>用户字段</a:t>
            </a:r>
            <a:r>
              <a:rPr sz="1600" dirty="0" smtClean="0">
                <a:solidFill>
                  <a:srgbClr val="595959"/>
                </a:solidFill>
                <a:latin typeface="微软雅黑" panose="020B0503020204020204" pitchFamily="34" charset="-122"/>
                <a:ea typeface="微软雅黑" panose="020B0503020204020204" pitchFamily="34" charset="-122"/>
              </a:rPr>
              <a:t>如</a:t>
            </a:r>
            <a:r>
              <a:rPr lang="zh-CN" sz="1600" dirty="0" smtClean="0">
                <a:solidFill>
                  <a:srgbClr val="595959"/>
                </a:solidFill>
                <a:latin typeface="微软雅黑" panose="020B0503020204020204" pitchFamily="34" charset="-122"/>
                <a:ea typeface="微软雅黑" panose="020B0503020204020204" pitchFamily="34" charset="-122"/>
              </a:rPr>
              <a:t>下</a:t>
            </a:r>
            <a:r>
              <a:rPr sz="1600" dirty="0" smtClean="0">
                <a:solidFill>
                  <a:srgbClr val="595959"/>
                </a:solidFill>
                <a:latin typeface="微软雅黑" panose="020B0503020204020204" pitchFamily="34" charset="-122"/>
                <a:ea typeface="微软雅黑" panose="020B0503020204020204" pitchFamily="34" charset="-122"/>
              </a:rPr>
              <a:t>表所示。</a:t>
            </a:r>
            <a:endParaRPr sz="1600" dirty="0" smtClean="0">
              <a:solidFill>
                <a:srgbClr val="595959"/>
              </a:solidFill>
              <a:latin typeface="微软雅黑" panose="020B0503020204020204" pitchFamily="34" charset="-122"/>
              <a:ea typeface="微软雅黑" panose="020B0503020204020204" pitchFamily="34" charset="-122"/>
            </a:endParaRPr>
          </a:p>
        </p:txBody>
      </p:sp>
      <p:graphicFrame>
        <p:nvGraphicFramePr>
          <p:cNvPr id="2" name="表格 1"/>
          <p:cNvGraphicFramePr>
            <a:graphicFrameLocks noGrp="1"/>
          </p:cNvGraphicFramePr>
          <p:nvPr>
            <p:custDataLst>
              <p:tags r:id="rId1"/>
            </p:custDataLst>
          </p:nvPr>
        </p:nvGraphicFramePr>
        <p:xfrm>
          <a:off x="2024687" y="3071654"/>
          <a:ext cx="8491548" cy="1970009"/>
        </p:xfrm>
        <a:graphic>
          <a:graphicData uri="http://schemas.openxmlformats.org/drawingml/2006/table">
            <a:tbl>
              <a:tblPr>
                <a:tableStyleId>{7DF18680-E054-41AD-8BC1-D1AEF772440D}</a:tableStyleId>
              </a:tblPr>
              <a:tblGrid>
                <a:gridCol w="2675890"/>
                <a:gridCol w="1576705"/>
                <a:gridCol w="1711731"/>
                <a:gridCol w="2527222"/>
              </a:tblGrid>
              <a:tr h="492760">
                <a:tc>
                  <a:txBody>
                    <a:bodyPr/>
                    <a:lstStyle/>
                    <a:p>
                      <a:pPr indent="267970" algn="ctr">
                        <a:spcAft>
                          <a:spcPts val="0"/>
                        </a:spcAft>
                      </a:pPr>
                      <a:r>
                        <a:rPr sz="1600" b="1" kern="100" dirty="0">
                          <a:solidFill>
                            <a:srgbClr val="595959"/>
                          </a:solidFill>
                          <a:effectLst/>
                          <a:latin typeface="微软雅黑" panose="020B0503020204020204" pitchFamily="34" charset="-122"/>
                          <a:ea typeface="微软雅黑" panose="020B0503020204020204" pitchFamily="34" charset="-122"/>
                        </a:rPr>
                        <a:t>字段名</a:t>
                      </a:r>
                      <a:endParaRPr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数据类型</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lstStyle/>
                    <a:p>
                      <a:pPr indent="267970" algn="ctr">
                        <a:spcAft>
                          <a:spcPts val="0"/>
                        </a:spcAft>
                        <a:buNone/>
                      </a:pPr>
                      <a:r>
                        <a:rPr lang="zh-CN" altLang="en-US"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默认值</a:t>
                      </a:r>
                      <a:endParaRPr lang="zh-CN" altLang="en-US"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buNone/>
                      </a:pPr>
                      <a:r>
                        <a:rPr lang="zh-CN" altLang="en-US"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说明</a:t>
                      </a:r>
                      <a:endParaRPr lang="zh-CN" altLang="en-US"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492125">
                <a:tc>
                  <a:txBody>
                    <a:bodyPr/>
                    <a:lstStyle/>
                    <a:p>
                      <a:pPr indent="266700" algn="just">
                        <a:spcAft>
                          <a:spcPts val="0"/>
                        </a:spcAft>
                      </a:pPr>
                      <a:r>
                        <a:rPr sz="1600" b="0" kern="100" dirty="0">
                          <a:solidFill>
                            <a:srgbClr val="595959"/>
                          </a:solidFill>
                          <a:effectLst/>
                          <a:latin typeface="微软雅黑" panose="020B0503020204020204" pitchFamily="34" charset="-122"/>
                          <a:ea typeface="微软雅黑" panose="020B0503020204020204" pitchFamily="34" charset="-122"/>
                        </a:rPr>
                        <a:t>Host</a:t>
                      </a:r>
                      <a:endParaRPr sz="1600" b="0"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lstStyle/>
                    <a:p>
                      <a:pPr indent="266700" algn="ctr">
                        <a:spcAft>
                          <a:spcPts val="0"/>
                        </a:spcAft>
                      </a:pPr>
                      <a:r>
                        <a:rPr lang="zh-CN" sz="1600" b="0" kern="100" dirty="0">
                          <a:solidFill>
                            <a:srgbClr val="595959"/>
                          </a:solidFill>
                          <a:effectLst/>
                          <a:latin typeface="微软雅黑" panose="020B0503020204020204" pitchFamily="34" charset="-122"/>
                          <a:ea typeface="微软雅黑" panose="020B0503020204020204" pitchFamily="34" charset="-122"/>
                        </a:rPr>
                        <a:t>char(255)</a:t>
                      </a:r>
                      <a:endParaRPr lang="zh-CN" sz="1600" b="0"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lstStyle/>
                    <a:p>
                      <a:pPr indent="266700" algn="ctr">
                        <a:spcAft>
                          <a:spcPts val="0"/>
                        </a:spcAft>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6700" algn="ctr">
                        <a:spcAft>
                          <a:spcPts val="0"/>
                        </a:spcAft>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主机名</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492562">
                <a:tc>
                  <a:txBody>
                    <a:bodyPr/>
                    <a:lstStyle/>
                    <a:p>
                      <a:pPr indent="266700" algn="just">
                        <a:spcAft>
                          <a:spcPts val="0"/>
                        </a:spcAft>
                      </a:pPr>
                      <a:r>
                        <a:rPr lang="en-US" sz="1600" b="0" kern="100">
                          <a:solidFill>
                            <a:srgbClr val="595959"/>
                          </a:solidFill>
                          <a:effectLst/>
                          <a:latin typeface="微软雅黑" panose="020B0503020204020204" pitchFamily="34" charset="-122"/>
                          <a:ea typeface="微软雅黑" panose="020B0503020204020204" pitchFamily="34" charset="-122"/>
                        </a:rPr>
                        <a:t>User</a:t>
                      </a:r>
                      <a:endParaRPr lang="en-US" sz="1600" b="0" kern="10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lstStyle/>
                    <a:p>
                      <a:pPr indent="266700" algn="ctr">
                        <a:spcAft>
                          <a:spcPts val="0"/>
                        </a:spcAft>
                      </a:pPr>
                      <a:r>
                        <a:rPr lang="zh-CN" sz="1600" b="0" kern="100">
                          <a:solidFill>
                            <a:srgbClr val="595959"/>
                          </a:solidFill>
                          <a:effectLst/>
                          <a:latin typeface="微软雅黑" panose="020B0503020204020204" pitchFamily="34" charset="-122"/>
                          <a:ea typeface="微软雅黑" panose="020B0503020204020204" pitchFamily="34" charset="-122"/>
                        </a:rPr>
                        <a:t>char(32)</a:t>
                      </a:r>
                      <a:endParaRPr lang="zh-CN" sz="1600" b="0" kern="10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lstStyle/>
                    <a:p>
                      <a:pPr indent="266700" algn="ctr">
                        <a:spcAft>
                          <a:spcPts val="0"/>
                        </a:spcAft>
                        <a:buNone/>
                      </a:pPr>
                      <a:r>
                        <a:rPr lang="zh-CN" altLang="en-US" sz="1600" b="0" kern="100">
                          <a:solidFill>
                            <a:srgbClr val="595959"/>
                          </a:solidFill>
                          <a:effectLst/>
                          <a:latin typeface="微软雅黑" panose="020B0503020204020204" pitchFamily="34" charset="-122"/>
                          <a:ea typeface="微软雅黑" panose="020B0503020204020204" pitchFamily="34" charset="-122"/>
                          <a:cs typeface="Times New Roman" panose="02020603050405020304"/>
                        </a:rPr>
                        <a:t>-</a:t>
                      </a:r>
                      <a:endParaRPr lang="zh-CN" altLang="en-US" sz="1600" b="0" kern="10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6700" algn="ctr">
                        <a:spcAft>
                          <a:spcPts val="0"/>
                        </a:spcAft>
                        <a:buNone/>
                      </a:pPr>
                      <a:r>
                        <a:rPr lang="zh-CN" altLang="en-US" sz="1600" b="0" kern="100">
                          <a:solidFill>
                            <a:srgbClr val="595959"/>
                          </a:solidFill>
                          <a:effectLst/>
                          <a:latin typeface="微软雅黑" panose="020B0503020204020204" pitchFamily="34" charset="-122"/>
                          <a:ea typeface="微软雅黑" panose="020B0503020204020204" pitchFamily="34" charset="-122"/>
                          <a:cs typeface="Times New Roman" panose="02020603050405020304"/>
                        </a:rPr>
                        <a:t>用户名</a:t>
                      </a:r>
                      <a:endParaRPr lang="zh-CN" altLang="en-US" sz="1600" b="0" kern="10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492562">
                <a:tc>
                  <a:txBody>
                    <a:bodyPr/>
                    <a:lstStyle/>
                    <a:p>
                      <a:pPr indent="266700" algn="just">
                        <a:spcAft>
                          <a:spcPts val="0"/>
                        </a:spcAft>
                      </a:pPr>
                      <a:r>
                        <a:rPr lang="en-US" sz="1600" b="0" kern="100">
                          <a:solidFill>
                            <a:srgbClr val="595959"/>
                          </a:solidFill>
                          <a:effectLst/>
                          <a:latin typeface="微软雅黑" panose="020B0503020204020204" pitchFamily="34" charset="-122"/>
                          <a:ea typeface="微软雅黑" panose="020B0503020204020204" pitchFamily="34" charset="-122"/>
                        </a:rPr>
                        <a:t>authentication_string</a:t>
                      </a:r>
                      <a:endParaRPr lang="en-US" sz="1600" b="0" kern="10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lstStyle/>
                    <a:p>
                      <a:pPr indent="266700" algn="ctr">
                        <a:spcAft>
                          <a:spcPts val="0"/>
                        </a:spcAft>
                      </a:pPr>
                      <a:r>
                        <a:rPr lang="zh-CN" sz="1600" b="0" kern="100" dirty="0">
                          <a:solidFill>
                            <a:srgbClr val="595959"/>
                          </a:solidFill>
                          <a:effectLst/>
                          <a:latin typeface="微软雅黑" panose="020B0503020204020204" pitchFamily="34" charset="-122"/>
                          <a:ea typeface="微软雅黑" panose="020B0503020204020204" pitchFamily="34" charset="-122"/>
                        </a:rPr>
                        <a:t>text</a:t>
                      </a:r>
                      <a:endParaRPr lang="zh-CN" sz="1600" b="0"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lstStyle/>
                    <a:p>
                      <a:pPr indent="266700" algn="ctr">
                        <a:spcAft>
                          <a:spcPts val="0"/>
                        </a:spcAft>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6700" algn="ctr">
                        <a:spcAft>
                          <a:spcPts val="0"/>
                        </a:spcAft>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密码</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bl>
          </a:graphicData>
        </a:graphic>
      </p:graphicFrame>
      <p:sp>
        <p:nvSpPr>
          <p:cNvPr id="9"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9.2.1  user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表</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2192020" y="2108835"/>
            <a:ext cx="8013700" cy="268033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2782570" y="2421890"/>
            <a:ext cx="6962140" cy="1938020"/>
          </a:xfrm>
          <a:prstGeom prst="rect">
            <a:avLst/>
          </a:prstGeom>
          <a:noFill/>
        </p:spPr>
        <p:txBody>
          <a:bodyPr wrap="square" rtlCol="0">
            <a:spAutoFit/>
          </a:bodyPr>
          <a:lstStyle/>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当用户与MySQL服务端建立连接时，MySQL会将用户输入的</a:t>
            </a:r>
            <a:r>
              <a:rPr sz="2000" dirty="0" smtClean="0">
                <a:solidFill>
                  <a:srgbClr val="1369B2"/>
                </a:solidFill>
                <a:latin typeface="微软雅黑" panose="020B0503020204020204" pitchFamily="34" charset="-122"/>
                <a:ea typeface="微软雅黑" panose="020B0503020204020204" pitchFamily="34" charset="-122"/>
              </a:rPr>
              <a:t>用户名</a:t>
            </a:r>
            <a:r>
              <a:rPr sz="2000" dirty="0" smtClean="0">
                <a:solidFill>
                  <a:srgbClr val="595959"/>
                </a:solidFill>
                <a:latin typeface="微软雅黑" panose="020B0503020204020204" pitchFamily="34" charset="-122"/>
                <a:ea typeface="微软雅黑" panose="020B0503020204020204" pitchFamily="34" charset="-122"/>
              </a:rPr>
              <a:t>、</a:t>
            </a:r>
            <a:r>
              <a:rPr sz="2000" dirty="0" smtClean="0">
                <a:solidFill>
                  <a:srgbClr val="1369B2"/>
                </a:solidFill>
                <a:latin typeface="微软雅黑" panose="020B0503020204020204" pitchFamily="34" charset="-122"/>
                <a:ea typeface="微软雅黑" panose="020B0503020204020204" pitchFamily="34" charset="-122"/>
              </a:rPr>
              <a:t>主机名</a:t>
            </a:r>
            <a:r>
              <a:rPr sz="2000" dirty="0" smtClean="0">
                <a:solidFill>
                  <a:srgbClr val="595959"/>
                </a:solidFill>
                <a:latin typeface="微软雅黑" panose="020B0503020204020204" pitchFamily="34" charset="-122"/>
                <a:ea typeface="微软雅黑" panose="020B0503020204020204" pitchFamily="34" charset="-122"/>
              </a:rPr>
              <a:t>、</a:t>
            </a:r>
            <a:r>
              <a:rPr sz="2000" dirty="0" smtClean="0">
                <a:solidFill>
                  <a:srgbClr val="1369B2"/>
                </a:solidFill>
                <a:latin typeface="微软雅黑" panose="020B0503020204020204" pitchFamily="34" charset="-122"/>
                <a:ea typeface="微软雅黑" panose="020B0503020204020204" pitchFamily="34" charset="-122"/>
              </a:rPr>
              <a:t>密码</a:t>
            </a:r>
            <a:r>
              <a:rPr sz="2000" dirty="0" smtClean="0">
                <a:solidFill>
                  <a:srgbClr val="595959"/>
                </a:solidFill>
                <a:latin typeface="微软雅黑" panose="020B0503020204020204" pitchFamily="34" charset="-122"/>
                <a:ea typeface="微软雅黑" panose="020B0503020204020204" pitchFamily="34" charset="-122"/>
              </a:rPr>
              <a:t>和user表用户字段中存储的值进行匹配，只有这3个字段的值都匹配成功，才允许用户与MySQL服务端建立连接。</a:t>
            </a:r>
            <a:endParaRPr sz="2000" dirty="0" smtClean="0">
              <a:solidFill>
                <a:srgbClr val="595959"/>
              </a:solidFill>
              <a:latin typeface="微软雅黑" panose="020B0503020204020204" pitchFamily="34" charset="-122"/>
              <a:ea typeface="微软雅黑" panose="020B0503020204020204" pitchFamily="34" charset="-122"/>
            </a:endParaRPr>
          </a:p>
        </p:txBody>
      </p:sp>
      <p:sp>
        <p:nvSpPr>
          <p:cNvPr id="7"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9.2.1  user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表</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417320" y="1593850"/>
            <a:ext cx="9684385" cy="4348480"/>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1702435" y="1630045"/>
            <a:ext cx="9370695" cy="1568450"/>
          </a:xfrm>
          <a:prstGeom prst="rect">
            <a:avLst/>
          </a:prstGeom>
          <a:noFill/>
        </p:spPr>
        <p:txBody>
          <a:bodyPr wrap="square" rtlCol="0">
            <a:spAutoFit/>
          </a:bodyPr>
          <a:lstStyle/>
          <a:p>
            <a:pPr algn="l">
              <a:lnSpc>
                <a:spcPct val="150000"/>
              </a:lnSpc>
            </a:pPr>
            <a:r>
              <a:rPr sz="1600" dirty="0" smtClean="0">
                <a:solidFill>
                  <a:srgbClr val="595959"/>
                </a:solidFill>
                <a:latin typeface="微软雅黑" panose="020B0503020204020204" pitchFamily="34" charset="-122"/>
                <a:ea typeface="微软雅黑" panose="020B0503020204020204" pitchFamily="34" charset="-122"/>
              </a:rPr>
              <a:t>2.</a:t>
            </a:r>
            <a:r>
              <a:rPr sz="1600" dirty="0" smtClean="0">
                <a:solidFill>
                  <a:srgbClr val="1369B2"/>
                </a:solidFill>
                <a:latin typeface="微软雅黑" panose="020B0503020204020204" pitchFamily="34" charset="-122"/>
                <a:ea typeface="微软雅黑" panose="020B0503020204020204" pitchFamily="34" charset="-122"/>
              </a:rPr>
              <a:t>权限字段</a:t>
            </a:r>
            <a:endParaRPr sz="16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sz="1600" dirty="0" smtClean="0">
                <a:solidFill>
                  <a:srgbClr val="595959"/>
                </a:solidFill>
                <a:latin typeface="微软雅黑" panose="020B0503020204020204" pitchFamily="34" charset="-122"/>
                <a:ea typeface="微软雅黑" panose="020B0503020204020204" pitchFamily="34" charset="-122"/>
              </a:rPr>
              <a:t>user表的权限字段包括Select_priv、Insert_priv、Update_priv等以</a:t>
            </a:r>
            <a:r>
              <a:rPr sz="1600" dirty="0" smtClean="0">
                <a:solidFill>
                  <a:srgbClr val="1369B2"/>
                </a:solidFill>
                <a:latin typeface="微软雅黑" panose="020B0503020204020204" pitchFamily="34" charset="-122"/>
                <a:ea typeface="微软雅黑" panose="020B0503020204020204" pitchFamily="34" charset="-122"/>
              </a:rPr>
              <a:t>priv</a:t>
            </a:r>
            <a:r>
              <a:rPr sz="1600" dirty="0" smtClean="0">
                <a:solidFill>
                  <a:srgbClr val="595959"/>
                </a:solidFill>
                <a:latin typeface="微软雅黑" panose="020B0503020204020204" pitchFamily="34" charset="-122"/>
                <a:ea typeface="微软雅黑" panose="020B0503020204020204" pitchFamily="34" charset="-122"/>
              </a:rPr>
              <a:t>结尾的字段，这些字段决定了用户的权限，包括查询权限、修改权限、关闭服务等权限。user表中的权限字段如</a:t>
            </a:r>
            <a:r>
              <a:rPr lang="zh-CN" sz="1600" dirty="0" smtClean="0">
                <a:solidFill>
                  <a:srgbClr val="595959"/>
                </a:solidFill>
                <a:latin typeface="微软雅黑" panose="020B0503020204020204" pitchFamily="34" charset="-122"/>
                <a:ea typeface="微软雅黑" panose="020B0503020204020204" pitchFamily="34" charset="-122"/>
              </a:rPr>
              <a:t>下</a:t>
            </a:r>
            <a:r>
              <a:rPr sz="1600" dirty="0" smtClean="0">
                <a:solidFill>
                  <a:srgbClr val="595959"/>
                </a:solidFill>
                <a:latin typeface="微软雅黑" panose="020B0503020204020204" pitchFamily="34" charset="-122"/>
                <a:ea typeface="微软雅黑" panose="020B0503020204020204" pitchFamily="34" charset="-122"/>
              </a:rPr>
              <a:t>表所示。</a:t>
            </a:r>
            <a:r>
              <a:rPr lang="zh-CN" sz="1600" dirty="0" smtClean="0">
                <a:solidFill>
                  <a:srgbClr val="595959"/>
                </a:solidFill>
                <a:latin typeface="微软雅黑" panose="020B0503020204020204" pitchFamily="34" charset="-122"/>
                <a:ea typeface="微软雅黑" panose="020B0503020204020204" pitchFamily="34" charset="-122"/>
              </a:rPr>
              <a:t>（由于篇幅原因这里仅展示部分字段）</a:t>
            </a:r>
            <a:endParaRPr lang="zh-CN" sz="1600" dirty="0" smtClean="0">
              <a:solidFill>
                <a:srgbClr val="595959"/>
              </a:solidFill>
              <a:latin typeface="微软雅黑" panose="020B0503020204020204" pitchFamily="34" charset="-122"/>
              <a:ea typeface="微软雅黑" panose="020B0503020204020204" pitchFamily="34" charset="-122"/>
            </a:endParaRPr>
          </a:p>
        </p:txBody>
      </p:sp>
      <p:graphicFrame>
        <p:nvGraphicFramePr>
          <p:cNvPr id="2" name="表格 1"/>
          <p:cNvGraphicFramePr>
            <a:graphicFrameLocks noGrp="1"/>
          </p:cNvGraphicFramePr>
          <p:nvPr>
            <p:custDataLst>
              <p:tags r:id="rId1"/>
            </p:custDataLst>
          </p:nvPr>
        </p:nvGraphicFramePr>
        <p:xfrm>
          <a:off x="1558925" y="3646170"/>
          <a:ext cx="9324340" cy="1958975"/>
        </p:xfrm>
        <a:graphic>
          <a:graphicData uri="http://schemas.openxmlformats.org/drawingml/2006/table">
            <a:tbl>
              <a:tblPr>
                <a:tableStyleId>{7DF18680-E054-41AD-8BC1-D1AEF772440D}</a:tableStyleId>
              </a:tblPr>
              <a:tblGrid>
                <a:gridCol w="1708785"/>
                <a:gridCol w="1634490"/>
                <a:gridCol w="958215"/>
                <a:gridCol w="5022850"/>
              </a:tblGrid>
              <a:tr h="487680">
                <a:tc>
                  <a:txBody>
                    <a:bodyPr/>
                    <a:lstStyle/>
                    <a:p>
                      <a:pPr indent="267970" algn="ctr">
                        <a:spcAft>
                          <a:spcPts val="0"/>
                        </a:spcAft>
                      </a:pPr>
                      <a:r>
                        <a:rPr sz="1600" b="1" kern="100" dirty="0">
                          <a:solidFill>
                            <a:srgbClr val="595959"/>
                          </a:solidFill>
                          <a:effectLst/>
                          <a:latin typeface="微软雅黑" panose="020B0503020204020204" pitchFamily="34" charset="-122"/>
                          <a:ea typeface="微软雅黑" panose="020B0503020204020204" pitchFamily="34" charset="-122"/>
                        </a:rPr>
                        <a:t>字段名</a:t>
                      </a:r>
                      <a:endParaRPr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数据类型</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lstStyle/>
                    <a:p>
                      <a:pPr indent="267970" algn="ctr">
                        <a:spcAft>
                          <a:spcPts val="0"/>
                        </a:spcAft>
                        <a:buNone/>
                      </a:pPr>
                      <a:r>
                        <a:rPr lang="zh-CN" altLang="en-US"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默认值</a:t>
                      </a:r>
                      <a:endParaRPr lang="zh-CN" altLang="en-US"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buNone/>
                      </a:pPr>
                      <a:r>
                        <a:rPr lang="zh-CN" altLang="en-US"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说明</a:t>
                      </a:r>
                      <a:endParaRPr lang="zh-CN" altLang="en-US"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489585">
                <a:tc>
                  <a:txBody>
                    <a:bodyPr/>
                    <a:lstStyle/>
                    <a:p>
                      <a:pPr indent="266700" algn="just">
                        <a:spcAft>
                          <a:spcPts val="0"/>
                        </a:spcAft>
                      </a:pPr>
                      <a:r>
                        <a:rPr sz="1600" b="0" kern="100" dirty="0">
                          <a:solidFill>
                            <a:srgbClr val="595959"/>
                          </a:solidFill>
                          <a:effectLst/>
                          <a:latin typeface="微软雅黑" panose="020B0503020204020204" pitchFamily="34" charset="-122"/>
                          <a:ea typeface="微软雅黑" panose="020B0503020204020204" pitchFamily="34" charset="-122"/>
                        </a:rPr>
                        <a:t>Select_priv</a:t>
                      </a:r>
                      <a:endParaRPr sz="1600" b="0"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lstStyle/>
                    <a:p>
                      <a:pPr indent="266700" algn="ctr">
                        <a:spcAft>
                          <a:spcPts val="0"/>
                        </a:spcAft>
                      </a:pPr>
                      <a:r>
                        <a:rPr lang="zh-CN" sz="1600" b="0" kern="100" dirty="0">
                          <a:solidFill>
                            <a:srgbClr val="595959"/>
                          </a:solidFill>
                          <a:effectLst/>
                          <a:latin typeface="微软雅黑" panose="020B0503020204020204" pitchFamily="34" charset="-122"/>
                          <a:ea typeface="微软雅黑" panose="020B0503020204020204" pitchFamily="34" charset="-122"/>
                        </a:rPr>
                        <a:t>enum('N','Y')</a:t>
                      </a:r>
                      <a:endParaRPr lang="zh-CN" sz="1600" b="0"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lstStyle/>
                    <a:p>
                      <a:pPr indent="266700" algn="ctr">
                        <a:spcAft>
                          <a:spcPts val="0"/>
                        </a:spcAft>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'N'</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6700" algn="ctr">
                        <a:spcAft>
                          <a:spcPts val="0"/>
                        </a:spcAft>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用户是否可以通过SELECT命令查询数据</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489585">
                <a:tc>
                  <a:txBody>
                    <a:bodyPr/>
                    <a:lstStyle/>
                    <a:p>
                      <a:pPr indent="266700" algn="just">
                        <a:spcAft>
                          <a:spcPts val="0"/>
                        </a:spcAft>
                      </a:pPr>
                      <a:r>
                        <a:rPr lang="en-US" sz="1600" b="0" kern="100">
                          <a:solidFill>
                            <a:srgbClr val="595959"/>
                          </a:solidFill>
                          <a:effectLst/>
                          <a:latin typeface="微软雅黑" panose="020B0503020204020204" pitchFamily="34" charset="-122"/>
                          <a:ea typeface="微软雅黑" panose="020B0503020204020204" pitchFamily="34" charset="-122"/>
                        </a:rPr>
                        <a:t>Insert_priv</a:t>
                      </a:r>
                      <a:endParaRPr lang="en-US" sz="1600" b="0" kern="10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lstStyle/>
                    <a:p>
                      <a:pPr indent="266700" algn="ctr">
                        <a:spcAft>
                          <a:spcPts val="0"/>
                        </a:spcAft>
                      </a:pPr>
                      <a:r>
                        <a:rPr lang="zh-CN" sz="1600" b="0" kern="100">
                          <a:solidFill>
                            <a:srgbClr val="595959"/>
                          </a:solidFill>
                          <a:effectLst/>
                          <a:latin typeface="微软雅黑" panose="020B0503020204020204" pitchFamily="34" charset="-122"/>
                          <a:ea typeface="微软雅黑" panose="020B0503020204020204" pitchFamily="34" charset="-122"/>
                        </a:rPr>
                        <a:t>enum('N','Y')</a:t>
                      </a:r>
                      <a:endParaRPr lang="zh-CN" sz="1600" b="0" kern="10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lstStyle/>
                    <a:p>
                      <a:pPr indent="266700" algn="ctr">
                        <a:spcAft>
                          <a:spcPts val="0"/>
                        </a:spcAft>
                        <a:buNone/>
                      </a:pPr>
                      <a:r>
                        <a:rPr lang="zh-CN" altLang="en-US" sz="1600" b="0" kern="100">
                          <a:solidFill>
                            <a:srgbClr val="595959"/>
                          </a:solidFill>
                          <a:effectLst/>
                          <a:latin typeface="微软雅黑" panose="020B0503020204020204" pitchFamily="34" charset="-122"/>
                          <a:ea typeface="微软雅黑" panose="020B0503020204020204" pitchFamily="34" charset="-122"/>
                          <a:cs typeface="Times New Roman" panose="02020603050405020304"/>
                        </a:rPr>
                        <a:t>'N'</a:t>
                      </a:r>
                      <a:endParaRPr lang="zh-CN" altLang="en-US" sz="1600" b="0" kern="10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6700" algn="ctr">
                        <a:spcAft>
                          <a:spcPts val="0"/>
                        </a:spcAft>
                        <a:buNone/>
                      </a:pPr>
                      <a:r>
                        <a:rPr lang="zh-CN" altLang="en-US" sz="1600" b="0" kern="100">
                          <a:solidFill>
                            <a:srgbClr val="595959"/>
                          </a:solidFill>
                          <a:effectLst/>
                          <a:latin typeface="微软雅黑" panose="020B0503020204020204" pitchFamily="34" charset="-122"/>
                          <a:ea typeface="微软雅黑" panose="020B0503020204020204" pitchFamily="34" charset="-122"/>
                          <a:cs typeface="Times New Roman" panose="02020603050405020304"/>
                        </a:rPr>
                        <a:t>用户是否可以通过INSERT命令插入数据</a:t>
                      </a:r>
                      <a:endParaRPr lang="zh-CN" altLang="en-US" sz="1600" b="0" kern="10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492125">
                <a:tc>
                  <a:txBody>
                    <a:bodyPr/>
                    <a:lstStyle/>
                    <a:p>
                      <a:pPr indent="266700" algn="just">
                        <a:spcAft>
                          <a:spcPts val="0"/>
                        </a:spcAft>
                      </a:pPr>
                      <a:r>
                        <a:rPr lang="en-US" sz="1600" b="0" kern="100">
                          <a:solidFill>
                            <a:srgbClr val="595959"/>
                          </a:solidFill>
                          <a:effectLst/>
                          <a:latin typeface="微软雅黑" panose="020B0503020204020204" pitchFamily="34" charset="-122"/>
                          <a:ea typeface="微软雅黑" panose="020B0503020204020204" pitchFamily="34" charset="-122"/>
                        </a:rPr>
                        <a:t>Update_priv</a:t>
                      </a:r>
                      <a:endParaRPr lang="en-US" sz="1600" b="0" kern="10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lstStyle/>
                    <a:p>
                      <a:pPr indent="266700" algn="ctr">
                        <a:spcAft>
                          <a:spcPts val="0"/>
                        </a:spcAft>
                      </a:pPr>
                      <a:r>
                        <a:rPr lang="zh-CN" sz="1600" b="0" kern="100" dirty="0">
                          <a:solidFill>
                            <a:srgbClr val="595959"/>
                          </a:solidFill>
                          <a:effectLst/>
                          <a:latin typeface="微软雅黑" panose="020B0503020204020204" pitchFamily="34" charset="-122"/>
                          <a:ea typeface="微软雅黑" panose="020B0503020204020204" pitchFamily="34" charset="-122"/>
                        </a:rPr>
                        <a:t>enum('N','Y')</a:t>
                      </a:r>
                      <a:endParaRPr lang="zh-CN" sz="1600" b="0"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lstStyle/>
                    <a:p>
                      <a:pPr indent="266700" algn="ctr">
                        <a:spcAft>
                          <a:spcPts val="0"/>
                        </a:spcAft>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'N'</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6700" algn="ctr">
                        <a:spcAft>
                          <a:spcPts val="0"/>
                        </a:spcAft>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用户是否可以通过UPDATE命令修改现有数据</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bl>
          </a:graphicData>
        </a:graphic>
      </p:graphicFrame>
      <p:sp>
        <p:nvSpPr>
          <p:cNvPr id="9"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9.2.1  user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表</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520190" y="2332990"/>
            <a:ext cx="9500235" cy="2689860"/>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1767840" y="2637155"/>
            <a:ext cx="9122410" cy="1938020"/>
          </a:xfrm>
          <a:prstGeom prst="rect">
            <a:avLst/>
          </a:prstGeom>
          <a:noFill/>
        </p:spPr>
        <p:txBody>
          <a:bodyPr wrap="square" rtlCol="0">
            <a:spAutoFit/>
          </a:bodyPr>
          <a:lstStyle/>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user表对应的权限是针对所有数据库的，并且这些权限字段的数据类型都是</a:t>
            </a:r>
            <a:r>
              <a:rPr sz="2000" dirty="0" smtClean="0">
                <a:solidFill>
                  <a:srgbClr val="1369B2"/>
                </a:solidFill>
                <a:latin typeface="微软雅黑" panose="020B0503020204020204" pitchFamily="34" charset="-122"/>
                <a:ea typeface="微软雅黑" panose="020B0503020204020204" pitchFamily="34" charset="-122"/>
              </a:rPr>
              <a:t>ENUM</a:t>
            </a:r>
            <a:r>
              <a:rPr sz="2000" dirty="0" smtClean="0">
                <a:solidFill>
                  <a:srgbClr val="595959"/>
                </a:solidFill>
                <a:latin typeface="微软雅黑" panose="020B0503020204020204" pitchFamily="34" charset="-122"/>
                <a:ea typeface="微软雅黑" panose="020B0503020204020204" pitchFamily="34" charset="-122"/>
              </a:rPr>
              <a:t>，取值只有</a:t>
            </a:r>
            <a:r>
              <a:rPr sz="2000" dirty="0" smtClean="0">
                <a:solidFill>
                  <a:srgbClr val="1369B2"/>
                </a:solidFill>
                <a:latin typeface="微软雅黑" panose="020B0503020204020204" pitchFamily="34" charset="-122"/>
                <a:ea typeface="微软雅黑" panose="020B0503020204020204" pitchFamily="34" charset="-122"/>
              </a:rPr>
              <a:t>'N'</a:t>
            </a:r>
            <a:r>
              <a:rPr sz="2000" dirty="0" smtClean="0">
                <a:solidFill>
                  <a:srgbClr val="595959"/>
                </a:solidFill>
                <a:latin typeface="微软雅黑" panose="020B0503020204020204" pitchFamily="34" charset="-122"/>
                <a:ea typeface="微软雅黑" panose="020B0503020204020204" pitchFamily="34" charset="-122"/>
              </a:rPr>
              <a:t>或</a:t>
            </a:r>
            <a:r>
              <a:rPr sz="2000" dirty="0" smtClean="0">
                <a:solidFill>
                  <a:srgbClr val="1369B2"/>
                </a:solidFill>
                <a:latin typeface="微软雅黑" panose="020B0503020204020204" pitchFamily="34" charset="-122"/>
                <a:ea typeface="微软雅黑" panose="020B0503020204020204" pitchFamily="34" charset="-122"/>
              </a:rPr>
              <a:t>'Y'</a:t>
            </a:r>
            <a:r>
              <a:rPr sz="2000" dirty="0" smtClean="0">
                <a:solidFill>
                  <a:srgbClr val="595959"/>
                </a:solidFill>
                <a:latin typeface="微软雅黑" panose="020B0503020204020204" pitchFamily="34" charset="-122"/>
                <a:ea typeface="微软雅黑" panose="020B0503020204020204" pitchFamily="34" charset="-122"/>
              </a:rPr>
              <a:t>，其中N表示该用户没有对应权限，Y表示该用户有对应权限，为了安全起见，这些字段的默认值都为N，如果需要更改权限，可以对字段值进行修改。</a:t>
            </a:r>
            <a:endParaRPr sz="2000" dirty="0" smtClean="0">
              <a:solidFill>
                <a:srgbClr val="595959"/>
              </a:solidFill>
              <a:latin typeface="微软雅黑" panose="020B0503020204020204" pitchFamily="34" charset="-122"/>
              <a:ea typeface="微软雅黑" panose="020B0503020204020204" pitchFamily="34" charset="-122"/>
            </a:endParaRPr>
          </a:p>
        </p:txBody>
      </p:sp>
      <p:sp>
        <p:nvSpPr>
          <p:cNvPr id="7"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9.2.1  user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表</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520190" y="1851660"/>
            <a:ext cx="9500235" cy="398081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1649730" y="1917700"/>
            <a:ext cx="9370695" cy="1198880"/>
          </a:xfrm>
          <a:prstGeom prst="rect">
            <a:avLst/>
          </a:prstGeom>
          <a:noFill/>
        </p:spPr>
        <p:txBody>
          <a:bodyPr wrap="square" rtlCol="0">
            <a:spAutoFit/>
          </a:bodyPr>
          <a:lstStyle/>
          <a:p>
            <a:pPr algn="l">
              <a:lnSpc>
                <a:spcPct val="150000"/>
              </a:lnSpc>
            </a:pPr>
            <a:r>
              <a:rPr sz="1600" dirty="0" smtClean="0">
                <a:solidFill>
                  <a:srgbClr val="595959"/>
                </a:solidFill>
                <a:latin typeface="微软雅黑" panose="020B0503020204020204" pitchFamily="34" charset="-122"/>
                <a:ea typeface="微软雅黑" panose="020B0503020204020204" pitchFamily="34" charset="-122"/>
              </a:rPr>
              <a:t>3.</a:t>
            </a:r>
            <a:r>
              <a:rPr sz="1600" dirty="0" smtClean="0">
                <a:solidFill>
                  <a:srgbClr val="1369B2"/>
                </a:solidFill>
                <a:latin typeface="微软雅黑" panose="020B0503020204020204" pitchFamily="34" charset="-122"/>
                <a:ea typeface="微软雅黑" panose="020B0503020204020204" pitchFamily="34" charset="-122"/>
              </a:rPr>
              <a:t>安全字段</a:t>
            </a:r>
            <a:endParaRPr sz="16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sz="1600" dirty="0" smtClean="0">
                <a:solidFill>
                  <a:srgbClr val="595959"/>
                </a:solidFill>
                <a:latin typeface="微软雅黑" panose="020B0503020204020204" pitchFamily="34" charset="-122"/>
                <a:ea typeface="微软雅黑" panose="020B0503020204020204" pitchFamily="34" charset="-122"/>
              </a:rPr>
              <a:t>user表的安全字段包含</a:t>
            </a:r>
            <a:r>
              <a:rPr sz="1600" dirty="0" smtClean="0">
                <a:solidFill>
                  <a:srgbClr val="1369B2"/>
                </a:solidFill>
                <a:latin typeface="微软雅黑" panose="020B0503020204020204" pitchFamily="34" charset="-122"/>
                <a:ea typeface="微软雅黑" panose="020B0503020204020204" pitchFamily="34" charset="-122"/>
              </a:rPr>
              <a:t>安全连接</a:t>
            </a:r>
            <a:r>
              <a:rPr sz="1600" dirty="0" smtClean="0">
                <a:solidFill>
                  <a:srgbClr val="595959"/>
                </a:solidFill>
                <a:latin typeface="微软雅黑" panose="020B0503020204020204" pitchFamily="34" charset="-122"/>
                <a:ea typeface="微软雅黑" panose="020B0503020204020204" pitchFamily="34" charset="-122"/>
              </a:rPr>
              <a:t>、</a:t>
            </a:r>
            <a:r>
              <a:rPr sz="1600" dirty="0" smtClean="0">
                <a:solidFill>
                  <a:srgbClr val="1369B2"/>
                </a:solidFill>
                <a:latin typeface="微软雅黑" panose="020B0503020204020204" pitchFamily="34" charset="-122"/>
                <a:ea typeface="微软雅黑" panose="020B0503020204020204" pitchFamily="34" charset="-122"/>
              </a:rPr>
              <a:t>身份验证</a:t>
            </a:r>
            <a:r>
              <a:rPr sz="1600" dirty="0" smtClean="0">
                <a:solidFill>
                  <a:srgbClr val="595959"/>
                </a:solidFill>
                <a:latin typeface="微软雅黑" panose="020B0503020204020204" pitchFamily="34" charset="-122"/>
                <a:ea typeface="微软雅黑" panose="020B0503020204020204" pitchFamily="34" charset="-122"/>
              </a:rPr>
              <a:t>和</a:t>
            </a:r>
            <a:r>
              <a:rPr sz="1600" dirty="0" smtClean="0">
                <a:solidFill>
                  <a:srgbClr val="1369B2"/>
                </a:solidFill>
                <a:latin typeface="微软雅黑" panose="020B0503020204020204" pitchFamily="34" charset="-122"/>
                <a:ea typeface="微软雅黑" panose="020B0503020204020204" pitchFamily="34" charset="-122"/>
              </a:rPr>
              <a:t>密码</a:t>
            </a:r>
            <a:r>
              <a:rPr sz="1600" dirty="0" smtClean="0">
                <a:solidFill>
                  <a:srgbClr val="595959"/>
                </a:solidFill>
                <a:latin typeface="微软雅黑" panose="020B0503020204020204" pitchFamily="34" charset="-122"/>
                <a:ea typeface="微软雅黑" panose="020B0503020204020204" pitchFamily="34" charset="-122"/>
              </a:rPr>
              <a:t>相关等字段，主要用于管理用户的安全信息。user表中的安全字段如</a:t>
            </a:r>
            <a:r>
              <a:rPr lang="zh-CN" sz="1600" dirty="0" smtClean="0">
                <a:solidFill>
                  <a:srgbClr val="595959"/>
                </a:solidFill>
                <a:latin typeface="微软雅黑" panose="020B0503020204020204" pitchFamily="34" charset="-122"/>
                <a:ea typeface="微软雅黑" panose="020B0503020204020204" pitchFamily="34" charset="-122"/>
              </a:rPr>
              <a:t>下</a:t>
            </a:r>
            <a:r>
              <a:rPr sz="1600" dirty="0" smtClean="0">
                <a:solidFill>
                  <a:srgbClr val="595959"/>
                </a:solidFill>
                <a:latin typeface="微软雅黑" panose="020B0503020204020204" pitchFamily="34" charset="-122"/>
                <a:ea typeface="微软雅黑" panose="020B0503020204020204" pitchFamily="34" charset="-122"/>
              </a:rPr>
              <a:t>表所示</a:t>
            </a:r>
            <a:r>
              <a:rPr lang="zh-CN" sz="1600" dirty="0" smtClean="0">
                <a:solidFill>
                  <a:srgbClr val="595959"/>
                </a:solidFill>
                <a:latin typeface="微软雅黑" panose="020B0503020204020204" pitchFamily="34" charset="-122"/>
                <a:ea typeface="微软雅黑" panose="020B0503020204020204" pitchFamily="34" charset="-122"/>
              </a:rPr>
              <a:t>。</a:t>
            </a:r>
            <a:r>
              <a:rPr lang="zh-CN" sz="1600" dirty="0" smtClean="0">
                <a:solidFill>
                  <a:srgbClr val="595959"/>
                </a:solidFill>
                <a:latin typeface="微软雅黑" panose="020B0503020204020204" pitchFamily="34" charset="-122"/>
                <a:ea typeface="微软雅黑" panose="020B0503020204020204" pitchFamily="34" charset="-122"/>
                <a:sym typeface="+mn-ea"/>
              </a:rPr>
              <a:t>（由于篇幅原因这里仅展示部分字段）</a:t>
            </a:r>
            <a:endParaRPr lang="zh-CN" sz="1600" dirty="0" smtClean="0">
              <a:solidFill>
                <a:srgbClr val="595959"/>
              </a:solidFill>
              <a:latin typeface="微软雅黑" panose="020B0503020204020204" pitchFamily="34" charset="-122"/>
              <a:ea typeface="微软雅黑" panose="020B0503020204020204" pitchFamily="34" charset="-122"/>
            </a:endParaRPr>
          </a:p>
        </p:txBody>
      </p:sp>
      <p:graphicFrame>
        <p:nvGraphicFramePr>
          <p:cNvPr id="2" name="表格 1"/>
          <p:cNvGraphicFramePr>
            <a:graphicFrameLocks noGrp="1"/>
          </p:cNvGraphicFramePr>
          <p:nvPr>
            <p:custDataLst>
              <p:tags r:id="rId1"/>
            </p:custDataLst>
          </p:nvPr>
        </p:nvGraphicFramePr>
        <p:xfrm>
          <a:off x="2024687" y="3623469"/>
          <a:ext cx="8491548" cy="1969811"/>
        </p:xfrm>
        <a:graphic>
          <a:graphicData uri="http://schemas.openxmlformats.org/drawingml/2006/table">
            <a:tbl>
              <a:tblPr>
                <a:tableStyleId>{7DF18680-E054-41AD-8BC1-D1AEF772440D}</a:tableStyleId>
              </a:tblPr>
              <a:tblGrid>
                <a:gridCol w="1708150"/>
                <a:gridCol w="1390015"/>
                <a:gridCol w="1406525"/>
                <a:gridCol w="3986858"/>
              </a:tblGrid>
              <a:tr h="492562">
                <a:tc>
                  <a:txBody>
                    <a:bodyPr/>
                    <a:lstStyle/>
                    <a:p>
                      <a:pPr indent="267970" algn="ctr">
                        <a:spcAft>
                          <a:spcPts val="0"/>
                        </a:spcAft>
                      </a:pPr>
                      <a:r>
                        <a:rPr sz="1600" b="1" kern="100" dirty="0">
                          <a:solidFill>
                            <a:srgbClr val="595959"/>
                          </a:solidFill>
                          <a:effectLst/>
                          <a:latin typeface="微软雅黑" panose="020B0503020204020204" pitchFamily="34" charset="-122"/>
                          <a:ea typeface="微软雅黑" panose="020B0503020204020204" pitchFamily="34" charset="-122"/>
                        </a:rPr>
                        <a:t>字段名</a:t>
                      </a:r>
                      <a:endParaRPr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数据类型</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lstStyle/>
                    <a:p>
                      <a:pPr indent="267970" algn="ctr">
                        <a:spcAft>
                          <a:spcPts val="0"/>
                        </a:spcAft>
                        <a:buNone/>
                      </a:pPr>
                      <a:r>
                        <a:rPr lang="zh-CN" altLang="en-US"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默认值</a:t>
                      </a:r>
                      <a:endParaRPr lang="zh-CN" altLang="en-US"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buNone/>
                      </a:pPr>
                      <a:r>
                        <a:rPr lang="zh-CN" altLang="en-US"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说明</a:t>
                      </a:r>
                      <a:endParaRPr lang="zh-CN" altLang="en-US"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492125">
                <a:tc>
                  <a:txBody>
                    <a:bodyPr/>
                    <a:lstStyle/>
                    <a:p>
                      <a:pPr indent="266700" algn="just">
                        <a:spcAft>
                          <a:spcPts val="0"/>
                        </a:spcAft>
                      </a:pPr>
                      <a:r>
                        <a:rPr sz="1600" b="0" kern="100" dirty="0">
                          <a:solidFill>
                            <a:srgbClr val="595959"/>
                          </a:solidFill>
                          <a:effectLst/>
                          <a:latin typeface="微软雅黑" panose="020B0503020204020204" pitchFamily="34" charset="-122"/>
                          <a:ea typeface="微软雅黑" panose="020B0503020204020204" pitchFamily="34" charset="-122"/>
                        </a:rPr>
                        <a:t>x509_subject</a:t>
                      </a:r>
                      <a:endParaRPr sz="1600" b="0"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lstStyle/>
                    <a:p>
                      <a:pPr indent="266700" algn="ctr">
                        <a:spcAft>
                          <a:spcPts val="0"/>
                        </a:spcAft>
                      </a:pPr>
                      <a:r>
                        <a:rPr lang="zh-CN" sz="1600" b="0" kern="100" dirty="0">
                          <a:solidFill>
                            <a:srgbClr val="595959"/>
                          </a:solidFill>
                          <a:effectLst/>
                          <a:latin typeface="微软雅黑" panose="020B0503020204020204" pitchFamily="34" charset="-122"/>
                          <a:ea typeface="微软雅黑" panose="020B0503020204020204" pitchFamily="34" charset="-122"/>
                        </a:rPr>
                        <a:t>blob</a:t>
                      </a:r>
                      <a:endParaRPr lang="zh-CN" sz="1600" b="0"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lstStyle/>
                    <a:p>
                      <a:pPr indent="266700" algn="ctr">
                        <a:spcAft>
                          <a:spcPts val="0"/>
                        </a:spcAft>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6700" algn="ctr">
                        <a:spcAft>
                          <a:spcPts val="0"/>
                        </a:spcAft>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包含主题的有效的X509证书</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492562">
                <a:tc>
                  <a:txBody>
                    <a:bodyPr/>
                    <a:lstStyle/>
                    <a:p>
                      <a:pPr indent="266700" algn="just">
                        <a:spcAft>
                          <a:spcPts val="0"/>
                        </a:spcAft>
                      </a:pPr>
                      <a:r>
                        <a:rPr lang="en-US" sz="1600" b="0" kern="100">
                          <a:solidFill>
                            <a:srgbClr val="595959"/>
                          </a:solidFill>
                          <a:effectLst/>
                          <a:latin typeface="微软雅黑" panose="020B0503020204020204" pitchFamily="34" charset="-122"/>
                          <a:ea typeface="微软雅黑" panose="020B0503020204020204" pitchFamily="34" charset="-122"/>
                        </a:rPr>
                        <a:t>ssl_cipher</a:t>
                      </a:r>
                      <a:endParaRPr lang="en-US" sz="1600" b="0" kern="10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lstStyle/>
                    <a:p>
                      <a:pPr indent="266700" algn="ctr">
                        <a:spcAft>
                          <a:spcPts val="0"/>
                        </a:spcAft>
                      </a:pPr>
                      <a:r>
                        <a:rPr lang="zh-CN" sz="1600" b="0" kern="100">
                          <a:solidFill>
                            <a:srgbClr val="595959"/>
                          </a:solidFill>
                          <a:effectLst/>
                          <a:latin typeface="微软雅黑" panose="020B0503020204020204" pitchFamily="34" charset="-122"/>
                          <a:ea typeface="微软雅黑" panose="020B0503020204020204" pitchFamily="34" charset="-122"/>
                        </a:rPr>
                        <a:t>blob</a:t>
                      </a:r>
                      <a:endParaRPr lang="zh-CN" sz="1600" b="0" kern="10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lstStyle/>
                    <a:p>
                      <a:pPr indent="266700" algn="ctr">
                        <a:spcAft>
                          <a:spcPts val="0"/>
                        </a:spcAft>
                        <a:buNone/>
                      </a:pPr>
                      <a:r>
                        <a:rPr lang="zh-CN" altLang="en-US" sz="1600" b="0" kern="100">
                          <a:solidFill>
                            <a:srgbClr val="595959"/>
                          </a:solidFill>
                          <a:effectLst/>
                          <a:latin typeface="微软雅黑" panose="020B0503020204020204" pitchFamily="34" charset="-122"/>
                          <a:ea typeface="微软雅黑" panose="020B0503020204020204" pitchFamily="34" charset="-122"/>
                          <a:cs typeface="Times New Roman" panose="02020603050405020304"/>
                        </a:rPr>
                        <a:t>-</a:t>
                      </a:r>
                      <a:endParaRPr lang="zh-CN" altLang="en-US" sz="1600" b="0" kern="10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6700" algn="ctr">
                        <a:spcAft>
                          <a:spcPts val="0"/>
                        </a:spcAft>
                        <a:buNone/>
                      </a:pPr>
                      <a:r>
                        <a:rPr lang="zh-CN" altLang="en-US" sz="1600" b="0" kern="100">
                          <a:solidFill>
                            <a:srgbClr val="595959"/>
                          </a:solidFill>
                          <a:effectLst/>
                          <a:latin typeface="微软雅黑" panose="020B0503020204020204" pitchFamily="34" charset="-122"/>
                          <a:ea typeface="微软雅黑" panose="020B0503020204020204" pitchFamily="34" charset="-122"/>
                          <a:cs typeface="Times New Roman" panose="02020603050405020304"/>
                        </a:rPr>
                        <a:t>ssl标准加密连接的特定密码</a:t>
                      </a:r>
                      <a:endParaRPr lang="zh-CN" altLang="en-US" sz="1600" b="0" kern="10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492562">
                <a:tc>
                  <a:txBody>
                    <a:bodyPr/>
                    <a:lstStyle/>
                    <a:p>
                      <a:pPr indent="266700" algn="just">
                        <a:spcAft>
                          <a:spcPts val="0"/>
                        </a:spcAft>
                      </a:pPr>
                      <a:r>
                        <a:rPr lang="en-US" sz="1600" b="0" kern="100">
                          <a:solidFill>
                            <a:srgbClr val="595959"/>
                          </a:solidFill>
                          <a:effectLst/>
                          <a:latin typeface="微软雅黑" panose="020B0503020204020204" pitchFamily="34" charset="-122"/>
                          <a:ea typeface="微软雅黑" panose="020B0503020204020204" pitchFamily="34" charset="-122"/>
                        </a:rPr>
                        <a:t>x509_issuer</a:t>
                      </a:r>
                      <a:endParaRPr lang="en-US" sz="1600" b="0" kern="10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lstStyle/>
                    <a:p>
                      <a:pPr indent="266700" algn="ctr">
                        <a:spcAft>
                          <a:spcPts val="0"/>
                        </a:spcAft>
                      </a:pPr>
                      <a:r>
                        <a:rPr lang="zh-CN" sz="1600" b="0" kern="100" dirty="0">
                          <a:solidFill>
                            <a:srgbClr val="595959"/>
                          </a:solidFill>
                          <a:effectLst/>
                          <a:latin typeface="微软雅黑" panose="020B0503020204020204" pitchFamily="34" charset="-122"/>
                          <a:ea typeface="微软雅黑" panose="020B0503020204020204" pitchFamily="34" charset="-122"/>
                        </a:rPr>
                        <a:t>blob</a:t>
                      </a:r>
                      <a:endParaRPr lang="zh-CN" sz="1600" b="0"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lstStyle/>
                    <a:p>
                      <a:pPr indent="266700" algn="ctr">
                        <a:spcAft>
                          <a:spcPts val="0"/>
                        </a:spcAft>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6700" algn="ctr">
                        <a:spcAft>
                          <a:spcPts val="0"/>
                        </a:spcAft>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CA签发的有效的X509证书</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bl>
          </a:graphicData>
        </a:graphic>
      </p:graphicFrame>
      <p:sp>
        <p:nvSpPr>
          <p:cNvPr id="9"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9.2.1  user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表</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090930" y="1576705"/>
            <a:ext cx="10167620" cy="4417060"/>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1301115" y="1687830"/>
            <a:ext cx="9772015" cy="1198880"/>
          </a:xfrm>
          <a:prstGeom prst="rect">
            <a:avLst/>
          </a:prstGeom>
          <a:noFill/>
        </p:spPr>
        <p:txBody>
          <a:bodyPr wrap="square" rtlCol="0">
            <a:spAutoFit/>
          </a:bodyPr>
          <a:lstStyle/>
          <a:p>
            <a:pPr algn="l">
              <a:lnSpc>
                <a:spcPct val="150000"/>
              </a:lnSpc>
            </a:pPr>
            <a:r>
              <a:rPr lang="zh-CN" sz="1600" dirty="0" smtClean="0">
                <a:solidFill>
                  <a:srgbClr val="595959"/>
                </a:solidFill>
                <a:latin typeface="微软雅黑" panose="020B0503020204020204" pitchFamily="34" charset="-122"/>
                <a:ea typeface="微软雅黑" panose="020B0503020204020204" pitchFamily="34" charset="-122"/>
                <a:sym typeface="+mn-ea"/>
              </a:rPr>
              <a:t>4.</a:t>
            </a:r>
            <a:r>
              <a:rPr lang="zh-CN" sz="1600" dirty="0" smtClean="0">
                <a:solidFill>
                  <a:srgbClr val="1369B2"/>
                </a:solidFill>
                <a:latin typeface="微软雅黑" panose="020B0503020204020204" pitchFamily="34" charset="-122"/>
                <a:ea typeface="微软雅黑" panose="020B0503020204020204" pitchFamily="34" charset="-122"/>
                <a:sym typeface="+mn-ea"/>
              </a:rPr>
              <a:t>资源控制字段</a:t>
            </a:r>
            <a:endParaRPr lang="zh-CN" sz="1600" dirty="0" smtClean="0">
              <a:solidFill>
                <a:srgbClr val="1369B2"/>
              </a:solidFill>
              <a:latin typeface="微软雅黑" panose="020B0503020204020204" pitchFamily="34" charset="-122"/>
              <a:ea typeface="微软雅黑" panose="020B0503020204020204" pitchFamily="34" charset="-122"/>
              <a:sym typeface="+mn-ea"/>
            </a:endParaRPr>
          </a:p>
          <a:p>
            <a:pPr algn="l">
              <a:lnSpc>
                <a:spcPct val="150000"/>
              </a:lnSpc>
            </a:pPr>
            <a:r>
              <a:rPr lang="zh-CN" sz="1600" dirty="0" smtClean="0">
                <a:solidFill>
                  <a:srgbClr val="595959"/>
                </a:solidFill>
                <a:latin typeface="微软雅黑" panose="020B0503020204020204" pitchFamily="34" charset="-122"/>
                <a:ea typeface="微软雅黑" panose="020B0503020204020204" pitchFamily="34" charset="-122"/>
              </a:rPr>
              <a:t>user表的资源控制字段包含以</a:t>
            </a:r>
            <a:r>
              <a:rPr lang="zh-CN" sz="1600" dirty="0" smtClean="0">
                <a:solidFill>
                  <a:srgbClr val="1369B2"/>
                </a:solidFill>
                <a:latin typeface="微软雅黑" panose="020B0503020204020204" pitchFamily="34" charset="-122"/>
                <a:ea typeface="微软雅黑" panose="020B0503020204020204" pitchFamily="34" charset="-122"/>
              </a:rPr>
              <a:t>max_</a:t>
            </a:r>
            <a:r>
              <a:rPr lang="zh-CN" sz="1600" dirty="0" smtClean="0">
                <a:solidFill>
                  <a:srgbClr val="595959"/>
                </a:solidFill>
                <a:latin typeface="微软雅黑" panose="020B0503020204020204" pitchFamily="34" charset="-122"/>
                <a:ea typeface="微软雅黑" panose="020B0503020204020204" pitchFamily="34" charset="-122"/>
              </a:rPr>
              <a:t>开头的4个字段，这些字段用于限制用户对服务器资源的使用，防止用户登录服务器后的不法操作或不合规范的操作，导致服务器资源的浪费。user表中的资源控制字段如下表所示。</a:t>
            </a:r>
            <a:endParaRPr lang="zh-CN" sz="1600" dirty="0" smtClean="0">
              <a:solidFill>
                <a:srgbClr val="595959"/>
              </a:solidFill>
              <a:latin typeface="微软雅黑" panose="020B0503020204020204" pitchFamily="34" charset="-122"/>
              <a:ea typeface="微软雅黑" panose="020B0503020204020204" pitchFamily="34" charset="-122"/>
            </a:endParaRPr>
          </a:p>
        </p:txBody>
      </p:sp>
      <p:graphicFrame>
        <p:nvGraphicFramePr>
          <p:cNvPr id="2" name="表格 1"/>
          <p:cNvGraphicFramePr>
            <a:graphicFrameLocks noGrp="1"/>
          </p:cNvGraphicFramePr>
          <p:nvPr>
            <p:custDataLst>
              <p:tags r:id="rId1"/>
            </p:custDataLst>
          </p:nvPr>
        </p:nvGraphicFramePr>
        <p:xfrm>
          <a:off x="1774190" y="3430270"/>
          <a:ext cx="8894445" cy="2335530"/>
        </p:xfrm>
        <a:graphic>
          <a:graphicData uri="http://schemas.openxmlformats.org/drawingml/2006/table">
            <a:tbl>
              <a:tblPr>
                <a:tableStyleId>{7DF18680-E054-41AD-8BC1-D1AEF772440D}</a:tableStyleId>
              </a:tblPr>
              <a:tblGrid>
                <a:gridCol w="2628900"/>
                <a:gridCol w="1266190"/>
                <a:gridCol w="1137920"/>
                <a:gridCol w="3861435"/>
              </a:tblGrid>
              <a:tr h="436245">
                <a:tc>
                  <a:txBody>
                    <a:bodyPr/>
                    <a:lstStyle/>
                    <a:p>
                      <a:pPr indent="267970" algn="ctr">
                        <a:spcAft>
                          <a:spcPts val="0"/>
                        </a:spcAft>
                      </a:pPr>
                      <a:r>
                        <a:rPr sz="1600" b="1" kern="100" dirty="0">
                          <a:solidFill>
                            <a:srgbClr val="595959"/>
                          </a:solidFill>
                          <a:effectLst/>
                          <a:latin typeface="微软雅黑" panose="020B0503020204020204" pitchFamily="34" charset="-122"/>
                          <a:ea typeface="微软雅黑" panose="020B0503020204020204" pitchFamily="34" charset="-122"/>
                        </a:rPr>
                        <a:t>字段名</a:t>
                      </a:r>
                      <a:endParaRPr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数据类型</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lstStyle/>
                    <a:p>
                      <a:pPr indent="267970" algn="ctr">
                        <a:spcAft>
                          <a:spcPts val="0"/>
                        </a:spcAft>
                        <a:buNone/>
                      </a:pPr>
                      <a:r>
                        <a:rPr lang="zh-CN" altLang="en-US"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默认值</a:t>
                      </a:r>
                      <a:endParaRPr lang="zh-CN" altLang="en-US"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buNone/>
                      </a:pPr>
                      <a:r>
                        <a:rPr lang="zh-CN" altLang="en-US"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说明</a:t>
                      </a:r>
                      <a:endParaRPr lang="zh-CN" altLang="en-US"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487680">
                <a:tc>
                  <a:txBody>
                    <a:bodyPr/>
                    <a:lstStyle/>
                    <a:p>
                      <a:pPr indent="266700" algn="just">
                        <a:spcAft>
                          <a:spcPts val="0"/>
                        </a:spcAft>
                      </a:pPr>
                      <a:r>
                        <a:rPr sz="1600" b="0" kern="100" dirty="0">
                          <a:solidFill>
                            <a:srgbClr val="595959"/>
                          </a:solidFill>
                          <a:effectLst/>
                          <a:latin typeface="微软雅黑" panose="020B0503020204020204" pitchFamily="34" charset="-122"/>
                          <a:ea typeface="微软雅黑" panose="020B0503020204020204" pitchFamily="34" charset="-122"/>
                        </a:rPr>
                        <a:t>max_questions</a:t>
                      </a:r>
                      <a:endParaRPr sz="1600" b="0"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lstStyle/>
                    <a:p>
                      <a:pPr indent="266700" algn="ctr">
                        <a:spcAft>
                          <a:spcPts val="0"/>
                        </a:spcAft>
                      </a:pPr>
                      <a:r>
                        <a:rPr lang="zh-CN" sz="1600" b="0" kern="100" dirty="0">
                          <a:solidFill>
                            <a:srgbClr val="595959"/>
                          </a:solidFill>
                          <a:effectLst/>
                          <a:latin typeface="微软雅黑" panose="020B0503020204020204" pitchFamily="34" charset="-122"/>
                          <a:ea typeface="微软雅黑" panose="020B0503020204020204" pitchFamily="34" charset="-122"/>
                        </a:rPr>
                        <a:t>int</a:t>
                      </a:r>
                      <a:endParaRPr lang="zh-CN" sz="1600" b="0"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lstStyle/>
                    <a:p>
                      <a:pPr indent="266700" algn="ctr">
                        <a:spcAft>
                          <a:spcPts val="0"/>
                        </a:spcAft>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0</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6700" algn="ctr">
                        <a:spcAft>
                          <a:spcPts val="0"/>
                        </a:spcAft>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每小时允许用户执行查询操作的次数</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487680">
                <a:tc>
                  <a:txBody>
                    <a:bodyPr/>
                    <a:lstStyle/>
                    <a:p>
                      <a:pPr indent="266700" algn="just">
                        <a:spcAft>
                          <a:spcPts val="0"/>
                        </a:spcAft>
                      </a:pPr>
                      <a:r>
                        <a:rPr lang="en-US" sz="1600" b="0" kern="100">
                          <a:solidFill>
                            <a:srgbClr val="595959"/>
                          </a:solidFill>
                          <a:effectLst/>
                          <a:latin typeface="微软雅黑" panose="020B0503020204020204" pitchFamily="34" charset="-122"/>
                          <a:ea typeface="微软雅黑" panose="020B0503020204020204" pitchFamily="34" charset="-122"/>
                        </a:rPr>
                        <a:t>max_updates</a:t>
                      </a:r>
                      <a:endParaRPr lang="en-US" sz="1600" b="0" kern="10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lstStyle/>
                    <a:p>
                      <a:pPr indent="266700" algn="ctr">
                        <a:spcAft>
                          <a:spcPts val="0"/>
                        </a:spcAft>
                      </a:pPr>
                      <a:r>
                        <a:rPr lang="zh-CN" sz="1600" b="0" kern="100">
                          <a:solidFill>
                            <a:srgbClr val="595959"/>
                          </a:solidFill>
                          <a:effectLst/>
                          <a:latin typeface="微软雅黑" panose="020B0503020204020204" pitchFamily="34" charset="-122"/>
                          <a:ea typeface="微软雅黑" panose="020B0503020204020204" pitchFamily="34" charset="-122"/>
                        </a:rPr>
                        <a:t>int</a:t>
                      </a:r>
                      <a:endParaRPr lang="zh-CN" sz="1600" b="0" kern="10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lstStyle/>
                    <a:p>
                      <a:pPr indent="266700" algn="ctr">
                        <a:spcAft>
                          <a:spcPts val="0"/>
                        </a:spcAft>
                        <a:buNone/>
                      </a:pPr>
                      <a:r>
                        <a:rPr lang="zh-CN" altLang="en-US" sz="1600" b="0" kern="100">
                          <a:solidFill>
                            <a:srgbClr val="595959"/>
                          </a:solidFill>
                          <a:effectLst/>
                          <a:latin typeface="微软雅黑" panose="020B0503020204020204" pitchFamily="34" charset="-122"/>
                          <a:ea typeface="微软雅黑" panose="020B0503020204020204" pitchFamily="34" charset="-122"/>
                          <a:cs typeface="Times New Roman" panose="02020603050405020304"/>
                        </a:rPr>
                        <a:t>0</a:t>
                      </a:r>
                      <a:endParaRPr lang="zh-CN" altLang="en-US" sz="1600" b="0" kern="10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6700" algn="ctr">
                        <a:spcAft>
                          <a:spcPts val="0"/>
                        </a:spcAft>
                        <a:buNone/>
                      </a:pPr>
                      <a:r>
                        <a:rPr lang="zh-CN" altLang="en-US" sz="1600" b="0" kern="100">
                          <a:solidFill>
                            <a:srgbClr val="595959"/>
                          </a:solidFill>
                          <a:effectLst/>
                          <a:latin typeface="微软雅黑" panose="020B0503020204020204" pitchFamily="34" charset="-122"/>
                          <a:ea typeface="微软雅黑" panose="020B0503020204020204" pitchFamily="34" charset="-122"/>
                          <a:cs typeface="Times New Roman" panose="02020603050405020304"/>
                        </a:rPr>
                        <a:t>每小时允许用户执行更新操作的次数</a:t>
                      </a:r>
                      <a:endParaRPr lang="zh-CN" altLang="en-US" sz="1600" b="0" kern="10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487680">
                <a:tc>
                  <a:txBody>
                    <a:bodyPr/>
                    <a:lstStyle/>
                    <a:p>
                      <a:pPr indent="266700" algn="just">
                        <a:spcAft>
                          <a:spcPts val="0"/>
                        </a:spcAft>
                      </a:pPr>
                      <a:r>
                        <a:rPr lang="en-US" sz="1600" b="0" kern="100">
                          <a:solidFill>
                            <a:srgbClr val="595959"/>
                          </a:solidFill>
                          <a:effectLst/>
                          <a:latin typeface="微软雅黑" panose="020B0503020204020204" pitchFamily="34" charset="-122"/>
                          <a:ea typeface="微软雅黑" panose="020B0503020204020204" pitchFamily="34" charset="-122"/>
                        </a:rPr>
                        <a:t>max_connections</a:t>
                      </a:r>
                      <a:endParaRPr lang="en-US" sz="1600" b="0" kern="10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lstStyle/>
                    <a:p>
                      <a:pPr indent="266700" algn="ctr">
                        <a:spcAft>
                          <a:spcPts val="0"/>
                        </a:spcAft>
                      </a:pPr>
                      <a:r>
                        <a:rPr lang="zh-CN" sz="1600" b="0" kern="100" dirty="0">
                          <a:solidFill>
                            <a:srgbClr val="595959"/>
                          </a:solidFill>
                          <a:effectLst/>
                          <a:latin typeface="微软雅黑" panose="020B0503020204020204" pitchFamily="34" charset="-122"/>
                          <a:ea typeface="微软雅黑" panose="020B0503020204020204" pitchFamily="34" charset="-122"/>
                        </a:rPr>
                        <a:t>int</a:t>
                      </a:r>
                      <a:endParaRPr lang="zh-CN" sz="1600" b="0"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lstStyle/>
                    <a:p>
                      <a:pPr indent="266700" algn="ctr">
                        <a:spcAft>
                          <a:spcPts val="0"/>
                        </a:spcAft>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0</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6700" algn="ctr">
                        <a:spcAft>
                          <a:spcPts val="0"/>
                        </a:spcAft>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每小时允许用户执行连接操作的次数</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436245">
                <a:tc>
                  <a:txBody>
                    <a:bodyPr/>
                    <a:lstStyle/>
                    <a:p>
                      <a:pPr indent="266700" algn="just">
                        <a:spcAft>
                          <a:spcPts val="0"/>
                        </a:spcAft>
                        <a:buNone/>
                      </a:pPr>
                      <a:r>
                        <a:rPr lang="en-US" altLang="en-US" sz="1600" b="0" kern="100">
                          <a:solidFill>
                            <a:srgbClr val="595959"/>
                          </a:solidFill>
                          <a:effectLst/>
                          <a:latin typeface="微软雅黑" panose="020B0503020204020204" pitchFamily="34" charset="-122"/>
                          <a:ea typeface="微软雅黑" panose="020B0503020204020204" pitchFamily="34" charset="-122"/>
                        </a:rPr>
                        <a:t>max_user_connections</a:t>
                      </a:r>
                      <a:endParaRPr lang="en-US" altLang="en-US" sz="1600" b="0" kern="10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lstStyle/>
                    <a:p>
                      <a:pPr indent="266700" algn="ctr">
                        <a:spcAft>
                          <a:spcPts val="0"/>
                        </a:spcAft>
                        <a:buNone/>
                      </a:pPr>
                      <a:r>
                        <a:rPr lang="zh-CN" altLang="en-US" sz="1600" b="0" kern="100" dirty="0">
                          <a:solidFill>
                            <a:srgbClr val="595959"/>
                          </a:solidFill>
                          <a:effectLst/>
                          <a:latin typeface="微软雅黑" panose="020B0503020204020204" pitchFamily="34" charset="-122"/>
                          <a:ea typeface="微软雅黑" panose="020B0503020204020204" pitchFamily="34" charset="-122"/>
                        </a:rPr>
                        <a:t>int</a:t>
                      </a:r>
                      <a:endParaRPr lang="zh-CN" altLang="en-US" sz="1600" b="0"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lstStyle/>
                    <a:p>
                      <a:pPr indent="266700" algn="ctr">
                        <a:spcAft>
                          <a:spcPts val="0"/>
                        </a:spcAft>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0</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6700" algn="ctr">
                        <a:spcAft>
                          <a:spcPts val="0"/>
                        </a:spcAft>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允许单个用户同时建立连接的数量</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bl>
          </a:graphicData>
        </a:graphic>
      </p:graphicFrame>
      <p:sp>
        <p:nvSpPr>
          <p:cNvPr id="9"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9.2.1  user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表</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2266315" y="1810385"/>
            <a:ext cx="7976870" cy="3910330"/>
            <a:chOff x="4042" y="3473"/>
            <a:chExt cx="11680" cy="4019"/>
          </a:xfrm>
        </p:grpSpPr>
        <p:sp>
          <p:nvSpPr>
            <p:cNvPr id="2" name="折角形 1"/>
            <p:cNvSpPr/>
            <p:nvPr/>
          </p:nvSpPr>
          <p:spPr>
            <a:xfrm>
              <a:off x="4042" y="3473"/>
              <a:ext cx="11680" cy="4019"/>
            </a:xfrm>
            <a:prstGeom prst="foldedCorner">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5018" y="3734"/>
              <a:ext cx="9742" cy="2941"/>
            </a:xfrm>
            <a:prstGeom prst="rect">
              <a:avLst/>
            </a:prstGeom>
            <a:noFill/>
          </p:spPr>
          <p:txBody>
            <a:bodyPr wrap="square" rtlCol="0">
              <a:spAutoFit/>
            </a:bodyPr>
            <a:lstStyle/>
            <a:p>
              <a:pPr algn="l">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MySQL中所有用户的信息都保存在</a:t>
              </a:r>
              <a:r>
                <a:rPr lang="zh-CN" altLang="en-US" sz="2000" dirty="0" smtClean="0">
                  <a:solidFill>
                    <a:srgbClr val="1369B2"/>
                  </a:solidFill>
                  <a:latin typeface="微软雅黑" panose="020B0503020204020204" pitchFamily="34" charset="-122"/>
                  <a:ea typeface="微软雅黑" panose="020B0503020204020204" pitchFamily="34" charset="-122"/>
                </a:rPr>
                <a:t>mysql.user</a:t>
              </a:r>
              <a:r>
                <a:rPr lang="zh-CN" altLang="en-US" sz="2000" dirty="0" smtClean="0">
                  <a:solidFill>
                    <a:srgbClr val="595959"/>
                  </a:solidFill>
                  <a:latin typeface="微软雅黑" panose="020B0503020204020204" pitchFamily="34" charset="-122"/>
                  <a:ea typeface="微软雅黑" panose="020B0503020204020204" pitchFamily="34" charset="-122"/>
                </a:rPr>
                <a:t>表中，因此，可以直接利用</a:t>
              </a:r>
              <a:r>
                <a:rPr lang="zh-CN" altLang="en-US" sz="2000" dirty="0" smtClean="0">
                  <a:solidFill>
                    <a:srgbClr val="1369B2"/>
                  </a:solidFill>
                  <a:latin typeface="微软雅黑" panose="020B0503020204020204" pitchFamily="34" charset="-122"/>
                  <a:ea typeface="微软雅黑" panose="020B0503020204020204" pitchFamily="34" charset="-122"/>
                </a:rPr>
                <a:t>root用户</a:t>
              </a:r>
              <a:r>
                <a:rPr lang="zh-CN" altLang="en-US" sz="2000" dirty="0" smtClean="0">
                  <a:solidFill>
                    <a:srgbClr val="595959"/>
                  </a:solidFill>
                  <a:latin typeface="微软雅黑" panose="020B0503020204020204" pitchFamily="34" charset="-122"/>
                  <a:ea typeface="微软雅黑" panose="020B0503020204020204" pitchFamily="34" charset="-122"/>
                </a:rPr>
                <a:t>登录MySQL服务器，以向mysql.user表中插入用户信息的方式创建用户。但是，为了保证数据的安全，并不推荐使用此种方式创建用户。MySQL提供了更安全的CREATE USER语句用于创建用户，下面对使用</a:t>
              </a:r>
              <a:r>
                <a:rPr lang="zh-CN" altLang="en-US" sz="2000" dirty="0" smtClean="0">
                  <a:solidFill>
                    <a:srgbClr val="1369B2"/>
                  </a:solidFill>
                  <a:latin typeface="微软雅黑" panose="020B0503020204020204" pitchFamily="34" charset="-122"/>
                  <a:ea typeface="微软雅黑" panose="020B0503020204020204" pitchFamily="34" charset="-122"/>
                </a:rPr>
                <a:t>CREATE USER</a:t>
              </a:r>
              <a:r>
                <a:rPr lang="zh-CN" altLang="en-US" sz="2000" dirty="0" smtClean="0">
                  <a:solidFill>
                    <a:srgbClr val="595959"/>
                  </a:solidFill>
                  <a:latin typeface="微软雅黑" panose="020B0503020204020204" pitchFamily="34" charset="-122"/>
                  <a:ea typeface="微软雅黑" panose="020B0503020204020204" pitchFamily="34" charset="-122"/>
                </a:rPr>
                <a:t>语句创建用户进行讲解。</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grpSp>
      <p:sp>
        <p:nvSpPr>
          <p:cNvPr id="7"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9.2.2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创建用户</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流程图: 过程 2"/>
          <p:cNvSpPr/>
          <p:nvPr/>
        </p:nvSpPr>
        <p:spPr>
          <a:xfrm>
            <a:off x="1702435" y="1696720"/>
            <a:ext cx="9166860" cy="2482850"/>
          </a:xfrm>
          <a:prstGeom prst="flowChartProcess">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1990725" y="1990725"/>
            <a:ext cx="8668385" cy="1938020"/>
          </a:xfrm>
          <a:prstGeom prst="rect">
            <a:avLst/>
          </a:prstGeom>
          <a:noFill/>
        </p:spPr>
        <p:txBody>
          <a:bodyPr wrap="square" rtlCol="0">
            <a:spAutoFit/>
          </a:bodyPr>
          <a:lstStyle/>
          <a:p>
            <a:pPr algn="l">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mn-ea"/>
              </a:rPr>
              <a:t>使用CREATE USER语句创建新用户时，每创建一个新用户，都会在mysql.user表中添加一条记录，并同时</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自动修改相应的授权表</a:t>
            </a:r>
            <a:r>
              <a:rPr lang="zh-CN" altLang="en-US" sz="2000" dirty="0" smtClean="0">
                <a:solidFill>
                  <a:srgbClr val="595959"/>
                </a:solidFill>
                <a:latin typeface="微软雅黑" panose="020B0503020204020204" pitchFamily="34" charset="-122"/>
                <a:ea typeface="微软雅黑" panose="020B0503020204020204" pitchFamily="34" charset="-122"/>
                <a:sym typeface="+mn-ea"/>
              </a:rPr>
              <a:t>。需要注意的是，</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CREATE USER</a:t>
            </a:r>
            <a:r>
              <a:rPr lang="zh-CN" altLang="en-US" sz="2000" dirty="0" smtClean="0">
                <a:solidFill>
                  <a:srgbClr val="595959"/>
                </a:solidFill>
                <a:latin typeface="微软雅黑" panose="020B0503020204020204" pitchFamily="34" charset="-122"/>
                <a:ea typeface="微软雅黑" panose="020B0503020204020204" pitchFamily="34" charset="-122"/>
                <a:sym typeface="+mn-ea"/>
              </a:rPr>
              <a:t>语句创建的新用户默认情况下只有连接权限。</a:t>
            </a:r>
            <a:endParaRPr lang="zh-CN" altLang="en-US" sz="2000" dirty="0" smtClean="0">
              <a:solidFill>
                <a:srgbClr val="595959"/>
              </a:solidFill>
              <a:latin typeface="微软雅黑" panose="020B0503020204020204" pitchFamily="34" charset="-122"/>
              <a:ea typeface="微软雅黑" panose="020B0503020204020204" pitchFamily="34" charset="-122"/>
              <a:sym typeface="+mn-ea"/>
            </a:endParaRPr>
          </a:p>
          <a:p>
            <a:pPr algn="l">
              <a:lnSpc>
                <a:spcPct val="150000"/>
              </a:lnSpc>
            </a:pPr>
            <a:endParaRPr lang="zh-CN" altLang="en-US" sz="2000" dirty="0" smtClean="0">
              <a:solidFill>
                <a:srgbClr val="595959"/>
              </a:solidFill>
              <a:latin typeface="微软雅黑" panose="020B0503020204020204" pitchFamily="34" charset="-122"/>
              <a:ea typeface="微软雅黑" panose="020B0503020204020204" pitchFamily="34" charset="-122"/>
              <a:sym typeface="+mn-ea"/>
            </a:endParaRPr>
          </a:p>
        </p:txBody>
      </p:sp>
      <p:sp>
        <p:nvSpPr>
          <p:cNvPr id="2"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9.2.2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创建用户</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644015" y="1216025"/>
            <a:ext cx="9500235" cy="5071110"/>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1854200" y="3785235"/>
            <a:ext cx="8832850" cy="2168525"/>
          </a:xfrm>
          <a:prstGeom prst="rect">
            <a:avLst/>
          </a:prstGeom>
          <a:noFill/>
        </p:spPr>
        <p:txBody>
          <a:bodyPr wrap="square" rtlCol="0">
            <a:spAutoFit/>
          </a:bodyPr>
          <a:lstStyle/>
          <a:p>
            <a:pPr algn="l">
              <a:lnSpc>
                <a:spcPct val="150000"/>
              </a:lnSpc>
            </a:pPr>
            <a:r>
              <a:rPr sz="1800" dirty="0" smtClean="0">
                <a:solidFill>
                  <a:srgbClr val="595959"/>
                </a:solidFill>
                <a:latin typeface="微软雅黑" panose="020B0503020204020204" pitchFamily="34" charset="-122"/>
                <a:ea typeface="微软雅黑" panose="020B0503020204020204" pitchFamily="34" charset="-122"/>
              </a:rPr>
              <a:t>上述语法格式中，username表示新创建用户的名称；hostname表示主机名；IDENTIFIED BY用于设置用户的密码；</a:t>
            </a:r>
            <a:r>
              <a:rPr sz="1800" dirty="0" smtClean="0">
                <a:solidFill>
                  <a:srgbClr val="1369B2"/>
                </a:solidFill>
                <a:latin typeface="微软雅黑" panose="020B0503020204020204" pitchFamily="34" charset="-122"/>
                <a:ea typeface="微软雅黑" panose="020B0503020204020204" pitchFamily="34" charset="-122"/>
              </a:rPr>
              <a:t>PASSWORD</a:t>
            </a:r>
            <a:r>
              <a:rPr sz="1800" dirty="0" smtClean="0">
                <a:solidFill>
                  <a:srgbClr val="595959"/>
                </a:solidFill>
                <a:latin typeface="微软雅黑" panose="020B0503020204020204" pitchFamily="34" charset="-122"/>
                <a:ea typeface="微软雅黑" panose="020B0503020204020204" pitchFamily="34" charset="-122"/>
              </a:rPr>
              <a:t>关键字表示使用</a:t>
            </a:r>
            <a:r>
              <a:rPr sz="1800" dirty="0" smtClean="0">
                <a:solidFill>
                  <a:srgbClr val="1369B2"/>
                </a:solidFill>
                <a:latin typeface="微软雅黑" panose="020B0503020204020204" pitchFamily="34" charset="-122"/>
                <a:ea typeface="微软雅黑" panose="020B0503020204020204" pitchFamily="34" charset="-122"/>
              </a:rPr>
              <a:t>哈希值</a:t>
            </a:r>
            <a:r>
              <a:rPr sz="1800" dirty="0" smtClean="0">
                <a:solidFill>
                  <a:srgbClr val="595959"/>
                </a:solidFill>
                <a:latin typeface="微软雅黑" panose="020B0503020204020204" pitchFamily="34" charset="-122"/>
                <a:ea typeface="微软雅黑" panose="020B0503020204020204" pitchFamily="34" charset="-122"/>
              </a:rPr>
              <a:t>设置密码，是可选项，如果密码是一个普通的字符串，就不需要使用PASSWORD关键字；password表示用户登录时使用的密码，需要用</a:t>
            </a:r>
            <a:r>
              <a:rPr sz="1800" dirty="0" smtClean="0">
                <a:solidFill>
                  <a:srgbClr val="1369B2"/>
                </a:solidFill>
                <a:latin typeface="微软雅黑" panose="020B0503020204020204" pitchFamily="34" charset="-122"/>
                <a:ea typeface="微软雅黑" panose="020B0503020204020204" pitchFamily="34" charset="-122"/>
              </a:rPr>
              <a:t>单引号</a:t>
            </a:r>
            <a:r>
              <a:rPr sz="1800" dirty="0" smtClean="0">
                <a:solidFill>
                  <a:srgbClr val="595959"/>
                </a:solidFill>
                <a:latin typeface="微软雅黑" panose="020B0503020204020204" pitchFamily="34" charset="-122"/>
                <a:ea typeface="微软雅黑" panose="020B0503020204020204" pitchFamily="34" charset="-122"/>
              </a:rPr>
              <a:t>括起来。CREATE USER语句可以同时创建多个用户，多个用户之间用</a:t>
            </a:r>
            <a:r>
              <a:rPr sz="1800" dirty="0" smtClean="0">
                <a:solidFill>
                  <a:srgbClr val="1369B2"/>
                </a:solidFill>
                <a:latin typeface="微软雅黑" panose="020B0503020204020204" pitchFamily="34" charset="-122"/>
                <a:ea typeface="微软雅黑" panose="020B0503020204020204" pitchFamily="34" charset="-122"/>
              </a:rPr>
              <a:t>逗号</a:t>
            </a:r>
            <a:r>
              <a:rPr sz="1800" dirty="0" smtClean="0">
                <a:solidFill>
                  <a:srgbClr val="595959"/>
                </a:solidFill>
                <a:latin typeface="微软雅黑" panose="020B0503020204020204" pitchFamily="34" charset="-122"/>
                <a:ea typeface="微软雅黑" panose="020B0503020204020204" pitchFamily="34" charset="-122"/>
              </a:rPr>
              <a:t>分隔。</a:t>
            </a:r>
            <a:endParaRPr sz="1800" dirty="0" smtClean="0">
              <a:solidFill>
                <a:srgbClr val="595959"/>
              </a:solidFill>
              <a:latin typeface="微软雅黑" panose="020B0503020204020204" pitchFamily="34" charset="-122"/>
              <a:ea typeface="微软雅黑" panose="020B0503020204020204" pitchFamily="34" charset="-122"/>
            </a:endParaRPr>
          </a:p>
        </p:txBody>
      </p:sp>
      <p:sp>
        <p:nvSpPr>
          <p:cNvPr id="7"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9.2.2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创建用户</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文本框 3"/>
          <p:cNvSpPr txBox="1"/>
          <p:nvPr/>
        </p:nvSpPr>
        <p:spPr>
          <a:xfrm>
            <a:off x="1990725" y="1488440"/>
            <a:ext cx="8668385" cy="506730"/>
          </a:xfrm>
          <a:prstGeom prst="rect">
            <a:avLst/>
          </a:prstGeom>
          <a:noFill/>
        </p:spPr>
        <p:txBody>
          <a:bodyPr wrap="square" rtlCol="0">
            <a:spAutoFit/>
          </a:bodyPr>
          <a:lstStyle/>
          <a:p>
            <a:pPr algn="l">
              <a:lnSpc>
                <a:spcPct val="150000"/>
              </a:lnSpc>
            </a:pPr>
            <a:r>
              <a:rPr lang="zh-CN" altLang="en-US" sz="1800" dirty="0" smtClean="0">
                <a:solidFill>
                  <a:srgbClr val="595959"/>
                </a:solidFill>
                <a:latin typeface="微软雅黑" panose="020B0503020204020204" pitchFamily="34" charset="-122"/>
                <a:ea typeface="微软雅黑" panose="020B0503020204020204" pitchFamily="34" charset="-122"/>
                <a:sym typeface="+mn-ea"/>
              </a:rPr>
              <a:t>CREATE USER语句创建用户的基本语法格式如下所示。</a:t>
            </a:r>
            <a:endParaRPr lang="zh-CN" altLang="en-US" sz="1800" dirty="0" smtClean="0">
              <a:solidFill>
                <a:srgbClr val="595959"/>
              </a:solidFill>
              <a:latin typeface="微软雅黑" panose="020B0503020204020204" pitchFamily="34" charset="-122"/>
              <a:ea typeface="微软雅黑" panose="020B0503020204020204" pitchFamily="34" charset="-122"/>
              <a:sym typeface="+mn-ea"/>
            </a:endParaRPr>
          </a:p>
        </p:txBody>
      </p:sp>
      <p:sp>
        <p:nvSpPr>
          <p:cNvPr id="18" name="矩形 17"/>
          <p:cNvSpPr/>
          <p:nvPr/>
        </p:nvSpPr>
        <p:spPr>
          <a:xfrm>
            <a:off x="2124075" y="2141855"/>
            <a:ext cx="8401685" cy="94742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CREATE USER 'username'@'hostname'[IDENTIFIED BY [PASSWORD]'password']</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en-US" altLang="zh-CN"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a:t>
            </a: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[,'username'@'hostname'[IDENTIFIED BY [PASSWORD]'password']]…</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751330" y="1140460"/>
            <a:ext cx="9773920" cy="5302250"/>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2554605" y="1344295"/>
            <a:ext cx="7508240" cy="829945"/>
          </a:xfrm>
          <a:prstGeom prst="rect">
            <a:avLst/>
          </a:prstGeom>
          <a:noFill/>
        </p:spPr>
        <p:txBody>
          <a:bodyPr wrap="square" rtlCol="0">
            <a:spAutoFit/>
          </a:bodyPr>
          <a:lstStyle/>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例如，使用</a:t>
            </a:r>
            <a:r>
              <a:rPr lang="zh-CN" altLang="en-US" sz="1600" dirty="0" smtClean="0">
                <a:solidFill>
                  <a:srgbClr val="1369B2"/>
                </a:solidFill>
                <a:latin typeface="微软雅黑" panose="020B0503020204020204" pitchFamily="34" charset="-122"/>
                <a:ea typeface="微软雅黑" panose="020B0503020204020204" pitchFamily="34" charset="-122"/>
              </a:rPr>
              <a:t>CREATE USER语句</a:t>
            </a:r>
            <a:r>
              <a:rPr lang="zh-CN" altLang="en-US" sz="1600" dirty="0" smtClean="0">
                <a:solidFill>
                  <a:srgbClr val="595959"/>
                </a:solidFill>
                <a:latin typeface="微软雅黑" panose="020B0503020204020204" pitchFamily="34" charset="-122"/>
                <a:ea typeface="微软雅黑" panose="020B0503020204020204" pitchFamily="34" charset="-122"/>
              </a:rPr>
              <a:t>创建2个新用户，用户名分别为test1和test2、密码分别为123和456，具体SQL语句如下所示。</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
        <p:nvSpPr>
          <p:cNvPr id="4" name="矩形 3"/>
          <p:cNvSpPr/>
          <p:nvPr/>
        </p:nvSpPr>
        <p:spPr>
          <a:xfrm>
            <a:off x="2566670" y="2280285"/>
            <a:ext cx="8391525" cy="8915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CREATE USER 'test1'@'localhost' IDENTIFIED BY '123',</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'test2'@'localhost' IDENTIFIED BY '456';</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 name="文本框 1"/>
          <p:cNvSpPr txBox="1"/>
          <p:nvPr/>
        </p:nvSpPr>
        <p:spPr>
          <a:xfrm>
            <a:off x="2566670" y="3243580"/>
            <a:ext cx="7508240" cy="460375"/>
          </a:xfrm>
          <a:prstGeom prst="rect">
            <a:avLst/>
          </a:prstGeom>
          <a:noFill/>
        </p:spPr>
        <p:txBody>
          <a:bodyPr wrap="square" rtlCol="0">
            <a:spAutoFit/>
          </a:bodyPr>
          <a:lstStyle/>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以查询</a:t>
            </a:r>
            <a:r>
              <a:rPr lang="zh-CN" altLang="en-US" sz="1600" dirty="0" smtClean="0">
                <a:solidFill>
                  <a:srgbClr val="1369B2"/>
                </a:solidFill>
                <a:latin typeface="微软雅黑" panose="020B0503020204020204" pitchFamily="34" charset="-122"/>
                <a:ea typeface="微软雅黑" panose="020B0503020204020204" pitchFamily="34" charset="-122"/>
              </a:rPr>
              <a:t>用户test1</a:t>
            </a:r>
            <a:r>
              <a:rPr lang="zh-CN" altLang="en-US" sz="1600" dirty="0" smtClean="0">
                <a:solidFill>
                  <a:srgbClr val="595959"/>
                </a:solidFill>
                <a:latin typeface="微软雅黑" panose="020B0503020204020204" pitchFamily="34" charset="-122"/>
                <a:ea typeface="微软雅黑" panose="020B0503020204020204" pitchFamily="34" charset="-122"/>
              </a:rPr>
              <a:t>为例，具体SQL语句及查询结果如下。</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
        <p:nvSpPr>
          <p:cNvPr id="8" name="矩形 7"/>
          <p:cNvSpPr/>
          <p:nvPr/>
        </p:nvSpPr>
        <p:spPr>
          <a:xfrm>
            <a:off x="2566670" y="3720465"/>
            <a:ext cx="8391525" cy="24536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mysql&gt; SELECT host,user,authentication_string ,plugin FROM mysql.user</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-&gt; WHERE user='test1'\G</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1. row ***************************</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host: localhost</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user: test1</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authentication_string: $A$005$!g8=DRgMP^WYfSQgn3zH81OZl3tq99IsJWp43yEtwqye</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0nbSebSxIWOO8</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plugin: caching_sha2_password</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1 row in set (0.00 sec)</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p:txBody>
      </p:sp>
      <p:sp>
        <p:nvSpPr>
          <p:cNvPr id="9"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9.2.2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创建用户</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1"/>
          <p:cNvSpPr txBox="1"/>
          <p:nvPr/>
        </p:nvSpPr>
        <p:spPr>
          <a:xfrm>
            <a:off x="1145452" y="268062"/>
            <a:ext cx="3894025" cy="505890"/>
          </a:xfrm>
          <a:prstGeom prst="rect">
            <a:avLst/>
          </a:prstGeom>
        </p:spPr>
        <p:txBody>
          <a:bodyPr lIns="0" tIns="60934" rIns="0" bIns="6093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多学一招</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圆角矩形标注 2"/>
          <p:cNvSpPr/>
          <p:nvPr/>
        </p:nvSpPr>
        <p:spPr>
          <a:xfrm>
            <a:off x="1642110" y="1249045"/>
            <a:ext cx="9361805" cy="4495165"/>
          </a:xfrm>
          <a:prstGeom prst="wedgeRoundRectCallou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1918335" y="1489710"/>
            <a:ext cx="8867775" cy="1198880"/>
          </a:xfrm>
          <a:prstGeom prst="rect">
            <a:avLst/>
          </a:prstGeom>
          <a:noFill/>
        </p:spPr>
        <p:txBody>
          <a:bodyPr wrap="square" rtlCol="0">
            <a:spAutoFit/>
          </a:bodyPr>
          <a:lstStyle/>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MySQL 8.0之前的版本中，可以使用GRANT语句创建用户，并且在创建用户时对用户授权（授权的相关知识会在下一节讲解）。下面，基于MySQL 5.7.33版本讲解使用</a:t>
            </a:r>
            <a:r>
              <a:rPr lang="zh-CN" altLang="en-US" sz="1600" dirty="0" smtClean="0">
                <a:solidFill>
                  <a:srgbClr val="1369B2"/>
                </a:solidFill>
                <a:latin typeface="微软雅黑" panose="020B0503020204020204" pitchFamily="34" charset="-122"/>
                <a:ea typeface="微软雅黑" panose="020B0503020204020204" pitchFamily="34" charset="-122"/>
              </a:rPr>
              <a:t>GRANT语句</a:t>
            </a:r>
            <a:r>
              <a:rPr lang="zh-CN" altLang="en-US" sz="1600" dirty="0" smtClean="0">
                <a:solidFill>
                  <a:srgbClr val="595959"/>
                </a:solidFill>
                <a:latin typeface="微软雅黑" panose="020B0503020204020204" pitchFamily="34" charset="-122"/>
                <a:ea typeface="微软雅黑" panose="020B0503020204020204" pitchFamily="34" charset="-122"/>
              </a:rPr>
              <a:t>创建用户。</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GRANT语句创建用户的基本语法格式如下所示。</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
        <p:nvSpPr>
          <p:cNvPr id="8" name="矩形 7"/>
          <p:cNvSpPr/>
          <p:nvPr/>
        </p:nvSpPr>
        <p:spPr>
          <a:xfrm>
            <a:off x="1990725" y="2857500"/>
            <a:ext cx="8796020" cy="10407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GRANT privileges ON database.table</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TO 'username'@hostname [IDENTIFIED BY [PASSWORD]'password']</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 ,'username'@hostname [IDENTIFIED BY [PASSWORD]'password']] …</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p:txBody>
      </p:sp>
      <p:sp>
        <p:nvSpPr>
          <p:cNvPr id="5" name="文本框 4"/>
          <p:cNvSpPr txBox="1"/>
          <p:nvPr/>
        </p:nvSpPr>
        <p:spPr>
          <a:xfrm>
            <a:off x="2027555" y="4158615"/>
            <a:ext cx="8218805" cy="1198880"/>
          </a:xfrm>
          <a:prstGeom prst="rect">
            <a:avLst/>
          </a:prstGeom>
          <a:noFill/>
        </p:spPr>
        <p:txBody>
          <a:bodyPr wrap="square" rtlCol="0">
            <a:spAutoFit/>
          </a:bodyPr>
          <a:lstStyle/>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上述语法格式中，</a:t>
            </a:r>
            <a:r>
              <a:rPr lang="zh-CN" altLang="en-US" sz="1600" dirty="0" smtClean="0">
                <a:solidFill>
                  <a:srgbClr val="1369B2"/>
                </a:solidFill>
                <a:latin typeface="微软雅黑" panose="020B0503020204020204" pitchFamily="34" charset="-122"/>
                <a:ea typeface="微软雅黑" panose="020B0503020204020204" pitchFamily="34" charset="-122"/>
              </a:rPr>
              <a:t>privileges</a:t>
            </a:r>
            <a:r>
              <a:rPr lang="zh-CN" altLang="en-US" sz="1600" dirty="0" smtClean="0">
                <a:solidFill>
                  <a:srgbClr val="595959"/>
                </a:solidFill>
                <a:latin typeface="微软雅黑" panose="020B0503020204020204" pitchFamily="34" charset="-122"/>
                <a:ea typeface="微软雅黑" panose="020B0503020204020204" pitchFamily="34" charset="-122"/>
              </a:rPr>
              <a:t>参数表示该用户具有的权限信息，</a:t>
            </a:r>
            <a:r>
              <a:rPr lang="zh-CN" altLang="en-US" sz="1600" dirty="0" smtClean="0">
                <a:solidFill>
                  <a:srgbClr val="1369B2"/>
                </a:solidFill>
                <a:latin typeface="微软雅黑" panose="020B0503020204020204" pitchFamily="34" charset="-122"/>
                <a:ea typeface="微软雅黑" panose="020B0503020204020204" pitchFamily="34" charset="-122"/>
              </a:rPr>
              <a:t>database.table</a:t>
            </a:r>
            <a:r>
              <a:rPr lang="zh-CN" altLang="en-US" sz="1600" dirty="0" smtClean="0">
                <a:solidFill>
                  <a:srgbClr val="595959"/>
                </a:solidFill>
                <a:latin typeface="微软雅黑" panose="020B0503020204020204" pitchFamily="34" charset="-122"/>
                <a:ea typeface="微软雅黑" panose="020B0503020204020204" pitchFamily="34" charset="-122"/>
              </a:rPr>
              <a:t>表示新用户的权限范围表，可以在指定的数据库、数据表使用自己的权限，</a:t>
            </a:r>
            <a:r>
              <a:rPr lang="zh-CN" altLang="en-US" sz="1600" dirty="0" smtClean="0">
                <a:solidFill>
                  <a:srgbClr val="1369B2"/>
                </a:solidFill>
                <a:latin typeface="微软雅黑" panose="020B0503020204020204" pitchFamily="34" charset="-122"/>
                <a:ea typeface="微软雅黑" panose="020B0503020204020204" pitchFamily="34" charset="-122"/>
              </a:rPr>
              <a:t>username</a:t>
            </a:r>
            <a:r>
              <a:rPr lang="zh-CN" altLang="en-US" sz="1600" dirty="0" smtClean="0">
                <a:solidFill>
                  <a:srgbClr val="595959"/>
                </a:solidFill>
                <a:latin typeface="微软雅黑" panose="020B0503020204020204" pitchFamily="34" charset="-122"/>
                <a:ea typeface="微软雅黑" panose="020B0503020204020204" pitchFamily="34" charset="-122"/>
              </a:rPr>
              <a:t>参数是新用户的名称，</a:t>
            </a:r>
            <a:r>
              <a:rPr lang="zh-CN" altLang="en-US" sz="1600" dirty="0" smtClean="0">
                <a:solidFill>
                  <a:srgbClr val="1369B2"/>
                </a:solidFill>
                <a:latin typeface="微软雅黑" panose="020B0503020204020204" pitchFamily="34" charset="-122"/>
                <a:ea typeface="微软雅黑" panose="020B0503020204020204" pitchFamily="34" charset="-122"/>
              </a:rPr>
              <a:t>hostname</a:t>
            </a:r>
            <a:r>
              <a:rPr lang="zh-CN" altLang="en-US" sz="1600" dirty="0" smtClean="0">
                <a:solidFill>
                  <a:srgbClr val="595959"/>
                </a:solidFill>
                <a:latin typeface="微软雅黑" panose="020B0503020204020204" pitchFamily="34" charset="-122"/>
                <a:ea typeface="微软雅黑" panose="020B0503020204020204" pitchFamily="34" charset="-122"/>
              </a:rPr>
              <a:t>参数是主机名，</a:t>
            </a:r>
            <a:r>
              <a:rPr lang="zh-CN" altLang="en-US" sz="1600" dirty="0" smtClean="0">
                <a:solidFill>
                  <a:srgbClr val="1369B2"/>
                </a:solidFill>
                <a:latin typeface="微软雅黑" panose="020B0503020204020204" pitchFamily="34" charset="-122"/>
                <a:ea typeface="微软雅黑" panose="020B0503020204020204" pitchFamily="34" charset="-122"/>
              </a:rPr>
              <a:t>password</a:t>
            </a:r>
            <a:r>
              <a:rPr lang="zh-CN" altLang="en-US" sz="1600" dirty="0" smtClean="0">
                <a:solidFill>
                  <a:srgbClr val="595959"/>
                </a:solidFill>
                <a:latin typeface="微软雅黑" panose="020B0503020204020204" pitchFamily="34" charset="-122"/>
                <a:ea typeface="微软雅黑" panose="020B0503020204020204" pitchFamily="34" charset="-122"/>
              </a:rPr>
              <a:t>参数是新用户的密码。</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1"/>
          <p:cNvSpPr txBox="1"/>
          <p:nvPr/>
        </p:nvSpPr>
        <p:spPr>
          <a:xfrm>
            <a:off x="1145452" y="268062"/>
            <a:ext cx="3894025" cy="505890"/>
          </a:xfrm>
          <a:prstGeom prst="rect">
            <a:avLst/>
          </a:prstGeom>
        </p:spPr>
        <p:txBody>
          <a:bodyPr lIns="0" tIns="60934" rIns="0" bIns="6093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多学一招</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圆角矩形标注 2"/>
          <p:cNvSpPr/>
          <p:nvPr/>
        </p:nvSpPr>
        <p:spPr>
          <a:xfrm>
            <a:off x="1964690" y="1704340"/>
            <a:ext cx="8756015" cy="2948940"/>
          </a:xfrm>
          <a:prstGeom prst="wedgeRoundRectCallou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2284095" y="1920240"/>
            <a:ext cx="8071485" cy="1337945"/>
          </a:xfrm>
          <a:prstGeom prst="rect">
            <a:avLst/>
          </a:prstGeom>
          <a:noFill/>
        </p:spPr>
        <p:txBody>
          <a:bodyPr wrap="square" rtlCol="0">
            <a:spAutoFit/>
          </a:bodyPr>
          <a:lstStyle/>
          <a:p>
            <a:pPr algn="l">
              <a:lnSpc>
                <a:spcPct val="150000"/>
              </a:lnSpc>
            </a:pPr>
            <a:r>
              <a:rPr lang="zh-CN" altLang="en-US" sz="1800" dirty="0" smtClean="0">
                <a:solidFill>
                  <a:srgbClr val="595959"/>
                </a:solidFill>
                <a:latin typeface="微软雅黑" panose="020B0503020204020204" pitchFamily="34" charset="-122"/>
                <a:ea typeface="微软雅黑" panose="020B0503020204020204" pitchFamily="34" charset="-122"/>
              </a:rPr>
              <a:t>例如，使用</a:t>
            </a:r>
            <a:r>
              <a:rPr lang="zh-CN" altLang="en-US" sz="1800" dirty="0" smtClean="0">
                <a:solidFill>
                  <a:srgbClr val="1369B2"/>
                </a:solidFill>
                <a:latin typeface="微软雅黑" panose="020B0503020204020204" pitchFamily="34" charset="-122"/>
                <a:ea typeface="微软雅黑" panose="020B0503020204020204" pitchFamily="34" charset="-122"/>
              </a:rPr>
              <a:t>GRANT语句</a:t>
            </a:r>
            <a:r>
              <a:rPr lang="zh-CN" altLang="en-US" sz="1800" dirty="0" smtClean="0">
                <a:solidFill>
                  <a:srgbClr val="595959"/>
                </a:solidFill>
                <a:latin typeface="微软雅黑" panose="020B0503020204020204" pitchFamily="34" charset="-122"/>
                <a:ea typeface="微软雅黑" panose="020B0503020204020204" pitchFamily="34" charset="-122"/>
              </a:rPr>
              <a:t>创建一个新用户，用户名为test3、密码为789，并授予该用户对数据库ems中的员工表emp有查询权限，具体SQL语句及执行结果如下所示。</a:t>
            </a:r>
            <a:endParaRPr lang="zh-CN" altLang="en-US" sz="1800" dirty="0" smtClean="0">
              <a:solidFill>
                <a:srgbClr val="595959"/>
              </a:solidFill>
              <a:latin typeface="微软雅黑" panose="020B0503020204020204" pitchFamily="34" charset="-122"/>
              <a:ea typeface="微软雅黑" panose="020B0503020204020204" pitchFamily="34" charset="-122"/>
            </a:endParaRPr>
          </a:p>
        </p:txBody>
      </p:sp>
      <p:sp>
        <p:nvSpPr>
          <p:cNvPr id="8" name="矩形 7"/>
          <p:cNvSpPr/>
          <p:nvPr/>
        </p:nvSpPr>
        <p:spPr>
          <a:xfrm>
            <a:off x="2350770" y="3433445"/>
            <a:ext cx="8206105" cy="66230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GRANT SELECT ON ems.emp TO 'test3'@'localhost' IDENTIFIED BY '789';</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1"/>
          <p:cNvSpPr txBox="1"/>
          <p:nvPr/>
        </p:nvSpPr>
        <p:spPr>
          <a:xfrm>
            <a:off x="1145452" y="268062"/>
            <a:ext cx="3894025" cy="505890"/>
          </a:xfrm>
          <a:prstGeom prst="rect">
            <a:avLst/>
          </a:prstGeom>
        </p:spPr>
        <p:txBody>
          <a:bodyPr lIns="0" tIns="60934" rIns="0" bIns="6093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多学一招</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圆角矩形标注 2"/>
          <p:cNvSpPr/>
          <p:nvPr/>
        </p:nvSpPr>
        <p:spPr>
          <a:xfrm>
            <a:off x="1964690" y="1345565"/>
            <a:ext cx="8756015" cy="3723005"/>
          </a:xfrm>
          <a:prstGeom prst="wedgeRoundRectCallou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5" name="文本框 4"/>
          <p:cNvSpPr txBox="1"/>
          <p:nvPr/>
        </p:nvSpPr>
        <p:spPr>
          <a:xfrm>
            <a:off x="2284095" y="1561465"/>
            <a:ext cx="8071485" cy="922020"/>
          </a:xfrm>
          <a:prstGeom prst="rect">
            <a:avLst/>
          </a:prstGeom>
          <a:noFill/>
        </p:spPr>
        <p:txBody>
          <a:bodyPr wrap="square" rtlCol="0">
            <a:spAutoFit/>
          </a:bodyPr>
          <a:lstStyle/>
          <a:p>
            <a:pPr algn="l">
              <a:lnSpc>
                <a:spcPct val="150000"/>
              </a:lnSpc>
            </a:pPr>
            <a:r>
              <a:rPr lang="zh-CN" altLang="en-US" sz="1800" dirty="0" smtClean="0">
                <a:solidFill>
                  <a:srgbClr val="595959"/>
                </a:solidFill>
                <a:latin typeface="微软雅黑" panose="020B0503020204020204" pitchFamily="34" charset="-122"/>
                <a:ea typeface="微软雅黑" panose="020B0503020204020204" pitchFamily="34" charset="-122"/>
              </a:rPr>
              <a:t>新增用户后，使用</a:t>
            </a:r>
            <a:r>
              <a:rPr lang="zh-CN" altLang="en-US" sz="1800" dirty="0" smtClean="0">
                <a:solidFill>
                  <a:srgbClr val="1369B2"/>
                </a:solidFill>
                <a:latin typeface="微软雅黑" panose="020B0503020204020204" pitchFamily="34" charset="-122"/>
                <a:ea typeface="微软雅黑" panose="020B0503020204020204" pitchFamily="34" charset="-122"/>
              </a:rPr>
              <a:t>SELECT语句</a:t>
            </a:r>
            <a:r>
              <a:rPr lang="zh-CN" altLang="en-US" sz="1800" dirty="0" smtClean="0">
                <a:solidFill>
                  <a:srgbClr val="595959"/>
                </a:solidFill>
                <a:latin typeface="微软雅黑" panose="020B0503020204020204" pitchFamily="34" charset="-122"/>
                <a:ea typeface="微软雅黑" panose="020B0503020204020204" pitchFamily="34" charset="-122"/>
              </a:rPr>
              <a:t>查询mysql.user表中的数据，具体SQL语句及执行结果如下。</a:t>
            </a:r>
            <a:endParaRPr lang="zh-CN" altLang="en-US" sz="1800" dirty="0" smtClean="0">
              <a:solidFill>
                <a:srgbClr val="595959"/>
              </a:solidFill>
              <a:latin typeface="微软雅黑" panose="020B0503020204020204" pitchFamily="34" charset="-122"/>
              <a:ea typeface="微软雅黑" panose="020B0503020204020204" pitchFamily="34" charset="-122"/>
            </a:endParaRPr>
          </a:p>
        </p:txBody>
      </p:sp>
      <p:sp>
        <p:nvSpPr>
          <p:cNvPr id="6" name="矩形 5"/>
          <p:cNvSpPr/>
          <p:nvPr/>
        </p:nvSpPr>
        <p:spPr>
          <a:xfrm>
            <a:off x="2350770" y="2569210"/>
            <a:ext cx="7840345" cy="22288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mysql&gt; SELECT host,user,authentication_string ,plugin FROM mysql.user</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-&gt; WHERE user='test3'\G</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1. row ***************************</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host: localhost</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user: test3</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authentication_string: *531E182E2F72080AB0740FE2F2D689DBE0146E04</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plugin: mysql_native_password</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1 row in set (0.00 sec)</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流程图: 过程 2"/>
          <p:cNvSpPr/>
          <p:nvPr/>
        </p:nvSpPr>
        <p:spPr>
          <a:xfrm>
            <a:off x="1702435" y="2307590"/>
            <a:ext cx="9166860" cy="2280920"/>
          </a:xfrm>
          <a:prstGeom prst="flowChartProcess">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1951990" y="2709545"/>
            <a:ext cx="8668385" cy="1476375"/>
          </a:xfrm>
          <a:prstGeom prst="rect">
            <a:avLst/>
          </a:prstGeom>
          <a:noFill/>
        </p:spPr>
        <p:txBody>
          <a:bodyPr wrap="square" rtlCol="0">
            <a:spAutoFit/>
          </a:bodyPr>
          <a:lstStyle/>
          <a:p>
            <a:pPr algn="l">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mn-ea"/>
              </a:rPr>
              <a:t>在MySQL中，通常会创建多个普通用户来管理数据库，但如果发现某些用户已经没必要再使用，就可以将其删除。删除用户可以通过</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DROP USER</a:t>
            </a:r>
            <a:r>
              <a:rPr lang="zh-CN" altLang="en-US" sz="2000" dirty="0" smtClean="0">
                <a:solidFill>
                  <a:srgbClr val="595959"/>
                </a:solidFill>
                <a:latin typeface="微软雅黑" panose="020B0503020204020204" pitchFamily="34" charset="-122"/>
                <a:ea typeface="微软雅黑" panose="020B0503020204020204" pitchFamily="34" charset="-122"/>
                <a:sym typeface="+mn-ea"/>
              </a:rPr>
              <a:t>语句和</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DELETE</a:t>
            </a:r>
            <a:r>
              <a:rPr lang="zh-CN" altLang="en-US" sz="2000" dirty="0" smtClean="0">
                <a:solidFill>
                  <a:srgbClr val="595959"/>
                </a:solidFill>
                <a:latin typeface="微软雅黑" panose="020B0503020204020204" pitchFamily="34" charset="-122"/>
                <a:ea typeface="微软雅黑" panose="020B0503020204020204" pitchFamily="34" charset="-122"/>
                <a:sym typeface="+mn-ea"/>
              </a:rPr>
              <a:t>语句完成，接下来，分别对使用这两种语句删除用户进行讲解。</a:t>
            </a:r>
            <a:endParaRPr lang="zh-CN" altLang="en-US" sz="2000" dirty="0" smtClean="0">
              <a:solidFill>
                <a:srgbClr val="595959"/>
              </a:solidFill>
              <a:latin typeface="微软雅黑" panose="020B0503020204020204" pitchFamily="34" charset="-122"/>
              <a:ea typeface="微软雅黑" panose="020B0503020204020204" pitchFamily="34" charset="-122"/>
              <a:sym typeface="+mn-ea"/>
            </a:endParaRPr>
          </a:p>
        </p:txBody>
      </p:sp>
      <p:sp>
        <p:nvSpPr>
          <p:cNvPr id="2"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9.2.3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删除用户</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520190" y="1636395"/>
            <a:ext cx="9500235" cy="380936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1665605" y="1846580"/>
            <a:ext cx="9370695" cy="1568450"/>
          </a:xfrm>
          <a:prstGeom prst="rect">
            <a:avLst/>
          </a:prstGeom>
          <a:noFill/>
        </p:spPr>
        <p:txBody>
          <a:bodyPr wrap="square" rtlCol="0">
            <a:spAutoFit/>
          </a:bodyPr>
          <a:lstStyle/>
          <a:p>
            <a:pPr algn="l">
              <a:lnSpc>
                <a:spcPct val="150000"/>
              </a:lnSpc>
            </a:pPr>
            <a:r>
              <a:rPr sz="1600" dirty="0" smtClean="0">
                <a:solidFill>
                  <a:srgbClr val="595959"/>
                </a:solidFill>
                <a:latin typeface="微软雅黑" panose="020B0503020204020204" pitchFamily="34" charset="-122"/>
                <a:ea typeface="微软雅黑" panose="020B0503020204020204" pitchFamily="34" charset="-122"/>
              </a:rPr>
              <a:t>1.</a:t>
            </a:r>
            <a:r>
              <a:rPr sz="1600" dirty="0" smtClean="0">
                <a:solidFill>
                  <a:srgbClr val="1369B2"/>
                </a:solidFill>
                <a:latin typeface="微软雅黑" panose="020B0503020204020204" pitchFamily="34" charset="-122"/>
                <a:ea typeface="微软雅黑" panose="020B0503020204020204" pitchFamily="34" charset="-122"/>
              </a:rPr>
              <a:t>使用DROP USER语句删除用户</a:t>
            </a:r>
            <a:endParaRPr sz="1600" dirty="0" smtClean="0">
              <a:solidFill>
                <a:srgbClr val="1369B2"/>
              </a:solidFill>
              <a:latin typeface="微软雅黑" panose="020B0503020204020204" pitchFamily="34" charset="-122"/>
              <a:ea typeface="微软雅黑" panose="020B0503020204020204" pitchFamily="34" charset="-122"/>
            </a:endParaRPr>
          </a:p>
          <a:p>
            <a:pPr algn="l">
              <a:lnSpc>
                <a:spcPct val="150000"/>
              </a:lnSpc>
            </a:pPr>
            <a:r>
              <a:rPr sz="1600" dirty="0" smtClean="0">
                <a:solidFill>
                  <a:srgbClr val="1369B2"/>
                </a:solidFill>
                <a:latin typeface="微软雅黑" panose="020B0503020204020204" pitchFamily="34" charset="-122"/>
                <a:ea typeface="微软雅黑" panose="020B0503020204020204" pitchFamily="34" charset="-122"/>
              </a:rPr>
              <a:t>DROP USER</a:t>
            </a:r>
            <a:r>
              <a:rPr sz="1600" dirty="0" smtClean="0">
                <a:solidFill>
                  <a:srgbClr val="595959"/>
                </a:solidFill>
                <a:latin typeface="微软雅黑" panose="020B0503020204020204" pitchFamily="34" charset="-122"/>
                <a:ea typeface="微软雅黑" panose="020B0503020204020204" pitchFamily="34" charset="-122"/>
              </a:rPr>
              <a:t>语句与DROP DATABASE语句类似，如果要删除某个用户，只需在DROP USER后面指定要删除的用户信息即可。</a:t>
            </a:r>
            <a:endParaRPr sz="16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sz="1600" dirty="0" smtClean="0">
                <a:solidFill>
                  <a:srgbClr val="595959"/>
                </a:solidFill>
                <a:latin typeface="微软雅黑" panose="020B0503020204020204" pitchFamily="34" charset="-122"/>
                <a:ea typeface="微软雅黑" panose="020B0503020204020204" pitchFamily="34" charset="-122"/>
              </a:rPr>
              <a:t>DROP USER语句删除用户的语法格式如下：	</a:t>
            </a:r>
            <a:endParaRPr sz="1600" dirty="0" smtClean="0">
              <a:solidFill>
                <a:srgbClr val="595959"/>
              </a:solidFill>
              <a:latin typeface="微软雅黑" panose="020B0503020204020204" pitchFamily="34" charset="-122"/>
              <a:ea typeface="微软雅黑" panose="020B0503020204020204" pitchFamily="34" charset="-122"/>
            </a:endParaRPr>
          </a:p>
        </p:txBody>
      </p:sp>
      <p:sp>
        <p:nvSpPr>
          <p:cNvPr id="2" name="矩形 1"/>
          <p:cNvSpPr/>
          <p:nvPr/>
        </p:nvSpPr>
        <p:spPr>
          <a:xfrm>
            <a:off x="1774825" y="3502660"/>
            <a:ext cx="8327390" cy="7245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8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DROP USER 'username'@'hostname'[,'username'@'hostname'];</a:t>
            </a:r>
            <a:endParaRPr lang="zh-CN" altLang="en-US" sz="18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7"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9.2.3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删除用户</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3" name="文本框 12"/>
          <p:cNvSpPr txBox="1"/>
          <p:nvPr/>
        </p:nvSpPr>
        <p:spPr>
          <a:xfrm>
            <a:off x="1702435" y="4366895"/>
            <a:ext cx="9184005" cy="829945"/>
          </a:xfrm>
          <a:prstGeom prst="rect">
            <a:avLst/>
          </a:prstGeom>
          <a:noFill/>
        </p:spPr>
        <p:txBody>
          <a:bodyPr wrap="square" rtlCol="0">
            <a:spAutoFit/>
          </a:bodyPr>
          <a:lstStyle/>
          <a:p>
            <a:pPr algn="l">
              <a:lnSpc>
                <a:spcPct val="150000"/>
              </a:lnSpc>
            </a:pPr>
            <a:r>
              <a:rPr sz="1600" dirty="0" smtClean="0">
                <a:solidFill>
                  <a:srgbClr val="595959"/>
                </a:solidFill>
                <a:latin typeface="微软雅黑" panose="020B0503020204020204" pitchFamily="34" charset="-122"/>
                <a:ea typeface="微软雅黑" panose="020B0503020204020204" pitchFamily="34" charset="-122"/>
                <a:sym typeface="+mn-ea"/>
              </a:rPr>
              <a:t>上述语法格式中，username表示要删除的用户，hostname表示主机名，DROP USER语句可以同时删除一个或多个用户，多个用户之间用</a:t>
            </a:r>
            <a:r>
              <a:rPr sz="1600" dirty="0" smtClean="0">
                <a:solidFill>
                  <a:srgbClr val="1369B2"/>
                </a:solidFill>
                <a:latin typeface="微软雅黑" panose="020B0503020204020204" pitchFamily="34" charset="-122"/>
                <a:ea typeface="微软雅黑" panose="020B0503020204020204" pitchFamily="34" charset="-122"/>
                <a:sym typeface="+mn-ea"/>
              </a:rPr>
              <a:t>逗号</a:t>
            </a:r>
            <a:r>
              <a:rPr sz="1600" dirty="0" smtClean="0">
                <a:solidFill>
                  <a:srgbClr val="595959"/>
                </a:solidFill>
                <a:latin typeface="微软雅黑" panose="020B0503020204020204" pitchFamily="34" charset="-122"/>
                <a:ea typeface="微软雅黑" panose="020B0503020204020204" pitchFamily="34" charset="-122"/>
                <a:sym typeface="+mn-ea"/>
              </a:rPr>
              <a:t>进行分隔。</a:t>
            </a:r>
            <a:r>
              <a:rPr sz="1600" dirty="0" smtClean="0">
                <a:solidFill>
                  <a:srgbClr val="595959"/>
                </a:solidFill>
                <a:latin typeface="微软雅黑" panose="020B0503020204020204" pitchFamily="34" charset="-122"/>
                <a:ea typeface="微软雅黑" panose="020B0503020204020204" pitchFamily="34" charset="-122"/>
              </a:rPr>
              <a:t>	</a:t>
            </a:r>
            <a:endParaRPr sz="1600" dirty="0" smtClean="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558925" y="1905635"/>
            <a:ext cx="9500235" cy="3785870"/>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1816100" y="1998980"/>
            <a:ext cx="8994140" cy="1014730"/>
          </a:xfrm>
          <a:prstGeom prst="rect">
            <a:avLst/>
          </a:prstGeom>
          <a:noFill/>
        </p:spPr>
        <p:txBody>
          <a:bodyPr wrap="square" rtlCol="0">
            <a:spAutoFit/>
          </a:bodyPr>
          <a:lstStyle/>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例如，使用</a:t>
            </a:r>
            <a:r>
              <a:rPr sz="2000" dirty="0" smtClean="0">
                <a:solidFill>
                  <a:srgbClr val="1369B2"/>
                </a:solidFill>
                <a:latin typeface="微软雅黑" panose="020B0503020204020204" pitchFamily="34" charset="-122"/>
                <a:ea typeface="微软雅黑" panose="020B0503020204020204" pitchFamily="34" charset="-122"/>
              </a:rPr>
              <a:t>DROP USER语句</a:t>
            </a:r>
            <a:r>
              <a:rPr sz="2000" dirty="0" smtClean="0">
                <a:solidFill>
                  <a:srgbClr val="595959"/>
                </a:solidFill>
                <a:latin typeface="微软雅黑" panose="020B0503020204020204" pitchFamily="34" charset="-122"/>
                <a:ea typeface="微软雅黑" panose="020B0503020204020204" pitchFamily="34" charset="-122"/>
              </a:rPr>
              <a:t>删除用户test1，具体SQL语句及执行结果如下所示。</a:t>
            </a:r>
            <a:r>
              <a:rPr sz="1600" dirty="0" smtClean="0">
                <a:solidFill>
                  <a:srgbClr val="595959"/>
                </a:solidFill>
                <a:latin typeface="微软雅黑" panose="020B0503020204020204" pitchFamily="34" charset="-122"/>
                <a:ea typeface="微软雅黑" panose="020B0503020204020204" pitchFamily="34" charset="-122"/>
              </a:rPr>
              <a:t>	</a:t>
            </a:r>
            <a:endParaRPr sz="1600" dirty="0" smtClean="0">
              <a:solidFill>
                <a:srgbClr val="595959"/>
              </a:solidFill>
              <a:latin typeface="微软雅黑" panose="020B0503020204020204" pitchFamily="34" charset="-122"/>
              <a:ea typeface="微软雅黑" panose="020B0503020204020204" pitchFamily="34" charset="-122"/>
            </a:endParaRPr>
          </a:p>
        </p:txBody>
      </p:sp>
      <p:sp>
        <p:nvSpPr>
          <p:cNvPr id="2" name="矩形 1"/>
          <p:cNvSpPr/>
          <p:nvPr/>
        </p:nvSpPr>
        <p:spPr>
          <a:xfrm>
            <a:off x="1918970" y="3141980"/>
            <a:ext cx="8557260" cy="7245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8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mysql&gt; DROP USER 'test1'@'localhost';</a:t>
            </a:r>
            <a:endParaRPr lang="zh-CN" altLang="en-US" sz="18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8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Query OK, 0 rows affected (0.02 sec)</a:t>
            </a:r>
            <a:endParaRPr lang="zh-CN" altLang="en-US" sz="18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7"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9.2.3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删除用户</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文本框 2"/>
          <p:cNvSpPr txBox="1"/>
          <p:nvPr/>
        </p:nvSpPr>
        <p:spPr>
          <a:xfrm>
            <a:off x="1816100" y="3866515"/>
            <a:ext cx="8994140" cy="553085"/>
          </a:xfrm>
          <a:prstGeom prst="rect">
            <a:avLst/>
          </a:prstGeom>
          <a:noFill/>
        </p:spPr>
        <p:txBody>
          <a:bodyPr wrap="square" rtlCol="0">
            <a:spAutoFit/>
          </a:bodyPr>
          <a:lstStyle/>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通过</a:t>
            </a:r>
            <a:r>
              <a:rPr sz="2000" dirty="0" smtClean="0">
                <a:solidFill>
                  <a:srgbClr val="1369B2"/>
                </a:solidFill>
                <a:latin typeface="微软雅黑" panose="020B0503020204020204" pitchFamily="34" charset="-122"/>
                <a:ea typeface="微软雅黑" panose="020B0503020204020204" pitchFamily="34" charset="-122"/>
              </a:rPr>
              <a:t>SELECT语句</a:t>
            </a:r>
            <a:r>
              <a:rPr sz="2000" dirty="0" smtClean="0">
                <a:solidFill>
                  <a:srgbClr val="595959"/>
                </a:solidFill>
                <a:latin typeface="微软雅黑" panose="020B0503020204020204" pitchFamily="34" charset="-122"/>
                <a:ea typeface="微软雅黑" panose="020B0503020204020204" pitchFamily="34" charset="-122"/>
              </a:rPr>
              <a:t>验证用户是否被删除，</a:t>
            </a:r>
            <a:r>
              <a:rPr sz="2000" dirty="0" smtClean="0">
                <a:solidFill>
                  <a:srgbClr val="595959"/>
                </a:solidFill>
                <a:latin typeface="微软雅黑" panose="020B0503020204020204" pitchFamily="34" charset="-122"/>
                <a:ea typeface="微软雅黑" panose="020B0503020204020204" pitchFamily="34" charset="-122"/>
                <a:sym typeface="+mn-ea"/>
              </a:rPr>
              <a:t>具体SQL语句及执行结果</a:t>
            </a:r>
            <a:r>
              <a:rPr sz="2000" dirty="0" smtClean="0">
                <a:solidFill>
                  <a:srgbClr val="595959"/>
                </a:solidFill>
                <a:latin typeface="微软雅黑" panose="020B0503020204020204" pitchFamily="34" charset="-122"/>
                <a:ea typeface="微软雅黑" panose="020B0503020204020204" pitchFamily="34" charset="-122"/>
              </a:rPr>
              <a:t>如下所示。</a:t>
            </a:r>
            <a:r>
              <a:rPr sz="1600" dirty="0" smtClean="0">
                <a:solidFill>
                  <a:srgbClr val="595959"/>
                </a:solidFill>
                <a:latin typeface="微软雅黑" panose="020B0503020204020204" pitchFamily="34" charset="-122"/>
                <a:ea typeface="微软雅黑" panose="020B0503020204020204" pitchFamily="34" charset="-122"/>
              </a:rPr>
              <a:t>	</a:t>
            </a:r>
            <a:endParaRPr sz="1600" dirty="0" smtClean="0">
              <a:solidFill>
                <a:srgbClr val="595959"/>
              </a:solidFill>
              <a:latin typeface="微软雅黑" panose="020B0503020204020204" pitchFamily="34" charset="-122"/>
              <a:ea typeface="微软雅黑" panose="020B0503020204020204" pitchFamily="34" charset="-122"/>
            </a:endParaRPr>
          </a:p>
        </p:txBody>
      </p:sp>
      <p:sp>
        <p:nvSpPr>
          <p:cNvPr id="4" name="矩形 3"/>
          <p:cNvSpPr/>
          <p:nvPr/>
        </p:nvSpPr>
        <p:spPr>
          <a:xfrm>
            <a:off x="1918970" y="4581525"/>
            <a:ext cx="8557260" cy="7245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8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mysql&gt; SELECT host,user FROM mysql.user WHERE user='test</a:t>
            </a:r>
            <a:r>
              <a:rPr lang="en-US" altLang="zh-CN" sz="18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1</a:t>
            </a:r>
            <a:r>
              <a:rPr lang="zh-CN" altLang="en-US" sz="18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zh-CN" altLang="en-US" sz="18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8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Empty set (0.00 sec)</a:t>
            </a:r>
            <a:endParaRPr lang="zh-CN" altLang="en-US" sz="18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558925" y="1496695"/>
            <a:ext cx="9500235" cy="4277360"/>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800"/>
          </a:p>
        </p:txBody>
      </p:sp>
      <p:sp>
        <p:nvSpPr>
          <p:cNvPr id="6" name="文本框 5"/>
          <p:cNvSpPr txBox="1"/>
          <p:nvPr/>
        </p:nvSpPr>
        <p:spPr>
          <a:xfrm>
            <a:off x="1816100" y="1496695"/>
            <a:ext cx="8994140" cy="1753235"/>
          </a:xfrm>
          <a:prstGeom prst="rect">
            <a:avLst/>
          </a:prstGeom>
          <a:noFill/>
        </p:spPr>
        <p:txBody>
          <a:bodyPr wrap="square" rtlCol="0">
            <a:spAutoFit/>
          </a:bodyPr>
          <a:lstStyle/>
          <a:p>
            <a:pPr algn="l">
              <a:lnSpc>
                <a:spcPct val="150000"/>
              </a:lnSpc>
            </a:pPr>
            <a:r>
              <a:rPr sz="1800" dirty="0" smtClean="0">
                <a:solidFill>
                  <a:srgbClr val="595959"/>
                </a:solidFill>
                <a:latin typeface="微软雅黑" panose="020B0503020204020204" pitchFamily="34" charset="-122"/>
                <a:ea typeface="微软雅黑" panose="020B0503020204020204" pitchFamily="34" charset="-122"/>
              </a:rPr>
              <a:t>2.</a:t>
            </a:r>
            <a:r>
              <a:rPr sz="1800" dirty="0" smtClean="0">
                <a:solidFill>
                  <a:srgbClr val="1369B2"/>
                </a:solidFill>
                <a:latin typeface="微软雅黑" panose="020B0503020204020204" pitchFamily="34" charset="-122"/>
                <a:ea typeface="微软雅黑" panose="020B0503020204020204" pitchFamily="34" charset="-122"/>
              </a:rPr>
              <a:t>使用DELETE语句删除用户</a:t>
            </a:r>
            <a:endParaRPr sz="1800" dirty="0" smtClean="0">
              <a:solidFill>
                <a:srgbClr val="1369B2"/>
              </a:solidFill>
              <a:latin typeface="微软雅黑" panose="020B0503020204020204" pitchFamily="34" charset="-122"/>
              <a:ea typeface="微软雅黑" panose="020B0503020204020204" pitchFamily="34" charset="-122"/>
            </a:endParaRPr>
          </a:p>
          <a:p>
            <a:pPr algn="l">
              <a:lnSpc>
                <a:spcPct val="150000"/>
              </a:lnSpc>
            </a:pPr>
            <a:r>
              <a:rPr sz="1800" dirty="0" smtClean="0">
                <a:solidFill>
                  <a:srgbClr val="1369B2"/>
                </a:solidFill>
                <a:latin typeface="微软雅黑" panose="020B0503020204020204" pitchFamily="34" charset="-122"/>
                <a:ea typeface="微软雅黑" panose="020B0503020204020204" pitchFamily="34" charset="-122"/>
              </a:rPr>
              <a:t>DELETE语句不仅可以删除普通表中的数据，还可以删除mysql.user表中的数据</a:t>
            </a:r>
            <a:r>
              <a:rPr sz="1800" dirty="0" smtClean="0">
                <a:solidFill>
                  <a:srgbClr val="595959"/>
                </a:solidFill>
                <a:latin typeface="微软雅黑" panose="020B0503020204020204" pitchFamily="34" charset="-122"/>
                <a:ea typeface="微软雅黑" panose="020B0503020204020204" pitchFamily="34" charset="-122"/>
              </a:rPr>
              <a:t>，使用该语句删除mysql.user表中的数据时，需要指定表名为mysql.user和要删除的用户信息。</a:t>
            </a:r>
            <a:endParaRPr sz="18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sz="1800" dirty="0" smtClean="0">
                <a:solidFill>
                  <a:srgbClr val="595959"/>
                </a:solidFill>
                <a:latin typeface="微软雅黑" panose="020B0503020204020204" pitchFamily="34" charset="-122"/>
                <a:ea typeface="微软雅黑" panose="020B0503020204020204" pitchFamily="34" charset="-122"/>
              </a:rPr>
              <a:t>DELETE语句删除用户的语法格式如下所示。	</a:t>
            </a:r>
            <a:endParaRPr sz="1800" dirty="0" smtClean="0">
              <a:solidFill>
                <a:srgbClr val="595959"/>
              </a:solidFill>
              <a:latin typeface="微软雅黑" panose="020B0503020204020204" pitchFamily="34" charset="-122"/>
              <a:ea typeface="微软雅黑" panose="020B0503020204020204" pitchFamily="34" charset="-122"/>
            </a:endParaRPr>
          </a:p>
        </p:txBody>
      </p:sp>
      <p:sp>
        <p:nvSpPr>
          <p:cNvPr id="2" name="矩形 1"/>
          <p:cNvSpPr/>
          <p:nvPr/>
        </p:nvSpPr>
        <p:spPr>
          <a:xfrm>
            <a:off x="1816100" y="3435350"/>
            <a:ext cx="8557260" cy="7245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8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DELETE FROM mysql.user WHERE Host='hostname' AND User='username';</a:t>
            </a:r>
            <a:endParaRPr lang="zh-CN" altLang="en-US" sz="18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7"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9.2.3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删除用户</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文本框 2"/>
          <p:cNvSpPr txBox="1"/>
          <p:nvPr/>
        </p:nvSpPr>
        <p:spPr>
          <a:xfrm>
            <a:off x="1776095" y="4431030"/>
            <a:ext cx="8114665" cy="922020"/>
          </a:xfrm>
          <a:prstGeom prst="rect">
            <a:avLst/>
          </a:prstGeom>
          <a:noFill/>
        </p:spPr>
        <p:txBody>
          <a:bodyPr wrap="square" rtlCol="0">
            <a:spAutoFit/>
          </a:bodyPr>
          <a:lstStyle/>
          <a:p>
            <a:pPr algn="l">
              <a:lnSpc>
                <a:spcPct val="150000"/>
              </a:lnSpc>
            </a:pPr>
            <a:r>
              <a:rPr sz="1800" dirty="0" smtClean="0">
                <a:solidFill>
                  <a:srgbClr val="595959"/>
                </a:solidFill>
                <a:latin typeface="微软雅黑" panose="020B0503020204020204" pitchFamily="34" charset="-122"/>
                <a:ea typeface="微软雅黑" panose="020B0503020204020204" pitchFamily="34" charset="-122"/>
              </a:rPr>
              <a:t>上述语法格式中，mysql.user参数指定要操作的表，</a:t>
            </a:r>
            <a:r>
              <a:rPr sz="1800" dirty="0" smtClean="0">
                <a:solidFill>
                  <a:srgbClr val="1369B2"/>
                </a:solidFill>
                <a:latin typeface="微软雅黑" panose="020B0503020204020204" pitchFamily="34" charset="-122"/>
                <a:ea typeface="微软雅黑" panose="020B0503020204020204" pitchFamily="34" charset="-122"/>
              </a:rPr>
              <a:t>WHERE</a:t>
            </a:r>
            <a:r>
              <a:rPr sz="1800" dirty="0" smtClean="0">
                <a:solidFill>
                  <a:srgbClr val="595959"/>
                </a:solidFill>
                <a:latin typeface="微软雅黑" panose="020B0503020204020204" pitchFamily="34" charset="-122"/>
                <a:ea typeface="微软雅黑" panose="020B0503020204020204" pitchFamily="34" charset="-122"/>
              </a:rPr>
              <a:t>指定条件语句，</a:t>
            </a:r>
            <a:r>
              <a:rPr sz="1800" dirty="0" smtClean="0">
                <a:solidFill>
                  <a:srgbClr val="1369B2"/>
                </a:solidFill>
                <a:latin typeface="微软雅黑" panose="020B0503020204020204" pitchFamily="34" charset="-122"/>
                <a:ea typeface="微软雅黑" panose="020B0503020204020204" pitchFamily="34" charset="-122"/>
              </a:rPr>
              <a:t>Host</a:t>
            </a:r>
            <a:r>
              <a:rPr sz="1800" dirty="0" smtClean="0">
                <a:solidFill>
                  <a:srgbClr val="595959"/>
                </a:solidFill>
                <a:latin typeface="微软雅黑" panose="020B0503020204020204" pitchFamily="34" charset="-122"/>
                <a:ea typeface="微软雅黑" panose="020B0503020204020204" pitchFamily="34" charset="-122"/>
              </a:rPr>
              <a:t>和</a:t>
            </a:r>
            <a:r>
              <a:rPr sz="1800" dirty="0" smtClean="0">
                <a:solidFill>
                  <a:srgbClr val="1369B2"/>
                </a:solidFill>
                <a:latin typeface="微软雅黑" panose="020B0503020204020204" pitchFamily="34" charset="-122"/>
                <a:ea typeface="微软雅黑" panose="020B0503020204020204" pitchFamily="34" charset="-122"/>
              </a:rPr>
              <a:t>User</a:t>
            </a:r>
            <a:r>
              <a:rPr sz="1800" dirty="0" smtClean="0">
                <a:solidFill>
                  <a:srgbClr val="595959"/>
                </a:solidFill>
                <a:latin typeface="微软雅黑" panose="020B0503020204020204" pitchFamily="34" charset="-122"/>
                <a:ea typeface="微软雅黑" panose="020B0503020204020204" pitchFamily="34" charset="-122"/>
              </a:rPr>
              <a:t>都是mysql.user表的字段，这两个字段可以确定</a:t>
            </a:r>
            <a:r>
              <a:rPr sz="1800" dirty="0" smtClean="0">
                <a:solidFill>
                  <a:srgbClr val="1369B2"/>
                </a:solidFill>
                <a:latin typeface="微软雅黑" panose="020B0503020204020204" pitchFamily="34" charset="-122"/>
                <a:ea typeface="微软雅黑" panose="020B0503020204020204" pitchFamily="34" charset="-122"/>
              </a:rPr>
              <a:t>唯一的一条</a:t>
            </a:r>
            <a:r>
              <a:rPr sz="1800" dirty="0" smtClean="0">
                <a:solidFill>
                  <a:srgbClr val="595959"/>
                </a:solidFill>
                <a:latin typeface="微软雅黑" panose="020B0503020204020204" pitchFamily="34" charset="-122"/>
                <a:ea typeface="微软雅黑" panose="020B0503020204020204" pitchFamily="34" charset="-122"/>
              </a:rPr>
              <a:t>记录。</a:t>
            </a:r>
            <a:endParaRPr sz="1800" dirty="0" smtClean="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558925" y="1905635"/>
            <a:ext cx="9500235" cy="3785870"/>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1816100" y="1998980"/>
            <a:ext cx="8994140" cy="553085"/>
          </a:xfrm>
          <a:prstGeom prst="rect">
            <a:avLst/>
          </a:prstGeom>
          <a:noFill/>
        </p:spPr>
        <p:txBody>
          <a:bodyPr wrap="square" rtlCol="0">
            <a:spAutoFit/>
          </a:bodyPr>
          <a:lstStyle/>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使用</a:t>
            </a:r>
            <a:r>
              <a:rPr sz="2000" dirty="0" smtClean="0">
                <a:solidFill>
                  <a:srgbClr val="1369B2"/>
                </a:solidFill>
                <a:latin typeface="微软雅黑" panose="020B0503020204020204" pitchFamily="34" charset="-122"/>
                <a:ea typeface="微软雅黑" panose="020B0503020204020204" pitchFamily="34" charset="-122"/>
              </a:rPr>
              <a:t>DELETE语句</a:t>
            </a:r>
            <a:r>
              <a:rPr sz="2000" dirty="0" smtClean="0">
                <a:solidFill>
                  <a:srgbClr val="595959"/>
                </a:solidFill>
                <a:latin typeface="微软雅黑" panose="020B0503020204020204" pitchFamily="34" charset="-122"/>
                <a:ea typeface="微软雅黑" panose="020B0503020204020204" pitchFamily="34" charset="-122"/>
              </a:rPr>
              <a:t>删除用户test2，具体SQL语句及执行结果如下所示。</a:t>
            </a:r>
            <a:r>
              <a:rPr sz="1600" dirty="0" smtClean="0">
                <a:solidFill>
                  <a:srgbClr val="595959"/>
                </a:solidFill>
                <a:latin typeface="微软雅黑" panose="020B0503020204020204" pitchFamily="34" charset="-122"/>
                <a:ea typeface="微软雅黑" panose="020B0503020204020204" pitchFamily="34" charset="-122"/>
              </a:rPr>
              <a:t>	</a:t>
            </a:r>
            <a:endParaRPr sz="1600" dirty="0" smtClean="0">
              <a:solidFill>
                <a:srgbClr val="595959"/>
              </a:solidFill>
              <a:latin typeface="微软雅黑" panose="020B0503020204020204" pitchFamily="34" charset="-122"/>
              <a:ea typeface="微软雅黑" panose="020B0503020204020204" pitchFamily="34" charset="-122"/>
            </a:endParaRPr>
          </a:p>
        </p:txBody>
      </p:sp>
      <p:sp>
        <p:nvSpPr>
          <p:cNvPr id="2" name="矩形 1"/>
          <p:cNvSpPr/>
          <p:nvPr/>
        </p:nvSpPr>
        <p:spPr>
          <a:xfrm>
            <a:off x="1918970" y="2721610"/>
            <a:ext cx="8557260" cy="7245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8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mysql&gt; DROP USER 'test1'@'localhost';</a:t>
            </a:r>
            <a:endParaRPr lang="zh-CN" altLang="en-US" sz="18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8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Query OK, 0 rows affected (0.02 sec)</a:t>
            </a:r>
            <a:endParaRPr lang="zh-CN" altLang="en-US" sz="18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7"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9.2.3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删除用户</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文本框 2"/>
          <p:cNvSpPr txBox="1"/>
          <p:nvPr/>
        </p:nvSpPr>
        <p:spPr>
          <a:xfrm>
            <a:off x="1816100" y="3573780"/>
            <a:ext cx="8994140" cy="553085"/>
          </a:xfrm>
          <a:prstGeom prst="rect">
            <a:avLst/>
          </a:prstGeom>
          <a:noFill/>
        </p:spPr>
        <p:txBody>
          <a:bodyPr wrap="square" rtlCol="0">
            <a:spAutoFit/>
          </a:bodyPr>
          <a:lstStyle/>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通过</a:t>
            </a:r>
            <a:r>
              <a:rPr sz="2000" dirty="0" smtClean="0">
                <a:solidFill>
                  <a:srgbClr val="1369B2"/>
                </a:solidFill>
                <a:latin typeface="微软雅黑" panose="020B0503020204020204" pitchFamily="34" charset="-122"/>
                <a:ea typeface="微软雅黑" panose="020B0503020204020204" pitchFamily="34" charset="-122"/>
              </a:rPr>
              <a:t>SELECT语句</a:t>
            </a:r>
            <a:r>
              <a:rPr sz="2000" dirty="0" smtClean="0">
                <a:solidFill>
                  <a:srgbClr val="595959"/>
                </a:solidFill>
                <a:latin typeface="微软雅黑" panose="020B0503020204020204" pitchFamily="34" charset="-122"/>
                <a:ea typeface="微软雅黑" panose="020B0503020204020204" pitchFamily="34" charset="-122"/>
              </a:rPr>
              <a:t>查询用户test2是否被删除，具体SQL语句及执行结果如下所示</a:t>
            </a:r>
            <a:r>
              <a:rPr lang="zh-CN" sz="2000" dirty="0" smtClean="0">
                <a:solidFill>
                  <a:srgbClr val="595959"/>
                </a:solidFill>
                <a:latin typeface="微软雅黑" panose="020B0503020204020204" pitchFamily="34" charset="-122"/>
                <a:ea typeface="微软雅黑" panose="020B0503020204020204" pitchFamily="34" charset="-122"/>
              </a:rPr>
              <a:t>。</a:t>
            </a:r>
            <a:endParaRPr lang="zh-CN" sz="2000" dirty="0" smtClean="0">
              <a:solidFill>
                <a:srgbClr val="595959"/>
              </a:solidFill>
              <a:latin typeface="微软雅黑" panose="020B0503020204020204" pitchFamily="34" charset="-122"/>
              <a:ea typeface="微软雅黑" panose="020B0503020204020204" pitchFamily="34" charset="-122"/>
            </a:endParaRPr>
          </a:p>
        </p:txBody>
      </p:sp>
      <p:sp>
        <p:nvSpPr>
          <p:cNvPr id="4" name="矩形 3"/>
          <p:cNvSpPr/>
          <p:nvPr/>
        </p:nvSpPr>
        <p:spPr>
          <a:xfrm>
            <a:off x="1918970" y="4438015"/>
            <a:ext cx="8557260" cy="7245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8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mysql&gt; SELECT host,user FROM mysql.user WHERE user='test</a:t>
            </a:r>
            <a:r>
              <a:rPr lang="en-US" altLang="zh-CN" sz="18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2</a:t>
            </a:r>
            <a:r>
              <a:rPr lang="zh-CN" altLang="en-US" sz="18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zh-CN" altLang="en-US" sz="18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8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Empty set (0.00 sec)</a:t>
            </a:r>
            <a:endParaRPr lang="zh-CN" altLang="en-US" sz="18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流程图: 过程 2"/>
          <p:cNvSpPr/>
          <p:nvPr/>
        </p:nvSpPr>
        <p:spPr>
          <a:xfrm>
            <a:off x="1702435" y="2307590"/>
            <a:ext cx="9166860" cy="2357755"/>
          </a:xfrm>
          <a:prstGeom prst="flowChartProcess">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1951990" y="2709545"/>
            <a:ext cx="8668385" cy="1476375"/>
          </a:xfrm>
          <a:prstGeom prst="rect">
            <a:avLst/>
          </a:prstGeom>
          <a:noFill/>
        </p:spPr>
        <p:txBody>
          <a:bodyPr wrap="square" rtlCol="0">
            <a:spAutoFit/>
          </a:bodyPr>
          <a:lstStyle/>
          <a:p>
            <a:pPr algn="l">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mn-ea"/>
              </a:rPr>
              <a:t>MySQL中的用户都可以对数据库进行操作，因此管理好每个用户的密码是至关重要的，密码一旦丢失就需要及时修改。MySQL中</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修改密码</a:t>
            </a:r>
            <a:r>
              <a:rPr lang="zh-CN" altLang="en-US" sz="2000" dirty="0" smtClean="0">
                <a:solidFill>
                  <a:srgbClr val="595959"/>
                </a:solidFill>
                <a:latin typeface="微软雅黑" panose="020B0503020204020204" pitchFamily="34" charset="-122"/>
                <a:ea typeface="微软雅黑" panose="020B0503020204020204" pitchFamily="34" charset="-122"/>
                <a:sym typeface="+mn-ea"/>
              </a:rPr>
              <a:t>的方法主要4种，具体如下。</a:t>
            </a:r>
            <a:endParaRPr lang="zh-CN" altLang="en-US" sz="2000" dirty="0" smtClean="0">
              <a:solidFill>
                <a:srgbClr val="595959"/>
              </a:solidFill>
              <a:latin typeface="微软雅黑" panose="020B0503020204020204" pitchFamily="34" charset="-122"/>
              <a:ea typeface="微软雅黑" panose="020B0503020204020204" pitchFamily="34" charset="-122"/>
              <a:sym typeface="+mn-ea"/>
            </a:endParaRPr>
          </a:p>
        </p:txBody>
      </p:sp>
      <p:sp>
        <p:nvSpPr>
          <p:cNvPr id="2"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9.2.4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修改用户密码</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Line 7"/>
          <p:cNvSpPr>
            <a:spLocks noChangeShapeType="1"/>
          </p:cNvSpPr>
          <p:nvPr/>
        </p:nvSpPr>
        <p:spPr bwMode="auto">
          <a:xfrm>
            <a:off x="1774825" y="2597785"/>
            <a:ext cx="12065" cy="1912620"/>
          </a:xfrm>
          <a:prstGeom prst="line">
            <a:avLst/>
          </a:prstGeom>
          <a:noFill/>
          <a:ln w="12700">
            <a:solidFill>
              <a:schemeClr val="accent1"/>
            </a:solidFill>
            <a:round/>
          </a:ln>
          <a:extLst>
            <a:ext uri="{909E8E84-426E-40DD-AFC4-6F175D3DCCD1}">
              <a14:hiddenFill xmlns:a14="http://schemas.microsoft.com/office/drawing/2010/main">
                <a:no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0" name="AutoShape 12"/>
          <p:cNvSpPr>
            <a:spLocks noChangeArrowheads="1"/>
          </p:cNvSpPr>
          <p:nvPr/>
        </p:nvSpPr>
        <p:spPr bwMode="auto">
          <a:xfrm>
            <a:off x="2197100" y="3053080"/>
            <a:ext cx="1340485" cy="1053465"/>
          </a:xfrm>
          <a:custGeom>
            <a:avLst/>
            <a:gdLst>
              <a:gd name="T0" fmla="*/ 13440833 w 21600"/>
              <a:gd name="T1" fmla="*/ 23448910 h 21600"/>
              <a:gd name="T2" fmla="*/ 13440833 w 21600"/>
              <a:gd name="T3" fmla="*/ 23448910 h 21600"/>
              <a:gd name="T4" fmla="*/ 13440833 w 21600"/>
              <a:gd name="T5" fmla="*/ 23448910 h 21600"/>
              <a:gd name="T6" fmla="*/ 13440833 w 21600"/>
              <a:gd name="T7" fmla="*/ 23448910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19" tIns="45719" rIns="45719" bIns="45719"/>
          <a:lstStyle/>
          <a:p>
            <a:pPr fontAlgn="base" hangingPunct="0">
              <a:spcBef>
                <a:spcPct val="0"/>
              </a:spcBef>
              <a:spcAft>
                <a:spcPct val="0"/>
              </a:spcAft>
              <a:buFont typeface="Arial" panose="020B0604020202020204" pitchFamily="34" charset="0"/>
              <a:buNone/>
            </a:pPr>
            <a:r>
              <a:rPr lang="en-US" altLang="es-ES" sz="6000" dirty="0">
                <a:solidFill>
                  <a:srgbClr val="0070C0"/>
                </a:solidFill>
                <a:latin typeface="微软雅黑" panose="020B0503020204020204" pitchFamily="34" charset="-122"/>
                <a:ea typeface="微软雅黑" panose="020B0503020204020204" pitchFamily="34" charset="-122"/>
                <a:cs typeface="+mn-lt"/>
                <a:sym typeface="Arial" panose="020B0604020202020204" pitchFamily="34" charset="0"/>
              </a:rPr>
              <a:t>1</a:t>
            </a:r>
            <a:endParaRPr lang="en-US" altLang="es-ES" sz="6000" dirty="0">
              <a:solidFill>
                <a:srgbClr val="0070C0"/>
              </a:solidFill>
              <a:latin typeface="微软雅黑" panose="020B0503020204020204" pitchFamily="34" charset="-122"/>
              <a:ea typeface="微软雅黑" panose="020B0503020204020204" pitchFamily="34" charset="-122"/>
              <a:cs typeface="+mn-lt"/>
              <a:sym typeface="Arial" panose="020B0604020202020204" pitchFamily="34" charset="0"/>
            </a:endParaRPr>
          </a:p>
        </p:txBody>
      </p:sp>
      <p:sp>
        <p:nvSpPr>
          <p:cNvPr id="14" name="TextBox 35"/>
          <p:cNvSpPr txBox="1"/>
          <p:nvPr/>
        </p:nvSpPr>
        <p:spPr>
          <a:xfrm>
            <a:off x="3947795" y="2205355"/>
            <a:ext cx="7039610" cy="1568450"/>
          </a:xfrm>
          <a:prstGeom prst="rect">
            <a:avLst/>
          </a:prstGeom>
          <a:noFill/>
        </p:spPr>
        <p:txBody>
          <a:bodyPr wrap="square" rtlCol="0">
            <a:spAutoFit/>
          </a:bodyPr>
          <a:lstStyle/>
          <a:p>
            <a:pPr lvl="0" algn="l">
              <a:lnSpc>
                <a:spcPct val="150000"/>
              </a:lnSpc>
              <a:spcBef>
                <a:spcPts val="0"/>
              </a:spcBef>
              <a:spcAft>
                <a:spcPts val="0"/>
              </a:spcAft>
              <a:buClrTx/>
              <a:buSzTx/>
              <a:buFontTx/>
              <a:defRPr/>
            </a:pP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在MySQL的安装目录bin文件夹下，有一个mysqladmin.exe可执行程序，它对应的命令mysqladmin通常用于执行一些管理性的任务（如修改用户密码），以及显示服务器状态等。使用</a:t>
            </a:r>
            <a:r>
              <a:rPr lang="zh-CN" altLang="en-US" sz="1600" dirty="0">
                <a:solidFill>
                  <a:srgbClr val="1369B2"/>
                </a:solidFill>
                <a:latin typeface="微软雅黑" panose="020B0503020204020204" pitchFamily="34" charset="-122"/>
                <a:ea typeface="微软雅黑" panose="020B0503020204020204" pitchFamily="34" charset="-122"/>
                <a:cs typeface="+mn-lt"/>
                <a:sym typeface="+mn-ea"/>
              </a:rPr>
              <a:t>mysqladmin</a:t>
            </a: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命令修改密码的基本语法格式如下所示。</a:t>
            </a:r>
            <a:endParaRPr lang="zh-CN" altLang="en-US" sz="1600" dirty="0">
              <a:solidFill>
                <a:srgbClr val="595959"/>
              </a:solidFill>
              <a:latin typeface="微软雅黑" panose="020B0503020204020204" pitchFamily="34" charset="-122"/>
              <a:ea typeface="微软雅黑" panose="020B0503020204020204" pitchFamily="34" charset="-122"/>
              <a:cs typeface="+mn-lt"/>
              <a:sym typeface="+mn-ea"/>
            </a:endParaRPr>
          </a:p>
        </p:txBody>
      </p:sp>
      <p:sp>
        <p:nvSpPr>
          <p:cNvPr id="15" name="文本框 14"/>
          <p:cNvSpPr txBox="1"/>
          <p:nvPr/>
        </p:nvSpPr>
        <p:spPr>
          <a:xfrm>
            <a:off x="3891280" y="1585595"/>
            <a:ext cx="6920230" cy="460375"/>
          </a:xfrm>
          <a:prstGeom prst="rect">
            <a:avLst/>
          </a:prstGeom>
          <a:noFill/>
        </p:spPr>
        <p:txBody>
          <a:bodyPr wrap="square" rtlCol="0">
            <a:spAutoFit/>
          </a:bodyPr>
          <a:lstStyle>
            <a:defPPr>
              <a:defRPr lang="zh-CN"/>
            </a:defPPr>
            <a:lvl1pPr defTabSz="913765">
              <a:defRPr b="1">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defRPr>
            </a:lvl1pPr>
          </a:lstStyle>
          <a:p>
            <a:r>
              <a:rPr lang="zh-CN" altLang="en-US" dirty="0">
                <a:solidFill>
                  <a:srgbClr val="595959"/>
                </a:solidFill>
                <a:sym typeface="+mn-ea"/>
              </a:rPr>
              <a:t>使用mysqladmin命令修改用户密码</a:t>
            </a:r>
            <a:endParaRPr lang="zh-CN" altLang="en-US" dirty="0">
              <a:solidFill>
                <a:srgbClr val="595959"/>
              </a:solidFill>
              <a:sym typeface="+mn-ea"/>
            </a:endParaRPr>
          </a:p>
        </p:txBody>
      </p:sp>
      <p:sp>
        <p:nvSpPr>
          <p:cNvPr id="18" name="矩形 17"/>
          <p:cNvSpPr/>
          <p:nvPr/>
        </p:nvSpPr>
        <p:spPr>
          <a:xfrm>
            <a:off x="3903345" y="3842385"/>
            <a:ext cx="7050405" cy="594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mysqladmin –u username [–h hostname] –p password new_password</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3" name="TextBox 35"/>
          <p:cNvSpPr txBox="1"/>
          <p:nvPr/>
        </p:nvSpPr>
        <p:spPr>
          <a:xfrm>
            <a:off x="3891280" y="4437380"/>
            <a:ext cx="7039610" cy="1568450"/>
          </a:xfrm>
          <a:prstGeom prst="rect">
            <a:avLst/>
          </a:prstGeom>
          <a:noFill/>
        </p:spPr>
        <p:txBody>
          <a:bodyPr wrap="square" rtlCol="0">
            <a:spAutoFit/>
          </a:bodyPr>
          <a:lstStyle/>
          <a:p>
            <a:pPr lvl="0" algn="l">
              <a:lnSpc>
                <a:spcPct val="150000"/>
              </a:lnSpc>
              <a:spcBef>
                <a:spcPts val="0"/>
              </a:spcBef>
              <a:spcAft>
                <a:spcPts val="0"/>
              </a:spcAft>
              <a:buClrTx/>
              <a:buSzTx/>
              <a:buFontTx/>
              <a:defRPr/>
            </a:pP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上述语法格式中，username表示要修改密码的用户名，参数-h用于指定对应的主机名，可以省略不写，默认为</a:t>
            </a:r>
            <a:r>
              <a:rPr lang="zh-CN" altLang="en-US" sz="1600" dirty="0">
                <a:solidFill>
                  <a:srgbClr val="1369B2"/>
                </a:solidFill>
                <a:latin typeface="微软雅黑" panose="020B0503020204020204" pitchFamily="34" charset="-122"/>
                <a:ea typeface="微软雅黑" panose="020B0503020204020204" pitchFamily="34" charset="-122"/>
                <a:cs typeface="+mn-lt"/>
                <a:sym typeface="+mn-ea"/>
              </a:rPr>
              <a:t>localhost</a:t>
            </a: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a:t>
            </a:r>
            <a:r>
              <a:rPr lang="zh-CN" altLang="en-US" sz="1600" dirty="0">
                <a:solidFill>
                  <a:srgbClr val="1369B2"/>
                </a:solidFill>
                <a:latin typeface="微软雅黑" panose="020B0503020204020204" pitchFamily="34" charset="-122"/>
                <a:ea typeface="微软雅黑" panose="020B0503020204020204" pitchFamily="34" charset="-122"/>
                <a:cs typeface="+mn-lt"/>
                <a:sym typeface="+mn-ea"/>
              </a:rPr>
              <a:t>-p后面的password为关键字，用于指定要修改的内容为密码</a:t>
            </a: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，而不是修改后的密码，new_password为新设置的密码。</a:t>
            </a:r>
            <a:endParaRPr lang="zh-CN" altLang="en-US" sz="1600" dirty="0">
              <a:solidFill>
                <a:srgbClr val="595959"/>
              </a:solidFill>
              <a:latin typeface="微软雅黑" panose="020B0503020204020204" pitchFamily="34" charset="-122"/>
              <a:ea typeface="微软雅黑" panose="020B0503020204020204" pitchFamily="34" charset="-122"/>
              <a:cs typeface="+mn-lt"/>
              <a:sym typeface="+mn-ea"/>
            </a:endParaRPr>
          </a:p>
        </p:txBody>
      </p:sp>
      <p:sp>
        <p:nvSpPr>
          <p:cNvPr id="7"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9.2.4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修改用户密码</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Line 7"/>
          <p:cNvSpPr>
            <a:spLocks noChangeShapeType="1"/>
          </p:cNvSpPr>
          <p:nvPr/>
        </p:nvSpPr>
        <p:spPr bwMode="auto">
          <a:xfrm>
            <a:off x="1774825" y="2597785"/>
            <a:ext cx="12065" cy="1912620"/>
          </a:xfrm>
          <a:prstGeom prst="line">
            <a:avLst/>
          </a:prstGeom>
          <a:noFill/>
          <a:ln w="12700">
            <a:solidFill>
              <a:schemeClr val="accent1"/>
            </a:solidFill>
            <a:round/>
          </a:ln>
          <a:extLst>
            <a:ext uri="{909E8E84-426E-40DD-AFC4-6F175D3DCCD1}">
              <a14:hiddenFill xmlns:a14="http://schemas.microsoft.com/office/drawing/2010/main">
                <a:no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0" name="AutoShape 12"/>
          <p:cNvSpPr>
            <a:spLocks noChangeArrowheads="1"/>
          </p:cNvSpPr>
          <p:nvPr/>
        </p:nvSpPr>
        <p:spPr bwMode="auto">
          <a:xfrm>
            <a:off x="2197100" y="3053080"/>
            <a:ext cx="1340485" cy="1053465"/>
          </a:xfrm>
          <a:custGeom>
            <a:avLst/>
            <a:gdLst>
              <a:gd name="T0" fmla="*/ 13440833 w 21600"/>
              <a:gd name="T1" fmla="*/ 23448910 h 21600"/>
              <a:gd name="T2" fmla="*/ 13440833 w 21600"/>
              <a:gd name="T3" fmla="*/ 23448910 h 21600"/>
              <a:gd name="T4" fmla="*/ 13440833 w 21600"/>
              <a:gd name="T5" fmla="*/ 23448910 h 21600"/>
              <a:gd name="T6" fmla="*/ 13440833 w 21600"/>
              <a:gd name="T7" fmla="*/ 23448910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19" tIns="45719" rIns="45719" bIns="45719"/>
          <a:lstStyle/>
          <a:p>
            <a:pPr fontAlgn="base" hangingPunct="0">
              <a:spcBef>
                <a:spcPct val="0"/>
              </a:spcBef>
              <a:spcAft>
                <a:spcPct val="0"/>
              </a:spcAft>
              <a:buFont typeface="Arial" panose="020B0604020202020204" pitchFamily="34" charset="0"/>
              <a:buNone/>
            </a:pPr>
            <a:r>
              <a:rPr lang="en-US" altLang="es-ES" sz="6000" dirty="0">
                <a:solidFill>
                  <a:srgbClr val="0070C0"/>
                </a:solidFill>
                <a:latin typeface="微软雅黑" panose="020B0503020204020204" pitchFamily="34" charset="-122"/>
                <a:ea typeface="微软雅黑" panose="020B0503020204020204" pitchFamily="34" charset="-122"/>
                <a:cs typeface="+mn-lt"/>
                <a:sym typeface="Arial" panose="020B0604020202020204" pitchFamily="34" charset="0"/>
              </a:rPr>
              <a:t>2</a:t>
            </a:r>
            <a:endParaRPr lang="en-US" altLang="es-ES" sz="6000" dirty="0">
              <a:solidFill>
                <a:srgbClr val="0070C0"/>
              </a:solidFill>
              <a:latin typeface="微软雅黑" panose="020B0503020204020204" pitchFamily="34" charset="-122"/>
              <a:ea typeface="微软雅黑" panose="020B0503020204020204" pitchFamily="34" charset="-122"/>
              <a:cs typeface="+mn-lt"/>
              <a:sym typeface="Arial" panose="020B0604020202020204" pitchFamily="34" charset="0"/>
            </a:endParaRPr>
          </a:p>
        </p:txBody>
      </p:sp>
      <p:sp>
        <p:nvSpPr>
          <p:cNvPr id="14" name="TextBox 35"/>
          <p:cNvSpPr txBox="1"/>
          <p:nvPr/>
        </p:nvSpPr>
        <p:spPr>
          <a:xfrm>
            <a:off x="3934460" y="2205355"/>
            <a:ext cx="7039610" cy="553085"/>
          </a:xfrm>
          <a:prstGeom prst="rect">
            <a:avLst/>
          </a:prstGeom>
          <a:noFill/>
        </p:spPr>
        <p:txBody>
          <a:bodyPr wrap="square" rtlCol="0">
            <a:spAutoFit/>
          </a:bodyPr>
          <a:lstStyle/>
          <a:p>
            <a:pPr lvl="0" algn="l">
              <a:lnSpc>
                <a:spcPct val="150000"/>
              </a:lnSpc>
              <a:spcBef>
                <a:spcPts val="0"/>
              </a:spcBef>
              <a:spcAft>
                <a:spcPts val="0"/>
              </a:spcAft>
              <a:buClrTx/>
              <a:buSzTx/>
              <a:buFontTx/>
              <a:defRPr/>
            </a:pPr>
            <a:r>
              <a:rPr lang="zh-CN" altLang="en-US" sz="2000" dirty="0">
                <a:solidFill>
                  <a:srgbClr val="595959"/>
                </a:solidFill>
                <a:latin typeface="微软雅黑" panose="020B0503020204020204" pitchFamily="34" charset="-122"/>
                <a:ea typeface="微软雅黑" panose="020B0503020204020204" pitchFamily="34" charset="-122"/>
                <a:cs typeface="+mn-lt"/>
                <a:sym typeface="+mn-ea"/>
              </a:rPr>
              <a:t>使用</a:t>
            </a:r>
            <a:r>
              <a:rPr lang="zh-CN" altLang="en-US" sz="2000" dirty="0">
                <a:solidFill>
                  <a:srgbClr val="1369B2"/>
                </a:solidFill>
                <a:latin typeface="微软雅黑" panose="020B0503020204020204" pitchFamily="34" charset="-122"/>
                <a:ea typeface="微软雅黑" panose="020B0503020204020204" pitchFamily="34" charset="-122"/>
                <a:cs typeface="+mn-lt"/>
                <a:sym typeface="+mn-ea"/>
              </a:rPr>
              <a:t>ALTER USER</a:t>
            </a:r>
            <a:r>
              <a:rPr lang="zh-CN" altLang="en-US" sz="2000" dirty="0">
                <a:solidFill>
                  <a:srgbClr val="595959"/>
                </a:solidFill>
                <a:latin typeface="微软雅黑" panose="020B0503020204020204" pitchFamily="34" charset="-122"/>
                <a:ea typeface="微软雅黑" panose="020B0503020204020204" pitchFamily="34" charset="-122"/>
                <a:cs typeface="+mn-lt"/>
                <a:sym typeface="+mn-ea"/>
              </a:rPr>
              <a:t>语句修改用户密码，基本语法格式如下所示。</a:t>
            </a:r>
            <a:endParaRPr lang="zh-CN" altLang="en-US" sz="2000" dirty="0">
              <a:solidFill>
                <a:srgbClr val="595959"/>
              </a:solidFill>
              <a:latin typeface="微软雅黑" panose="020B0503020204020204" pitchFamily="34" charset="-122"/>
              <a:ea typeface="微软雅黑" panose="020B0503020204020204" pitchFamily="34" charset="-122"/>
              <a:cs typeface="+mn-lt"/>
              <a:sym typeface="+mn-ea"/>
            </a:endParaRPr>
          </a:p>
        </p:txBody>
      </p:sp>
      <p:sp>
        <p:nvSpPr>
          <p:cNvPr id="15" name="文本框 14"/>
          <p:cNvSpPr txBox="1"/>
          <p:nvPr/>
        </p:nvSpPr>
        <p:spPr>
          <a:xfrm>
            <a:off x="3891280" y="1585595"/>
            <a:ext cx="6920230" cy="460375"/>
          </a:xfrm>
          <a:prstGeom prst="rect">
            <a:avLst/>
          </a:prstGeom>
          <a:noFill/>
        </p:spPr>
        <p:txBody>
          <a:bodyPr wrap="square" rtlCol="0">
            <a:spAutoFit/>
          </a:bodyPr>
          <a:lstStyle>
            <a:defPPr>
              <a:defRPr lang="zh-CN"/>
            </a:defPPr>
            <a:lvl1pPr defTabSz="913765">
              <a:defRPr b="1">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defRPr>
            </a:lvl1pPr>
          </a:lstStyle>
          <a:p>
            <a:r>
              <a:rPr lang="zh-CN" altLang="en-US" dirty="0">
                <a:solidFill>
                  <a:srgbClr val="595959"/>
                </a:solidFill>
                <a:sym typeface="+mn-ea"/>
              </a:rPr>
              <a:t>使用ALTER USER语句修改用户密码</a:t>
            </a:r>
            <a:endParaRPr lang="zh-CN" altLang="en-US" dirty="0">
              <a:solidFill>
                <a:srgbClr val="595959"/>
              </a:solidFill>
              <a:sym typeface="+mn-ea"/>
            </a:endParaRPr>
          </a:p>
        </p:txBody>
      </p:sp>
      <p:sp>
        <p:nvSpPr>
          <p:cNvPr id="18" name="矩形 17"/>
          <p:cNvSpPr/>
          <p:nvPr/>
        </p:nvSpPr>
        <p:spPr>
          <a:xfrm>
            <a:off x="3947795" y="2925445"/>
            <a:ext cx="7050405" cy="594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ALTER USER 账户名IDENTIFIED By new_password;</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3" name="TextBox 35"/>
          <p:cNvSpPr txBox="1"/>
          <p:nvPr/>
        </p:nvSpPr>
        <p:spPr>
          <a:xfrm>
            <a:off x="3891280" y="3789680"/>
            <a:ext cx="7039610" cy="1938020"/>
          </a:xfrm>
          <a:prstGeom prst="rect">
            <a:avLst/>
          </a:prstGeom>
          <a:noFill/>
        </p:spPr>
        <p:txBody>
          <a:bodyPr wrap="square" rtlCol="0">
            <a:spAutoFit/>
          </a:bodyPr>
          <a:lstStyle/>
          <a:p>
            <a:pPr lvl="0" algn="l">
              <a:lnSpc>
                <a:spcPct val="150000"/>
              </a:lnSpc>
              <a:spcBef>
                <a:spcPts val="0"/>
              </a:spcBef>
              <a:spcAft>
                <a:spcPts val="0"/>
              </a:spcAft>
              <a:buClrTx/>
              <a:buSzTx/>
              <a:buFontTx/>
              <a:defRPr/>
            </a:pPr>
            <a:r>
              <a:rPr lang="zh-CN" altLang="en-US" sz="2000" dirty="0">
                <a:solidFill>
                  <a:srgbClr val="595959"/>
                </a:solidFill>
                <a:latin typeface="微软雅黑" panose="020B0503020204020204" pitchFamily="34" charset="-122"/>
                <a:ea typeface="微软雅黑" panose="020B0503020204020204" pitchFamily="34" charset="-122"/>
                <a:cs typeface="+mn-lt"/>
                <a:sym typeface="+mn-ea"/>
              </a:rPr>
              <a:t>上述语法格式中，账户名包括用户名和主机名，</a:t>
            </a:r>
            <a:r>
              <a:rPr lang="zh-CN" altLang="en-US" sz="2000" dirty="0">
                <a:solidFill>
                  <a:srgbClr val="1369B2"/>
                </a:solidFill>
                <a:latin typeface="微软雅黑" panose="020B0503020204020204" pitchFamily="34" charset="-122"/>
                <a:ea typeface="微软雅黑" panose="020B0503020204020204" pitchFamily="34" charset="-122"/>
                <a:cs typeface="+mn-lt"/>
                <a:sym typeface="+mn-ea"/>
              </a:rPr>
              <a:t>new_password表示新设置的密码</a:t>
            </a:r>
            <a:r>
              <a:rPr lang="zh-CN" altLang="en-US" sz="2000" dirty="0">
                <a:solidFill>
                  <a:srgbClr val="595959"/>
                </a:solidFill>
                <a:latin typeface="微软雅黑" panose="020B0503020204020204" pitchFamily="34" charset="-122"/>
                <a:ea typeface="微软雅黑" panose="020B0503020204020204" pitchFamily="34" charset="-122"/>
                <a:cs typeface="+mn-lt"/>
                <a:sym typeface="+mn-ea"/>
              </a:rPr>
              <a:t>。需要注意的是，使用这种方法修改用户密码，需要执行修改密码操作的用户有修改mysql.user数据表的权限。</a:t>
            </a:r>
            <a:endParaRPr lang="zh-CN" altLang="en-US" sz="2000" dirty="0">
              <a:solidFill>
                <a:srgbClr val="595959"/>
              </a:solidFill>
              <a:latin typeface="微软雅黑" panose="020B0503020204020204" pitchFamily="34" charset="-122"/>
              <a:ea typeface="微软雅黑" panose="020B0503020204020204" pitchFamily="34" charset="-122"/>
              <a:cs typeface="+mn-lt"/>
              <a:sym typeface="+mn-ea"/>
            </a:endParaRPr>
          </a:p>
        </p:txBody>
      </p:sp>
      <p:sp>
        <p:nvSpPr>
          <p:cNvPr id="7"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9.2.4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修改用户密码</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Line 7"/>
          <p:cNvSpPr>
            <a:spLocks noChangeShapeType="1"/>
          </p:cNvSpPr>
          <p:nvPr/>
        </p:nvSpPr>
        <p:spPr bwMode="auto">
          <a:xfrm>
            <a:off x="1774825" y="2597785"/>
            <a:ext cx="12065" cy="1912620"/>
          </a:xfrm>
          <a:prstGeom prst="line">
            <a:avLst/>
          </a:prstGeom>
          <a:noFill/>
          <a:ln w="12700">
            <a:solidFill>
              <a:schemeClr val="accent1"/>
            </a:solidFill>
            <a:round/>
          </a:ln>
          <a:extLst>
            <a:ext uri="{909E8E84-426E-40DD-AFC4-6F175D3DCCD1}">
              <a14:hiddenFill xmlns:a14="http://schemas.microsoft.com/office/drawing/2010/main">
                <a:no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0" name="AutoShape 12"/>
          <p:cNvSpPr>
            <a:spLocks noChangeArrowheads="1"/>
          </p:cNvSpPr>
          <p:nvPr/>
        </p:nvSpPr>
        <p:spPr bwMode="auto">
          <a:xfrm>
            <a:off x="2197100" y="3053080"/>
            <a:ext cx="1340485" cy="1053465"/>
          </a:xfrm>
          <a:custGeom>
            <a:avLst/>
            <a:gdLst>
              <a:gd name="T0" fmla="*/ 13440833 w 21600"/>
              <a:gd name="T1" fmla="*/ 23448910 h 21600"/>
              <a:gd name="T2" fmla="*/ 13440833 w 21600"/>
              <a:gd name="T3" fmla="*/ 23448910 h 21600"/>
              <a:gd name="T4" fmla="*/ 13440833 w 21600"/>
              <a:gd name="T5" fmla="*/ 23448910 h 21600"/>
              <a:gd name="T6" fmla="*/ 13440833 w 21600"/>
              <a:gd name="T7" fmla="*/ 23448910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19" tIns="45719" rIns="45719" bIns="45719"/>
          <a:lstStyle/>
          <a:p>
            <a:pPr fontAlgn="base" hangingPunct="0">
              <a:spcBef>
                <a:spcPct val="0"/>
              </a:spcBef>
              <a:spcAft>
                <a:spcPct val="0"/>
              </a:spcAft>
              <a:buFont typeface="Arial" panose="020B0604020202020204" pitchFamily="34" charset="0"/>
              <a:buNone/>
            </a:pPr>
            <a:r>
              <a:rPr lang="en-US" altLang="es-ES" sz="6000" dirty="0">
                <a:solidFill>
                  <a:srgbClr val="0070C0"/>
                </a:solidFill>
                <a:latin typeface="微软雅黑" panose="020B0503020204020204" pitchFamily="34" charset="-122"/>
                <a:ea typeface="微软雅黑" panose="020B0503020204020204" pitchFamily="34" charset="-122"/>
                <a:cs typeface="+mn-lt"/>
                <a:sym typeface="Arial" panose="020B0604020202020204" pitchFamily="34" charset="0"/>
              </a:rPr>
              <a:t>3</a:t>
            </a:r>
            <a:endParaRPr lang="en-US" altLang="es-ES" sz="6000" dirty="0">
              <a:solidFill>
                <a:srgbClr val="0070C0"/>
              </a:solidFill>
              <a:latin typeface="微软雅黑" panose="020B0503020204020204" pitchFamily="34" charset="-122"/>
              <a:ea typeface="微软雅黑" panose="020B0503020204020204" pitchFamily="34" charset="-122"/>
              <a:cs typeface="+mn-lt"/>
              <a:sym typeface="Arial" panose="020B0604020202020204" pitchFamily="34" charset="0"/>
            </a:endParaRPr>
          </a:p>
        </p:txBody>
      </p:sp>
      <p:sp>
        <p:nvSpPr>
          <p:cNvPr id="14" name="TextBox 35"/>
          <p:cNvSpPr txBox="1"/>
          <p:nvPr/>
        </p:nvSpPr>
        <p:spPr>
          <a:xfrm>
            <a:off x="3891280" y="2853690"/>
            <a:ext cx="7039610" cy="553085"/>
          </a:xfrm>
          <a:prstGeom prst="rect">
            <a:avLst/>
          </a:prstGeom>
          <a:noFill/>
        </p:spPr>
        <p:txBody>
          <a:bodyPr wrap="square" rtlCol="0">
            <a:spAutoFit/>
          </a:bodyPr>
          <a:lstStyle/>
          <a:p>
            <a:pPr lvl="0" algn="l">
              <a:lnSpc>
                <a:spcPct val="150000"/>
              </a:lnSpc>
              <a:spcBef>
                <a:spcPts val="0"/>
              </a:spcBef>
              <a:spcAft>
                <a:spcPts val="0"/>
              </a:spcAft>
              <a:buClrTx/>
              <a:buSzTx/>
              <a:buFontTx/>
              <a:defRPr/>
            </a:pPr>
            <a:r>
              <a:rPr lang="zh-CN" altLang="en-US" sz="2000" dirty="0">
                <a:solidFill>
                  <a:srgbClr val="595959"/>
                </a:solidFill>
                <a:latin typeface="微软雅黑" panose="020B0503020204020204" pitchFamily="34" charset="-122"/>
                <a:ea typeface="微软雅黑" panose="020B0503020204020204" pitchFamily="34" charset="-122"/>
                <a:cs typeface="+mn-lt"/>
                <a:sym typeface="+mn-ea"/>
              </a:rPr>
              <a:t>使用</a:t>
            </a:r>
            <a:r>
              <a:rPr lang="zh-CN" altLang="en-US" sz="2000" dirty="0">
                <a:solidFill>
                  <a:srgbClr val="1369B2"/>
                </a:solidFill>
                <a:latin typeface="微软雅黑" panose="020B0503020204020204" pitchFamily="34" charset="-122"/>
                <a:ea typeface="微软雅黑" panose="020B0503020204020204" pitchFamily="34" charset="-122"/>
                <a:cs typeface="+mn-lt"/>
                <a:sym typeface="+mn-ea"/>
              </a:rPr>
              <a:t>SET</a:t>
            </a:r>
            <a:r>
              <a:rPr lang="zh-CN" altLang="en-US" sz="2000" dirty="0">
                <a:solidFill>
                  <a:srgbClr val="595959"/>
                </a:solidFill>
                <a:latin typeface="微软雅黑" panose="020B0503020204020204" pitchFamily="34" charset="-122"/>
                <a:ea typeface="微软雅黑" panose="020B0503020204020204" pitchFamily="34" charset="-122"/>
                <a:cs typeface="+mn-lt"/>
                <a:sym typeface="+mn-ea"/>
              </a:rPr>
              <a:t>语句修改用户密码，基本语法格式如下所示。</a:t>
            </a:r>
            <a:endParaRPr lang="zh-CN" altLang="en-US" sz="2000" dirty="0">
              <a:solidFill>
                <a:srgbClr val="595959"/>
              </a:solidFill>
              <a:latin typeface="微软雅黑" panose="020B0503020204020204" pitchFamily="34" charset="-122"/>
              <a:ea typeface="微软雅黑" panose="020B0503020204020204" pitchFamily="34" charset="-122"/>
              <a:cs typeface="+mn-lt"/>
              <a:sym typeface="+mn-ea"/>
            </a:endParaRPr>
          </a:p>
        </p:txBody>
      </p:sp>
      <p:sp>
        <p:nvSpPr>
          <p:cNvPr id="15" name="文本框 14"/>
          <p:cNvSpPr txBox="1"/>
          <p:nvPr/>
        </p:nvSpPr>
        <p:spPr>
          <a:xfrm>
            <a:off x="3891280" y="2205355"/>
            <a:ext cx="6920230" cy="460375"/>
          </a:xfrm>
          <a:prstGeom prst="rect">
            <a:avLst/>
          </a:prstGeom>
          <a:noFill/>
        </p:spPr>
        <p:txBody>
          <a:bodyPr wrap="square" rtlCol="0">
            <a:spAutoFit/>
          </a:bodyPr>
          <a:lstStyle>
            <a:defPPr>
              <a:defRPr lang="zh-CN"/>
            </a:defPPr>
            <a:lvl1pPr defTabSz="913765">
              <a:defRPr b="1">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defRPr>
            </a:lvl1pPr>
          </a:lstStyle>
          <a:p>
            <a:r>
              <a:rPr lang="zh-CN" altLang="en-US" dirty="0">
                <a:solidFill>
                  <a:srgbClr val="595959"/>
                </a:solidFill>
                <a:sym typeface="+mn-ea"/>
              </a:rPr>
              <a:t>使用SET语句修改用户密码</a:t>
            </a:r>
            <a:endParaRPr lang="zh-CN" altLang="en-US" dirty="0">
              <a:solidFill>
                <a:srgbClr val="595959"/>
              </a:solidFill>
              <a:sym typeface="+mn-ea"/>
            </a:endParaRPr>
          </a:p>
        </p:txBody>
      </p:sp>
      <p:sp>
        <p:nvSpPr>
          <p:cNvPr id="18" name="矩形 17"/>
          <p:cNvSpPr/>
          <p:nvPr/>
        </p:nvSpPr>
        <p:spPr>
          <a:xfrm>
            <a:off x="3851910" y="3645535"/>
            <a:ext cx="7050405" cy="5949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SET PASSWORD=new_password;</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3" name="TextBox 35"/>
          <p:cNvSpPr txBox="1"/>
          <p:nvPr/>
        </p:nvSpPr>
        <p:spPr>
          <a:xfrm>
            <a:off x="3862705" y="4510405"/>
            <a:ext cx="7039610" cy="553085"/>
          </a:xfrm>
          <a:prstGeom prst="rect">
            <a:avLst/>
          </a:prstGeom>
          <a:noFill/>
        </p:spPr>
        <p:txBody>
          <a:bodyPr wrap="square" rtlCol="0">
            <a:spAutoFit/>
          </a:bodyPr>
          <a:lstStyle/>
          <a:p>
            <a:pPr lvl="0" algn="l">
              <a:lnSpc>
                <a:spcPct val="150000"/>
              </a:lnSpc>
              <a:spcBef>
                <a:spcPts val="0"/>
              </a:spcBef>
              <a:spcAft>
                <a:spcPts val="0"/>
              </a:spcAft>
              <a:buClrTx/>
              <a:buSzTx/>
              <a:buFontTx/>
              <a:defRPr/>
            </a:pPr>
            <a:r>
              <a:rPr lang="zh-CN" altLang="en-US" sz="2000" dirty="0">
                <a:solidFill>
                  <a:srgbClr val="595959"/>
                </a:solidFill>
                <a:latin typeface="微软雅黑" panose="020B0503020204020204" pitchFamily="34" charset="-122"/>
                <a:ea typeface="微软雅黑" panose="020B0503020204020204" pitchFamily="34" charset="-122"/>
                <a:cs typeface="+mn-lt"/>
                <a:sym typeface="+mn-ea"/>
              </a:rPr>
              <a:t>上述语法格式中，new_password为新设置的密码。</a:t>
            </a:r>
            <a:endParaRPr lang="zh-CN" altLang="en-US" sz="2000" dirty="0">
              <a:solidFill>
                <a:srgbClr val="595959"/>
              </a:solidFill>
              <a:latin typeface="微软雅黑" panose="020B0503020204020204" pitchFamily="34" charset="-122"/>
              <a:ea typeface="微软雅黑" panose="020B0503020204020204" pitchFamily="34" charset="-122"/>
              <a:cs typeface="+mn-lt"/>
              <a:sym typeface="+mn-ea"/>
            </a:endParaRPr>
          </a:p>
        </p:txBody>
      </p:sp>
      <p:sp>
        <p:nvSpPr>
          <p:cNvPr id="7"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9.2.4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修改用户密码</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Line 7"/>
          <p:cNvSpPr>
            <a:spLocks noChangeShapeType="1"/>
          </p:cNvSpPr>
          <p:nvPr/>
        </p:nvSpPr>
        <p:spPr bwMode="auto">
          <a:xfrm>
            <a:off x="1774825" y="2597785"/>
            <a:ext cx="12065" cy="1912620"/>
          </a:xfrm>
          <a:prstGeom prst="line">
            <a:avLst/>
          </a:prstGeom>
          <a:noFill/>
          <a:ln w="12700">
            <a:solidFill>
              <a:schemeClr val="accent1"/>
            </a:solidFill>
            <a:round/>
          </a:ln>
          <a:extLst>
            <a:ext uri="{909E8E84-426E-40DD-AFC4-6F175D3DCCD1}">
              <a14:hiddenFill xmlns:a14="http://schemas.microsoft.com/office/drawing/2010/main">
                <a:no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0" name="AutoShape 12"/>
          <p:cNvSpPr>
            <a:spLocks noChangeArrowheads="1"/>
          </p:cNvSpPr>
          <p:nvPr/>
        </p:nvSpPr>
        <p:spPr bwMode="auto">
          <a:xfrm>
            <a:off x="2197100" y="3053080"/>
            <a:ext cx="1340485" cy="1053465"/>
          </a:xfrm>
          <a:custGeom>
            <a:avLst/>
            <a:gdLst>
              <a:gd name="T0" fmla="*/ 13440833 w 21600"/>
              <a:gd name="T1" fmla="*/ 23448910 h 21600"/>
              <a:gd name="T2" fmla="*/ 13440833 w 21600"/>
              <a:gd name="T3" fmla="*/ 23448910 h 21600"/>
              <a:gd name="T4" fmla="*/ 13440833 w 21600"/>
              <a:gd name="T5" fmla="*/ 23448910 h 21600"/>
              <a:gd name="T6" fmla="*/ 13440833 w 21600"/>
              <a:gd name="T7" fmla="*/ 23448910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19" tIns="45719" rIns="45719" bIns="45719"/>
          <a:lstStyle/>
          <a:p>
            <a:pPr fontAlgn="base" hangingPunct="0">
              <a:spcBef>
                <a:spcPct val="0"/>
              </a:spcBef>
              <a:spcAft>
                <a:spcPct val="0"/>
              </a:spcAft>
              <a:buFont typeface="Arial" panose="020B0604020202020204" pitchFamily="34" charset="0"/>
              <a:buNone/>
            </a:pPr>
            <a:r>
              <a:rPr lang="en-US" altLang="es-ES" sz="6000" dirty="0">
                <a:solidFill>
                  <a:srgbClr val="0070C0"/>
                </a:solidFill>
                <a:latin typeface="微软雅黑" panose="020B0503020204020204" pitchFamily="34" charset="-122"/>
                <a:ea typeface="微软雅黑" panose="020B0503020204020204" pitchFamily="34" charset="-122"/>
                <a:cs typeface="+mn-lt"/>
                <a:sym typeface="Arial" panose="020B0604020202020204" pitchFamily="34" charset="0"/>
              </a:rPr>
              <a:t>4</a:t>
            </a:r>
            <a:endParaRPr lang="en-US" altLang="es-ES" sz="6000" dirty="0">
              <a:solidFill>
                <a:srgbClr val="0070C0"/>
              </a:solidFill>
              <a:latin typeface="微软雅黑" panose="020B0503020204020204" pitchFamily="34" charset="-122"/>
              <a:ea typeface="微软雅黑" panose="020B0503020204020204" pitchFamily="34" charset="-122"/>
              <a:cs typeface="+mn-lt"/>
              <a:sym typeface="Arial" panose="020B0604020202020204" pitchFamily="34" charset="0"/>
            </a:endParaRPr>
          </a:p>
        </p:txBody>
      </p:sp>
      <p:sp>
        <p:nvSpPr>
          <p:cNvPr id="14" name="TextBox 35"/>
          <p:cNvSpPr txBox="1"/>
          <p:nvPr/>
        </p:nvSpPr>
        <p:spPr>
          <a:xfrm>
            <a:off x="3606800" y="2205355"/>
            <a:ext cx="7380605" cy="829945"/>
          </a:xfrm>
          <a:prstGeom prst="rect">
            <a:avLst/>
          </a:prstGeom>
          <a:noFill/>
        </p:spPr>
        <p:txBody>
          <a:bodyPr wrap="square" rtlCol="0">
            <a:spAutoFit/>
          </a:bodyPr>
          <a:lstStyle/>
          <a:p>
            <a:pPr lvl="0" algn="l">
              <a:lnSpc>
                <a:spcPct val="150000"/>
              </a:lnSpc>
              <a:spcBef>
                <a:spcPts val="0"/>
              </a:spcBef>
              <a:spcAft>
                <a:spcPts val="0"/>
              </a:spcAft>
              <a:buClrTx/>
              <a:buSzTx/>
              <a:buFontTx/>
              <a:defRPr/>
            </a:pP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这种方法就是通过UPDATE语句直接修改mysql.user的数据，需要root用户登录，使用</a:t>
            </a:r>
            <a:r>
              <a:rPr lang="zh-CN" altLang="en-US" sz="1600" dirty="0">
                <a:solidFill>
                  <a:srgbClr val="1369B2"/>
                </a:solidFill>
                <a:latin typeface="微软雅黑" panose="020B0503020204020204" pitchFamily="34" charset="-122"/>
                <a:ea typeface="微软雅黑" panose="020B0503020204020204" pitchFamily="34" charset="-122"/>
                <a:cs typeface="+mn-lt"/>
                <a:sym typeface="+mn-ea"/>
              </a:rPr>
              <a:t>UPDATE</a:t>
            </a: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语句直接修改对应用户的密码，修改密码的基本语法格式如下所示。</a:t>
            </a:r>
            <a:endParaRPr lang="zh-CN" altLang="en-US" sz="1600" dirty="0">
              <a:solidFill>
                <a:srgbClr val="595959"/>
              </a:solidFill>
              <a:latin typeface="微软雅黑" panose="020B0503020204020204" pitchFamily="34" charset="-122"/>
              <a:ea typeface="微软雅黑" panose="020B0503020204020204" pitchFamily="34" charset="-122"/>
              <a:cs typeface="+mn-lt"/>
              <a:sym typeface="+mn-ea"/>
            </a:endParaRPr>
          </a:p>
        </p:txBody>
      </p:sp>
      <p:sp>
        <p:nvSpPr>
          <p:cNvPr id="15" name="文本框 14"/>
          <p:cNvSpPr txBox="1"/>
          <p:nvPr/>
        </p:nvSpPr>
        <p:spPr>
          <a:xfrm>
            <a:off x="3606800" y="1629410"/>
            <a:ext cx="6920230" cy="460375"/>
          </a:xfrm>
          <a:prstGeom prst="rect">
            <a:avLst/>
          </a:prstGeom>
          <a:noFill/>
        </p:spPr>
        <p:txBody>
          <a:bodyPr wrap="square" rtlCol="0">
            <a:spAutoFit/>
          </a:bodyPr>
          <a:lstStyle>
            <a:defPPr>
              <a:defRPr lang="zh-CN"/>
            </a:defPPr>
            <a:lvl1pPr defTabSz="913765">
              <a:defRPr b="1">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defRPr>
            </a:lvl1pPr>
          </a:lstStyle>
          <a:p>
            <a:r>
              <a:rPr lang="zh-CN" altLang="en-US" dirty="0">
                <a:solidFill>
                  <a:srgbClr val="595959"/>
                </a:solidFill>
                <a:sym typeface="+mn-ea"/>
              </a:rPr>
              <a:t>使用UPDATE语句修改用户密码</a:t>
            </a:r>
            <a:endParaRPr lang="zh-CN" altLang="en-US" dirty="0">
              <a:solidFill>
                <a:srgbClr val="595959"/>
              </a:solidFill>
              <a:sym typeface="+mn-ea"/>
            </a:endParaRPr>
          </a:p>
        </p:txBody>
      </p:sp>
      <p:sp>
        <p:nvSpPr>
          <p:cNvPr id="18" name="矩形 17"/>
          <p:cNvSpPr/>
          <p:nvPr/>
        </p:nvSpPr>
        <p:spPr>
          <a:xfrm>
            <a:off x="3718560" y="3154680"/>
            <a:ext cx="7050405" cy="82423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UPDATE mysql.user SET authentication_string=PASSWORD('new_password')</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WHERE User='username' and Host='hostname';</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3" name="TextBox 35"/>
          <p:cNvSpPr txBox="1"/>
          <p:nvPr/>
        </p:nvSpPr>
        <p:spPr>
          <a:xfrm>
            <a:off x="3574415" y="4098290"/>
            <a:ext cx="7359015" cy="1568450"/>
          </a:xfrm>
          <a:prstGeom prst="rect">
            <a:avLst/>
          </a:prstGeom>
          <a:noFill/>
        </p:spPr>
        <p:txBody>
          <a:bodyPr wrap="square" rtlCol="0">
            <a:spAutoFit/>
          </a:bodyPr>
          <a:lstStyle/>
          <a:p>
            <a:pPr lvl="0" algn="l">
              <a:lnSpc>
                <a:spcPct val="150000"/>
              </a:lnSpc>
              <a:spcBef>
                <a:spcPts val="0"/>
              </a:spcBef>
              <a:spcAft>
                <a:spcPts val="0"/>
              </a:spcAft>
              <a:buClrTx/>
              <a:buSzTx/>
              <a:buFontTx/>
              <a:defRPr/>
            </a:pP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上述语法格式中，new_password为新设置的密码，username为要修改的用户名，hostname为对应的主机名。使用这种方法修改密码后，还需使用</a:t>
            </a:r>
            <a:r>
              <a:rPr lang="zh-CN" altLang="en-US" sz="1600" dirty="0">
                <a:solidFill>
                  <a:srgbClr val="1369B2"/>
                </a:solidFill>
                <a:latin typeface="微软雅黑" panose="020B0503020204020204" pitchFamily="34" charset="-122"/>
                <a:ea typeface="微软雅黑" panose="020B0503020204020204" pitchFamily="34" charset="-122"/>
                <a:cs typeface="+mn-lt"/>
                <a:sym typeface="+mn-ea"/>
              </a:rPr>
              <a:t>FLUSH PRIVILEGES</a:t>
            </a: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重新加载权限表。需要注意的是，在MySQL 8.0及后续的版本中已经废弃</a:t>
            </a:r>
            <a:r>
              <a:rPr lang="zh-CN" altLang="en-US" sz="1600" dirty="0">
                <a:solidFill>
                  <a:srgbClr val="1369B2"/>
                </a:solidFill>
                <a:latin typeface="微软雅黑" panose="020B0503020204020204" pitchFamily="34" charset="-122"/>
                <a:ea typeface="微软雅黑" panose="020B0503020204020204" pitchFamily="34" charset="-122"/>
                <a:cs typeface="+mn-lt"/>
                <a:sym typeface="+mn-ea"/>
              </a:rPr>
              <a:t>PASSWORD()</a:t>
            </a:r>
            <a:r>
              <a:rPr lang="zh-CN" altLang="en-US" sz="1600" dirty="0">
                <a:solidFill>
                  <a:srgbClr val="595959"/>
                </a:solidFill>
                <a:latin typeface="微软雅黑" panose="020B0503020204020204" pitchFamily="34" charset="-122"/>
                <a:ea typeface="微软雅黑" panose="020B0503020204020204" pitchFamily="34" charset="-122"/>
                <a:cs typeface="+mn-lt"/>
                <a:sym typeface="+mn-ea"/>
              </a:rPr>
              <a:t>函数，因此，本书也不推荐使用此种方法修改用户密码。</a:t>
            </a:r>
            <a:endParaRPr lang="zh-CN" altLang="en-US" sz="1600" dirty="0">
              <a:solidFill>
                <a:srgbClr val="595959"/>
              </a:solidFill>
              <a:latin typeface="微软雅黑" panose="020B0503020204020204" pitchFamily="34" charset="-122"/>
              <a:ea typeface="微软雅黑" panose="020B0503020204020204" pitchFamily="34" charset="-122"/>
              <a:cs typeface="+mn-lt"/>
              <a:sym typeface="+mn-ea"/>
            </a:endParaRPr>
          </a:p>
        </p:txBody>
      </p:sp>
      <p:sp>
        <p:nvSpPr>
          <p:cNvPr id="7"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9.2.4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修改用户密码</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894840" y="1674495"/>
            <a:ext cx="8715375" cy="3398520"/>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2279015" y="1703705"/>
            <a:ext cx="8114665" cy="1938020"/>
          </a:xfrm>
          <a:prstGeom prst="rect">
            <a:avLst/>
          </a:prstGeom>
          <a:noFill/>
        </p:spPr>
        <p:txBody>
          <a:bodyPr wrap="square" rtlCol="0">
            <a:spAutoFit/>
          </a:bodyPr>
          <a:lstStyle/>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通过案例演示</a:t>
            </a:r>
            <a:r>
              <a:rPr sz="2000" dirty="0" smtClean="0">
                <a:solidFill>
                  <a:srgbClr val="1369B2"/>
                </a:solidFill>
                <a:latin typeface="微软雅黑" panose="020B0503020204020204" pitchFamily="34" charset="-122"/>
                <a:ea typeface="微软雅黑" panose="020B0503020204020204" pitchFamily="34" charset="-122"/>
              </a:rPr>
              <a:t>使用方法1~方法3修改普通用户的密码</a:t>
            </a:r>
            <a:r>
              <a:rPr sz="2000" dirty="0" smtClean="0">
                <a:solidFill>
                  <a:srgbClr val="595959"/>
                </a:solidFill>
                <a:latin typeface="微软雅黑" panose="020B0503020204020204" pitchFamily="34" charset="-122"/>
                <a:ea typeface="微软雅黑" panose="020B0503020204020204" pitchFamily="34" charset="-122"/>
              </a:rPr>
              <a:t>。</a:t>
            </a:r>
            <a:endParaRPr sz="20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endParaRPr sz="20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（1）</a:t>
            </a:r>
            <a:r>
              <a:rPr lang="zh-CN" sz="2000" dirty="0" smtClean="0">
                <a:solidFill>
                  <a:srgbClr val="595959"/>
                </a:solidFill>
                <a:latin typeface="微软雅黑" panose="020B0503020204020204" pitchFamily="34" charset="-122"/>
                <a:ea typeface="微软雅黑" panose="020B0503020204020204" pitchFamily="34" charset="-122"/>
              </a:rPr>
              <a:t>首先</a:t>
            </a:r>
            <a:r>
              <a:rPr sz="2000" dirty="0" smtClean="0">
                <a:solidFill>
                  <a:srgbClr val="595959"/>
                </a:solidFill>
                <a:latin typeface="微软雅黑" panose="020B0503020204020204" pitchFamily="34" charset="-122"/>
                <a:ea typeface="微软雅黑" panose="020B0503020204020204" pitchFamily="34" charset="-122"/>
              </a:rPr>
              <a:t>使用</a:t>
            </a:r>
            <a:r>
              <a:rPr sz="2000" dirty="0" smtClean="0">
                <a:solidFill>
                  <a:srgbClr val="1369B2"/>
                </a:solidFill>
                <a:latin typeface="微软雅黑" panose="020B0503020204020204" pitchFamily="34" charset="-122"/>
                <a:ea typeface="微软雅黑" panose="020B0503020204020204" pitchFamily="34" charset="-122"/>
              </a:rPr>
              <a:t>root用户</a:t>
            </a:r>
            <a:r>
              <a:rPr sz="2000" dirty="0" smtClean="0">
                <a:solidFill>
                  <a:srgbClr val="595959"/>
                </a:solidFill>
                <a:latin typeface="微软雅黑" panose="020B0503020204020204" pitchFamily="34" charset="-122"/>
                <a:ea typeface="微软雅黑" panose="020B0503020204020204" pitchFamily="34" charset="-122"/>
              </a:rPr>
              <a:t>连接数据库后创建普通用户ems_test，创建用户的具体SQL语句如下所示。</a:t>
            </a:r>
            <a:endParaRPr sz="2000" dirty="0" smtClean="0">
              <a:solidFill>
                <a:srgbClr val="595959"/>
              </a:solidFill>
              <a:latin typeface="微软雅黑" panose="020B0503020204020204" pitchFamily="34" charset="-122"/>
              <a:ea typeface="微软雅黑" panose="020B0503020204020204" pitchFamily="34" charset="-122"/>
            </a:endParaRPr>
          </a:p>
        </p:txBody>
      </p:sp>
      <p:sp>
        <p:nvSpPr>
          <p:cNvPr id="3"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9.2.4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修改用户密码</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2279650" y="3796030"/>
            <a:ext cx="7964805" cy="5937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8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CREATE USER 'ems_test'@'localhost' IDENTIFIED BY '123';</a:t>
            </a:r>
            <a:endParaRPr lang="zh-CN" altLang="en-US" sz="18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558925" y="1475105"/>
            <a:ext cx="9500235" cy="484060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600"/>
          </a:p>
        </p:txBody>
      </p:sp>
      <p:sp>
        <p:nvSpPr>
          <p:cNvPr id="3" name="文本框 2"/>
          <p:cNvSpPr txBox="1"/>
          <p:nvPr/>
        </p:nvSpPr>
        <p:spPr>
          <a:xfrm>
            <a:off x="1846580" y="1588135"/>
            <a:ext cx="8994140" cy="460375"/>
          </a:xfrm>
          <a:prstGeom prst="rect">
            <a:avLst/>
          </a:prstGeom>
          <a:noFill/>
        </p:spPr>
        <p:txBody>
          <a:bodyPr wrap="square" rtlCol="0">
            <a:spAutoFit/>
          </a:bodyPr>
          <a:lstStyle/>
          <a:p>
            <a:pPr algn="l">
              <a:lnSpc>
                <a:spcPct val="150000"/>
              </a:lnSpc>
            </a:pPr>
            <a:r>
              <a:rPr sz="1600" dirty="0" smtClean="0">
                <a:solidFill>
                  <a:srgbClr val="595959"/>
                </a:solidFill>
                <a:latin typeface="微软雅黑" panose="020B0503020204020204" pitchFamily="34" charset="-122"/>
                <a:ea typeface="微软雅黑" panose="020B0503020204020204" pitchFamily="34" charset="-122"/>
              </a:rPr>
              <a:t>（2）使用</a:t>
            </a:r>
            <a:r>
              <a:rPr sz="1600" dirty="0" smtClean="0">
                <a:solidFill>
                  <a:srgbClr val="1369B2"/>
                </a:solidFill>
                <a:latin typeface="微软雅黑" panose="020B0503020204020204" pitchFamily="34" charset="-122"/>
                <a:ea typeface="微软雅黑" panose="020B0503020204020204" pitchFamily="34" charset="-122"/>
              </a:rPr>
              <a:t>mysqladmin命令</a:t>
            </a:r>
            <a:r>
              <a:rPr sz="1600" dirty="0" smtClean="0">
                <a:solidFill>
                  <a:srgbClr val="595959"/>
                </a:solidFill>
                <a:latin typeface="微软雅黑" panose="020B0503020204020204" pitchFamily="34" charset="-122"/>
                <a:ea typeface="微软雅黑" panose="020B0503020204020204" pitchFamily="34" charset="-122"/>
              </a:rPr>
              <a:t>修改ems_test用户密码，具体SQL语句如下所示。</a:t>
            </a:r>
            <a:endParaRPr sz="1600" dirty="0" smtClean="0">
              <a:solidFill>
                <a:srgbClr val="595959"/>
              </a:solidFill>
              <a:latin typeface="微软雅黑" panose="020B0503020204020204" pitchFamily="34" charset="-122"/>
              <a:ea typeface="微软雅黑" panose="020B0503020204020204" pitchFamily="34" charset="-122"/>
            </a:endParaRPr>
          </a:p>
        </p:txBody>
      </p:sp>
      <p:sp>
        <p:nvSpPr>
          <p:cNvPr id="4" name="矩形 3"/>
          <p:cNvSpPr/>
          <p:nvPr/>
        </p:nvSpPr>
        <p:spPr>
          <a:xfrm>
            <a:off x="1990725" y="2139950"/>
            <a:ext cx="8557260" cy="57277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D:\mysql-8.0.23-winx64\bin&gt;mysqladmin -u ems_test -p password 456</a:t>
            </a:r>
            <a:endParaRPr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8" name="文本框 7"/>
          <p:cNvSpPr txBox="1"/>
          <p:nvPr/>
        </p:nvSpPr>
        <p:spPr>
          <a:xfrm>
            <a:off x="1990725" y="3036570"/>
            <a:ext cx="8994140" cy="829945"/>
          </a:xfrm>
          <a:prstGeom prst="rect">
            <a:avLst/>
          </a:prstGeom>
          <a:noFill/>
        </p:spPr>
        <p:txBody>
          <a:bodyPr wrap="square" rtlCol="0">
            <a:spAutoFit/>
          </a:bodyPr>
          <a:lstStyle/>
          <a:p>
            <a:pPr algn="l">
              <a:lnSpc>
                <a:spcPct val="150000"/>
              </a:lnSpc>
            </a:pPr>
            <a:r>
              <a:rPr sz="1600" dirty="0" smtClean="0">
                <a:solidFill>
                  <a:srgbClr val="595959"/>
                </a:solidFill>
                <a:latin typeface="微软雅黑" panose="020B0503020204020204" pitchFamily="34" charset="-122"/>
                <a:ea typeface="微软雅黑" panose="020B0503020204020204" pitchFamily="34" charset="-122"/>
              </a:rPr>
              <a:t>（3）使用</a:t>
            </a:r>
            <a:r>
              <a:rPr sz="1600" dirty="0" smtClean="0">
                <a:solidFill>
                  <a:srgbClr val="1369B2"/>
                </a:solidFill>
                <a:latin typeface="微软雅黑" panose="020B0503020204020204" pitchFamily="34" charset="-122"/>
                <a:ea typeface="微软雅黑" panose="020B0503020204020204" pitchFamily="34" charset="-122"/>
              </a:rPr>
              <a:t>ALTER USER语句</a:t>
            </a:r>
            <a:r>
              <a:rPr sz="1600" dirty="0" smtClean="0">
                <a:solidFill>
                  <a:srgbClr val="595959"/>
                </a:solidFill>
                <a:latin typeface="微软雅黑" panose="020B0503020204020204" pitchFamily="34" charset="-122"/>
                <a:ea typeface="微软雅黑" panose="020B0503020204020204" pitchFamily="34" charset="-122"/>
              </a:rPr>
              <a:t>修改用户ems_test的密码，修改之前需要先登录root账户，登陆后执行的SQL语句如下所示。</a:t>
            </a:r>
            <a:endParaRPr sz="1600" dirty="0" smtClean="0">
              <a:solidFill>
                <a:srgbClr val="595959"/>
              </a:solidFill>
              <a:latin typeface="微软雅黑" panose="020B0503020204020204" pitchFamily="34" charset="-122"/>
              <a:ea typeface="微软雅黑" panose="020B0503020204020204" pitchFamily="34" charset="-122"/>
            </a:endParaRPr>
          </a:p>
        </p:txBody>
      </p:sp>
      <p:sp>
        <p:nvSpPr>
          <p:cNvPr id="10"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9.2.4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修改用户密码</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矩形 6"/>
          <p:cNvSpPr/>
          <p:nvPr/>
        </p:nvSpPr>
        <p:spPr>
          <a:xfrm>
            <a:off x="1990725" y="3939540"/>
            <a:ext cx="8557260" cy="47371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ALTER USER 'ems_test'@'localhost' IDENTIFIED BY '789';</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9" name="文本框 8"/>
          <p:cNvSpPr txBox="1"/>
          <p:nvPr/>
        </p:nvSpPr>
        <p:spPr>
          <a:xfrm>
            <a:off x="1846580" y="4601845"/>
            <a:ext cx="8994140" cy="829945"/>
          </a:xfrm>
          <a:prstGeom prst="rect">
            <a:avLst/>
          </a:prstGeom>
          <a:noFill/>
        </p:spPr>
        <p:txBody>
          <a:bodyPr wrap="square" rtlCol="0">
            <a:spAutoFit/>
          </a:bodyPr>
          <a:lstStyle/>
          <a:p>
            <a:pPr algn="l">
              <a:lnSpc>
                <a:spcPct val="150000"/>
              </a:lnSpc>
            </a:pPr>
            <a:r>
              <a:rPr sz="1600" dirty="0" smtClean="0">
                <a:solidFill>
                  <a:srgbClr val="595959"/>
                </a:solidFill>
                <a:latin typeface="微软雅黑" panose="020B0503020204020204" pitchFamily="34" charset="-122"/>
                <a:ea typeface="微软雅黑" panose="020B0503020204020204" pitchFamily="34" charset="-122"/>
              </a:rPr>
              <a:t>（4）使用</a:t>
            </a:r>
            <a:r>
              <a:rPr sz="1600" dirty="0" smtClean="0">
                <a:solidFill>
                  <a:srgbClr val="1369B2"/>
                </a:solidFill>
                <a:latin typeface="微软雅黑" panose="020B0503020204020204" pitchFamily="34" charset="-122"/>
                <a:ea typeface="微软雅黑" panose="020B0503020204020204" pitchFamily="34" charset="-122"/>
              </a:rPr>
              <a:t>SET语句</a:t>
            </a:r>
            <a:r>
              <a:rPr sz="1600" dirty="0" smtClean="0">
                <a:solidFill>
                  <a:srgbClr val="595959"/>
                </a:solidFill>
                <a:latin typeface="微软雅黑" panose="020B0503020204020204" pitchFamily="34" charset="-122"/>
                <a:ea typeface="微软雅黑" panose="020B0503020204020204" pitchFamily="34" charset="-122"/>
              </a:rPr>
              <a:t>对用户密码进行修改。例如，修改ems_test用户的登录密码，具体SQL语句如下所示。</a:t>
            </a:r>
            <a:endParaRPr sz="1600" dirty="0" smtClean="0">
              <a:solidFill>
                <a:srgbClr val="595959"/>
              </a:solidFill>
              <a:latin typeface="微软雅黑" panose="020B0503020204020204" pitchFamily="34" charset="-122"/>
              <a:ea typeface="微软雅黑" panose="020B0503020204020204" pitchFamily="34" charset="-122"/>
            </a:endParaRPr>
          </a:p>
        </p:txBody>
      </p:sp>
      <p:sp>
        <p:nvSpPr>
          <p:cNvPr id="11" name="矩形 10"/>
          <p:cNvSpPr/>
          <p:nvPr/>
        </p:nvSpPr>
        <p:spPr>
          <a:xfrm>
            <a:off x="1990725" y="5482590"/>
            <a:ext cx="8557260" cy="5022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SET PASSWORD='8910';</a:t>
            </a:r>
            <a:endParaRPr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1"/>
          <p:cNvSpPr txBox="1"/>
          <p:nvPr/>
        </p:nvSpPr>
        <p:spPr>
          <a:xfrm>
            <a:off x="1145452" y="268062"/>
            <a:ext cx="3894025" cy="505890"/>
          </a:xfrm>
          <a:prstGeom prst="rect">
            <a:avLst/>
          </a:prstGeom>
        </p:spPr>
        <p:txBody>
          <a:bodyPr lIns="0" tIns="60934" rIns="0" bIns="6093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多学一招</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圆角矩形标注 2"/>
          <p:cNvSpPr/>
          <p:nvPr/>
        </p:nvSpPr>
        <p:spPr>
          <a:xfrm>
            <a:off x="2259330" y="2063115"/>
            <a:ext cx="8159750" cy="2532380"/>
          </a:xfrm>
          <a:prstGeom prst="wedgeRoundRectCallou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2693035" y="2279015"/>
            <a:ext cx="7369810" cy="1938020"/>
          </a:xfrm>
          <a:prstGeom prst="rect">
            <a:avLst/>
          </a:prstGeom>
          <a:noFill/>
        </p:spPr>
        <p:txBody>
          <a:bodyPr wrap="square" rtlCol="0">
            <a:spAutoFit/>
          </a:bodyPr>
          <a:lstStyle/>
          <a:p>
            <a:pPr algn="l">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root用户是超级管理员，拥有很多的权限，如果root用户的密码一旦丢失，就会造成很大的麻烦，针对这种情况，MySQL提供了对应的处理机制，可以</a:t>
            </a:r>
            <a:r>
              <a:rPr lang="zh-CN" altLang="en-US" sz="2000" dirty="0" smtClean="0">
                <a:solidFill>
                  <a:srgbClr val="1369B2"/>
                </a:solidFill>
                <a:latin typeface="微软雅黑" panose="020B0503020204020204" pitchFamily="34" charset="-122"/>
                <a:ea typeface="微软雅黑" panose="020B0503020204020204" pitchFamily="34" charset="-122"/>
              </a:rPr>
              <a:t>通过特殊方法登录到MySQL服务器，然后重新为root用户设置密码</a:t>
            </a:r>
            <a:r>
              <a:rPr lang="zh-CN" altLang="en-US" sz="2000" dirty="0" smtClean="0">
                <a:solidFill>
                  <a:srgbClr val="595959"/>
                </a:solidFill>
                <a:latin typeface="微软雅黑" panose="020B0503020204020204" pitchFamily="34" charset="-122"/>
                <a:ea typeface="微软雅黑" panose="020B0503020204020204" pitchFamily="34" charset="-122"/>
              </a:rPr>
              <a:t>，具体步骤如下。</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1"/>
          <p:cNvSpPr txBox="1"/>
          <p:nvPr/>
        </p:nvSpPr>
        <p:spPr>
          <a:xfrm>
            <a:off x="1145452" y="268062"/>
            <a:ext cx="3894025" cy="505890"/>
          </a:xfrm>
          <a:prstGeom prst="rect">
            <a:avLst/>
          </a:prstGeom>
        </p:spPr>
        <p:txBody>
          <a:bodyPr lIns="0" tIns="60934" rIns="0" bIns="6093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多学一招</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圆角矩形标注 2"/>
          <p:cNvSpPr/>
          <p:nvPr/>
        </p:nvSpPr>
        <p:spPr>
          <a:xfrm>
            <a:off x="1434465" y="1590040"/>
            <a:ext cx="9569450" cy="3854450"/>
          </a:xfrm>
          <a:prstGeom prst="wedgeRoundRectCallou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1630680" y="1691640"/>
            <a:ext cx="8591550" cy="829945"/>
          </a:xfrm>
          <a:prstGeom prst="rect">
            <a:avLst/>
          </a:prstGeom>
          <a:noFill/>
        </p:spPr>
        <p:txBody>
          <a:bodyPr wrap="square" rtlCol="0">
            <a:spAutoFit/>
          </a:bodyPr>
          <a:lstStyle/>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(1)</a:t>
            </a:r>
            <a:r>
              <a:rPr lang="zh-CN" altLang="en-US" sz="1600" dirty="0" smtClean="0">
                <a:solidFill>
                  <a:srgbClr val="1369B2"/>
                </a:solidFill>
                <a:latin typeface="微软雅黑" panose="020B0503020204020204" pitchFamily="34" charset="-122"/>
                <a:ea typeface="微软雅黑" panose="020B0503020204020204" pitchFamily="34" charset="-122"/>
              </a:rPr>
              <a:t>停止MySQL服务</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打开命令行窗口，在窗口中使用</a:t>
            </a:r>
            <a:r>
              <a:rPr lang="zh-CN" altLang="en-US" sz="1600" dirty="0" smtClean="0">
                <a:solidFill>
                  <a:srgbClr val="1369B2"/>
                </a:solidFill>
                <a:latin typeface="微软雅黑" panose="020B0503020204020204" pitchFamily="34" charset="-122"/>
                <a:ea typeface="微软雅黑" panose="020B0503020204020204" pitchFamily="34" charset="-122"/>
              </a:rPr>
              <a:t>net</a:t>
            </a:r>
            <a:r>
              <a:rPr lang="zh-CN" altLang="en-US" sz="1600" dirty="0" smtClean="0">
                <a:solidFill>
                  <a:srgbClr val="595959"/>
                </a:solidFill>
                <a:latin typeface="微软雅黑" panose="020B0503020204020204" pitchFamily="34" charset="-122"/>
                <a:ea typeface="微软雅黑" panose="020B0503020204020204" pitchFamily="34" charset="-122"/>
              </a:rPr>
              <a:t>命令停止MySQL服务，具体命令如下。</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
        <p:nvSpPr>
          <p:cNvPr id="8" name="矩形 7"/>
          <p:cNvSpPr/>
          <p:nvPr/>
        </p:nvSpPr>
        <p:spPr>
          <a:xfrm>
            <a:off x="1728470" y="2521585"/>
            <a:ext cx="6219190" cy="27051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net stop MySQL80</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5" name="文本框 4"/>
          <p:cNvSpPr txBox="1"/>
          <p:nvPr/>
        </p:nvSpPr>
        <p:spPr>
          <a:xfrm>
            <a:off x="1630680" y="2804795"/>
            <a:ext cx="9180830" cy="1568450"/>
          </a:xfrm>
          <a:prstGeom prst="rect">
            <a:avLst/>
          </a:prstGeom>
          <a:noFill/>
        </p:spPr>
        <p:txBody>
          <a:bodyPr wrap="square" rtlCol="0">
            <a:spAutoFit/>
          </a:bodyPr>
          <a:lstStyle/>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上述语句中的MySQL是MySQL服务的名称，读者可以根据自己安装MySQL定义的服务名称停止服务。</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(2)</a:t>
            </a:r>
            <a:r>
              <a:rPr lang="zh-CN" altLang="en-US" sz="1600" dirty="0" smtClean="0">
                <a:solidFill>
                  <a:srgbClr val="1369B2"/>
                </a:solidFill>
                <a:latin typeface="微软雅黑" panose="020B0503020204020204" pitchFamily="34" charset="-122"/>
                <a:ea typeface="微软雅黑" panose="020B0503020204020204" pitchFamily="34" charset="-122"/>
              </a:rPr>
              <a:t>使用--skip-grant-tables登录MySQL服务</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MySQL服务器中有一个</a:t>
            </a:r>
            <a:r>
              <a:rPr lang="zh-CN" altLang="en-US" sz="1600" dirty="0" smtClean="0">
                <a:solidFill>
                  <a:srgbClr val="1369B2"/>
                </a:solidFill>
                <a:latin typeface="微软雅黑" panose="020B0503020204020204" pitchFamily="34" charset="-122"/>
                <a:ea typeface="微软雅黑" panose="020B0503020204020204" pitchFamily="34" charset="-122"/>
              </a:rPr>
              <a:t>--skip-grant-tables</a:t>
            </a:r>
            <a:r>
              <a:rPr lang="zh-CN" altLang="en-US" sz="1600" dirty="0" smtClean="0">
                <a:solidFill>
                  <a:srgbClr val="595959"/>
                </a:solidFill>
                <a:latin typeface="微软雅黑" panose="020B0503020204020204" pitchFamily="34" charset="-122"/>
                <a:ea typeface="微软雅黑" panose="020B0503020204020204" pitchFamily="34" charset="-122"/>
              </a:rPr>
              <a:t>选项，它可以停止MySQL的权限判断，也就是可以跳过密码的输入访问数据库，在命令行窗口中执行如下命令。</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
        <p:nvSpPr>
          <p:cNvPr id="6" name="矩形 5"/>
          <p:cNvSpPr/>
          <p:nvPr/>
        </p:nvSpPr>
        <p:spPr>
          <a:xfrm>
            <a:off x="1700530" y="4451350"/>
            <a:ext cx="6219190" cy="27051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mysqld --shared-memory --skip-grant-tables</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7" name="文本框 6"/>
          <p:cNvSpPr txBox="1"/>
          <p:nvPr/>
        </p:nvSpPr>
        <p:spPr>
          <a:xfrm>
            <a:off x="1630680" y="4799965"/>
            <a:ext cx="8060055" cy="460375"/>
          </a:xfrm>
          <a:prstGeom prst="rect">
            <a:avLst/>
          </a:prstGeom>
          <a:noFill/>
        </p:spPr>
        <p:txBody>
          <a:bodyPr wrap="square" rtlCol="0">
            <a:spAutoFit/>
          </a:bodyPr>
          <a:lstStyle/>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执行完上述命令后，命令行窗口会进入</a:t>
            </a:r>
            <a:r>
              <a:rPr lang="zh-CN" altLang="en-US" sz="1600" dirty="0" smtClean="0">
                <a:solidFill>
                  <a:srgbClr val="1369B2"/>
                </a:solidFill>
                <a:latin typeface="微软雅黑" panose="020B0503020204020204" pitchFamily="34" charset="-122"/>
                <a:ea typeface="微软雅黑" panose="020B0503020204020204" pitchFamily="34" charset="-122"/>
              </a:rPr>
              <a:t>类似阻塞</a:t>
            </a:r>
            <a:r>
              <a:rPr lang="zh-CN" altLang="en-US" sz="1600" dirty="0" smtClean="0">
                <a:solidFill>
                  <a:srgbClr val="595959"/>
                </a:solidFill>
                <a:latin typeface="微软雅黑" panose="020B0503020204020204" pitchFamily="34" charset="-122"/>
                <a:ea typeface="微软雅黑" panose="020B0503020204020204" pitchFamily="34" charset="-122"/>
              </a:rPr>
              <a:t>的状态，此时不要关闭命令行窗口。</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1"/>
          <p:cNvSpPr txBox="1"/>
          <p:nvPr/>
        </p:nvSpPr>
        <p:spPr>
          <a:xfrm>
            <a:off x="1145452" y="268062"/>
            <a:ext cx="3894025" cy="505890"/>
          </a:xfrm>
          <a:prstGeom prst="rect">
            <a:avLst/>
          </a:prstGeom>
        </p:spPr>
        <p:txBody>
          <a:bodyPr lIns="0" tIns="60934" rIns="0" bIns="6093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多学一招</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圆角矩形标注 2"/>
          <p:cNvSpPr/>
          <p:nvPr/>
        </p:nvSpPr>
        <p:spPr>
          <a:xfrm>
            <a:off x="2259330" y="1304290"/>
            <a:ext cx="8159750" cy="4723765"/>
          </a:xfrm>
          <a:prstGeom prst="wedgeRoundRectCallou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2638425" y="1343660"/>
            <a:ext cx="7576185" cy="829945"/>
          </a:xfrm>
          <a:prstGeom prst="rect">
            <a:avLst/>
          </a:prstGeom>
          <a:noFill/>
        </p:spPr>
        <p:txBody>
          <a:bodyPr wrap="square" rtlCol="0">
            <a:spAutoFit/>
          </a:bodyPr>
          <a:lstStyle/>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(3)</a:t>
            </a:r>
            <a:r>
              <a:rPr lang="zh-CN" altLang="en-US" sz="1600" dirty="0" smtClean="0">
                <a:solidFill>
                  <a:srgbClr val="1369B2"/>
                </a:solidFill>
                <a:latin typeface="微软雅黑" panose="020B0503020204020204" pitchFamily="34" charset="-122"/>
                <a:ea typeface="微软雅黑" panose="020B0503020204020204" pitchFamily="34" charset="-122"/>
              </a:rPr>
              <a:t>登录MySQL服务器</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lang="zh-CN" altLang="en-US" sz="1600" dirty="0" smtClean="0">
                <a:solidFill>
                  <a:srgbClr val="1369B2"/>
                </a:solidFill>
                <a:latin typeface="微软雅黑" panose="020B0503020204020204" pitchFamily="34" charset="-122"/>
                <a:ea typeface="微软雅黑" panose="020B0503020204020204" pitchFamily="34" charset="-122"/>
              </a:rPr>
              <a:t>重新打开一个命令行窗口</a:t>
            </a:r>
            <a:r>
              <a:rPr lang="zh-CN" altLang="en-US" sz="1600" dirty="0" smtClean="0">
                <a:solidFill>
                  <a:srgbClr val="595959"/>
                </a:solidFill>
                <a:latin typeface="微软雅黑" panose="020B0503020204020204" pitchFamily="34" charset="-122"/>
                <a:ea typeface="微软雅黑" panose="020B0503020204020204" pitchFamily="34" charset="-122"/>
              </a:rPr>
              <a:t>，在新打开的窗口中登录MySQL服务器，具体命令如下。</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
        <p:nvSpPr>
          <p:cNvPr id="8" name="矩形 7"/>
          <p:cNvSpPr/>
          <p:nvPr/>
        </p:nvSpPr>
        <p:spPr>
          <a:xfrm>
            <a:off x="2710815" y="2207895"/>
            <a:ext cx="6219190" cy="27051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mysql -u root</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5" name="文本框 4"/>
          <p:cNvSpPr txBox="1"/>
          <p:nvPr/>
        </p:nvSpPr>
        <p:spPr>
          <a:xfrm>
            <a:off x="2654300" y="2618740"/>
            <a:ext cx="7369810" cy="829945"/>
          </a:xfrm>
          <a:prstGeom prst="rect">
            <a:avLst/>
          </a:prstGeom>
          <a:noFill/>
        </p:spPr>
        <p:txBody>
          <a:bodyPr wrap="square" rtlCol="0">
            <a:spAutoFit/>
          </a:bodyPr>
          <a:lstStyle/>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(4)</a:t>
            </a:r>
            <a:r>
              <a:rPr lang="zh-CN" altLang="en-US" sz="1600" dirty="0" smtClean="0">
                <a:solidFill>
                  <a:srgbClr val="1369B2"/>
                </a:solidFill>
                <a:latin typeface="微软雅黑" panose="020B0503020204020204" pitchFamily="34" charset="-122"/>
                <a:ea typeface="微软雅黑" panose="020B0503020204020204" pitchFamily="34" charset="-122"/>
              </a:rPr>
              <a:t>加载权限表</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免密登录后，使用命令</a:t>
            </a:r>
            <a:r>
              <a:rPr lang="zh-CN" altLang="en-US" sz="1600" dirty="0" smtClean="0">
                <a:solidFill>
                  <a:srgbClr val="1369B2"/>
                </a:solidFill>
                <a:latin typeface="微软雅黑" panose="020B0503020204020204" pitchFamily="34" charset="-122"/>
                <a:ea typeface="微软雅黑" panose="020B0503020204020204" pitchFamily="34" charset="-122"/>
              </a:rPr>
              <a:t>重新加载权限表</a:t>
            </a:r>
            <a:r>
              <a:rPr lang="zh-CN" altLang="en-US" sz="1600" dirty="0" smtClean="0">
                <a:solidFill>
                  <a:srgbClr val="595959"/>
                </a:solidFill>
                <a:latin typeface="微软雅黑" panose="020B0503020204020204" pitchFamily="34" charset="-122"/>
                <a:ea typeface="微软雅黑" panose="020B0503020204020204" pitchFamily="34" charset="-122"/>
              </a:rPr>
              <a:t>，具体语句如下。</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
        <p:nvSpPr>
          <p:cNvPr id="6" name="矩形 5"/>
          <p:cNvSpPr/>
          <p:nvPr/>
        </p:nvSpPr>
        <p:spPr>
          <a:xfrm>
            <a:off x="2710815" y="3495040"/>
            <a:ext cx="6219190" cy="27051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FLUSH PRIVILEGES;</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7" name="文本框 6"/>
          <p:cNvSpPr txBox="1"/>
          <p:nvPr/>
        </p:nvSpPr>
        <p:spPr>
          <a:xfrm>
            <a:off x="2710815" y="3955415"/>
            <a:ext cx="7369810" cy="829945"/>
          </a:xfrm>
          <a:prstGeom prst="rect">
            <a:avLst/>
          </a:prstGeom>
          <a:noFill/>
        </p:spPr>
        <p:txBody>
          <a:bodyPr wrap="square" rtlCol="0">
            <a:spAutoFit/>
          </a:bodyPr>
          <a:lstStyle/>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(5)</a:t>
            </a:r>
            <a:r>
              <a:rPr lang="zh-CN" altLang="en-US" sz="1600" dirty="0" smtClean="0">
                <a:solidFill>
                  <a:srgbClr val="1369B2"/>
                </a:solidFill>
                <a:latin typeface="微软雅黑" panose="020B0503020204020204" pitchFamily="34" charset="-122"/>
                <a:ea typeface="微软雅黑" panose="020B0503020204020204" pitchFamily="34" charset="-122"/>
              </a:rPr>
              <a:t>使用ALTER USER语句设置root用户密码</a:t>
            </a:r>
            <a:endParaRPr lang="zh-CN" altLang="en-US" sz="1600" dirty="0" smtClean="0">
              <a:solidFill>
                <a:srgbClr val="1369B2"/>
              </a:solidFill>
              <a:latin typeface="微软雅黑" panose="020B0503020204020204" pitchFamily="34" charset="-122"/>
              <a:ea typeface="微软雅黑" panose="020B0503020204020204" pitchFamily="34" charset="-122"/>
            </a:endParaRPr>
          </a:p>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可以通过</a:t>
            </a:r>
            <a:r>
              <a:rPr lang="zh-CN" altLang="en-US" sz="1600" dirty="0" smtClean="0">
                <a:solidFill>
                  <a:srgbClr val="1369B2"/>
                </a:solidFill>
                <a:latin typeface="微软雅黑" panose="020B0503020204020204" pitchFamily="34" charset="-122"/>
                <a:ea typeface="微软雅黑" panose="020B0503020204020204" pitchFamily="34" charset="-122"/>
              </a:rPr>
              <a:t>ALTER USER</a:t>
            </a:r>
            <a:r>
              <a:rPr lang="zh-CN" altLang="en-US" sz="1600" dirty="0" smtClean="0">
                <a:solidFill>
                  <a:srgbClr val="595959"/>
                </a:solidFill>
                <a:latin typeface="微软雅黑" panose="020B0503020204020204" pitchFamily="34" charset="-122"/>
                <a:ea typeface="微软雅黑" panose="020B0503020204020204" pitchFamily="34" charset="-122"/>
              </a:rPr>
              <a:t>语句设置root用户的密码，具体语句如下。 </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
        <p:nvSpPr>
          <p:cNvPr id="10" name="矩形 9"/>
          <p:cNvSpPr/>
          <p:nvPr/>
        </p:nvSpPr>
        <p:spPr>
          <a:xfrm>
            <a:off x="2710815" y="4789170"/>
            <a:ext cx="6219190" cy="27051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ALTER USER 'root'@'localhost' IDENTIFIED BY '123456';</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1" name="文本框 10"/>
          <p:cNvSpPr txBox="1"/>
          <p:nvPr/>
        </p:nvSpPr>
        <p:spPr>
          <a:xfrm>
            <a:off x="2654300" y="5163185"/>
            <a:ext cx="7369810" cy="460375"/>
          </a:xfrm>
          <a:prstGeom prst="rect">
            <a:avLst/>
          </a:prstGeom>
          <a:noFill/>
        </p:spPr>
        <p:txBody>
          <a:bodyPr wrap="square" rtlCol="0">
            <a:spAutoFit/>
          </a:bodyPr>
          <a:lstStyle/>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上述步骤执行完，可以使用EXIT或\q命令退出服务器。</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1"/>
          <p:cNvSpPr txBox="1"/>
          <p:nvPr/>
        </p:nvSpPr>
        <p:spPr>
          <a:xfrm>
            <a:off x="1145452" y="268062"/>
            <a:ext cx="3894025" cy="505890"/>
          </a:xfrm>
          <a:prstGeom prst="rect">
            <a:avLst/>
          </a:prstGeom>
        </p:spPr>
        <p:txBody>
          <a:bodyPr lIns="0" tIns="60934" rIns="0" bIns="6093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多学一招</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圆角矩形标注 2"/>
          <p:cNvSpPr/>
          <p:nvPr/>
        </p:nvSpPr>
        <p:spPr>
          <a:xfrm>
            <a:off x="2259330" y="2232660"/>
            <a:ext cx="8159750" cy="3289935"/>
          </a:xfrm>
          <a:prstGeom prst="wedgeRoundRectCallou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5" name="文本框 4"/>
          <p:cNvSpPr txBox="1"/>
          <p:nvPr/>
        </p:nvSpPr>
        <p:spPr>
          <a:xfrm>
            <a:off x="2782570" y="2709545"/>
            <a:ext cx="7369810" cy="1198880"/>
          </a:xfrm>
          <a:prstGeom prst="rect">
            <a:avLst/>
          </a:prstGeom>
          <a:noFill/>
        </p:spPr>
        <p:txBody>
          <a:bodyPr wrap="square" rtlCol="0">
            <a:spAutoFit/>
          </a:bodyPr>
          <a:lstStyle/>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(6)</a:t>
            </a:r>
            <a:r>
              <a:rPr lang="zh-CN" altLang="en-US" sz="1600" dirty="0" smtClean="0">
                <a:solidFill>
                  <a:srgbClr val="1369B2"/>
                </a:solidFill>
                <a:latin typeface="微软雅黑" panose="020B0503020204020204" pitchFamily="34" charset="-122"/>
                <a:ea typeface="微软雅黑" panose="020B0503020204020204" pitchFamily="34" charset="-122"/>
              </a:rPr>
              <a:t>启动MySQL服务</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关闭刚才打开的2个命令行窗口，</a:t>
            </a:r>
            <a:r>
              <a:rPr lang="zh-CN" altLang="en-US" sz="1600" dirty="0" smtClean="0">
                <a:solidFill>
                  <a:srgbClr val="1369B2"/>
                </a:solidFill>
                <a:latin typeface="微软雅黑" panose="020B0503020204020204" pitchFamily="34" charset="-122"/>
                <a:ea typeface="微软雅黑" panose="020B0503020204020204" pitchFamily="34" charset="-122"/>
              </a:rPr>
              <a:t>重新打开一个命令行窗口</a:t>
            </a:r>
            <a:r>
              <a:rPr lang="zh-CN" altLang="en-US" sz="1600" dirty="0" smtClean="0">
                <a:solidFill>
                  <a:srgbClr val="595959"/>
                </a:solidFill>
                <a:latin typeface="微软雅黑" panose="020B0503020204020204" pitchFamily="34" charset="-122"/>
                <a:ea typeface="微软雅黑" panose="020B0503020204020204" pitchFamily="34" charset="-122"/>
              </a:rPr>
              <a:t>，在窗口中使用</a:t>
            </a:r>
            <a:r>
              <a:rPr lang="zh-CN" altLang="en-US" sz="1600" dirty="0" smtClean="0">
                <a:solidFill>
                  <a:srgbClr val="1369B2"/>
                </a:solidFill>
                <a:latin typeface="微软雅黑" panose="020B0503020204020204" pitchFamily="34" charset="-122"/>
                <a:ea typeface="微软雅黑" panose="020B0503020204020204" pitchFamily="34" charset="-122"/>
              </a:rPr>
              <a:t>net</a:t>
            </a:r>
            <a:r>
              <a:rPr lang="zh-CN" altLang="en-US" sz="1600" dirty="0" smtClean="0">
                <a:solidFill>
                  <a:srgbClr val="595959"/>
                </a:solidFill>
                <a:latin typeface="微软雅黑" panose="020B0503020204020204" pitchFamily="34" charset="-122"/>
                <a:ea typeface="微软雅黑" panose="020B0503020204020204" pitchFamily="34" charset="-122"/>
              </a:rPr>
              <a:t>命令启动MySQL服务，具体命令如下。</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
        <p:nvSpPr>
          <p:cNvPr id="6" name="矩形 5"/>
          <p:cNvSpPr/>
          <p:nvPr/>
        </p:nvSpPr>
        <p:spPr>
          <a:xfrm>
            <a:off x="2854325" y="4152265"/>
            <a:ext cx="6219190" cy="27051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net start MySQL80</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7" name="文本框 6"/>
          <p:cNvSpPr txBox="1"/>
          <p:nvPr/>
        </p:nvSpPr>
        <p:spPr>
          <a:xfrm>
            <a:off x="2854325" y="4512310"/>
            <a:ext cx="7369810" cy="829945"/>
          </a:xfrm>
          <a:prstGeom prst="rect">
            <a:avLst/>
          </a:prstGeom>
          <a:noFill/>
        </p:spPr>
        <p:txBody>
          <a:bodyPr wrap="square" rtlCol="0">
            <a:spAutoFit/>
          </a:bodyPr>
          <a:lstStyle/>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rPr>
              <a:t>启动MySQL服务后，可以使用root用户的新密码进行登录。至此，便完成了root用户的密码设置。 </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29945"/>
          </a:xfrm>
          <a:prstGeom prst="rect">
            <a:avLst/>
          </a:prstGeom>
          <a:noFill/>
        </p:spPr>
        <p:txBody>
          <a:bodyPr wrap="square" lIns="91443" tIns="45720" rIns="91443" bIns="45720" rtlCol="0">
            <a:spAutoFit/>
          </a:bodyPr>
          <a:lstStyle/>
          <a:p>
            <a:r>
              <a:rPr lang="zh-CN" altLang="en-GB" sz="4800" b="1" dirty="0">
                <a:solidFill>
                  <a:srgbClr val="1369B2"/>
                </a:solidFill>
                <a:latin typeface="微软雅黑" panose="020B0503020204020204" pitchFamily="34" charset="-122"/>
                <a:ea typeface="微软雅黑" panose="020B0503020204020204" pitchFamily="34" charset="-122"/>
                <a:cs typeface="+mn-ea"/>
                <a:sym typeface="+mn-lt"/>
              </a:rPr>
              <a:t>权限管理</a:t>
            </a:r>
            <a:endParaRPr lang="zh-CN" altLang="en-GB" sz="48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9.3</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2580005" y="2068195"/>
            <a:ext cx="7416800" cy="3223895"/>
            <a:chOff x="4042" y="3473"/>
            <a:chExt cx="11680" cy="4019"/>
          </a:xfrm>
        </p:grpSpPr>
        <p:sp>
          <p:nvSpPr>
            <p:cNvPr id="2" name="折角形 1"/>
            <p:cNvSpPr/>
            <p:nvPr/>
          </p:nvSpPr>
          <p:spPr>
            <a:xfrm>
              <a:off x="4042" y="3473"/>
              <a:ext cx="11680" cy="4019"/>
            </a:xfrm>
            <a:prstGeom prst="foldedCorner">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4609" y="3893"/>
              <a:ext cx="10734" cy="2991"/>
            </a:xfrm>
            <a:prstGeom prst="rect">
              <a:avLst/>
            </a:prstGeom>
            <a:noFill/>
          </p:spPr>
          <p:txBody>
            <a:bodyPr wrap="square" rtlCol="0">
              <a:spAutoFit/>
            </a:bodyPr>
            <a:lstStyle/>
            <a:p>
              <a:pPr algn="l">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在实际项目开发中，为了保证数据的安全，数据库管理员需要为不同层级的操作人员分配不同的权限，限制登录MySQL服务器的用户只能在其权限范围内操作。同时</a:t>
              </a:r>
              <a:r>
                <a:rPr lang="zh-CN" altLang="en-US" sz="2000" dirty="0" smtClean="0">
                  <a:solidFill>
                    <a:srgbClr val="1369B2"/>
                  </a:solidFill>
                  <a:latin typeface="微软雅黑" panose="020B0503020204020204" pitchFamily="34" charset="-122"/>
                  <a:ea typeface="微软雅黑" panose="020B0503020204020204" pitchFamily="34" charset="-122"/>
                </a:rPr>
                <a:t>管理员</a:t>
              </a:r>
              <a:r>
                <a:rPr lang="zh-CN" altLang="en-US" sz="2000" dirty="0" smtClean="0">
                  <a:solidFill>
                    <a:srgbClr val="595959"/>
                  </a:solidFill>
                  <a:latin typeface="微软雅黑" panose="020B0503020204020204" pitchFamily="34" charset="-122"/>
                  <a:ea typeface="微软雅黑" panose="020B0503020204020204" pitchFamily="34" charset="-122"/>
                </a:rPr>
                <a:t>还可以根据不同的情况为用户</a:t>
              </a:r>
              <a:r>
                <a:rPr lang="zh-CN" altLang="en-US" sz="2000" dirty="0" smtClean="0">
                  <a:solidFill>
                    <a:srgbClr val="1369B2"/>
                  </a:solidFill>
                  <a:latin typeface="微软雅黑" panose="020B0503020204020204" pitchFamily="34" charset="-122"/>
                  <a:ea typeface="微软雅黑" panose="020B0503020204020204" pitchFamily="34" charset="-122"/>
                </a:rPr>
                <a:t>授予权限</a:t>
              </a:r>
              <a:r>
                <a:rPr lang="zh-CN" altLang="en-US" sz="2000" dirty="0" smtClean="0">
                  <a:solidFill>
                    <a:srgbClr val="595959"/>
                  </a:solidFill>
                  <a:latin typeface="微软雅黑" panose="020B0503020204020204" pitchFamily="34" charset="-122"/>
                  <a:ea typeface="微软雅黑" panose="020B0503020204020204" pitchFamily="34" charset="-122"/>
                </a:rPr>
                <a:t>或</a:t>
              </a:r>
              <a:r>
                <a:rPr lang="zh-CN" altLang="en-US" sz="2000" dirty="0" smtClean="0">
                  <a:solidFill>
                    <a:srgbClr val="1369B2"/>
                  </a:solidFill>
                  <a:latin typeface="微软雅黑" panose="020B0503020204020204" pitchFamily="34" charset="-122"/>
                  <a:ea typeface="微软雅黑" panose="020B0503020204020204" pitchFamily="34" charset="-122"/>
                </a:rPr>
                <a:t>收回权限</a:t>
              </a:r>
              <a:r>
                <a:rPr lang="zh-CN" altLang="en-US" sz="2000" dirty="0" smtClean="0">
                  <a:solidFill>
                    <a:srgbClr val="595959"/>
                  </a:solidFill>
                  <a:latin typeface="微软雅黑" panose="020B0503020204020204" pitchFamily="34" charset="-122"/>
                  <a:ea typeface="微软雅黑" panose="020B0503020204020204" pitchFamily="34" charset="-122"/>
                </a:rPr>
                <a:t>，从而控制数据操作人员的权限。</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grpSp>
      <p:sp>
        <p:nvSpPr>
          <p:cNvPr id="6"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9.3.1  MySQL</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的权限</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流程图: 过程 2"/>
          <p:cNvSpPr/>
          <p:nvPr/>
        </p:nvSpPr>
        <p:spPr>
          <a:xfrm>
            <a:off x="1702435" y="2307590"/>
            <a:ext cx="9166860" cy="2280920"/>
          </a:xfrm>
          <a:prstGeom prst="flowChartProcess">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1951990" y="2709545"/>
            <a:ext cx="8668385" cy="1476375"/>
          </a:xfrm>
          <a:prstGeom prst="rect">
            <a:avLst/>
          </a:prstGeom>
          <a:noFill/>
        </p:spPr>
        <p:txBody>
          <a:bodyPr wrap="square" rtlCol="0">
            <a:spAutoFit/>
          </a:bodyPr>
          <a:lstStyle/>
          <a:p>
            <a:pPr algn="l">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mn-ea"/>
              </a:rPr>
              <a:t>MySQL中的权限信息根据其作用范围，分别存储在名称为mysql的数据库中的不同数据表中，当MySQL启动时，会自动加载这些权限信息，并将这些权限信息读取到内存中。mysql数据库中与</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权限</a:t>
            </a:r>
            <a:r>
              <a:rPr lang="zh-CN" altLang="en-US" sz="2000" dirty="0" smtClean="0">
                <a:solidFill>
                  <a:srgbClr val="595959"/>
                </a:solidFill>
                <a:latin typeface="微软雅黑" panose="020B0503020204020204" pitchFamily="34" charset="-122"/>
                <a:ea typeface="微软雅黑" panose="020B0503020204020204" pitchFamily="34" charset="-122"/>
                <a:sym typeface="+mn-ea"/>
              </a:rPr>
              <a:t>相关的</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数据表</a:t>
            </a:r>
            <a:r>
              <a:rPr lang="zh-CN" altLang="en-US" sz="2000" dirty="0" smtClean="0">
                <a:solidFill>
                  <a:srgbClr val="595959"/>
                </a:solidFill>
                <a:latin typeface="微软雅黑" panose="020B0503020204020204" pitchFamily="34" charset="-122"/>
                <a:ea typeface="微软雅黑" panose="020B0503020204020204" pitchFamily="34" charset="-122"/>
                <a:sym typeface="+mn-ea"/>
              </a:rPr>
              <a:t>如下表所示。</a:t>
            </a:r>
            <a:endParaRPr lang="zh-CN" altLang="en-US" sz="2000" dirty="0" smtClean="0">
              <a:solidFill>
                <a:srgbClr val="595959"/>
              </a:solidFill>
              <a:latin typeface="微软雅黑" panose="020B0503020204020204" pitchFamily="34" charset="-122"/>
              <a:ea typeface="微软雅黑" panose="020B0503020204020204" pitchFamily="34" charset="-122"/>
              <a:sym typeface="+mn-ea"/>
            </a:endParaRPr>
          </a:p>
        </p:txBody>
      </p:sp>
      <p:sp>
        <p:nvSpPr>
          <p:cNvPr id="7"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9.3.1  MySQL</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的权限</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表格 9"/>
          <p:cNvGraphicFramePr>
            <a:graphicFrameLocks noGrp="1"/>
          </p:cNvGraphicFramePr>
          <p:nvPr>
            <p:custDataLst>
              <p:tags r:id="rId1"/>
            </p:custDataLst>
          </p:nvPr>
        </p:nvGraphicFramePr>
        <p:xfrm>
          <a:off x="2892425" y="2349500"/>
          <a:ext cx="6189345" cy="3293745"/>
        </p:xfrm>
        <a:graphic>
          <a:graphicData uri="http://schemas.openxmlformats.org/drawingml/2006/table">
            <a:tbl>
              <a:tblPr>
                <a:tableStyleId>{7DF18680-E054-41AD-8BC1-D1AEF772440D}</a:tableStyleId>
              </a:tblPr>
              <a:tblGrid>
                <a:gridCol w="1758315"/>
                <a:gridCol w="4431030"/>
              </a:tblGrid>
              <a:tr h="467995">
                <a:tc>
                  <a:txBody>
                    <a:bodyPr/>
                    <a:lstStyle/>
                    <a:p>
                      <a:pPr indent="267970" algn="ctr">
                        <a:spcAft>
                          <a:spcPts val="0"/>
                        </a:spcAft>
                      </a:pPr>
                      <a:r>
                        <a:rPr sz="1600" b="1" kern="100" dirty="0">
                          <a:solidFill>
                            <a:srgbClr val="595959"/>
                          </a:solidFill>
                          <a:effectLst/>
                          <a:latin typeface="微软雅黑" panose="020B0503020204020204" pitchFamily="34" charset="-122"/>
                          <a:ea typeface="微软雅黑" panose="020B0503020204020204" pitchFamily="34" charset="-122"/>
                        </a:rPr>
                        <a:t>数据表</a:t>
                      </a:r>
                      <a:endParaRPr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显示效果</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467360">
                <a:tc>
                  <a:txBody>
                    <a:bodyPr/>
                    <a:lstStyle/>
                    <a:p>
                      <a:pPr indent="266700" algn="just">
                        <a:spcAft>
                          <a:spcPts val="0"/>
                        </a:spcAft>
                      </a:pPr>
                      <a:r>
                        <a:rPr sz="1600" b="0" kern="100" dirty="0">
                          <a:solidFill>
                            <a:srgbClr val="595959"/>
                          </a:solidFill>
                          <a:effectLst/>
                          <a:latin typeface="微软雅黑" panose="020B0503020204020204" pitchFamily="34" charset="-122"/>
                          <a:ea typeface="微软雅黑" panose="020B0503020204020204" pitchFamily="34" charset="-122"/>
                        </a:rPr>
                        <a:t>user</a:t>
                      </a:r>
                      <a:endParaRPr sz="1600" b="0"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lstStyle/>
                    <a:p>
                      <a:pPr indent="266700" algn="ctr">
                        <a:spcAft>
                          <a:spcPts val="0"/>
                        </a:spcAft>
                      </a:pPr>
                      <a:r>
                        <a:rPr lang="zh-CN" sz="1600" b="0" kern="100" dirty="0">
                          <a:solidFill>
                            <a:srgbClr val="595959"/>
                          </a:solidFill>
                          <a:effectLst/>
                          <a:latin typeface="微软雅黑" panose="020B0503020204020204" pitchFamily="34" charset="-122"/>
                          <a:ea typeface="微软雅黑" panose="020B0503020204020204" pitchFamily="34" charset="-122"/>
                        </a:rPr>
                        <a:t>保存用户被授予的全局权限</a:t>
                      </a:r>
                      <a:endParaRPr lang="zh-CN" sz="1600" b="0"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67995">
                <a:tc>
                  <a:txBody>
                    <a:bodyPr/>
                    <a:lstStyle/>
                    <a:p>
                      <a:pPr indent="266700" algn="just">
                        <a:spcAft>
                          <a:spcPts val="0"/>
                        </a:spcAft>
                      </a:pPr>
                      <a:r>
                        <a:rPr lang="en-US" sz="1600" b="0" kern="100">
                          <a:solidFill>
                            <a:srgbClr val="595959"/>
                          </a:solidFill>
                          <a:effectLst/>
                          <a:latin typeface="微软雅黑" panose="020B0503020204020204" pitchFamily="34" charset="-122"/>
                          <a:ea typeface="微软雅黑" panose="020B0503020204020204" pitchFamily="34" charset="-122"/>
                        </a:rPr>
                        <a:t>db</a:t>
                      </a:r>
                      <a:endParaRPr lang="en-US" sz="1600" b="0" kern="10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lstStyle/>
                    <a:p>
                      <a:pPr indent="266700" algn="ctr">
                        <a:spcAft>
                          <a:spcPts val="0"/>
                        </a:spcAft>
                      </a:pPr>
                      <a:r>
                        <a:rPr lang="zh-CN" sz="1600" b="0" kern="100">
                          <a:solidFill>
                            <a:srgbClr val="595959"/>
                          </a:solidFill>
                          <a:effectLst/>
                          <a:latin typeface="微软雅黑" panose="020B0503020204020204" pitchFamily="34" charset="-122"/>
                          <a:ea typeface="微软雅黑" panose="020B0503020204020204" pitchFamily="34" charset="-122"/>
                        </a:rPr>
                        <a:t>保存用户被授予的数据库权限</a:t>
                      </a:r>
                      <a:endParaRPr lang="zh-CN" sz="1600" b="0" kern="10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67360">
                <a:tc>
                  <a:txBody>
                    <a:bodyPr/>
                    <a:lstStyle/>
                    <a:p>
                      <a:pPr indent="266700" algn="just">
                        <a:spcAft>
                          <a:spcPts val="0"/>
                        </a:spcAft>
                      </a:pPr>
                      <a:r>
                        <a:rPr lang="en-US" sz="1600" b="0" kern="100">
                          <a:solidFill>
                            <a:srgbClr val="595959"/>
                          </a:solidFill>
                          <a:effectLst/>
                          <a:latin typeface="微软雅黑" panose="020B0503020204020204" pitchFamily="34" charset="-122"/>
                          <a:ea typeface="微软雅黑" panose="020B0503020204020204" pitchFamily="34" charset="-122"/>
                        </a:rPr>
                        <a:t>tables_priv</a:t>
                      </a:r>
                      <a:endParaRPr lang="en-US" sz="1600" b="0" kern="10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lstStyle/>
                    <a:p>
                      <a:pPr indent="266700" algn="ctr">
                        <a:spcAft>
                          <a:spcPts val="0"/>
                        </a:spcAft>
                      </a:pPr>
                      <a:r>
                        <a:rPr lang="zh-CN" sz="1600" b="0" kern="100" dirty="0">
                          <a:solidFill>
                            <a:srgbClr val="595959"/>
                          </a:solidFill>
                          <a:effectLst/>
                          <a:latin typeface="微软雅黑" panose="020B0503020204020204" pitchFamily="34" charset="-122"/>
                          <a:ea typeface="微软雅黑" panose="020B0503020204020204" pitchFamily="34" charset="-122"/>
                        </a:rPr>
                        <a:t>保存用户被授予的数据库权限</a:t>
                      </a:r>
                      <a:endParaRPr lang="zh-CN" sz="1600" b="0"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87680">
                <a:tc>
                  <a:txBody>
                    <a:bodyPr/>
                    <a:lstStyle/>
                    <a:p>
                      <a:pPr indent="266700" algn="just">
                        <a:spcAft>
                          <a:spcPts val="0"/>
                        </a:spcAft>
                        <a:buNone/>
                      </a:pPr>
                      <a:r>
                        <a:rPr lang="en-US" altLang="en-US" sz="1600" b="0" kern="100">
                          <a:solidFill>
                            <a:srgbClr val="595959"/>
                          </a:solidFill>
                          <a:effectLst/>
                          <a:latin typeface="微软雅黑" panose="020B0503020204020204" pitchFamily="34" charset="-122"/>
                          <a:ea typeface="微软雅黑" panose="020B0503020204020204" pitchFamily="34" charset="-122"/>
                        </a:rPr>
                        <a:t>columns_priv</a:t>
                      </a:r>
                      <a:endParaRPr lang="en-US" altLang="en-US" sz="1600" b="0" kern="10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lstStyle/>
                    <a:p>
                      <a:pPr indent="266700" algn="ctr">
                        <a:spcAft>
                          <a:spcPts val="0"/>
                        </a:spcAft>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保存用户被授予的数据库权限</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467360">
                <a:tc>
                  <a:txBody>
                    <a:bodyPr/>
                    <a:lstStyle/>
                    <a:p>
                      <a:pPr indent="266700" algn="just">
                        <a:spcAft>
                          <a:spcPts val="0"/>
                        </a:spcAft>
                        <a:buNone/>
                      </a:pPr>
                      <a:r>
                        <a:rPr lang="en-US" altLang="en-US" sz="1600" b="0" kern="100">
                          <a:solidFill>
                            <a:srgbClr val="595959"/>
                          </a:solidFill>
                          <a:effectLst/>
                          <a:latin typeface="微软雅黑" panose="020B0503020204020204" pitchFamily="34" charset="-122"/>
                          <a:ea typeface="微软雅黑" panose="020B0503020204020204" pitchFamily="34" charset="-122"/>
                        </a:rPr>
                        <a:t>procs_priv</a:t>
                      </a:r>
                      <a:endParaRPr lang="en-US" altLang="en-US" sz="1600" b="0" kern="10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lstStyle/>
                    <a:p>
                      <a:pPr indent="266700" algn="ctr">
                        <a:spcAft>
                          <a:spcPts val="0"/>
                        </a:spcAft>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保存用户被授予的存储过程权限</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467995">
                <a:tc>
                  <a:txBody>
                    <a:bodyPr/>
                    <a:lstStyle/>
                    <a:p>
                      <a:pPr indent="266700" algn="just">
                        <a:spcAft>
                          <a:spcPts val="0"/>
                        </a:spcAft>
                        <a:buNone/>
                      </a:pPr>
                      <a:r>
                        <a:rPr lang="en-US" altLang="en-US" sz="1600" b="0" kern="100">
                          <a:solidFill>
                            <a:srgbClr val="595959"/>
                          </a:solidFill>
                          <a:effectLst/>
                          <a:latin typeface="微软雅黑" panose="020B0503020204020204" pitchFamily="34" charset="-122"/>
                          <a:ea typeface="微软雅黑" panose="020B0503020204020204" pitchFamily="34" charset="-122"/>
                        </a:rPr>
                        <a:t>proxies_priv</a:t>
                      </a:r>
                      <a:endParaRPr lang="en-US" altLang="en-US" sz="1600" b="0" kern="10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lstStyle/>
                    <a:p>
                      <a:pPr indent="266700" algn="ctr">
                        <a:spcAft>
                          <a:spcPts val="0"/>
                        </a:spcAft>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保存用户被授予的代理权限</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bl>
          </a:graphicData>
        </a:graphic>
      </p:graphicFrame>
      <p:sp>
        <p:nvSpPr>
          <p:cNvPr id="4" name="文本框 3"/>
          <p:cNvSpPr txBox="1"/>
          <p:nvPr/>
        </p:nvSpPr>
        <p:spPr>
          <a:xfrm>
            <a:off x="3869690" y="1341120"/>
            <a:ext cx="4467225" cy="506730"/>
          </a:xfrm>
          <a:prstGeom prst="rect">
            <a:avLst/>
          </a:prstGeom>
          <a:noFill/>
        </p:spPr>
        <p:txBody>
          <a:bodyPr wrap="square" rtlCol="0">
            <a:spAutoFit/>
          </a:bodyPr>
          <a:lstStyle/>
          <a:p>
            <a:pPr algn="l">
              <a:lnSpc>
                <a:spcPct val="150000"/>
              </a:lnSpc>
            </a:pPr>
            <a:r>
              <a:rPr lang="zh-CN" altLang="en-US" sz="1800" dirty="0" smtClean="0">
                <a:solidFill>
                  <a:srgbClr val="595959"/>
                </a:solidFill>
                <a:latin typeface="微软雅黑" panose="020B0503020204020204" pitchFamily="34" charset="-122"/>
                <a:ea typeface="微软雅黑" panose="020B0503020204020204" pitchFamily="34" charset="-122"/>
                <a:sym typeface="+mn-ea"/>
              </a:rPr>
              <a:t>mysql数据库中与</a:t>
            </a:r>
            <a:r>
              <a:rPr lang="zh-CN" altLang="en-US" sz="1800" dirty="0" smtClean="0">
                <a:solidFill>
                  <a:srgbClr val="1369B2"/>
                </a:solidFill>
                <a:latin typeface="微软雅黑" panose="020B0503020204020204" pitchFamily="34" charset="-122"/>
                <a:ea typeface="微软雅黑" panose="020B0503020204020204" pitchFamily="34" charset="-122"/>
                <a:sym typeface="+mn-ea"/>
              </a:rPr>
              <a:t>权限</a:t>
            </a:r>
            <a:r>
              <a:rPr lang="zh-CN" altLang="en-US" sz="1800" dirty="0" smtClean="0">
                <a:solidFill>
                  <a:srgbClr val="595959"/>
                </a:solidFill>
                <a:latin typeface="微软雅黑" panose="020B0503020204020204" pitchFamily="34" charset="-122"/>
                <a:ea typeface="微软雅黑" panose="020B0503020204020204" pitchFamily="34" charset="-122"/>
                <a:sym typeface="+mn-ea"/>
              </a:rPr>
              <a:t>相关的</a:t>
            </a:r>
            <a:r>
              <a:rPr lang="zh-CN" altLang="en-US" sz="1800" dirty="0" smtClean="0">
                <a:solidFill>
                  <a:srgbClr val="1369B2"/>
                </a:solidFill>
                <a:latin typeface="微软雅黑" panose="020B0503020204020204" pitchFamily="34" charset="-122"/>
                <a:ea typeface="微软雅黑" panose="020B0503020204020204" pitchFamily="34" charset="-122"/>
                <a:sym typeface="+mn-ea"/>
              </a:rPr>
              <a:t>数据表</a:t>
            </a:r>
            <a:endParaRPr lang="zh-CN" altLang="en-US" sz="18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7"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9.3.1  MySQL</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的权限</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流程图: 过程 2"/>
          <p:cNvSpPr/>
          <p:nvPr/>
        </p:nvSpPr>
        <p:spPr>
          <a:xfrm>
            <a:off x="1703070" y="1787525"/>
            <a:ext cx="9166860" cy="3630930"/>
          </a:xfrm>
          <a:prstGeom prst="flowChartProcess">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1952625" y="1918970"/>
            <a:ext cx="8668385" cy="1476375"/>
          </a:xfrm>
          <a:prstGeom prst="rect">
            <a:avLst/>
          </a:prstGeom>
          <a:noFill/>
        </p:spPr>
        <p:txBody>
          <a:bodyPr wrap="square" rtlCol="0">
            <a:spAutoFit/>
          </a:bodyPr>
          <a:lstStyle/>
          <a:p>
            <a:pPr algn="l">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mn-ea"/>
              </a:rPr>
              <a:t>在前面的章节中，用户登录MySQL后，可以对数据进行增删改查的操作，是因为登录的用户拥有这些权限。MySQL提供了用于为用户授予权限的</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GRANT</a:t>
            </a:r>
            <a:r>
              <a:rPr lang="zh-CN" altLang="en-US" sz="2000" dirty="0" smtClean="0">
                <a:solidFill>
                  <a:srgbClr val="595959"/>
                </a:solidFill>
                <a:latin typeface="微软雅黑" panose="020B0503020204020204" pitchFamily="34" charset="-122"/>
                <a:ea typeface="微软雅黑" panose="020B0503020204020204" pitchFamily="34" charset="-122"/>
                <a:sym typeface="+mn-ea"/>
              </a:rPr>
              <a:t>语句，其基本语法格式如下。</a:t>
            </a:r>
            <a:endParaRPr lang="zh-CN" altLang="en-US" sz="2000" dirty="0" smtClean="0">
              <a:solidFill>
                <a:srgbClr val="595959"/>
              </a:solidFill>
              <a:latin typeface="微软雅黑" panose="020B0503020204020204" pitchFamily="34" charset="-122"/>
              <a:ea typeface="微软雅黑" panose="020B0503020204020204" pitchFamily="34" charset="-122"/>
              <a:sym typeface="+mn-ea"/>
            </a:endParaRPr>
          </a:p>
        </p:txBody>
      </p:sp>
      <p:sp>
        <p:nvSpPr>
          <p:cNvPr id="18" name="矩形 17"/>
          <p:cNvSpPr/>
          <p:nvPr/>
        </p:nvSpPr>
        <p:spPr>
          <a:xfrm>
            <a:off x="2062480" y="3503295"/>
            <a:ext cx="7050405" cy="154114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GRANT 权限类型[(字段列表)][,权限类型[(字段列表)]] </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ON 权限级别</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TO 'username'@'hostname' </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[,'username'@'hostname'] …</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[WITH with_option]</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7"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9.3.2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授予权限</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894840" y="2248535"/>
            <a:ext cx="8715375" cy="2853690"/>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2278380" y="2493645"/>
            <a:ext cx="8114665" cy="2306955"/>
          </a:xfrm>
          <a:prstGeom prst="rect">
            <a:avLst/>
          </a:prstGeom>
          <a:noFill/>
        </p:spPr>
        <p:txBody>
          <a:bodyPr wrap="square" rtlCol="0">
            <a:spAutoFit/>
          </a:bodyPr>
          <a:lstStyle/>
          <a:p>
            <a:pPr algn="l">
              <a:lnSpc>
                <a:spcPct val="150000"/>
              </a:lnSpc>
            </a:pPr>
            <a:r>
              <a:rPr sz="1600" dirty="0" smtClean="0">
                <a:solidFill>
                  <a:srgbClr val="595959"/>
                </a:solidFill>
                <a:latin typeface="微软雅黑" panose="020B0503020204020204" pitchFamily="34" charset="-122"/>
                <a:ea typeface="微软雅黑" panose="020B0503020204020204" pitchFamily="34" charset="-122"/>
              </a:rPr>
              <a:t>上述语法格式中，</a:t>
            </a:r>
            <a:r>
              <a:rPr sz="1600" dirty="0" smtClean="0">
                <a:solidFill>
                  <a:srgbClr val="1369B2"/>
                </a:solidFill>
                <a:latin typeface="微软雅黑" panose="020B0503020204020204" pitchFamily="34" charset="-122"/>
                <a:ea typeface="微软雅黑" panose="020B0503020204020204" pitchFamily="34" charset="-122"/>
              </a:rPr>
              <a:t>WITH</a:t>
            </a:r>
            <a:r>
              <a:rPr sz="1600" dirty="0" smtClean="0">
                <a:solidFill>
                  <a:srgbClr val="595959"/>
                </a:solidFill>
                <a:latin typeface="微软雅黑" panose="020B0503020204020204" pitchFamily="34" charset="-122"/>
                <a:ea typeface="微软雅黑" panose="020B0503020204020204" pitchFamily="34" charset="-122"/>
              </a:rPr>
              <a:t>关键字后面的参数</a:t>
            </a:r>
            <a:r>
              <a:rPr sz="1600" dirty="0" smtClean="0">
                <a:solidFill>
                  <a:srgbClr val="1369B2"/>
                </a:solidFill>
                <a:latin typeface="微软雅黑" panose="020B0503020204020204" pitchFamily="34" charset="-122"/>
                <a:ea typeface="微软雅黑" panose="020B0503020204020204" pitchFamily="34" charset="-122"/>
              </a:rPr>
              <a:t>with_option</a:t>
            </a:r>
            <a:r>
              <a:rPr sz="1600" dirty="0" smtClean="0">
                <a:solidFill>
                  <a:srgbClr val="595959"/>
                </a:solidFill>
                <a:latin typeface="微软雅黑" panose="020B0503020204020204" pitchFamily="34" charset="-122"/>
                <a:ea typeface="微软雅黑" panose="020B0503020204020204" pitchFamily="34" charset="-122"/>
              </a:rPr>
              <a:t>的取值五个，具体如下。</a:t>
            </a:r>
            <a:endParaRPr sz="16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lang="zh-CN" sz="1600" dirty="0" smtClean="0">
                <a:solidFill>
                  <a:srgbClr val="595959"/>
                </a:solidFill>
                <a:latin typeface="微软雅黑" panose="020B0503020204020204" pitchFamily="34" charset="-122"/>
                <a:ea typeface="微软雅黑" panose="020B0503020204020204" pitchFamily="34" charset="-122"/>
              </a:rPr>
              <a:t>（</a:t>
            </a:r>
            <a:r>
              <a:rPr lang="en-US" altLang="zh-CN" sz="1600" dirty="0" smtClean="0">
                <a:solidFill>
                  <a:srgbClr val="595959"/>
                </a:solidFill>
                <a:latin typeface="微软雅黑" panose="020B0503020204020204" pitchFamily="34" charset="-122"/>
                <a:ea typeface="微软雅黑" panose="020B0503020204020204" pitchFamily="34" charset="-122"/>
              </a:rPr>
              <a:t>1</a:t>
            </a:r>
            <a:r>
              <a:rPr lang="zh-CN" altLang="en-US" sz="1600" dirty="0" smtClean="0">
                <a:solidFill>
                  <a:srgbClr val="595959"/>
                </a:solidFill>
                <a:latin typeface="微软雅黑" panose="020B0503020204020204" pitchFamily="34" charset="-122"/>
                <a:ea typeface="微软雅黑" panose="020B0503020204020204" pitchFamily="34" charset="-122"/>
              </a:rPr>
              <a:t>）</a:t>
            </a:r>
            <a:r>
              <a:rPr sz="1600" dirty="0" smtClean="0">
                <a:solidFill>
                  <a:srgbClr val="1369B2"/>
                </a:solidFill>
                <a:latin typeface="微软雅黑" panose="020B0503020204020204" pitchFamily="34" charset="-122"/>
                <a:ea typeface="微软雅黑" panose="020B0503020204020204" pitchFamily="34" charset="-122"/>
              </a:rPr>
              <a:t>GRANT OPTION</a:t>
            </a:r>
            <a:r>
              <a:rPr sz="1600" dirty="0" smtClean="0">
                <a:solidFill>
                  <a:srgbClr val="595959"/>
                </a:solidFill>
                <a:latin typeface="微软雅黑" panose="020B0503020204020204" pitchFamily="34" charset="-122"/>
                <a:ea typeface="微软雅黑" panose="020B0503020204020204" pitchFamily="34" charset="-122"/>
              </a:rPr>
              <a:t>：将自己的权限授予其他用户。</a:t>
            </a:r>
            <a:endParaRPr sz="16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lang="zh-CN" sz="1600" dirty="0" smtClean="0">
                <a:solidFill>
                  <a:srgbClr val="595959"/>
                </a:solidFill>
                <a:latin typeface="微软雅黑" panose="020B0503020204020204" pitchFamily="34" charset="-122"/>
                <a:ea typeface="微软雅黑" panose="020B0503020204020204" pitchFamily="34" charset="-122"/>
              </a:rPr>
              <a:t>（</a:t>
            </a:r>
            <a:r>
              <a:rPr lang="en-US" altLang="zh-CN" sz="1600" dirty="0" smtClean="0">
                <a:solidFill>
                  <a:srgbClr val="595959"/>
                </a:solidFill>
                <a:latin typeface="微软雅黑" panose="020B0503020204020204" pitchFamily="34" charset="-122"/>
                <a:ea typeface="微软雅黑" panose="020B0503020204020204" pitchFamily="34" charset="-122"/>
              </a:rPr>
              <a:t>2</a:t>
            </a:r>
            <a:r>
              <a:rPr lang="zh-CN" altLang="en-US" sz="1600" dirty="0" smtClean="0">
                <a:solidFill>
                  <a:srgbClr val="595959"/>
                </a:solidFill>
                <a:latin typeface="微软雅黑" panose="020B0503020204020204" pitchFamily="34" charset="-122"/>
                <a:ea typeface="微软雅黑" panose="020B0503020204020204" pitchFamily="34" charset="-122"/>
              </a:rPr>
              <a:t>）</a:t>
            </a:r>
            <a:r>
              <a:rPr sz="1600" dirty="0" smtClean="0">
                <a:solidFill>
                  <a:srgbClr val="1369B2"/>
                </a:solidFill>
                <a:latin typeface="微软雅黑" panose="020B0503020204020204" pitchFamily="34" charset="-122"/>
                <a:ea typeface="微软雅黑" panose="020B0503020204020204" pitchFamily="34" charset="-122"/>
              </a:rPr>
              <a:t>MAX_QUERIES_PER_HOUR count</a:t>
            </a:r>
            <a:r>
              <a:rPr sz="1600" dirty="0" smtClean="0">
                <a:solidFill>
                  <a:srgbClr val="595959"/>
                </a:solidFill>
                <a:latin typeface="微软雅黑" panose="020B0503020204020204" pitchFamily="34" charset="-122"/>
                <a:ea typeface="微软雅黑" panose="020B0503020204020204" pitchFamily="34" charset="-122"/>
              </a:rPr>
              <a:t>：设置每小时最多可以执行多少次查询。</a:t>
            </a:r>
            <a:endParaRPr sz="16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lang="zh-CN" sz="1600" dirty="0" smtClean="0">
                <a:solidFill>
                  <a:srgbClr val="595959"/>
                </a:solidFill>
                <a:latin typeface="微软雅黑" panose="020B0503020204020204" pitchFamily="34" charset="-122"/>
                <a:ea typeface="微软雅黑" panose="020B0503020204020204" pitchFamily="34" charset="-122"/>
              </a:rPr>
              <a:t>（</a:t>
            </a:r>
            <a:r>
              <a:rPr lang="en-US" altLang="zh-CN" sz="1600" dirty="0" smtClean="0">
                <a:solidFill>
                  <a:srgbClr val="595959"/>
                </a:solidFill>
                <a:latin typeface="微软雅黑" panose="020B0503020204020204" pitchFamily="34" charset="-122"/>
                <a:ea typeface="微软雅黑" panose="020B0503020204020204" pitchFamily="34" charset="-122"/>
              </a:rPr>
              <a:t>3</a:t>
            </a:r>
            <a:r>
              <a:rPr lang="zh-CN" altLang="en-US" sz="1600" dirty="0" smtClean="0">
                <a:solidFill>
                  <a:srgbClr val="595959"/>
                </a:solidFill>
                <a:latin typeface="微软雅黑" panose="020B0503020204020204" pitchFamily="34" charset="-122"/>
                <a:ea typeface="微软雅黑" panose="020B0503020204020204" pitchFamily="34" charset="-122"/>
              </a:rPr>
              <a:t>）</a:t>
            </a:r>
            <a:r>
              <a:rPr sz="1600" dirty="0" smtClean="0">
                <a:solidFill>
                  <a:srgbClr val="1369B2"/>
                </a:solidFill>
                <a:latin typeface="微软雅黑" panose="020B0503020204020204" pitchFamily="34" charset="-122"/>
                <a:ea typeface="微软雅黑" panose="020B0503020204020204" pitchFamily="34" charset="-122"/>
              </a:rPr>
              <a:t>MAX_UPDATES_PER_HOUR count</a:t>
            </a:r>
            <a:r>
              <a:rPr sz="1600" dirty="0" smtClean="0">
                <a:solidFill>
                  <a:srgbClr val="595959"/>
                </a:solidFill>
                <a:latin typeface="微软雅黑" panose="020B0503020204020204" pitchFamily="34" charset="-122"/>
                <a:ea typeface="微软雅黑" panose="020B0503020204020204" pitchFamily="34" charset="-122"/>
              </a:rPr>
              <a:t>：设置每小时最多可以执行多少次更新。</a:t>
            </a:r>
            <a:endParaRPr sz="16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lang="zh-CN" sz="1600" dirty="0" smtClean="0">
                <a:solidFill>
                  <a:srgbClr val="595959"/>
                </a:solidFill>
                <a:latin typeface="微软雅黑" panose="020B0503020204020204" pitchFamily="34" charset="-122"/>
                <a:ea typeface="微软雅黑" panose="020B0503020204020204" pitchFamily="34" charset="-122"/>
              </a:rPr>
              <a:t>（</a:t>
            </a:r>
            <a:r>
              <a:rPr lang="en-US" altLang="zh-CN" sz="1600" dirty="0" smtClean="0">
                <a:solidFill>
                  <a:srgbClr val="595959"/>
                </a:solidFill>
                <a:latin typeface="微软雅黑" panose="020B0503020204020204" pitchFamily="34" charset="-122"/>
                <a:ea typeface="微软雅黑" panose="020B0503020204020204" pitchFamily="34" charset="-122"/>
              </a:rPr>
              <a:t>4</a:t>
            </a:r>
            <a:r>
              <a:rPr lang="zh-CN" altLang="en-US" sz="1600" dirty="0" smtClean="0">
                <a:solidFill>
                  <a:srgbClr val="595959"/>
                </a:solidFill>
                <a:latin typeface="微软雅黑" panose="020B0503020204020204" pitchFamily="34" charset="-122"/>
                <a:ea typeface="微软雅黑" panose="020B0503020204020204" pitchFamily="34" charset="-122"/>
              </a:rPr>
              <a:t>）</a:t>
            </a:r>
            <a:r>
              <a:rPr sz="1600" dirty="0" smtClean="0">
                <a:solidFill>
                  <a:srgbClr val="1369B2"/>
                </a:solidFill>
                <a:latin typeface="微软雅黑" panose="020B0503020204020204" pitchFamily="34" charset="-122"/>
                <a:ea typeface="微软雅黑" panose="020B0503020204020204" pitchFamily="34" charset="-122"/>
              </a:rPr>
              <a:t>MAX_CONNECTIONS_PER_HOUR count</a:t>
            </a:r>
            <a:r>
              <a:rPr sz="1600" dirty="0" smtClean="0">
                <a:solidFill>
                  <a:srgbClr val="595959"/>
                </a:solidFill>
                <a:latin typeface="微软雅黑" panose="020B0503020204020204" pitchFamily="34" charset="-122"/>
                <a:ea typeface="微软雅黑" panose="020B0503020204020204" pitchFamily="34" charset="-122"/>
              </a:rPr>
              <a:t>：设置每小时最大的连接数量。</a:t>
            </a:r>
            <a:endParaRPr sz="1600" dirty="0" smtClean="0">
              <a:solidFill>
                <a:srgbClr val="595959"/>
              </a:solidFill>
              <a:latin typeface="微软雅黑" panose="020B0503020204020204" pitchFamily="34" charset="-122"/>
              <a:ea typeface="微软雅黑" panose="020B0503020204020204" pitchFamily="34" charset="-122"/>
            </a:endParaRPr>
          </a:p>
          <a:p>
            <a:pPr algn="l">
              <a:lnSpc>
                <a:spcPct val="150000"/>
              </a:lnSpc>
            </a:pPr>
            <a:r>
              <a:rPr lang="zh-CN" sz="1600" dirty="0" smtClean="0">
                <a:solidFill>
                  <a:srgbClr val="595959"/>
                </a:solidFill>
                <a:latin typeface="微软雅黑" panose="020B0503020204020204" pitchFamily="34" charset="-122"/>
                <a:ea typeface="微软雅黑" panose="020B0503020204020204" pitchFamily="34" charset="-122"/>
              </a:rPr>
              <a:t>（</a:t>
            </a:r>
            <a:r>
              <a:rPr lang="en-US" altLang="zh-CN" sz="1600" dirty="0" smtClean="0">
                <a:solidFill>
                  <a:srgbClr val="595959"/>
                </a:solidFill>
                <a:latin typeface="微软雅黑" panose="020B0503020204020204" pitchFamily="34" charset="-122"/>
                <a:ea typeface="微软雅黑" panose="020B0503020204020204" pitchFamily="34" charset="-122"/>
              </a:rPr>
              <a:t>5</a:t>
            </a:r>
            <a:r>
              <a:rPr lang="zh-CN" altLang="en-US" sz="1600" dirty="0" smtClean="0">
                <a:solidFill>
                  <a:srgbClr val="595959"/>
                </a:solidFill>
                <a:latin typeface="微软雅黑" panose="020B0503020204020204" pitchFamily="34" charset="-122"/>
                <a:ea typeface="微软雅黑" panose="020B0503020204020204" pitchFamily="34" charset="-122"/>
              </a:rPr>
              <a:t>）</a:t>
            </a:r>
            <a:r>
              <a:rPr sz="1600" dirty="0" smtClean="0">
                <a:solidFill>
                  <a:srgbClr val="1369B2"/>
                </a:solidFill>
                <a:latin typeface="微软雅黑" panose="020B0503020204020204" pitchFamily="34" charset="-122"/>
                <a:ea typeface="微软雅黑" panose="020B0503020204020204" pitchFamily="34" charset="-122"/>
              </a:rPr>
              <a:t>MAX_USER_CONNECTIONS</a:t>
            </a:r>
            <a:r>
              <a:rPr sz="1600" dirty="0" smtClean="0">
                <a:solidFill>
                  <a:srgbClr val="595959"/>
                </a:solidFill>
                <a:latin typeface="微软雅黑" panose="020B0503020204020204" pitchFamily="34" charset="-122"/>
                <a:ea typeface="微软雅黑" panose="020B0503020204020204" pitchFamily="34" charset="-122"/>
              </a:rPr>
              <a:t>：设置每个用户最多可以同时建立连接的数量。</a:t>
            </a:r>
            <a:endParaRPr sz="1600" dirty="0" smtClean="0">
              <a:solidFill>
                <a:srgbClr val="595959"/>
              </a:solidFill>
              <a:latin typeface="微软雅黑" panose="020B0503020204020204" pitchFamily="34" charset="-122"/>
              <a:ea typeface="微软雅黑" panose="020B0503020204020204" pitchFamily="34" charset="-122"/>
            </a:endParaRPr>
          </a:p>
        </p:txBody>
      </p:sp>
      <p:sp>
        <p:nvSpPr>
          <p:cNvPr id="3"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9.3.2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授予权限</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558925" y="1905635"/>
            <a:ext cx="9500235" cy="2392680"/>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3" name="文本框 2"/>
          <p:cNvSpPr txBox="1"/>
          <p:nvPr/>
        </p:nvSpPr>
        <p:spPr>
          <a:xfrm>
            <a:off x="1846580" y="1989455"/>
            <a:ext cx="8994140" cy="1014730"/>
          </a:xfrm>
          <a:prstGeom prst="rect">
            <a:avLst/>
          </a:prstGeom>
          <a:noFill/>
        </p:spPr>
        <p:txBody>
          <a:bodyPr wrap="square" rtlCol="0">
            <a:spAutoFit/>
          </a:bodyPr>
          <a:lstStyle/>
          <a:p>
            <a:pPr algn="l">
              <a:lnSpc>
                <a:spcPct val="150000"/>
              </a:lnSpc>
            </a:pPr>
            <a:r>
              <a:rPr sz="2000" dirty="0" smtClean="0">
                <a:solidFill>
                  <a:srgbClr val="595959"/>
                </a:solidFill>
                <a:latin typeface="微软雅黑" panose="020B0503020204020204" pitchFamily="34" charset="-122"/>
                <a:ea typeface="微软雅黑" panose="020B0503020204020204" pitchFamily="34" charset="-122"/>
              </a:rPr>
              <a:t>例如，对emp_test用户授予数据库ems的员工表emp的</a:t>
            </a:r>
            <a:r>
              <a:rPr sz="2000" dirty="0" smtClean="0">
                <a:solidFill>
                  <a:srgbClr val="1369B2"/>
                </a:solidFill>
                <a:latin typeface="微软雅黑" panose="020B0503020204020204" pitchFamily="34" charset="-122"/>
                <a:ea typeface="微软雅黑" panose="020B0503020204020204" pitchFamily="34" charset="-122"/>
              </a:rPr>
              <a:t>SELECT权限</a:t>
            </a:r>
            <a:r>
              <a:rPr sz="2000" dirty="0" smtClean="0">
                <a:solidFill>
                  <a:srgbClr val="595959"/>
                </a:solidFill>
                <a:latin typeface="微软雅黑" panose="020B0503020204020204" pitchFamily="34" charset="-122"/>
                <a:ea typeface="微软雅黑" panose="020B0503020204020204" pitchFamily="34" charset="-122"/>
              </a:rPr>
              <a:t>，以及对empno和ename字段的插入权限，具体SQL语句如下所示。</a:t>
            </a:r>
            <a:endParaRPr sz="2000" dirty="0" smtClean="0">
              <a:solidFill>
                <a:srgbClr val="595959"/>
              </a:solidFill>
              <a:latin typeface="微软雅黑" panose="020B0503020204020204" pitchFamily="34" charset="-122"/>
              <a:ea typeface="微软雅黑" panose="020B0503020204020204" pitchFamily="34" charset="-122"/>
            </a:endParaRPr>
          </a:p>
        </p:txBody>
      </p:sp>
      <p:sp>
        <p:nvSpPr>
          <p:cNvPr id="4" name="矩形 3"/>
          <p:cNvSpPr/>
          <p:nvPr/>
        </p:nvSpPr>
        <p:spPr>
          <a:xfrm>
            <a:off x="1846580" y="3263900"/>
            <a:ext cx="8810625" cy="76962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sz="18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GRANT SELECT,INSERT(empno,ename)  ON ems.emp TO 'ems_test'@'localhost';</a:t>
            </a:r>
            <a:endParaRPr sz="18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6"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9.3.2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授予权限</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流程图: 过程 2"/>
          <p:cNvSpPr/>
          <p:nvPr/>
        </p:nvSpPr>
        <p:spPr>
          <a:xfrm>
            <a:off x="1702435" y="2307590"/>
            <a:ext cx="9166860" cy="2280920"/>
          </a:xfrm>
          <a:prstGeom prst="flowChartProcess">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1951990" y="2709545"/>
            <a:ext cx="8668385" cy="1476375"/>
          </a:xfrm>
          <a:prstGeom prst="rect">
            <a:avLst/>
          </a:prstGeom>
          <a:noFill/>
        </p:spPr>
        <p:txBody>
          <a:bodyPr wrap="square" rtlCol="0">
            <a:spAutoFit/>
          </a:bodyPr>
          <a:lstStyle/>
          <a:p>
            <a:pPr algn="l">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mn-ea"/>
              </a:rPr>
              <a:t>授权语句执行成功后，可以对用户ems_test的授予权限进行查询，其中表权限可以在</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mysql.tables_priv</a:t>
            </a:r>
            <a:r>
              <a:rPr lang="zh-CN" altLang="en-US" sz="2000" dirty="0" smtClean="0">
                <a:solidFill>
                  <a:srgbClr val="595959"/>
                </a:solidFill>
                <a:latin typeface="微软雅黑" panose="020B0503020204020204" pitchFamily="34" charset="-122"/>
                <a:ea typeface="微软雅黑" panose="020B0503020204020204" pitchFamily="34" charset="-122"/>
                <a:sym typeface="+mn-ea"/>
              </a:rPr>
              <a:t>中查看，列权限可以在</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mysql.columns_priv</a:t>
            </a:r>
            <a:r>
              <a:rPr lang="zh-CN" altLang="en-US" sz="2000" dirty="0" smtClean="0">
                <a:solidFill>
                  <a:srgbClr val="595959"/>
                </a:solidFill>
                <a:latin typeface="微软雅黑" panose="020B0503020204020204" pitchFamily="34" charset="-122"/>
                <a:ea typeface="微软雅黑" panose="020B0503020204020204" pitchFamily="34" charset="-122"/>
                <a:sym typeface="+mn-ea"/>
              </a:rPr>
              <a:t>中查看，此处以用户ems_test为例，具体SQL语句及执行结果如下所示。</a:t>
            </a:r>
            <a:endParaRPr lang="zh-CN" altLang="en-US" sz="2000" dirty="0" smtClean="0">
              <a:solidFill>
                <a:srgbClr val="595959"/>
              </a:solidFill>
              <a:latin typeface="微软雅黑" panose="020B0503020204020204" pitchFamily="34" charset="-122"/>
              <a:ea typeface="微软雅黑" panose="020B0503020204020204" pitchFamily="34" charset="-122"/>
              <a:sym typeface="+mn-ea"/>
            </a:endParaRPr>
          </a:p>
        </p:txBody>
      </p:sp>
      <p:sp>
        <p:nvSpPr>
          <p:cNvPr id="7"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9.3.3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查看权限</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1428115" y="1701165"/>
            <a:ext cx="6044565" cy="450469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mysql&gt; SELECT db,table_name,table_priv,column_priv</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-&gt; FROM mysql.tables_priv WHERE user='ems_test';</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db  | table_name | table_priv | column_priv |</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ems | emp        | Select     | Insert      |</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1 row in set (0.00 sec)</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mysql&gt; SELECT db,table_name,column_name,column_priv</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-&gt; FROM mysql.columns_priv WHERE user='ems_test';</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db  | table_name | column_name | column_priv |</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ems | emp        | empno       | Insert      |</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ems | emp        | ename       | Insert      |</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2 rows in set (0.00 sec)</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p:txBody>
      </p:sp>
      <p:sp>
        <p:nvSpPr>
          <p:cNvPr id="7"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9.3.3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查看权限</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文本框 3"/>
          <p:cNvSpPr txBox="1"/>
          <p:nvPr/>
        </p:nvSpPr>
        <p:spPr>
          <a:xfrm>
            <a:off x="1143635" y="1031875"/>
            <a:ext cx="8668385" cy="553085"/>
          </a:xfrm>
          <a:prstGeom prst="rect">
            <a:avLst/>
          </a:prstGeom>
          <a:noFill/>
        </p:spPr>
        <p:txBody>
          <a:bodyPr wrap="square" rtlCol="0">
            <a:spAutoFit/>
          </a:bodyPr>
          <a:lstStyle/>
          <a:p>
            <a:pPr algn="l">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mn-ea"/>
              </a:rPr>
              <a:t>此处以用户ems_test的权限为例，具体SQL语句及执行结果如下所示。</a:t>
            </a:r>
            <a:endParaRPr lang="zh-CN" altLang="en-US" sz="2000" dirty="0" smtClean="0">
              <a:solidFill>
                <a:srgbClr val="595959"/>
              </a:solidFill>
              <a:latin typeface="微软雅黑" panose="020B0503020204020204" pitchFamily="34" charset="-122"/>
              <a:ea typeface="微软雅黑" panose="020B0503020204020204" pitchFamily="34" charset="-122"/>
              <a:sym typeface="+mn-ea"/>
            </a:endParaRPr>
          </a:p>
        </p:txBody>
      </p:sp>
      <p:sp>
        <p:nvSpPr>
          <p:cNvPr id="8" name="矩形标注 7"/>
          <p:cNvSpPr/>
          <p:nvPr/>
        </p:nvSpPr>
        <p:spPr>
          <a:xfrm>
            <a:off x="8188960" y="2508250"/>
            <a:ext cx="3080385" cy="3067685"/>
          </a:xfrm>
          <a:prstGeom prst="wedgeRectCallout">
            <a:avLst>
              <a:gd name="adj1" fmla="val -62801"/>
              <a:gd name="adj2" fmla="val 19509"/>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10" name="文本框 9"/>
          <p:cNvSpPr txBox="1"/>
          <p:nvPr/>
        </p:nvSpPr>
        <p:spPr>
          <a:xfrm>
            <a:off x="8324215" y="2709545"/>
            <a:ext cx="2752090" cy="2676525"/>
          </a:xfrm>
          <a:prstGeom prst="rect">
            <a:avLst/>
          </a:prstGeom>
          <a:noFill/>
        </p:spPr>
        <p:txBody>
          <a:bodyPr wrap="square" rtlCol="0">
            <a:spAutoFit/>
          </a:bodyPr>
          <a:lstStyle/>
          <a:p>
            <a:pPr algn="l">
              <a:lnSpc>
                <a:spcPct val="150000"/>
              </a:lnSpc>
            </a:pPr>
            <a:r>
              <a:rPr lang="zh-CN" altLang="en-US" sz="1600" dirty="0" smtClean="0">
                <a:solidFill>
                  <a:srgbClr val="595959"/>
                </a:solidFill>
                <a:latin typeface="微软雅黑" panose="020B0503020204020204" pitchFamily="34" charset="-122"/>
                <a:ea typeface="微软雅黑" panose="020B0503020204020204" pitchFamily="34" charset="-122"/>
                <a:sym typeface="+mn-ea"/>
              </a:rPr>
              <a:t>从执行结果可以得出，ems_test用户对数据库ems的员工表emp有查询权限，对员工表emp中的empno和ename字段有插入权限，说明使用</a:t>
            </a:r>
            <a:r>
              <a:rPr lang="zh-CN" altLang="en-US" sz="1600" dirty="0" smtClean="0">
                <a:solidFill>
                  <a:srgbClr val="1369B2"/>
                </a:solidFill>
                <a:latin typeface="微软雅黑" panose="020B0503020204020204" pitchFamily="34" charset="-122"/>
                <a:ea typeface="微软雅黑" panose="020B0503020204020204" pitchFamily="34" charset="-122"/>
                <a:sym typeface="+mn-ea"/>
              </a:rPr>
              <a:t>GRANT</a:t>
            </a:r>
            <a:r>
              <a:rPr lang="zh-CN" altLang="en-US" sz="1600" dirty="0" smtClean="0">
                <a:solidFill>
                  <a:srgbClr val="595959"/>
                </a:solidFill>
                <a:latin typeface="微软雅黑" panose="020B0503020204020204" pitchFamily="34" charset="-122"/>
                <a:ea typeface="微软雅黑" panose="020B0503020204020204" pitchFamily="34" charset="-122"/>
                <a:sym typeface="+mn-ea"/>
              </a:rPr>
              <a:t>语句成功给用户授予了权限。</a:t>
            </a:r>
            <a:endParaRPr lang="zh-CN" altLang="en-US" sz="1600" dirty="0" smtClean="0">
              <a:solidFill>
                <a:srgbClr val="595959"/>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143000" y="1100455"/>
            <a:ext cx="10086975" cy="5280660"/>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600"/>
          </a:p>
        </p:txBody>
      </p:sp>
      <p:sp>
        <p:nvSpPr>
          <p:cNvPr id="6" name="文本框 5"/>
          <p:cNvSpPr txBox="1"/>
          <p:nvPr/>
        </p:nvSpPr>
        <p:spPr>
          <a:xfrm>
            <a:off x="1763395" y="1273810"/>
            <a:ext cx="8630285" cy="829945"/>
          </a:xfrm>
          <a:prstGeom prst="rect">
            <a:avLst/>
          </a:prstGeom>
          <a:noFill/>
        </p:spPr>
        <p:txBody>
          <a:bodyPr wrap="square" rtlCol="0">
            <a:spAutoFit/>
          </a:bodyPr>
          <a:lstStyle/>
          <a:p>
            <a:pPr algn="l">
              <a:lnSpc>
                <a:spcPct val="150000"/>
              </a:lnSpc>
            </a:pPr>
            <a:r>
              <a:rPr sz="1600" dirty="0" smtClean="0">
                <a:solidFill>
                  <a:srgbClr val="595959"/>
                </a:solidFill>
                <a:latin typeface="微软雅黑" panose="020B0503020204020204" pitchFamily="34" charset="-122"/>
                <a:ea typeface="微软雅黑" panose="020B0503020204020204" pitchFamily="34" charset="-122"/>
              </a:rPr>
              <a:t>除了上述的权限查看方式，还可以使用</a:t>
            </a:r>
            <a:r>
              <a:rPr sz="1600" dirty="0" smtClean="0">
                <a:solidFill>
                  <a:srgbClr val="1369B2"/>
                </a:solidFill>
                <a:latin typeface="微软雅黑" panose="020B0503020204020204" pitchFamily="34" charset="-122"/>
                <a:ea typeface="微软雅黑" panose="020B0503020204020204" pitchFamily="34" charset="-122"/>
              </a:rPr>
              <a:t>SHOW GRANTS</a:t>
            </a:r>
            <a:r>
              <a:rPr sz="1600" dirty="0" smtClean="0">
                <a:solidFill>
                  <a:srgbClr val="595959"/>
                </a:solidFill>
                <a:latin typeface="微软雅黑" panose="020B0503020204020204" pitchFamily="34" charset="-122"/>
                <a:ea typeface="微软雅黑" panose="020B0503020204020204" pitchFamily="34" charset="-122"/>
              </a:rPr>
              <a:t>语句查看用户权限，其基本语法格式如下所示。</a:t>
            </a:r>
            <a:endParaRPr sz="1600" dirty="0" smtClean="0">
              <a:solidFill>
                <a:srgbClr val="595959"/>
              </a:solidFill>
              <a:latin typeface="微软雅黑" panose="020B0503020204020204" pitchFamily="34" charset="-122"/>
              <a:ea typeface="微软雅黑" panose="020B0503020204020204" pitchFamily="34" charset="-122"/>
            </a:endParaRPr>
          </a:p>
        </p:txBody>
      </p:sp>
      <p:sp>
        <p:nvSpPr>
          <p:cNvPr id="18" name="矩形 17"/>
          <p:cNvSpPr/>
          <p:nvPr/>
        </p:nvSpPr>
        <p:spPr>
          <a:xfrm>
            <a:off x="1830705" y="2210435"/>
            <a:ext cx="9028430" cy="50927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SHOW GRANTS FOR 'username'@'hostname';</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3"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9.3.3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查看权限</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文本框 1"/>
          <p:cNvSpPr txBox="1"/>
          <p:nvPr/>
        </p:nvSpPr>
        <p:spPr>
          <a:xfrm>
            <a:off x="1679575" y="3001645"/>
            <a:ext cx="8630285" cy="829945"/>
          </a:xfrm>
          <a:prstGeom prst="rect">
            <a:avLst/>
          </a:prstGeom>
          <a:noFill/>
        </p:spPr>
        <p:txBody>
          <a:bodyPr wrap="square" rtlCol="0">
            <a:spAutoFit/>
          </a:bodyPr>
          <a:lstStyle/>
          <a:p>
            <a:pPr algn="l">
              <a:lnSpc>
                <a:spcPct val="150000"/>
              </a:lnSpc>
            </a:pPr>
            <a:r>
              <a:rPr sz="1600" dirty="0" smtClean="0">
                <a:solidFill>
                  <a:srgbClr val="595959"/>
                </a:solidFill>
                <a:latin typeface="微软雅黑" panose="020B0503020204020204" pitchFamily="34" charset="-122"/>
                <a:ea typeface="微软雅黑" panose="020B0503020204020204" pitchFamily="34" charset="-122"/>
              </a:rPr>
              <a:t>下面根据上述语法格式使用SHOW GRANTS语句查看用户ems_test的权限信息，具体SQL语句如下所示。</a:t>
            </a:r>
            <a:endParaRPr sz="1600" dirty="0" smtClean="0">
              <a:solidFill>
                <a:srgbClr val="595959"/>
              </a:solidFill>
              <a:latin typeface="微软雅黑" panose="020B0503020204020204" pitchFamily="34" charset="-122"/>
              <a:ea typeface="微软雅黑" panose="020B0503020204020204" pitchFamily="34" charset="-122"/>
            </a:endParaRPr>
          </a:p>
        </p:txBody>
      </p:sp>
      <p:sp>
        <p:nvSpPr>
          <p:cNvPr id="7" name="矩形 6"/>
          <p:cNvSpPr/>
          <p:nvPr/>
        </p:nvSpPr>
        <p:spPr>
          <a:xfrm>
            <a:off x="1672590" y="3903345"/>
            <a:ext cx="9186545" cy="218567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mysql&gt; SHOW GRANTS FOR 'ems_test'@'localhost';</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Grants for ems_test@localhost                                                                      |</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GRANT USAGE ON *.* TO `ems_test`@`localhost`                                          |</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 GRANT SELECT, INSERT (`empno`, `ename`) ON `ems`.`emp` TO `ems_test`@`localhost` |</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2 rows in set (0.00 sec)</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流程图: 过程 2"/>
          <p:cNvSpPr/>
          <p:nvPr/>
        </p:nvSpPr>
        <p:spPr>
          <a:xfrm>
            <a:off x="1702435" y="2132965"/>
            <a:ext cx="9166860" cy="3835400"/>
          </a:xfrm>
          <a:prstGeom prst="flowChartProcess">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1990725" y="2349500"/>
            <a:ext cx="8668385" cy="922020"/>
          </a:xfrm>
          <a:prstGeom prst="rect">
            <a:avLst/>
          </a:prstGeom>
          <a:noFill/>
        </p:spPr>
        <p:txBody>
          <a:bodyPr wrap="square" rtlCol="0">
            <a:spAutoFit/>
          </a:bodyPr>
          <a:lstStyle/>
          <a:p>
            <a:pPr algn="l">
              <a:lnSpc>
                <a:spcPct val="150000"/>
              </a:lnSpc>
            </a:pPr>
            <a:r>
              <a:rPr lang="zh-CN" altLang="en-US" sz="1800" dirty="0" smtClean="0">
                <a:solidFill>
                  <a:srgbClr val="595959"/>
                </a:solidFill>
                <a:latin typeface="微软雅黑" panose="020B0503020204020204" pitchFamily="34" charset="-122"/>
                <a:ea typeface="微软雅黑" panose="020B0503020204020204" pitchFamily="34" charset="-122"/>
                <a:sym typeface="+mn-ea"/>
              </a:rPr>
              <a:t>为了保证数据库的安全，对于用户一些不必要的权限应该及时收回。MySQL提供了</a:t>
            </a:r>
            <a:r>
              <a:rPr lang="zh-CN" altLang="en-US" sz="1800" dirty="0" smtClean="0">
                <a:solidFill>
                  <a:srgbClr val="1369B2"/>
                </a:solidFill>
                <a:latin typeface="微软雅黑" panose="020B0503020204020204" pitchFamily="34" charset="-122"/>
                <a:ea typeface="微软雅黑" panose="020B0503020204020204" pitchFamily="34" charset="-122"/>
                <a:sym typeface="+mn-ea"/>
              </a:rPr>
              <a:t>REVOKE</a:t>
            </a:r>
            <a:r>
              <a:rPr lang="zh-CN" altLang="en-US" sz="1800" dirty="0" smtClean="0">
                <a:solidFill>
                  <a:srgbClr val="595959"/>
                </a:solidFill>
                <a:latin typeface="微软雅黑" panose="020B0503020204020204" pitchFamily="34" charset="-122"/>
                <a:ea typeface="微软雅黑" panose="020B0503020204020204" pitchFamily="34" charset="-122"/>
                <a:sym typeface="+mn-ea"/>
              </a:rPr>
              <a:t>语句用于收回指定用户的指定权限，其基本语法格式如下所示。</a:t>
            </a:r>
            <a:endParaRPr lang="zh-CN" altLang="en-US" sz="1800" dirty="0" smtClean="0">
              <a:solidFill>
                <a:srgbClr val="595959"/>
              </a:solidFill>
              <a:latin typeface="微软雅黑" panose="020B0503020204020204" pitchFamily="34" charset="-122"/>
              <a:ea typeface="微软雅黑" panose="020B0503020204020204" pitchFamily="34" charset="-122"/>
              <a:sym typeface="+mn-ea"/>
            </a:endParaRPr>
          </a:p>
        </p:txBody>
      </p:sp>
      <p:sp>
        <p:nvSpPr>
          <p:cNvPr id="18" name="矩形 17"/>
          <p:cNvSpPr/>
          <p:nvPr/>
        </p:nvSpPr>
        <p:spPr>
          <a:xfrm>
            <a:off x="2062480" y="3429635"/>
            <a:ext cx="7050405" cy="10033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REVOKE  权限类型[(字段列表)][,权限类型[(字段列表)]]  </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ON 权限级别 </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FROM 'username'@'hostname'[,'username'@'hostname'] …</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5" name="文本框 4"/>
          <p:cNvSpPr txBox="1"/>
          <p:nvPr/>
        </p:nvSpPr>
        <p:spPr>
          <a:xfrm>
            <a:off x="2062480" y="4725670"/>
            <a:ext cx="8668385" cy="922020"/>
          </a:xfrm>
          <a:prstGeom prst="rect">
            <a:avLst/>
          </a:prstGeom>
          <a:noFill/>
        </p:spPr>
        <p:txBody>
          <a:bodyPr wrap="square" rtlCol="0">
            <a:spAutoFit/>
          </a:bodyPr>
          <a:lstStyle/>
          <a:p>
            <a:pPr algn="l">
              <a:lnSpc>
                <a:spcPct val="150000"/>
              </a:lnSpc>
            </a:pPr>
            <a:r>
              <a:rPr lang="zh-CN" altLang="en-US" sz="1800" dirty="0" smtClean="0">
                <a:solidFill>
                  <a:srgbClr val="595959"/>
                </a:solidFill>
                <a:latin typeface="微软雅黑" panose="020B0503020204020204" pitchFamily="34" charset="-122"/>
                <a:ea typeface="微软雅黑" panose="020B0503020204020204" pitchFamily="34" charset="-122"/>
                <a:sym typeface="+mn-ea"/>
              </a:rPr>
              <a:t>上述语法格式中权限类型表示收回的权限类型，</a:t>
            </a:r>
            <a:r>
              <a:rPr lang="zh-CN" altLang="en-US" sz="1800" dirty="0" smtClean="0">
                <a:solidFill>
                  <a:srgbClr val="1369B2"/>
                </a:solidFill>
                <a:latin typeface="微软雅黑" panose="020B0503020204020204" pitchFamily="34" charset="-122"/>
                <a:ea typeface="微软雅黑" panose="020B0503020204020204" pitchFamily="34" charset="-122"/>
                <a:sym typeface="+mn-ea"/>
              </a:rPr>
              <a:t>字段列表表示权限作用的字段</a:t>
            </a:r>
            <a:r>
              <a:rPr lang="zh-CN" altLang="en-US" sz="1800" dirty="0" smtClean="0">
                <a:solidFill>
                  <a:srgbClr val="595959"/>
                </a:solidFill>
                <a:latin typeface="微软雅黑" panose="020B0503020204020204" pitchFamily="34" charset="-122"/>
                <a:ea typeface="微软雅黑" panose="020B0503020204020204" pitchFamily="34" charset="-122"/>
                <a:sym typeface="+mn-ea"/>
              </a:rPr>
              <a:t>，如果不指定字段，表示作用于整个数据表。</a:t>
            </a:r>
            <a:endParaRPr lang="zh-CN" altLang="en-US" sz="1800" dirty="0" smtClean="0">
              <a:solidFill>
                <a:srgbClr val="595959"/>
              </a:solidFill>
              <a:latin typeface="微软雅黑" panose="020B0503020204020204" pitchFamily="34" charset="-122"/>
              <a:ea typeface="微软雅黑" panose="020B0503020204020204" pitchFamily="34" charset="-122"/>
              <a:sym typeface="+mn-ea"/>
            </a:endParaRPr>
          </a:p>
        </p:txBody>
      </p:sp>
      <p:sp>
        <p:nvSpPr>
          <p:cNvPr id="7"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9.3.4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收回权限</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846580" y="1917700"/>
            <a:ext cx="8715375" cy="396049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2279015" y="1917700"/>
            <a:ext cx="8114665" cy="829945"/>
          </a:xfrm>
          <a:prstGeom prst="rect">
            <a:avLst/>
          </a:prstGeom>
          <a:noFill/>
        </p:spPr>
        <p:txBody>
          <a:bodyPr wrap="square" rtlCol="0">
            <a:spAutoFit/>
          </a:bodyPr>
          <a:lstStyle/>
          <a:p>
            <a:pPr algn="l">
              <a:lnSpc>
                <a:spcPct val="150000"/>
              </a:lnSpc>
            </a:pPr>
            <a:r>
              <a:rPr sz="1600" dirty="0" smtClean="0">
                <a:solidFill>
                  <a:srgbClr val="595959"/>
                </a:solidFill>
                <a:latin typeface="微软雅黑" panose="020B0503020204020204" pitchFamily="34" charset="-122"/>
                <a:ea typeface="微软雅黑" panose="020B0503020204020204" pitchFamily="34" charset="-122"/>
              </a:rPr>
              <a:t>例如，对ems_test用户在ems.emp表中字段empno和ename的</a:t>
            </a:r>
            <a:r>
              <a:rPr sz="1600" dirty="0" smtClean="0">
                <a:solidFill>
                  <a:srgbClr val="1369B2"/>
                </a:solidFill>
                <a:latin typeface="微软雅黑" panose="020B0503020204020204" pitchFamily="34" charset="-122"/>
                <a:ea typeface="微软雅黑" panose="020B0503020204020204" pitchFamily="34" charset="-122"/>
              </a:rPr>
              <a:t>INSERT权限</a:t>
            </a:r>
            <a:r>
              <a:rPr sz="1600" dirty="0" smtClean="0">
                <a:solidFill>
                  <a:srgbClr val="595959"/>
                </a:solidFill>
                <a:latin typeface="微软雅黑" panose="020B0503020204020204" pitchFamily="34" charset="-122"/>
                <a:ea typeface="微软雅黑" panose="020B0503020204020204" pitchFamily="34" charset="-122"/>
              </a:rPr>
              <a:t>进行收回，具体SQL语句及执行结果如下。</a:t>
            </a:r>
            <a:endParaRPr sz="1600" dirty="0" smtClean="0">
              <a:solidFill>
                <a:srgbClr val="595959"/>
              </a:solidFill>
              <a:latin typeface="微软雅黑" panose="020B0503020204020204" pitchFamily="34" charset="-122"/>
              <a:ea typeface="微软雅黑" panose="020B0503020204020204" pitchFamily="34" charset="-122"/>
            </a:endParaRPr>
          </a:p>
        </p:txBody>
      </p:sp>
      <p:sp>
        <p:nvSpPr>
          <p:cNvPr id="18" name="矩形 17"/>
          <p:cNvSpPr/>
          <p:nvPr/>
        </p:nvSpPr>
        <p:spPr>
          <a:xfrm>
            <a:off x="2279015" y="2853690"/>
            <a:ext cx="7565390" cy="6527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REVOKE INSERT(empno,ename) ON ems.emp FROM 'ems_test'@'localhost';</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p:txBody>
      </p:sp>
      <p:sp>
        <p:nvSpPr>
          <p:cNvPr id="2" name="文本框 1"/>
          <p:cNvSpPr txBox="1"/>
          <p:nvPr/>
        </p:nvSpPr>
        <p:spPr>
          <a:xfrm>
            <a:off x="2206625" y="3899535"/>
            <a:ext cx="8114665" cy="829945"/>
          </a:xfrm>
          <a:prstGeom prst="rect">
            <a:avLst/>
          </a:prstGeom>
          <a:noFill/>
        </p:spPr>
        <p:txBody>
          <a:bodyPr wrap="square" rtlCol="0">
            <a:spAutoFit/>
          </a:bodyPr>
          <a:lstStyle/>
          <a:p>
            <a:pPr algn="l">
              <a:lnSpc>
                <a:spcPct val="150000"/>
              </a:lnSpc>
            </a:pPr>
            <a:r>
              <a:rPr sz="1600" dirty="0" smtClean="0">
                <a:solidFill>
                  <a:srgbClr val="595959"/>
                </a:solidFill>
                <a:latin typeface="微软雅黑" panose="020B0503020204020204" pitchFamily="34" charset="-122"/>
                <a:ea typeface="微软雅黑" panose="020B0503020204020204" pitchFamily="34" charset="-122"/>
              </a:rPr>
              <a:t>从mysql.columns_priv中查看</a:t>
            </a:r>
            <a:r>
              <a:rPr sz="1600" dirty="0" smtClean="0">
                <a:solidFill>
                  <a:srgbClr val="1369B2"/>
                </a:solidFill>
                <a:latin typeface="微软雅黑" panose="020B0503020204020204" pitchFamily="34" charset="-122"/>
                <a:ea typeface="微软雅黑" panose="020B0503020204020204" pitchFamily="34" charset="-122"/>
              </a:rPr>
              <a:t>ems_test用户的列权限</a:t>
            </a:r>
            <a:r>
              <a:rPr sz="1600" dirty="0" smtClean="0">
                <a:solidFill>
                  <a:srgbClr val="595959"/>
                </a:solidFill>
                <a:latin typeface="微软雅黑" panose="020B0503020204020204" pitchFamily="34" charset="-122"/>
                <a:ea typeface="微软雅黑" panose="020B0503020204020204" pitchFamily="34" charset="-122"/>
              </a:rPr>
              <a:t>，验证ems_test用户的相应权限是否收回成功，具体SQL语句及执行结果如下所示。</a:t>
            </a:r>
            <a:endParaRPr sz="1600" dirty="0" smtClean="0">
              <a:solidFill>
                <a:srgbClr val="595959"/>
              </a:solidFill>
              <a:latin typeface="微软雅黑" panose="020B0503020204020204" pitchFamily="34" charset="-122"/>
              <a:ea typeface="微软雅黑" panose="020B0503020204020204" pitchFamily="34" charset="-122"/>
            </a:endParaRPr>
          </a:p>
        </p:txBody>
      </p:sp>
      <p:sp>
        <p:nvSpPr>
          <p:cNvPr id="7" name="矩形 6"/>
          <p:cNvSpPr/>
          <p:nvPr/>
        </p:nvSpPr>
        <p:spPr>
          <a:xfrm>
            <a:off x="2279015" y="4797425"/>
            <a:ext cx="7050405" cy="91567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mysql&gt; SELECT db,table_name,column_name,column_priv</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-&gt; FROM mysql.columns_priv WHERE user='ems_test';</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Empty set (0.00 sec)</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p:txBody>
      </p:sp>
      <p:sp>
        <p:nvSpPr>
          <p:cNvPr id="10"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9.3.4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收回权限</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流程图: 过程 2"/>
          <p:cNvSpPr/>
          <p:nvPr/>
        </p:nvSpPr>
        <p:spPr>
          <a:xfrm>
            <a:off x="1702435" y="2133600"/>
            <a:ext cx="9166860" cy="3518535"/>
          </a:xfrm>
          <a:prstGeom prst="flowChartProcess">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文本框 3"/>
          <p:cNvSpPr txBox="1"/>
          <p:nvPr/>
        </p:nvSpPr>
        <p:spPr>
          <a:xfrm>
            <a:off x="1990725" y="2349500"/>
            <a:ext cx="8668385" cy="1476375"/>
          </a:xfrm>
          <a:prstGeom prst="rect">
            <a:avLst/>
          </a:prstGeom>
          <a:noFill/>
        </p:spPr>
        <p:txBody>
          <a:bodyPr wrap="square" rtlCol="0">
            <a:spAutoFit/>
          </a:bodyPr>
          <a:lstStyle/>
          <a:p>
            <a:pPr algn="l">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mn-ea"/>
              </a:rPr>
              <a:t>当用户拥有的权限比较多，使用上述的收回方式就比较繁琐，为此MySQL提供了</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一次性收回所有权限</a:t>
            </a:r>
            <a:r>
              <a:rPr lang="zh-CN" altLang="en-US" sz="2000" dirty="0" smtClean="0">
                <a:solidFill>
                  <a:srgbClr val="595959"/>
                </a:solidFill>
                <a:latin typeface="微软雅黑" panose="020B0503020204020204" pitchFamily="34" charset="-122"/>
                <a:ea typeface="微软雅黑" panose="020B0503020204020204" pitchFamily="34" charset="-122"/>
                <a:sym typeface="+mn-ea"/>
              </a:rPr>
              <a:t>的功能，一次性收回用户所有权限的语法格式如下所示。</a:t>
            </a:r>
            <a:endParaRPr lang="zh-CN" altLang="en-US" sz="2000" dirty="0" smtClean="0">
              <a:solidFill>
                <a:srgbClr val="595959"/>
              </a:solidFill>
              <a:latin typeface="微软雅黑" panose="020B0503020204020204" pitchFamily="34" charset="-122"/>
              <a:ea typeface="微软雅黑" panose="020B0503020204020204" pitchFamily="34" charset="-122"/>
              <a:sym typeface="+mn-ea"/>
            </a:endParaRPr>
          </a:p>
        </p:txBody>
      </p:sp>
      <p:sp>
        <p:nvSpPr>
          <p:cNvPr id="18" name="矩形 17"/>
          <p:cNvSpPr/>
          <p:nvPr/>
        </p:nvSpPr>
        <p:spPr>
          <a:xfrm>
            <a:off x="2062480" y="4005580"/>
            <a:ext cx="7050405" cy="10896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20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REVOKE ALL PRIVILEGES, GRANT OPTION FROM 'username'@'hostname'[,'username'@'hostname'] …</a:t>
            </a:r>
            <a:endParaRPr lang="zh-CN" altLang="en-US" sz="20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7"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9.3.4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收回权限</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过程 4"/>
          <p:cNvSpPr/>
          <p:nvPr/>
        </p:nvSpPr>
        <p:spPr>
          <a:xfrm>
            <a:off x="1846580" y="1228090"/>
            <a:ext cx="8715375" cy="481774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文本框 5"/>
          <p:cNvSpPr txBox="1"/>
          <p:nvPr/>
        </p:nvSpPr>
        <p:spPr>
          <a:xfrm>
            <a:off x="2350770" y="1540510"/>
            <a:ext cx="8114665" cy="460375"/>
          </a:xfrm>
          <a:prstGeom prst="rect">
            <a:avLst/>
          </a:prstGeom>
          <a:noFill/>
        </p:spPr>
        <p:txBody>
          <a:bodyPr wrap="square" rtlCol="0">
            <a:spAutoFit/>
          </a:bodyPr>
          <a:lstStyle/>
          <a:p>
            <a:pPr algn="l">
              <a:lnSpc>
                <a:spcPct val="150000"/>
              </a:lnSpc>
            </a:pPr>
            <a:r>
              <a:rPr sz="1600" dirty="0" smtClean="0">
                <a:solidFill>
                  <a:srgbClr val="595959"/>
                </a:solidFill>
                <a:latin typeface="微软雅黑" panose="020B0503020204020204" pitchFamily="34" charset="-122"/>
                <a:ea typeface="微软雅黑" panose="020B0503020204020204" pitchFamily="34" charset="-122"/>
              </a:rPr>
              <a:t>例如，</a:t>
            </a:r>
            <a:r>
              <a:rPr sz="1600" dirty="0" smtClean="0">
                <a:solidFill>
                  <a:srgbClr val="1369B2"/>
                </a:solidFill>
                <a:latin typeface="微软雅黑" panose="020B0503020204020204" pitchFamily="34" charset="-122"/>
                <a:ea typeface="微软雅黑" panose="020B0503020204020204" pitchFamily="34" charset="-122"/>
              </a:rPr>
              <a:t>收回用户ems_test的所有权限</a:t>
            </a:r>
            <a:r>
              <a:rPr sz="1600" dirty="0" smtClean="0">
                <a:solidFill>
                  <a:srgbClr val="595959"/>
                </a:solidFill>
                <a:latin typeface="微软雅黑" panose="020B0503020204020204" pitchFamily="34" charset="-122"/>
                <a:ea typeface="微软雅黑" panose="020B0503020204020204" pitchFamily="34" charset="-122"/>
              </a:rPr>
              <a:t>，具体SQL语句及执行结果如下。</a:t>
            </a:r>
            <a:endParaRPr sz="1600" dirty="0" smtClean="0">
              <a:solidFill>
                <a:srgbClr val="595959"/>
              </a:solidFill>
              <a:latin typeface="微软雅黑" panose="020B0503020204020204" pitchFamily="34" charset="-122"/>
              <a:ea typeface="微软雅黑" panose="020B0503020204020204" pitchFamily="34" charset="-122"/>
            </a:endParaRPr>
          </a:p>
        </p:txBody>
      </p:sp>
      <p:sp>
        <p:nvSpPr>
          <p:cNvPr id="18" name="矩形 17"/>
          <p:cNvSpPr/>
          <p:nvPr/>
        </p:nvSpPr>
        <p:spPr>
          <a:xfrm>
            <a:off x="2350770" y="2127250"/>
            <a:ext cx="7577455" cy="9023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REVOKE ALL PRIVILEGES, GRANT OPTION FROM 'ems_test'@'localhost';</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2" name="文本框 1"/>
          <p:cNvSpPr txBox="1"/>
          <p:nvPr/>
        </p:nvSpPr>
        <p:spPr>
          <a:xfrm>
            <a:off x="2279015" y="3216910"/>
            <a:ext cx="8114665" cy="460375"/>
          </a:xfrm>
          <a:prstGeom prst="rect">
            <a:avLst/>
          </a:prstGeom>
          <a:noFill/>
        </p:spPr>
        <p:txBody>
          <a:bodyPr wrap="square" rtlCol="0">
            <a:spAutoFit/>
          </a:bodyPr>
          <a:lstStyle/>
          <a:p>
            <a:pPr algn="l">
              <a:lnSpc>
                <a:spcPct val="150000"/>
              </a:lnSpc>
            </a:pPr>
            <a:r>
              <a:rPr sz="1600" dirty="0" smtClean="0">
                <a:solidFill>
                  <a:srgbClr val="595959"/>
                </a:solidFill>
                <a:latin typeface="微软雅黑" panose="020B0503020204020204" pitchFamily="34" charset="-122"/>
                <a:ea typeface="微软雅黑" panose="020B0503020204020204" pitchFamily="34" charset="-122"/>
              </a:rPr>
              <a:t>使用</a:t>
            </a:r>
            <a:r>
              <a:rPr sz="1600" dirty="0" smtClean="0">
                <a:solidFill>
                  <a:srgbClr val="1369B2"/>
                </a:solidFill>
                <a:latin typeface="微软雅黑" panose="020B0503020204020204" pitchFamily="34" charset="-122"/>
                <a:ea typeface="微软雅黑" panose="020B0503020204020204" pitchFamily="34" charset="-122"/>
              </a:rPr>
              <a:t>SHOW GRANTS语句</a:t>
            </a:r>
            <a:r>
              <a:rPr sz="1600" dirty="0" smtClean="0">
                <a:solidFill>
                  <a:srgbClr val="595959"/>
                </a:solidFill>
                <a:latin typeface="微软雅黑" panose="020B0503020204020204" pitchFamily="34" charset="-122"/>
                <a:ea typeface="微软雅黑" panose="020B0503020204020204" pitchFamily="34" charset="-122"/>
              </a:rPr>
              <a:t>查看用户ems_test的权限信息，具体SQL语句如下所示。</a:t>
            </a:r>
            <a:endParaRPr sz="1600" dirty="0" smtClean="0">
              <a:solidFill>
                <a:srgbClr val="595959"/>
              </a:solidFill>
              <a:latin typeface="微软雅黑" panose="020B0503020204020204" pitchFamily="34" charset="-122"/>
              <a:ea typeface="微软雅黑" panose="020B0503020204020204" pitchFamily="34" charset="-122"/>
            </a:endParaRPr>
          </a:p>
        </p:txBody>
      </p:sp>
      <p:sp>
        <p:nvSpPr>
          <p:cNvPr id="7" name="矩形 6"/>
          <p:cNvSpPr/>
          <p:nvPr/>
        </p:nvSpPr>
        <p:spPr>
          <a:xfrm>
            <a:off x="2279015" y="3864610"/>
            <a:ext cx="7050405" cy="17900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mysql&gt; SHOW GRANTS FOR 'ems_test'@'localhost';</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Grants for ems_test@localhost                |</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 GRANT USAGE ON *.* TO `ems_test`@`localhost` |</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a:p>
            <a:pPr>
              <a:defRPr/>
            </a:pPr>
            <a:r>
              <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rPr>
              <a:t>1 row in set (0.00 sec)</a:t>
            </a:r>
            <a:endParaRPr lang="zh-CN" altLang="en-US" sz="1600">
              <a:solidFill>
                <a:srgbClr val="595959"/>
              </a:solidFill>
              <a:latin typeface="宋体" panose="02010600030101010101" pitchFamily="2" charset="-122"/>
              <a:ea typeface="宋体" panose="02010600030101010101" pitchFamily="2" charset="-122"/>
              <a:cs typeface="Courier New" panose="02070309020205020404" pitchFamily="49" charset="0"/>
              <a:sym typeface="+mn-ea"/>
            </a:endParaRPr>
          </a:p>
        </p:txBody>
      </p:sp>
      <p:sp>
        <p:nvSpPr>
          <p:cNvPr id="10" name="Title 1"/>
          <p:cNvSpPr txBox="1"/>
          <p:nvPr/>
        </p:nvSpPr>
        <p:spPr>
          <a:xfrm>
            <a:off x="1143635" y="266700"/>
            <a:ext cx="42398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9.3.4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收回权限</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646170" y="3069590"/>
            <a:ext cx="8543925" cy="645160"/>
          </a:xfrm>
          <a:prstGeom prst="rect">
            <a:avLst/>
          </a:prstGeom>
          <a:noFill/>
        </p:spPr>
        <p:txBody>
          <a:bodyPr wrap="square" lIns="91443" tIns="45720" rIns="91443" bIns="45720" rtlCol="0">
            <a:spAutoFit/>
          </a:bodyPr>
          <a:lstStyle/>
          <a:p>
            <a:r>
              <a:rPr lang="zh-CN" altLang="en-US" sz="36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上机实践：图书管理系统</a:t>
            </a:r>
            <a:r>
              <a:rPr lang="zh-CN" altLang="en-US" sz="3600" b="1" dirty="0">
                <a:solidFill>
                  <a:srgbClr val="1369B2"/>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数据库的管理</a:t>
            </a:r>
            <a:endParaRPr lang="zh-CN" altLang="en-US" sz="3600" b="1" dirty="0">
              <a:solidFill>
                <a:srgbClr val="1369B2"/>
              </a:solidFill>
              <a:latin typeface="微软雅黑" panose="020B0503020204020204" pitchFamily="34" charset="-122"/>
              <a:ea typeface="微软雅黑" panose="020B0503020204020204" pitchFamily="34" charset="-122"/>
              <a:cs typeface="+mn-ea"/>
              <a:sym typeface="Source Han Sans K Bold" panose="020B0800000000000000" pitchFamily="34" charset="-128"/>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9.4</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1"/>
          <p:cNvSpPr txBox="1"/>
          <p:nvPr/>
        </p:nvSpPr>
        <p:spPr>
          <a:xfrm>
            <a:off x="1145452" y="268062"/>
            <a:ext cx="3894025" cy="505890"/>
          </a:xfrm>
          <a:prstGeom prst="rect">
            <a:avLst/>
          </a:prstGeom>
        </p:spPr>
        <p:txBody>
          <a:bodyPr lIns="0" tIns="60934" rIns="0" bIns="6093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上机实践</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文本框 3"/>
          <p:cNvSpPr txBox="1"/>
          <p:nvPr/>
        </p:nvSpPr>
        <p:spPr>
          <a:xfrm>
            <a:off x="1635760" y="959485"/>
            <a:ext cx="9357360" cy="706755"/>
          </a:xfrm>
          <a:prstGeom prst="rect">
            <a:avLst/>
          </a:prstGeom>
          <a:noFill/>
          <a:ln w="9525">
            <a:noFill/>
          </a:ln>
        </p:spPr>
        <p:txBody>
          <a:bodyPr wrap="square">
            <a:spAutoFit/>
          </a:bodyPr>
          <a:lstStyle/>
          <a:p>
            <a:pPr indent="267970">
              <a:lnSpc>
                <a:spcPct val="150000"/>
              </a:lnSpc>
            </a:pPr>
            <a:r>
              <a:rPr lang="zh-CN" sz="1600" b="1">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实践需求</a:t>
            </a:r>
            <a:r>
              <a:rPr lang="en-US" altLang="zh-CN" sz="1600" b="1">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sz="1600" b="1">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对bms数据库中的</a:t>
            </a:r>
            <a:r>
              <a:rPr lang="zh-CN"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所有数据进行备份</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267970"/>
            <a:endParaRPr lang="zh-CN" alt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p:cNvSpPr txBox="1"/>
          <p:nvPr/>
        </p:nvSpPr>
        <p:spPr>
          <a:xfrm>
            <a:off x="1619250" y="3239135"/>
            <a:ext cx="9357360" cy="829945"/>
          </a:xfrm>
          <a:prstGeom prst="rect">
            <a:avLst/>
          </a:prstGeom>
          <a:noFill/>
          <a:ln w="9525">
            <a:noFill/>
          </a:ln>
        </p:spPr>
        <p:txBody>
          <a:bodyPr wrap="square">
            <a:spAutoFit/>
          </a:bodyPr>
          <a:lstStyle/>
          <a:p>
            <a:pPr indent="0" fontAlgn="auto">
              <a:lnSpc>
                <a:spcPct val="150000"/>
              </a:lnSpc>
            </a:pPr>
            <a:r>
              <a:rPr lang="zh-CN" sz="1600" b="1">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实践需求</a:t>
            </a:r>
            <a:r>
              <a:rPr lang="en-US" altLang="zh-CN" sz="1600" b="1">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sz="1600" b="1">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创建一个账户，并为该账户赋予以下权限：允许该账户对数据库bms中</a:t>
            </a:r>
            <a:r>
              <a:rPr lang="zh-CN"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所有表执行插入、修改和查询操作</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流程图: 过程 1"/>
          <p:cNvSpPr/>
          <p:nvPr/>
        </p:nvSpPr>
        <p:spPr>
          <a:xfrm>
            <a:off x="1715135" y="1492885"/>
            <a:ext cx="9386570" cy="156654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p>
            <a:pPr indent="0" algn="ctr" fontAlgn="auto"/>
            <a:endParaRPr lang="zh-CN" altLang="en-US"/>
          </a:p>
        </p:txBody>
      </p:sp>
      <p:sp>
        <p:nvSpPr>
          <p:cNvPr id="3" name="文本框 2"/>
          <p:cNvSpPr txBox="1"/>
          <p:nvPr/>
        </p:nvSpPr>
        <p:spPr>
          <a:xfrm>
            <a:off x="1901190" y="1492885"/>
            <a:ext cx="8522970" cy="829945"/>
          </a:xfrm>
          <a:prstGeom prst="rect">
            <a:avLst/>
          </a:prstGeom>
          <a:noFill/>
          <a:ln w="9525">
            <a:noFill/>
          </a:ln>
        </p:spPr>
        <p:txBody>
          <a:bodyPr wrap="square">
            <a:spAutoFit/>
          </a:bodyPr>
          <a:p>
            <a:pPr algn="l" fontAlgn="auto">
              <a:lnSpc>
                <a:spcPct val="150000"/>
              </a:lnSpc>
              <a:buClrTx/>
              <a:buSzTx/>
              <a:buFontTx/>
            </a:pPr>
            <a:r>
              <a:rPr lang="zh-CN" altLang="en-US" sz="1600" b="1" dirty="0">
                <a:solidFill>
                  <a:srgbClr val="595959"/>
                </a:solidFill>
                <a:latin typeface="微软雅黑" panose="020B0503020204020204" pitchFamily="34" charset="-122"/>
                <a:ea typeface="微软雅黑" panose="020B0503020204020204" pitchFamily="34" charset="-122"/>
                <a:sym typeface="+mn-ea"/>
              </a:rPr>
              <a:t>动手实践</a:t>
            </a:r>
            <a:r>
              <a:rPr lang="en-US" altLang="zh-CN" sz="1600" b="1" dirty="0">
                <a:solidFill>
                  <a:srgbClr val="595959"/>
                </a:solidFill>
                <a:latin typeface="微软雅黑" panose="020B0503020204020204" pitchFamily="34" charset="-122"/>
                <a:ea typeface="微软雅黑" panose="020B0503020204020204" pitchFamily="34" charset="-122"/>
                <a:sym typeface="+mn-ea"/>
              </a:rPr>
              <a:t>1</a:t>
            </a:r>
            <a:r>
              <a:rPr lang="zh-CN" altLang="en-US" sz="1600" b="1" dirty="0">
                <a:solidFill>
                  <a:srgbClr val="595959"/>
                </a:solidFill>
                <a:latin typeface="微软雅黑" panose="020B0503020204020204" pitchFamily="34" charset="-122"/>
                <a:ea typeface="微软雅黑" panose="020B0503020204020204" pitchFamily="34" charset="-122"/>
                <a:sym typeface="+mn-ea"/>
              </a:rPr>
              <a:t>：</a:t>
            </a: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使用</a:t>
            </a: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mysqldump语句将</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bms数据库中的所有数据备份到D盘backup文件夹下</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，具体的SQL语句如下所示。</a:t>
            </a:r>
            <a:endParaRPr lang="zh-CN"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矩形 6"/>
          <p:cNvSpPr/>
          <p:nvPr/>
        </p:nvSpPr>
        <p:spPr>
          <a:xfrm>
            <a:off x="1924050" y="2336165"/>
            <a:ext cx="7577455" cy="57340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r>
              <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rPr>
              <a:t>mysqldump -uroot -p123456 bms&gt;D:/backup/bms_20210528.sql</a:t>
            </a:r>
            <a:endParaRPr lang="zh-CN" altLang="en-US" sz="160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8" name="流程图: 过程 7"/>
          <p:cNvSpPr/>
          <p:nvPr/>
        </p:nvSpPr>
        <p:spPr>
          <a:xfrm>
            <a:off x="1715135" y="4203065"/>
            <a:ext cx="9386570" cy="2332355"/>
          </a:xfrm>
          <a:prstGeom prst="flowChartProcess">
            <a:avLst/>
          </a:prstGeom>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p>
            <a:pPr indent="0" algn="ctr" fontAlgn="auto"/>
            <a:endParaRPr lang="zh-CN" altLang="en-US"/>
          </a:p>
        </p:txBody>
      </p:sp>
      <p:sp>
        <p:nvSpPr>
          <p:cNvPr id="9" name="文本框 8"/>
          <p:cNvSpPr txBox="1"/>
          <p:nvPr/>
        </p:nvSpPr>
        <p:spPr>
          <a:xfrm>
            <a:off x="1884680" y="4203065"/>
            <a:ext cx="8522970" cy="829945"/>
          </a:xfrm>
          <a:prstGeom prst="rect">
            <a:avLst/>
          </a:prstGeom>
          <a:noFill/>
          <a:ln w="9525">
            <a:noFill/>
          </a:ln>
        </p:spPr>
        <p:txBody>
          <a:bodyPr wrap="square">
            <a:spAutoFit/>
          </a:bodyPr>
          <a:p>
            <a:pPr algn="l" fontAlgn="auto">
              <a:lnSpc>
                <a:spcPct val="150000"/>
              </a:lnSpc>
              <a:buClrTx/>
              <a:buSzTx/>
              <a:buFontTx/>
            </a:pPr>
            <a:r>
              <a:rPr lang="zh-CN" altLang="en-US" sz="1600" b="1" dirty="0">
                <a:solidFill>
                  <a:srgbClr val="595959"/>
                </a:solidFill>
                <a:latin typeface="微软雅黑" panose="020B0503020204020204" pitchFamily="34" charset="-122"/>
                <a:ea typeface="微软雅黑" panose="020B0503020204020204" pitchFamily="34" charset="-122"/>
                <a:sym typeface="+mn-ea"/>
              </a:rPr>
              <a:t>动手实践</a:t>
            </a:r>
            <a:r>
              <a:rPr lang="en-US" altLang="zh-CN" sz="1600" b="1" dirty="0">
                <a:solidFill>
                  <a:srgbClr val="595959"/>
                </a:solidFill>
                <a:latin typeface="微软雅黑" panose="020B0503020204020204" pitchFamily="34" charset="-122"/>
                <a:ea typeface="微软雅黑" panose="020B0503020204020204" pitchFamily="34" charset="-122"/>
                <a:sym typeface="+mn-ea"/>
              </a:rPr>
              <a:t>2</a:t>
            </a:r>
            <a:r>
              <a:rPr lang="zh-CN" altLang="en-US" sz="1600" b="1" dirty="0">
                <a:solidFill>
                  <a:srgbClr val="595959"/>
                </a:solidFill>
                <a:latin typeface="微软雅黑" panose="020B0503020204020204" pitchFamily="34" charset="-122"/>
                <a:ea typeface="微软雅黑" panose="020B0503020204020204" pitchFamily="34" charset="-122"/>
                <a:sym typeface="+mn-ea"/>
              </a:rPr>
              <a:t>：</a:t>
            </a:r>
            <a:endParaRPr lang="zh-CN" altLang="en-US" sz="1600" b="1" dirty="0">
              <a:solidFill>
                <a:srgbClr val="595959"/>
              </a:solidFill>
              <a:latin typeface="微软雅黑" panose="020B0503020204020204" pitchFamily="34" charset="-122"/>
              <a:ea typeface="微软雅黑" panose="020B0503020204020204" pitchFamily="34" charset="-122"/>
              <a:sym typeface="+mn-ea"/>
            </a:endParaRPr>
          </a:p>
          <a:p>
            <a:pPr algn="l" fontAlgn="auto">
              <a:lnSpc>
                <a:spcPct val="150000"/>
              </a:lnSpc>
              <a:buClrTx/>
              <a:buSzTx/>
              <a:buFontTx/>
            </a:pP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（1）创建名称为user2的账户，并设置账户的密码为user2pw，具体的SQL语句如下所示。</a:t>
            </a:r>
            <a:endParaRPr lang="zh-CN"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矩形 9"/>
          <p:cNvSpPr/>
          <p:nvPr/>
        </p:nvSpPr>
        <p:spPr>
          <a:xfrm>
            <a:off x="1901190" y="5033010"/>
            <a:ext cx="7577455" cy="4273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CREATE USER 'user2'@'localhost' IDENTIFIED BY 'user2pw';</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12" name="文本框 11"/>
          <p:cNvSpPr txBox="1"/>
          <p:nvPr/>
        </p:nvSpPr>
        <p:spPr>
          <a:xfrm>
            <a:off x="1868170" y="5478145"/>
            <a:ext cx="9124950" cy="460375"/>
          </a:xfrm>
          <a:prstGeom prst="rect">
            <a:avLst/>
          </a:prstGeom>
          <a:noFill/>
          <a:ln w="9525">
            <a:noFill/>
          </a:ln>
        </p:spPr>
        <p:txBody>
          <a:bodyPr wrap="square">
            <a:spAutoFit/>
          </a:bodyPr>
          <a:p>
            <a:pPr algn="l" fontAlgn="auto">
              <a:lnSpc>
                <a:spcPct val="150000"/>
              </a:lnSpc>
              <a:buClrTx/>
              <a:buSzTx/>
              <a:buFontTx/>
            </a:pP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）为user2赋予对数据库</a:t>
            </a:r>
            <a:r>
              <a:rPr lang="en-US" alt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bms</a:t>
            </a:r>
            <a:r>
              <a:rPr lang="zh-CN" alt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所有表的</a:t>
            </a: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INSERT、UPDATE、SELECT权限</a:t>
            </a:r>
            <a:r>
              <a:rPr lang="zh-CN"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，具体的SQL语句如下所示。</a:t>
            </a:r>
            <a:endParaRPr lang="zh-CN"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 name="矩形 12"/>
          <p:cNvSpPr/>
          <p:nvPr/>
        </p:nvSpPr>
        <p:spPr>
          <a:xfrm>
            <a:off x="1951990" y="5956935"/>
            <a:ext cx="7577455" cy="4800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r>
              <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rPr>
              <a:t>GRANT INSERT,UPDATE,SELECT ON  bms.* TO 'user2'@'localhost';</a:t>
            </a:r>
            <a:endParaRPr lang="zh-CN" altLang="en-US" sz="1600">
              <a:solidFill>
                <a:srgbClr val="595959"/>
              </a:solidFill>
              <a:latin typeface="宋体" panose="02010600030101010101" pitchFamily="2" charset="-122"/>
              <a:ea typeface="宋体" panose="02010600030101010101" pitchFamily="2"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67159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None/>
            </a:pP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本章小结</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内容占位符 1"/>
          <p:cNvSpPr>
            <a:spLocks noGrp="1"/>
          </p:cNvSpPr>
          <p:nvPr>
            <p:ph idx="1"/>
          </p:nvPr>
        </p:nvSpPr>
        <p:spPr>
          <a:xfrm>
            <a:off x="1925955" y="1125220"/>
            <a:ext cx="8229600" cy="5059363"/>
          </a:xfrm>
        </p:spPr>
        <p:txBody>
          <a:bodyPr vert="horz" wrap="square" lIns="91440" tIns="45720" rIns="91440" bIns="45720" numCol="1" rtlCol="0" anchor="t" anchorCtr="0" compatLnSpc="1">
            <a:normAutofit/>
          </a:bodyPr>
          <a:lstStyle/>
          <a:p>
            <a:pPr marL="0" marR="0" lvl="0" indent="0" algn="l" defTabSz="914400" rtl="0" eaLnBrk="1" fontAlgn="auto" latinLnBrk="0" hangingPunct="1">
              <a:lnSpc>
                <a:spcPct val="200000"/>
              </a:lnSpc>
              <a:spcBef>
                <a:spcPts val="1000"/>
              </a:spcBef>
              <a:spcAft>
                <a:spcPts val="0"/>
              </a:spcAft>
              <a:buClrTx/>
              <a:buSzTx/>
              <a:buFontTx/>
              <a:buNone/>
              <a:defRPr/>
            </a:pPr>
            <a:endParaRPr kumimoji="0" lang="zh-CN" altLang="zh-CN" sz="2800" b="0" i="0" u="none" strike="noStrike" kern="1200" cap="none" spc="0" normalizeH="0" baseline="0" noProof="0" dirty="0" smtClean="0">
              <a:ln>
                <a:noFill/>
              </a:ln>
              <a:solidFill>
                <a:srgbClr val="595959"/>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auto" latinLnBrk="0" hangingPunct="1">
              <a:lnSpc>
                <a:spcPct val="150000"/>
              </a:lnSpc>
              <a:spcBef>
                <a:spcPts val="1000"/>
              </a:spcBef>
              <a:spcAft>
                <a:spcPts val="0"/>
              </a:spcAft>
              <a:buClrTx/>
              <a:buSzTx/>
              <a:buFontTx/>
              <a:buNone/>
              <a:defRPr/>
            </a:pPr>
            <a:r>
              <a:rPr kumimoji="0" lang="zh-CN" altLang="zh-CN" sz="2000" b="0" i="0" u="none" strike="noStrike" kern="1200" cap="none" spc="0" normalizeH="0" baseline="0" noProof="0" dirty="0" smtClean="0">
                <a:ln>
                  <a:noFill/>
                </a:ln>
                <a:solidFill>
                  <a:srgbClr val="595959"/>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本章主要对数据库的</a:t>
            </a:r>
            <a:r>
              <a:rPr kumimoji="0" lang="zh-CN" altLang="zh-CN" sz="2000" b="0" i="0" u="none" strike="noStrike" kern="1200" cap="none" spc="0" normalizeH="0" baseline="0" noProof="0" dirty="0" smtClean="0">
                <a:ln>
                  <a:noFill/>
                </a:ln>
                <a:solidFill>
                  <a:srgbClr val="1369B2"/>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管理</a:t>
            </a:r>
            <a:r>
              <a:rPr kumimoji="0" lang="zh-CN" altLang="zh-CN" sz="2000" b="0" i="0" u="none" strike="noStrike" kern="1200" cap="none" spc="0" normalizeH="0" baseline="0" noProof="0" dirty="0" smtClean="0">
                <a:ln>
                  <a:noFill/>
                </a:ln>
                <a:solidFill>
                  <a:srgbClr val="595959"/>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和</a:t>
            </a:r>
            <a:r>
              <a:rPr kumimoji="0" lang="zh-CN" altLang="zh-CN" sz="2000" b="0" i="0" u="none" strike="noStrike" kern="1200" cap="none" spc="0" normalizeH="0" baseline="0" noProof="0" dirty="0" smtClean="0">
                <a:ln>
                  <a:noFill/>
                </a:ln>
                <a:solidFill>
                  <a:srgbClr val="1369B2"/>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维护</a:t>
            </a:r>
            <a:r>
              <a:rPr kumimoji="0" lang="zh-CN" altLang="zh-CN" sz="2000" b="0" i="0" u="none" strike="noStrike" kern="1200" cap="none" spc="0" normalizeH="0" baseline="0" noProof="0" dirty="0" smtClean="0">
                <a:ln>
                  <a:noFill/>
                </a:ln>
                <a:solidFill>
                  <a:srgbClr val="595959"/>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进行了详细讲解。首先对</a:t>
            </a:r>
            <a:r>
              <a:rPr kumimoji="0" lang="zh-CN" altLang="zh-CN" sz="2000" b="0" i="0" u="none" strike="noStrike" kern="1200" cap="none" spc="0" normalizeH="0" baseline="0" noProof="0" dirty="0" smtClean="0">
                <a:ln>
                  <a:noFill/>
                </a:ln>
                <a:solidFill>
                  <a:srgbClr val="1369B2"/>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数据备份与还原</a:t>
            </a:r>
            <a:r>
              <a:rPr kumimoji="0" lang="zh-CN" altLang="zh-CN" sz="2000" b="0" i="0" u="none" strike="noStrike" kern="1200" cap="none" spc="0" normalizeH="0" baseline="0" noProof="0" dirty="0" smtClean="0">
                <a:ln>
                  <a:noFill/>
                </a:ln>
                <a:solidFill>
                  <a:srgbClr val="595959"/>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进行了介绍，其次讲解了</a:t>
            </a:r>
            <a:r>
              <a:rPr kumimoji="0" lang="zh-CN" altLang="zh-CN" sz="2000" b="0" i="0" u="none" strike="noStrike" kern="1200" cap="none" spc="0" normalizeH="0" baseline="0" noProof="0" dirty="0" smtClean="0">
                <a:ln>
                  <a:noFill/>
                </a:ln>
                <a:solidFill>
                  <a:srgbClr val="1369B2"/>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用户管理</a:t>
            </a:r>
            <a:r>
              <a:rPr kumimoji="0" lang="zh-CN" altLang="zh-CN" sz="2000" b="0" i="0" u="none" strike="noStrike" kern="1200" cap="none" spc="0" normalizeH="0" baseline="0" noProof="0" dirty="0" smtClean="0">
                <a:ln>
                  <a:noFill/>
                </a:ln>
                <a:solidFill>
                  <a:srgbClr val="595959"/>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，然后讲解了</a:t>
            </a:r>
            <a:r>
              <a:rPr kumimoji="0" lang="zh-CN" altLang="zh-CN" sz="2000" b="0" i="0" u="none" strike="noStrike" kern="1200" cap="none" spc="0" normalizeH="0" baseline="0" noProof="0" dirty="0" smtClean="0">
                <a:ln>
                  <a:noFill/>
                </a:ln>
                <a:solidFill>
                  <a:srgbClr val="1369B2"/>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权限管理</a:t>
            </a:r>
            <a:r>
              <a:rPr kumimoji="0" lang="zh-CN" altLang="zh-CN" sz="2000" b="0" i="0" u="none" strike="noStrike" kern="1200" cap="none" spc="0" normalizeH="0" baseline="0" noProof="0" dirty="0" smtClean="0">
                <a:ln>
                  <a:noFill/>
                </a:ln>
                <a:solidFill>
                  <a:srgbClr val="595959"/>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，最后通过一个上机实践，加深读者对数据库的管理和维护的理解。通过本章的学习，希望读者能够掌握数据库的管理和维护的基本使用。</a:t>
            </a:r>
            <a:endParaRPr kumimoji="0" lang="zh-CN" altLang="zh-CN" sz="2000" b="0" i="0" u="none" strike="noStrike" kern="1200" cap="none" spc="0" normalizeH="0" baseline="0" noProof="0" dirty="0" smtClean="0">
              <a:ln>
                <a:noFill/>
              </a:ln>
              <a:solidFill>
                <a:srgbClr val="595959"/>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7" name="圆角矩形 26"/>
          <p:cNvSpPr/>
          <p:nvPr/>
        </p:nvSpPr>
        <p:spPr>
          <a:xfrm>
            <a:off x="1143635" y="1485265"/>
            <a:ext cx="9794240" cy="4623435"/>
          </a:xfrm>
          <a:prstGeom prst="roundRect">
            <a:avLst>
              <a:gd name="adj" fmla="val 0"/>
            </a:avLst>
          </a:prstGeom>
          <a:noFill/>
          <a:ln w="3175">
            <a:solidFill>
              <a:schemeClr val="tx1">
                <a:lumMod val="75000"/>
                <a:lumOff val="2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bldLst>
      <p:bldP spid="2" grpId="1"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ags/tag1.xml><?xml version="1.0" encoding="utf-8"?>
<p:tagLst xmlns:p="http://schemas.openxmlformats.org/presentationml/2006/main">
  <p:tag name="KSO_WM_UNIT_TABLE_BEAUTIFY" val="smartTable{6b12589e-4c3e-44b4-97ec-08ad994d4365}"/>
</p:tagLst>
</file>

<file path=ppt/tags/tag2.xml><?xml version="1.0" encoding="utf-8"?>
<p:tagLst xmlns:p="http://schemas.openxmlformats.org/presentationml/2006/main">
  <p:tag name="KSO_WM_UNIT_TABLE_BEAUTIFY" val="smartTable{6b12589e-4c3e-44b4-97ec-08ad994d4365}"/>
  <p:tag name="TABLE_ENDDRAG_ORIGIN_RECT" val="734*150"/>
  <p:tag name="TABLE_ENDDRAG_RECT" val="99*304*734*150"/>
</p:tagLst>
</file>

<file path=ppt/tags/tag3.xml><?xml version="1.0" encoding="utf-8"?>
<p:tagLst xmlns:p="http://schemas.openxmlformats.org/presentationml/2006/main">
  <p:tag name="KSO_WM_UNIT_TABLE_BEAUTIFY" val="smartTable{6b12589e-4c3e-44b4-97ec-08ad994d4365}"/>
</p:tagLst>
</file>

<file path=ppt/tags/tag4.xml><?xml version="1.0" encoding="utf-8"?>
<p:tagLst xmlns:p="http://schemas.openxmlformats.org/presentationml/2006/main">
  <p:tag name="KSO_WM_UNIT_TABLE_BEAUTIFY" val="smartTable{6b12589e-4c3e-44b4-97ec-08ad994d4365}"/>
  <p:tag name="TABLE_ENDDRAG_ORIGIN_RECT" val="700*171"/>
  <p:tag name="TABLE_ENDDRAG_RECT" val="145*298*700*171"/>
</p:tagLst>
</file>

<file path=ppt/tags/tag5.xml><?xml version="1.0" encoding="utf-8"?>
<p:tagLst xmlns:p="http://schemas.openxmlformats.org/presentationml/2006/main">
  <p:tag name="KSO_WM_UNIT_TABLE_BEAUTIFY" val="smartTable{6b12589e-4c3e-44b4-97ec-08ad994d4365}"/>
  <p:tag name="TABLE_ENDDRAG_ORIGIN_RECT" val="487*259"/>
  <p:tag name="TABLE_ENDDRAG_RECT" val="385*185*487*259"/>
</p:tagLst>
</file>

<file path=ppt/tags/tag6.xml><?xml version="1.0" encoding="utf-8"?>
<p:tagLst xmlns:p="http://schemas.openxmlformats.org/presentationml/2006/main">
  <p:tag name="ISPRING_RESOURCE_PATHS_HASH_PRESENTER" val="3f15e6573a385e41c33bb97e7105a62faa5c484"/>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14790</Words>
  <Application>WPS 演示</Application>
  <PresentationFormat>自定义</PresentationFormat>
  <Paragraphs>754</Paragraphs>
  <Slides>67</Slides>
  <Notes>11</Notes>
  <HiddenSlides>0</HiddenSlides>
  <MMClips>0</MMClips>
  <ScaleCrop>false</ScaleCrop>
  <HeadingPairs>
    <vt:vector size="6" baseType="variant">
      <vt:variant>
        <vt:lpstr>已用的字体</vt:lpstr>
      </vt:variant>
      <vt:variant>
        <vt:i4>19</vt:i4>
      </vt:variant>
      <vt:variant>
        <vt:lpstr>主题</vt:lpstr>
      </vt:variant>
      <vt:variant>
        <vt:i4>2</vt:i4>
      </vt:variant>
      <vt:variant>
        <vt:lpstr>幻灯片标题</vt:lpstr>
      </vt:variant>
      <vt:variant>
        <vt:i4>67</vt:i4>
      </vt:variant>
    </vt:vector>
  </HeadingPairs>
  <TitlesOfParts>
    <vt:vector size="88" baseType="lpstr">
      <vt:lpstr>Arial</vt:lpstr>
      <vt:lpstr>宋体</vt:lpstr>
      <vt:lpstr>Wingdings</vt:lpstr>
      <vt:lpstr>微软雅黑</vt:lpstr>
      <vt:lpstr>思源黑体 CN Medium</vt:lpstr>
      <vt:lpstr>黑体</vt:lpstr>
      <vt:lpstr>字魂58号-创中黑</vt:lpstr>
      <vt:lpstr>Source Han Sans K Bold</vt:lpstr>
      <vt:lpstr>Calibri</vt:lpstr>
      <vt:lpstr>MS UI Gothic</vt:lpstr>
      <vt:lpstr>U.S. 101</vt:lpstr>
      <vt:lpstr>Roboto</vt:lpstr>
      <vt:lpstr>Open Sans Light</vt:lpstr>
      <vt:lpstr>Courier New</vt:lpstr>
      <vt:lpstr>字魂105号-简雅黑</vt:lpstr>
      <vt:lpstr>Arial Unicode MS</vt:lpstr>
      <vt:lpstr>Times New Roman</vt:lpstr>
      <vt:lpstr>Segoe Print</vt:lpstr>
      <vt:lpstr>Open Sans</vt:lpstr>
      <vt:lpstr>webwppDefTheme</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蓝白商务述职报告工作总结ppt模板</dc:title>
  <dc:creator>常董</dc:creator>
  <cp:lastModifiedBy>tk</cp:lastModifiedBy>
  <cp:revision>65</cp:revision>
  <dcterms:created xsi:type="dcterms:W3CDTF">2020-11-11T09:29:00Z</dcterms:created>
  <dcterms:modified xsi:type="dcterms:W3CDTF">2022-06-17T08:21:39Z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2052-11.1.0.8976</vt:lpwstr>
  </property>
  <property fmtid="{D5CDD505-2E9C-101B-9397-08002B2CF9AE}" pid="3" name="ICV">
    <vt:lpwstr>20AA0FF3AC074678A66569B78DB5DCB8</vt:lpwstr>
  </property>
</Properties>
</file>